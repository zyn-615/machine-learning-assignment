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3"/>
  </p:notesMasterIdLst>
  <p:sldIdLst>
    <p:sldId id="262" r:id="rId2"/>
    <p:sldId id="358" r:id="rId3"/>
    <p:sldId id="634" r:id="rId4"/>
    <p:sldId id="660" r:id="rId5"/>
    <p:sldId id="658" r:id="rId6"/>
    <p:sldId id="617" r:id="rId7"/>
    <p:sldId id="286" r:id="rId8"/>
    <p:sldId id="284" r:id="rId9"/>
    <p:sldId id="636" r:id="rId10"/>
    <p:sldId id="637" r:id="rId11"/>
    <p:sldId id="387" r:id="rId12"/>
    <p:sldId id="357" r:id="rId13"/>
    <p:sldId id="353" r:id="rId14"/>
    <p:sldId id="354" r:id="rId15"/>
    <p:sldId id="355" r:id="rId16"/>
    <p:sldId id="388" r:id="rId17"/>
    <p:sldId id="662" r:id="rId18"/>
    <p:sldId id="639" r:id="rId19"/>
    <p:sldId id="640" r:id="rId20"/>
    <p:sldId id="656" r:id="rId21"/>
    <p:sldId id="641" r:id="rId22"/>
    <p:sldId id="642" r:id="rId23"/>
    <p:sldId id="643" r:id="rId24"/>
    <p:sldId id="644" r:id="rId25"/>
    <p:sldId id="655" r:id="rId26"/>
    <p:sldId id="654" r:id="rId27"/>
    <p:sldId id="645" r:id="rId28"/>
    <p:sldId id="657" r:id="rId29"/>
    <p:sldId id="646" r:id="rId30"/>
    <p:sldId id="648" r:id="rId31"/>
    <p:sldId id="650" r:id="rId32"/>
    <p:sldId id="651" r:id="rId33"/>
    <p:sldId id="647" r:id="rId34"/>
    <p:sldId id="653" r:id="rId35"/>
    <p:sldId id="606" r:id="rId36"/>
    <p:sldId id="575" r:id="rId37"/>
    <p:sldId id="576" r:id="rId38"/>
    <p:sldId id="577" r:id="rId39"/>
    <p:sldId id="578" r:id="rId40"/>
    <p:sldId id="579" r:id="rId41"/>
    <p:sldId id="580" r:id="rId42"/>
    <p:sldId id="581" r:id="rId43"/>
    <p:sldId id="582" r:id="rId44"/>
    <p:sldId id="600" r:id="rId45"/>
    <p:sldId id="607" r:id="rId46"/>
    <p:sldId id="599" r:id="rId47"/>
    <p:sldId id="583" r:id="rId48"/>
    <p:sldId id="586" r:id="rId49"/>
    <p:sldId id="588" r:id="rId50"/>
    <p:sldId id="589" r:id="rId51"/>
    <p:sldId id="590" r:id="rId52"/>
    <p:sldId id="591" r:id="rId53"/>
    <p:sldId id="592" r:id="rId54"/>
    <p:sldId id="593" r:id="rId55"/>
    <p:sldId id="594" r:id="rId56"/>
    <p:sldId id="596" r:id="rId57"/>
    <p:sldId id="585" r:id="rId58"/>
    <p:sldId id="598" r:id="rId59"/>
    <p:sldId id="587" r:id="rId60"/>
    <p:sldId id="604" r:id="rId61"/>
    <p:sldId id="605" r:id="rId6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F5F0"/>
    <a:srgbClr val="F9E6E6"/>
    <a:srgbClr val="FFFBD6"/>
    <a:srgbClr val="0000FF"/>
    <a:srgbClr val="FFA5A5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86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2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53C979-76AA-425F-A2AD-1CD525EFBA69}" type="datetimeFigureOut">
              <a:rPr lang="zh-CN" altLang="en-US" smtClean="0"/>
              <a:t>2022/11/2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6BC44-F83A-4333-8453-3FA5A35B3F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821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4616FD-8EF1-4A9A-AF4E-7A1BA5EADBE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614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071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948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008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088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0399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18719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6953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827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40362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47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2022/11/2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2022/11/2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2022/11/2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2022/11/2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1010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10.png"/><Relationship Id="rId9" Type="http://schemas.openxmlformats.org/officeDocument/2006/relationships/image" Target="../media/image1.tm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4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910.png"/><Relationship Id="rId4" Type="http://schemas.openxmlformats.org/officeDocument/2006/relationships/image" Target="../media/image4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2.tmp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0.png"/><Relationship Id="rId5" Type="http://schemas.openxmlformats.org/officeDocument/2006/relationships/image" Target="../media/image3.tmp"/><Relationship Id="rId4" Type="http://schemas.openxmlformats.org/officeDocument/2006/relationships/image" Target="../media/image2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tmp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7" Type="http://schemas.openxmlformats.org/officeDocument/2006/relationships/image" Target="../media/image6.tm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3.xml.rels><?xml version="1.0" encoding="UTF-8" standalone="yes"?>
<Relationships xmlns="http://schemas.openxmlformats.org/package/2006/relationships"><Relationship Id="rId18" Type="http://schemas.openxmlformats.org/officeDocument/2006/relationships/image" Target="../media/image8.tmp"/><Relationship Id="rId26" Type="http://schemas.openxmlformats.org/officeDocument/2006/relationships/image" Target="../media/image11.png"/><Relationship Id="rId3" Type="http://schemas.openxmlformats.org/officeDocument/2006/relationships/image" Target="NULL"/><Relationship Id="rId21" Type="http://schemas.openxmlformats.org/officeDocument/2006/relationships/image" Target="../media/image26.png"/><Relationship Id="rId17" Type="http://schemas.openxmlformats.org/officeDocument/2006/relationships/image" Target="../media/image14.png"/><Relationship Id="rId25" Type="http://schemas.openxmlformats.org/officeDocument/2006/relationships/image" Target="../media/image9.tmp"/><Relationship Id="rId2" Type="http://schemas.openxmlformats.org/officeDocument/2006/relationships/notesSlide" Target="../notesSlides/notesSlide7.xml"/><Relationship Id="rId16" Type="http://schemas.openxmlformats.org/officeDocument/2006/relationships/image" Target="NULL"/><Relationship Id="rId20" Type="http://schemas.openxmlformats.org/officeDocument/2006/relationships/image" Target="../media/image25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11" Type="http://schemas.openxmlformats.org/officeDocument/2006/relationships/image" Target="NULL"/><Relationship Id="rId24" Type="http://schemas.openxmlformats.org/officeDocument/2006/relationships/image" Target="../media/image29.png"/><Relationship Id="rId15" Type="http://schemas.openxmlformats.org/officeDocument/2006/relationships/image" Target="NULL"/><Relationship Id="rId28" Type="http://schemas.openxmlformats.org/officeDocument/2006/relationships/image" Target="../media/image30.png"/><Relationship Id="rId19" Type="http://schemas.openxmlformats.org/officeDocument/2006/relationships/image" Target="../media/image23.png"/><Relationship Id="rId4" Type="http://schemas.openxmlformats.org/officeDocument/2006/relationships/image" Target="../media/image7.tmp"/><Relationship Id="rId14" Type="http://schemas.openxmlformats.org/officeDocument/2006/relationships/image" Target="NULL"/><Relationship Id="rId22" Type="http://schemas.openxmlformats.org/officeDocument/2006/relationships/image" Target="../media/image27.png"/><Relationship Id="rId27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0.tmp"/><Relationship Id="rId26" Type="http://schemas.openxmlformats.org/officeDocument/2006/relationships/image" Target="../media/image313.png"/><Relationship Id="rId3" Type="http://schemas.openxmlformats.org/officeDocument/2006/relationships/image" Target="NULL"/><Relationship Id="rId21" Type="http://schemas.openxmlformats.org/officeDocument/2006/relationships/image" Target="../media/image26.png"/><Relationship Id="rId17" Type="http://schemas.openxmlformats.org/officeDocument/2006/relationships/image" Target="../media/image34.png"/><Relationship Id="rId25" Type="http://schemas.openxmlformats.org/officeDocument/2006/relationships/image" Target="../media/image301.png"/><Relationship Id="rId2" Type="http://schemas.openxmlformats.org/officeDocument/2006/relationships/notesSlide" Target="../notesSlides/notesSlide8.xml"/><Relationship Id="rId16" Type="http://schemas.openxmlformats.org/officeDocument/2006/relationships/image" Target="NULL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11" Type="http://schemas.openxmlformats.org/officeDocument/2006/relationships/image" Target="NULL"/><Relationship Id="rId24" Type="http://schemas.openxmlformats.org/officeDocument/2006/relationships/image" Target="../media/image11.tmp"/><Relationship Id="rId15" Type="http://schemas.openxmlformats.org/officeDocument/2006/relationships/image" Target="NULL"/><Relationship Id="rId23" Type="http://schemas.openxmlformats.org/officeDocument/2006/relationships/image" Target="../media/image36.png"/><Relationship Id="rId28" Type="http://schemas.openxmlformats.org/officeDocument/2006/relationships/image" Target="../media/image33.png"/><Relationship Id="rId19" Type="http://schemas.openxmlformats.org/officeDocument/2006/relationships/image" Target="../media/image23.png"/><Relationship Id="rId4" Type="http://schemas.openxmlformats.org/officeDocument/2006/relationships/image" Target="../media/image7.tmp"/><Relationship Id="rId14" Type="http://schemas.openxmlformats.org/officeDocument/2006/relationships/image" Target="NULL"/><Relationship Id="rId22" Type="http://schemas.openxmlformats.org/officeDocument/2006/relationships/image" Target="../media/image27.png"/><Relationship Id="rId27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8" Type="http://schemas.openxmlformats.org/officeDocument/2006/relationships/image" Target="../media/image23.png"/><Relationship Id="rId26" Type="http://schemas.openxmlformats.org/officeDocument/2006/relationships/image" Target="../media/image40.png"/><Relationship Id="rId3" Type="http://schemas.openxmlformats.org/officeDocument/2006/relationships/image" Target="NULL"/><Relationship Id="rId21" Type="http://schemas.openxmlformats.org/officeDocument/2006/relationships/image" Target="../media/image27.png"/><Relationship Id="rId7" Type="http://schemas.openxmlformats.org/officeDocument/2006/relationships/image" Target="../media/image7.tmp"/><Relationship Id="rId12" Type="http://schemas.openxmlformats.org/officeDocument/2006/relationships/image" Target="../media/image12.tmp"/><Relationship Id="rId25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../media/image39.png"/><Relationship Id="rId24" Type="http://schemas.openxmlformats.org/officeDocument/2006/relationships/image" Target="../media/image313.png"/><Relationship Id="rId5" Type="http://schemas.openxmlformats.org/officeDocument/2006/relationships/image" Target="NULL"/><Relationship Id="rId23" Type="http://schemas.openxmlformats.org/officeDocument/2006/relationships/image" Target="../media/image301.png"/><Relationship Id="rId10" Type="http://schemas.openxmlformats.org/officeDocument/2006/relationships/image" Target="../media/image38.png"/><Relationship Id="rId19" Type="http://schemas.openxmlformats.org/officeDocument/2006/relationships/image" Target="../media/image25.png"/><Relationship Id="rId9" Type="http://schemas.openxmlformats.org/officeDocument/2006/relationships/image" Target="../media/image37.png"/><Relationship Id="rId22" Type="http://schemas.openxmlformats.org/officeDocument/2006/relationships/image" Target="../media/image13.tmp"/></Relationships>
</file>

<file path=ppt/slides/_rels/slide16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4.tmp"/><Relationship Id="rId26" Type="http://schemas.openxmlformats.org/officeDocument/2006/relationships/image" Target="../media/image313.png"/><Relationship Id="rId21" Type="http://schemas.openxmlformats.org/officeDocument/2006/relationships/image" Target="../media/image26.png"/><Relationship Id="rId17" Type="http://schemas.openxmlformats.org/officeDocument/2006/relationships/image" Target="../media/image41.png"/><Relationship Id="rId25" Type="http://schemas.openxmlformats.org/officeDocument/2006/relationships/image" Target="../media/image301.png"/><Relationship Id="rId2" Type="http://schemas.openxmlformats.org/officeDocument/2006/relationships/notesSlide" Target="../notesSlides/notesSlide10.xml"/><Relationship Id="rId16" Type="http://schemas.openxmlformats.org/officeDocument/2006/relationships/image" Target="NULL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11" Type="http://schemas.openxmlformats.org/officeDocument/2006/relationships/image" Target="NULL"/><Relationship Id="rId24" Type="http://schemas.openxmlformats.org/officeDocument/2006/relationships/image" Target="../media/image15.tmp"/><Relationship Id="rId5" Type="http://schemas.openxmlformats.org/officeDocument/2006/relationships/image" Target="../media/image7.tmp"/><Relationship Id="rId15" Type="http://schemas.openxmlformats.org/officeDocument/2006/relationships/image" Target="NULL"/><Relationship Id="rId23" Type="http://schemas.openxmlformats.org/officeDocument/2006/relationships/image" Target="../media/image43.png"/><Relationship Id="rId28" Type="http://schemas.openxmlformats.org/officeDocument/2006/relationships/image" Target="../media/image33.png"/><Relationship Id="rId19" Type="http://schemas.openxmlformats.org/officeDocument/2006/relationships/image" Target="../media/image23.png"/><Relationship Id="rId4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../media/image27.png"/><Relationship Id="rId27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3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13" Type="http://schemas.openxmlformats.org/officeDocument/2006/relationships/image" Target="../media/image341.png"/><Relationship Id="rId7" Type="http://schemas.openxmlformats.org/officeDocument/2006/relationships/image" Target="../media/image300.png"/><Relationship Id="rId12" Type="http://schemas.openxmlformats.org/officeDocument/2006/relationships/image" Target="../media/image3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2.png"/><Relationship Id="rId11" Type="http://schemas.openxmlformats.org/officeDocument/2006/relationships/image" Target="../media/image360.png"/><Relationship Id="rId10" Type="http://schemas.openxmlformats.org/officeDocument/2006/relationships/image" Target="../media/image330.png"/><Relationship Id="rId9" Type="http://schemas.openxmlformats.org/officeDocument/2006/relationships/image" Target="../media/image4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tmp"/><Relationship Id="rId4" Type="http://schemas.openxmlformats.org/officeDocument/2006/relationships/image" Target="../media/image40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0.png"/><Relationship Id="rId3" Type="http://schemas.openxmlformats.org/officeDocument/2006/relationships/image" Target="../media/image42.png"/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2.png"/><Relationship Id="rId5" Type="http://schemas.openxmlformats.org/officeDocument/2006/relationships/image" Target="../media/image390.png"/><Relationship Id="rId4" Type="http://schemas.openxmlformats.org/officeDocument/2006/relationships/image" Target="../media/image38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png"/><Relationship Id="rId7" Type="http://schemas.openxmlformats.org/officeDocument/2006/relationships/image" Target="../media/image170.png"/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1.png"/><Relationship Id="rId5" Type="http://schemas.openxmlformats.org/officeDocument/2006/relationships/image" Target="../media/image710.png"/><Relationship Id="rId4" Type="http://schemas.openxmlformats.org/officeDocument/2006/relationships/image" Target="../media/image25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0.png"/><Relationship Id="rId13" Type="http://schemas.openxmlformats.org/officeDocument/2006/relationships/image" Target="../media/image411.png"/><Relationship Id="rId18" Type="http://schemas.openxmlformats.org/officeDocument/2006/relationships/image" Target="../media/image510.png"/><Relationship Id="rId3" Type="http://schemas.openxmlformats.org/officeDocument/2006/relationships/image" Target="../media/image17.tmp"/><Relationship Id="rId7" Type="http://schemas.openxmlformats.org/officeDocument/2006/relationships/image" Target="../media/image250.png"/><Relationship Id="rId12" Type="http://schemas.openxmlformats.org/officeDocument/2006/relationships/image" Target="../media/image340.png"/><Relationship Id="rId17" Type="http://schemas.openxmlformats.org/officeDocument/2006/relationships/image" Target="../media/image500.png"/><Relationship Id="rId2" Type="http://schemas.openxmlformats.org/officeDocument/2006/relationships/image" Target="../media/image610.png"/><Relationship Id="rId16" Type="http://schemas.openxmlformats.org/officeDocument/2006/relationships/image" Target="../media/image19.tmp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1.png"/><Relationship Id="rId11" Type="http://schemas.openxmlformats.org/officeDocument/2006/relationships/image" Target="../media/image18.tmp"/><Relationship Id="rId5" Type="http://schemas.openxmlformats.org/officeDocument/2006/relationships/image" Target="../media/image440.png"/><Relationship Id="rId15" Type="http://schemas.openxmlformats.org/officeDocument/2006/relationships/image" Target="../media/image53.png"/><Relationship Id="rId10" Type="http://schemas.openxmlformats.org/officeDocument/2006/relationships/image" Target="../media/image50.png"/><Relationship Id="rId19" Type="http://schemas.openxmlformats.org/officeDocument/2006/relationships/image" Target="../media/image66.png"/><Relationship Id="rId4" Type="http://schemas.openxmlformats.org/officeDocument/2006/relationships/image" Target="../media/image430.png"/><Relationship Id="rId9" Type="http://schemas.openxmlformats.org/officeDocument/2006/relationships/image" Target="../media/image460.png"/><Relationship Id="rId14" Type="http://schemas.openxmlformats.org/officeDocument/2006/relationships/image" Target="../media/image5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3" Type="http://schemas.openxmlformats.org/officeDocument/2006/relationships/image" Target="../media/image69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0.png"/><Relationship Id="rId11" Type="http://schemas.openxmlformats.org/officeDocument/2006/relationships/image" Target="../media/image75.png"/><Relationship Id="rId5" Type="http://schemas.openxmlformats.org/officeDocument/2006/relationships/image" Target="../media/image570.png"/><Relationship Id="rId15" Type="http://schemas.openxmlformats.org/officeDocument/2006/relationships/image" Target="../media/image68.png"/><Relationship Id="rId10" Type="http://schemas.openxmlformats.org/officeDocument/2006/relationships/image" Target="../media/image21.tmp"/><Relationship Id="rId4" Type="http://schemas.openxmlformats.org/officeDocument/2006/relationships/image" Target="../media/image70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tmp"/><Relationship Id="rId10" Type="http://schemas.openxmlformats.org/officeDocument/2006/relationships/image" Target="../media/image700.png"/><Relationship Id="rId4" Type="http://schemas.openxmlformats.org/officeDocument/2006/relationships/image" Target="../media/image8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0.png"/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0.png"/><Relationship Id="rId5" Type="http://schemas.openxmlformats.org/officeDocument/2006/relationships/image" Target="../media/image74.png"/><Relationship Id="rId4" Type="http://schemas.openxmlformats.org/officeDocument/2006/relationships/image" Target="../media/image7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83.png"/><Relationship Id="rId10" Type="http://schemas.openxmlformats.org/officeDocument/2006/relationships/image" Target="../media/image770.png"/><Relationship Id="rId4" Type="http://schemas.openxmlformats.org/officeDocument/2006/relationships/image" Target="../media/image320.png"/><Relationship Id="rId9" Type="http://schemas.openxmlformats.org/officeDocument/2006/relationships/image" Target="../media/image7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0.png"/><Relationship Id="rId7" Type="http://schemas.openxmlformats.org/officeDocument/2006/relationships/image" Target="../media/image81.png"/><Relationship Id="rId2" Type="http://schemas.openxmlformats.org/officeDocument/2006/relationships/image" Target="../media/image7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7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711.png"/><Relationship Id="rId4" Type="http://schemas.openxmlformats.org/officeDocument/2006/relationships/image" Target="../media/image8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8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104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12" Type="http://schemas.openxmlformats.org/officeDocument/2006/relationships/image" Target="../media/image1030.png"/><Relationship Id="rId2" Type="http://schemas.openxmlformats.org/officeDocument/2006/relationships/image" Target="../media/image8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15" Type="http://schemas.openxmlformats.org/officeDocument/2006/relationships/image" Target="../media/image99.png"/><Relationship Id="rId10" Type="http://schemas.openxmlformats.org/officeDocument/2006/relationships/image" Target="../media/image96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9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12" Type="http://schemas.openxmlformats.org/officeDocument/2006/relationships/image" Target="../media/image110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9.png"/><Relationship Id="rId10" Type="http://schemas.openxmlformats.org/officeDocument/2006/relationships/image" Target="../media/image108.png"/><Relationship Id="rId9" Type="http://schemas.openxmlformats.org/officeDocument/2006/relationships/image" Target="../media/image10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mp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2.png"/><Relationship Id="rId4" Type="http://schemas.openxmlformats.org/officeDocument/2006/relationships/image" Target="../media/image25.tmp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7" Type="http://schemas.openxmlformats.org/officeDocument/2006/relationships/image" Target="../media/image101.png"/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890.png"/><Relationship Id="rId10" Type="http://schemas.openxmlformats.org/officeDocument/2006/relationships/image" Target="../media/image113.png"/><Relationship Id="rId4" Type="http://schemas.openxmlformats.org/officeDocument/2006/relationships/image" Target="../media/image880.png"/><Relationship Id="rId9" Type="http://schemas.openxmlformats.org/officeDocument/2006/relationships/image" Target="../media/image93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3.png"/><Relationship Id="rId4" Type="http://schemas.openxmlformats.org/officeDocument/2006/relationships/image" Target="../media/image31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1.png"/><Relationship Id="rId2" Type="http://schemas.openxmlformats.org/officeDocument/2006/relationships/image" Target="../media/image5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1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9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7" Type="http://schemas.openxmlformats.org/officeDocument/2006/relationships/image" Target="../media/image24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tmp"/><Relationship Id="rId5" Type="http://schemas.openxmlformats.org/officeDocument/2006/relationships/image" Target="../media/image221.png"/><Relationship Id="rId4" Type="http://schemas.openxmlformats.org/officeDocument/2006/relationships/image" Target="../media/image21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7" Type="http://schemas.openxmlformats.org/officeDocument/2006/relationships/image" Target="../media/image302.png"/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1.png"/><Relationship Id="rId5" Type="http://schemas.openxmlformats.org/officeDocument/2006/relationships/image" Target="../media/image281.png"/><Relationship Id="rId4" Type="http://schemas.openxmlformats.org/officeDocument/2006/relationships/image" Target="../media/image27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0.png"/><Relationship Id="rId2" Type="http://schemas.openxmlformats.org/officeDocument/2006/relationships/image" Target="../media/image28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1.png"/><Relationship Id="rId5" Type="http://schemas.openxmlformats.org/officeDocument/2006/relationships/image" Target="../media/image315.png"/><Relationship Id="rId4" Type="http://schemas.openxmlformats.org/officeDocument/2006/relationships/image" Target="../media/image300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0.png"/><Relationship Id="rId2" Type="http://schemas.openxmlformats.org/officeDocument/2006/relationships/image" Target="../media/image33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tmp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01.png"/><Relationship Id="rId4" Type="http://schemas.openxmlformats.org/officeDocument/2006/relationships/image" Target="../media/image39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4.png"/><Relationship Id="rId2" Type="http://schemas.openxmlformats.org/officeDocument/2006/relationships/image" Target="../media/image3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2.png"/><Relationship Id="rId2" Type="http://schemas.openxmlformats.org/officeDocument/2006/relationships/image" Target="../media/image43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0.png"/><Relationship Id="rId2" Type="http://schemas.openxmlformats.org/officeDocument/2006/relationships/image" Target="../media/image35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00.png"/><Relationship Id="rId5" Type="http://schemas.openxmlformats.org/officeDocument/2006/relationships/image" Target="../media/image3800.png"/><Relationship Id="rId4" Type="http://schemas.openxmlformats.org/officeDocument/2006/relationships/image" Target="../media/image370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0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1.png"/><Relationship Id="rId3" Type="http://schemas.openxmlformats.org/officeDocument/2006/relationships/image" Target="../media/image512.png"/><Relationship Id="rId7" Type="http://schemas.openxmlformats.org/officeDocument/2006/relationships/hyperlink" Target="https://zhuanlan.zhihu.com/p/24291822" TargetMode="External"/><Relationship Id="rId2" Type="http://schemas.openxmlformats.org/officeDocument/2006/relationships/image" Target="../media/image5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0.png"/><Relationship Id="rId5" Type="http://schemas.openxmlformats.org/officeDocument/2006/relationships/image" Target="../media/image530.png"/><Relationship Id="rId4" Type="http://schemas.openxmlformats.org/officeDocument/2006/relationships/image" Target="../media/image520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54894" y="2546257"/>
            <a:ext cx="8896282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50" b="1"/>
              <a:t>Machine Learning </a:t>
            </a:r>
            <a:r>
              <a:rPr lang="en-US" altLang="zh-CN" sz="4050" b="1" dirty="0"/>
              <a:t>&amp; Pattern Recognition</a:t>
            </a:r>
            <a:endParaRPr lang="zh-CN" altLang="en-US" sz="4050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7981950" y="5624513"/>
            <a:ext cx="2057400" cy="273844"/>
          </a:xfrm>
          <a:prstGeom prst="rect">
            <a:avLst/>
          </a:prstGeom>
        </p:spPr>
        <p:txBody>
          <a:bodyPr/>
          <a:lstStyle/>
          <a:p>
            <a:fld id="{C9CC7982-047F-42D2-9F1B-07D23845D18E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FA242866-808B-794C-ACA0-E833AAE9C437}"/>
              </a:ext>
            </a:extLst>
          </p:cNvPr>
          <p:cNvSpPr/>
          <p:nvPr/>
        </p:nvSpPr>
        <p:spPr>
          <a:xfrm>
            <a:off x="4160711" y="3880339"/>
            <a:ext cx="3821239" cy="1495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Xin Xin(</a:t>
            </a:r>
            <a:r>
              <a:rPr lang="zh-CN" altLang="en-US" sz="2400" b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辛鑫</a:t>
            </a:r>
            <a:r>
              <a:rPr lang="en-US" altLang="zh-CN" sz="2400" b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2400" b="1" dirty="0" err="1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xinxin@sdu.edu.cn</a:t>
            </a:r>
            <a:endParaRPr lang="en-US" altLang="zh-CN" sz="2400" b="1" dirty="0">
              <a:solidFill>
                <a:prstClr val="black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https://</a:t>
            </a:r>
            <a:r>
              <a:rPr lang="en-US" altLang="zh-CN" sz="2400" b="1" dirty="0" err="1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xinxin-me.github.io</a:t>
            </a:r>
            <a:r>
              <a:rPr lang="en-US" altLang="zh-CN" sz="2400" b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051825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41932" y="2003923"/>
            <a:ext cx="10197568" cy="920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/>
              <a:t>Bayes Classifiers </a:t>
            </a:r>
          </a:p>
        </p:txBody>
      </p:sp>
    </p:spTree>
    <p:extLst>
      <p:ext uri="{BB962C8B-B14F-4D97-AF65-F5344CB8AC3E}">
        <p14:creationId xmlns:p14="http://schemas.microsoft.com/office/powerpoint/2010/main" val="1924008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0127E38B-B73C-4459-9111-840809AC04F2}"/>
              </a:ext>
            </a:extLst>
          </p:cNvPr>
          <p:cNvSpPr/>
          <p:nvPr/>
        </p:nvSpPr>
        <p:spPr>
          <a:xfrm>
            <a:off x="413885" y="990601"/>
            <a:ext cx="11280809" cy="1598758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C56F2B-B6B4-40E4-877A-3BA26BA6C09D}"/>
              </a:ext>
            </a:extLst>
          </p:cNvPr>
          <p:cNvSpPr txBox="1"/>
          <p:nvPr/>
        </p:nvSpPr>
        <p:spPr>
          <a:xfrm>
            <a:off x="221382" y="114717"/>
            <a:ext cx="6599114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Classifiers and Discriminant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C28E59DD-5FCF-4030-9ABA-186A71C1EDC9}"/>
                  </a:ext>
                </a:extLst>
              </p:cNvPr>
              <p:cNvSpPr/>
              <p:nvPr/>
            </p:nvSpPr>
            <p:spPr>
              <a:xfrm>
                <a:off x="497305" y="990601"/>
                <a:ext cx="1119738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400" dirty="0"/>
                  <a:t>Classifiers can be represented in terms of a set of discriminant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=1,…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sz="2400" dirty="0"/>
                  <a:t>. </a:t>
                </a: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C28E59DD-5FCF-4030-9ABA-186A71C1ED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05" y="990601"/>
                <a:ext cx="11197389" cy="461665"/>
              </a:xfrm>
              <a:prstGeom prst="rect">
                <a:avLst/>
              </a:prstGeom>
              <a:blipFill>
                <a:blip r:embed="rId2"/>
                <a:stretch>
                  <a:fillRect l="-871" t="-10667" r="-1580" b="-29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FFAD7484-1ACE-4E81-83B0-66175A61F2A1}"/>
                  </a:ext>
                </a:extLst>
              </p:cNvPr>
              <p:cNvSpPr/>
              <p:nvPr/>
            </p:nvSpPr>
            <p:spPr>
              <a:xfrm>
                <a:off x="497303" y="1495027"/>
                <a:ext cx="1119738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400" dirty="0"/>
                  <a:t>The classifier assigns the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/>
                  <a:t> to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zh-CN" sz="2400" dirty="0"/>
                  <a:t> if:</a:t>
                </a: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FFAD7484-1ACE-4E81-83B0-66175A61F2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03" y="1495027"/>
                <a:ext cx="11197389" cy="461665"/>
              </a:xfrm>
              <a:prstGeom prst="rect">
                <a:avLst/>
              </a:prstGeom>
              <a:blipFill>
                <a:blip r:embed="rId3"/>
                <a:stretch>
                  <a:fillRect l="-871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F6EC85C-06C6-4AC9-89BF-B3872EBD5E06}"/>
                  </a:ext>
                </a:extLst>
              </p:cNvPr>
              <p:cNvSpPr/>
              <p:nvPr/>
            </p:nvSpPr>
            <p:spPr>
              <a:xfrm>
                <a:off x="3854191" y="2020952"/>
                <a:ext cx="3032818" cy="4914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F6EC85C-06C6-4AC9-89BF-B3872EBD5E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191" y="2020952"/>
                <a:ext cx="3032818" cy="491417"/>
              </a:xfrm>
              <a:prstGeom prst="rect">
                <a:avLst/>
              </a:prstGeom>
              <a:blipFill>
                <a:blip r:embed="rId4"/>
                <a:stretch>
                  <a:fillRect l="-602" b="-1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4EC2522-77EA-4770-8023-B1AA08AA8571}"/>
              </a:ext>
            </a:extLst>
          </p:cNvPr>
          <p:cNvSpPr/>
          <p:nvPr/>
        </p:nvSpPr>
        <p:spPr>
          <a:xfrm>
            <a:off x="413885" y="2838651"/>
            <a:ext cx="11280809" cy="1598758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6806B480-4B83-4A70-AD41-0513B306DBEC}"/>
                  </a:ext>
                </a:extLst>
              </p:cNvPr>
              <p:cNvSpPr/>
              <p:nvPr/>
            </p:nvSpPr>
            <p:spPr>
              <a:xfrm>
                <a:off x="497305" y="2838651"/>
                <a:ext cx="1119738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400" dirty="0"/>
                  <a:t>Feature space divided into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sz="2400" dirty="0"/>
                  <a:t>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decision regions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/>
                  <a:t>’s</a:t>
                </a: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6806B480-4B83-4A70-AD41-0513B306DB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05" y="2838651"/>
                <a:ext cx="11197389" cy="461665"/>
              </a:xfrm>
              <a:prstGeom prst="rect">
                <a:avLst/>
              </a:prstGeom>
              <a:blipFill>
                <a:blip r:embed="rId5"/>
                <a:stretch>
                  <a:fillRect l="-871"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727C3970-B5BD-497E-9C1C-5AF6FE2E6C3D}"/>
                  </a:ext>
                </a:extLst>
              </p:cNvPr>
              <p:cNvSpPr/>
              <p:nvPr/>
            </p:nvSpPr>
            <p:spPr>
              <a:xfrm>
                <a:off x="3190806" y="3339634"/>
                <a:ext cx="5226046" cy="4914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/>
                  <a:t>  then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zh-CN" sz="2400" dirty="0"/>
                  <a:t> is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727C3970-B5BD-497E-9C1C-5AF6FE2E6C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806" y="3339634"/>
                <a:ext cx="5226046" cy="491417"/>
              </a:xfrm>
              <a:prstGeom prst="rect">
                <a:avLst/>
              </a:prstGeom>
              <a:blipFill>
                <a:blip r:embed="rId7"/>
                <a:stretch>
                  <a:fillRect l="-1748" t="-8750" b="-23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7090308B-E6C0-439F-A341-79F4E24A1DD8}"/>
                  </a:ext>
                </a:extLst>
              </p:cNvPr>
              <p:cNvSpPr/>
              <p:nvPr/>
            </p:nvSpPr>
            <p:spPr>
              <a:xfrm>
                <a:off x="3190806" y="3927891"/>
                <a:ext cx="270542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/>
                  <a:t>Assign</a:t>
                </a:r>
                <a:r>
                  <a:rPr lang="en-US" altLang="zh-CN" sz="24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zh-CN" sz="2400" dirty="0"/>
                  <a:t> the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7090308B-E6C0-439F-A341-79F4E24A1D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806" y="3927891"/>
                <a:ext cx="2705421" cy="461665"/>
              </a:xfrm>
              <a:prstGeom prst="rect">
                <a:avLst/>
              </a:prstGeom>
              <a:blipFill>
                <a:blip r:embed="rId8"/>
                <a:stretch>
                  <a:fillRect l="-3378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箭头: 左弧形 21">
            <a:extLst>
              <a:ext uri="{FF2B5EF4-FFF2-40B4-BE49-F238E27FC236}">
                <a16:creationId xmlns:a16="http://schemas.microsoft.com/office/drawing/2014/main" id="{2B549864-6BFD-4824-9816-CCB7A1CCB042}"/>
              </a:ext>
            </a:extLst>
          </p:cNvPr>
          <p:cNvSpPr/>
          <p:nvPr/>
        </p:nvSpPr>
        <p:spPr>
          <a:xfrm>
            <a:off x="2723949" y="3585342"/>
            <a:ext cx="375386" cy="65939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88679964-743D-4D83-B1DA-ADA9A8DA9E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880" y="4658066"/>
            <a:ext cx="3888616" cy="2034975"/>
          </a:xfrm>
          <a:prstGeom prst="rect">
            <a:avLst/>
          </a:prstGeom>
        </p:spPr>
      </p:pic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92CF2A0C-555C-417A-BA77-66ADC36B2DE8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3190806" y="5362973"/>
            <a:ext cx="1949085" cy="315932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AD5254F5-FE98-4774-9EE8-BBA0704F0408}"/>
              </a:ext>
            </a:extLst>
          </p:cNvPr>
          <p:cNvSpPr/>
          <p:nvPr/>
        </p:nvSpPr>
        <p:spPr>
          <a:xfrm>
            <a:off x="2100026" y="4856681"/>
            <a:ext cx="2181559" cy="5062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Decision Boundary</a:t>
            </a:r>
          </a:p>
        </p:txBody>
      </p:sp>
    </p:spTree>
    <p:extLst>
      <p:ext uri="{BB962C8B-B14F-4D97-AF65-F5344CB8AC3E}">
        <p14:creationId xmlns:p14="http://schemas.microsoft.com/office/powerpoint/2010/main" val="2639890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0" grpId="0"/>
      <p:bldP spid="21" grpId="0"/>
      <p:bldP spid="22" grpId="0" animBg="1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FD04B92-B632-48EB-A7F1-3BEC9B73A089}"/>
              </a:ext>
            </a:extLst>
          </p:cNvPr>
          <p:cNvSpPr/>
          <p:nvPr/>
        </p:nvSpPr>
        <p:spPr>
          <a:xfrm>
            <a:off x="413885" y="990600"/>
            <a:ext cx="11280809" cy="274366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B7A719F-572C-49B2-BA25-5A11C5C31227}"/>
                  </a:ext>
                </a:extLst>
              </p:cNvPr>
              <p:cNvSpPr txBox="1"/>
              <p:nvPr/>
            </p:nvSpPr>
            <p:spPr>
              <a:xfrm>
                <a:off x="5679441" y="4745549"/>
                <a:ext cx="5062220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𝑝𝑜𝑠𝑡𝑒𝑟𝑖𝑜𝑟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𝑝𝑟𝑖𝑜𝑟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𝑙𝑖𝑘𝑒𝑙𝑖h𝑜𝑜𝑑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𝑒𝑣𝑖𝑑𝑒𝑛𝑐𝑒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B7A719F-572C-49B2-BA25-5A11C5C31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441" y="4745549"/>
                <a:ext cx="5062220" cy="8182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B789271-55A2-4C1F-8DE7-BDF5610F1F48}"/>
                  </a:ext>
                </a:extLst>
              </p:cNvPr>
              <p:cNvSpPr/>
              <p:nvPr/>
            </p:nvSpPr>
            <p:spPr>
              <a:xfrm>
                <a:off x="630655" y="1094051"/>
                <a:ext cx="1119738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400" b="1" dirty="0">
                    <a:solidFill>
                      <a:srgbClr val="FF0000"/>
                    </a:solidFill>
                  </a:rPr>
                  <a:t>Prior</a:t>
                </a:r>
                <a:r>
                  <a:rPr lang="en-US" altLang="zh-CN" sz="2400" dirty="0"/>
                  <a:t>: A priori probability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B789271-55A2-4C1F-8DE7-BDF5610F1F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55" y="1094051"/>
                <a:ext cx="11197389" cy="461665"/>
              </a:xfrm>
              <a:prstGeom prst="rect">
                <a:avLst/>
              </a:prstGeom>
              <a:blipFill>
                <a:blip r:embed="rId3"/>
                <a:stretch>
                  <a:fillRect l="-817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5ADDF92-46B1-4DBA-AAB8-671E116BFCDE}"/>
                  </a:ext>
                </a:extLst>
              </p:cNvPr>
              <p:cNvSpPr/>
              <p:nvPr/>
            </p:nvSpPr>
            <p:spPr>
              <a:xfrm>
                <a:off x="630655" y="1813145"/>
                <a:ext cx="1119738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400" b="1" dirty="0">
                    <a:solidFill>
                      <a:srgbClr val="FF0000"/>
                    </a:solidFill>
                  </a:rPr>
                  <a:t>Evidence</a:t>
                </a:r>
                <a:r>
                  <a:rPr lang="en-US" altLang="zh-CN" sz="2400" dirty="0"/>
                  <a:t>: Probability density of feature 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zh-CN" sz="2400" dirty="0"/>
                  <a:t>: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/>
                  <a:t> 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5ADDF92-46B1-4DBA-AAB8-671E116BFC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55" y="1813145"/>
                <a:ext cx="11197389" cy="461665"/>
              </a:xfrm>
              <a:prstGeom prst="rect">
                <a:avLst/>
              </a:prstGeom>
              <a:blipFill>
                <a:blip r:embed="rId4"/>
                <a:stretch>
                  <a:fillRect l="-817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6E6CBC4-0254-478C-AB3F-6274B8392637}"/>
                  </a:ext>
                </a:extLst>
              </p:cNvPr>
              <p:cNvSpPr/>
              <p:nvPr/>
            </p:nvSpPr>
            <p:spPr>
              <a:xfrm>
                <a:off x="630654" y="2532239"/>
                <a:ext cx="1119738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400" b="1" dirty="0">
                    <a:solidFill>
                      <a:srgbClr val="FF0000"/>
                    </a:solidFill>
                  </a:rPr>
                  <a:t>Likelihood</a:t>
                </a:r>
                <a:r>
                  <a:rPr lang="en-US" altLang="zh-CN" sz="2400" dirty="0"/>
                  <a:t>: Class-conditional probability density: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6E6CBC4-0254-478C-AB3F-6274B83926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54" y="2532239"/>
                <a:ext cx="11197389" cy="461665"/>
              </a:xfrm>
              <a:prstGeom prst="rect">
                <a:avLst/>
              </a:prstGeom>
              <a:blipFill>
                <a:blip r:embed="rId5"/>
                <a:stretch>
                  <a:fillRect l="-817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17402E7E-560C-4F67-AD02-A5F27425CCAF}"/>
                  </a:ext>
                </a:extLst>
              </p:cNvPr>
              <p:cNvSpPr/>
              <p:nvPr/>
            </p:nvSpPr>
            <p:spPr>
              <a:xfrm>
                <a:off x="5031205" y="1094051"/>
                <a:ext cx="3179346" cy="4818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400" dirty="0"/>
                  <a:t> </a:t>
                </a: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17402E7E-560C-4F67-AD02-A5F27425CC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1205" y="1094051"/>
                <a:ext cx="3179346" cy="4818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134EADD-858E-4B27-9165-54D46B38A411}"/>
                  </a:ext>
                </a:extLst>
              </p:cNvPr>
              <p:cNvSpPr/>
              <p:nvPr/>
            </p:nvSpPr>
            <p:spPr>
              <a:xfrm>
                <a:off x="630654" y="3200711"/>
                <a:ext cx="1119738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400" b="1" dirty="0">
                    <a:solidFill>
                      <a:srgbClr val="FF0000"/>
                    </a:solidFill>
                  </a:rPr>
                  <a:t>Posterior</a:t>
                </a:r>
                <a:r>
                  <a:rPr lang="en-US" altLang="zh-CN" sz="2400" dirty="0"/>
                  <a:t>: Probability of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/>
                  <a:t>for a given feature value 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zh-CN" sz="2400" dirty="0"/>
                  <a:t>: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134EADD-858E-4B27-9165-54D46B38A4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54" y="3200711"/>
                <a:ext cx="11197389" cy="461665"/>
              </a:xfrm>
              <a:prstGeom prst="rect">
                <a:avLst/>
              </a:prstGeom>
              <a:blipFill>
                <a:blip r:embed="rId7"/>
                <a:stretch>
                  <a:fillRect l="-817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44E2BC4-C131-4AF0-89CE-7D9614FAE437}"/>
                  </a:ext>
                </a:extLst>
              </p:cNvPr>
              <p:cNvSpPr txBox="1"/>
              <p:nvPr/>
            </p:nvSpPr>
            <p:spPr>
              <a:xfrm>
                <a:off x="1221293" y="4745549"/>
                <a:ext cx="3785587" cy="9087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nor/>
                            </m:rPr>
                            <a:rPr lang="zh-CN" altLang="en-US" sz="2800" dirty="0"/>
                            <m:t> </m:t>
                          </m:r>
                        </m:num>
                        <m:den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44E2BC4-C131-4AF0-89CE-7D9614FAE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293" y="4745549"/>
                <a:ext cx="3785587" cy="9087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679CF53F-BA2B-49F7-922E-9C73BE189888}"/>
              </a:ext>
            </a:extLst>
          </p:cNvPr>
          <p:cNvSpPr txBox="1"/>
          <p:nvPr/>
        </p:nvSpPr>
        <p:spPr>
          <a:xfrm>
            <a:off x="221382" y="114717"/>
            <a:ext cx="3556551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Bayes Decision Rule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A6E7A4F-8F72-499D-BDEF-5F480486EC7A}"/>
              </a:ext>
            </a:extLst>
          </p:cNvPr>
          <p:cNvSpPr txBox="1"/>
          <p:nvPr/>
        </p:nvSpPr>
        <p:spPr>
          <a:xfrm>
            <a:off x="593557" y="84576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先验概率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0B06929-DA66-47DB-BC24-9F5007EFA74D}"/>
              </a:ext>
            </a:extLst>
          </p:cNvPr>
          <p:cNvSpPr txBox="1"/>
          <p:nvPr/>
        </p:nvSpPr>
        <p:spPr>
          <a:xfrm>
            <a:off x="593557" y="2273964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似然</a:t>
            </a:r>
            <a:r>
              <a:rPr lang="en-US" altLang="zh-CN" b="1" dirty="0"/>
              <a:t>(</a:t>
            </a:r>
            <a:r>
              <a:rPr lang="zh-CN" altLang="en-US" b="1" dirty="0"/>
              <a:t>类条件概率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D7BA423-A406-4B91-BFAF-1203ED873C45}"/>
              </a:ext>
            </a:extLst>
          </p:cNvPr>
          <p:cNvSpPr txBox="1"/>
          <p:nvPr/>
        </p:nvSpPr>
        <p:spPr>
          <a:xfrm>
            <a:off x="593557" y="156638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证据因子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3362AA0-A435-4160-9924-C826856A0638}"/>
              </a:ext>
            </a:extLst>
          </p:cNvPr>
          <p:cNvSpPr txBox="1"/>
          <p:nvPr/>
        </p:nvSpPr>
        <p:spPr>
          <a:xfrm>
            <a:off x="593557" y="293463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后验概率</a:t>
            </a:r>
          </a:p>
        </p:txBody>
      </p:sp>
    </p:spTree>
    <p:extLst>
      <p:ext uri="{BB962C8B-B14F-4D97-AF65-F5344CB8AC3E}">
        <p14:creationId xmlns:p14="http://schemas.microsoft.com/office/powerpoint/2010/main" val="3308379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7FC04638-2871-4ADD-BC6E-F946C9D7A376}"/>
              </a:ext>
            </a:extLst>
          </p:cNvPr>
          <p:cNvSpPr/>
          <p:nvPr/>
        </p:nvSpPr>
        <p:spPr>
          <a:xfrm>
            <a:off x="413884" y="3238055"/>
            <a:ext cx="11280809" cy="1545699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74B0C82-5426-476C-AF59-0D3CEE14E84D}"/>
              </a:ext>
            </a:extLst>
          </p:cNvPr>
          <p:cNvSpPr/>
          <p:nvPr/>
        </p:nvSpPr>
        <p:spPr>
          <a:xfrm>
            <a:off x="413884" y="4892232"/>
            <a:ext cx="11280809" cy="1545699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5A6678A-59EF-45FE-9CDB-5A84AAAF4E98}"/>
              </a:ext>
            </a:extLst>
          </p:cNvPr>
          <p:cNvSpPr/>
          <p:nvPr/>
        </p:nvSpPr>
        <p:spPr>
          <a:xfrm>
            <a:off x="413884" y="970621"/>
            <a:ext cx="11280809" cy="214253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CE66A1-9D10-48F8-8777-563747D7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2498EB-F3F7-4EDA-BA1F-3CF5C7DE6FD4}"/>
              </a:ext>
            </a:extLst>
          </p:cNvPr>
          <p:cNvSpPr txBox="1"/>
          <p:nvPr/>
        </p:nvSpPr>
        <p:spPr>
          <a:xfrm>
            <a:off x="221382" y="114717"/>
            <a:ext cx="3556551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Bayes Decision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D355B2E0-3849-4388-97A6-EE96D08C86DD}"/>
                  </a:ext>
                </a:extLst>
              </p:cNvPr>
              <p:cNvSpPr/>
              <p:nvPr/>
            </p:nvSpPr>
            <p:spPr>
              <a:xfrm>
                <a:off x="497306" y="1140481"/>
                <a:ext cx="11280809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rgbClr val="000000"/>
                    </a:solidFill>
                  </a:rPr>
                  <a:t>Consider the binary classification.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rgbClr val="000000"/>
                    </a:solidFill>
                  </a:rPr>
                  <a:t>Probability of error when observing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</a:rPr>
                  <a:t>: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D355B2E0-3849-4388-97A6-EE96D08C86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06" y="1140481"/>
                <a:ext cx="11280809" cy="830997"/>
              </a:xfrm>
              <a:prstGeom prst="rect">
                <a:avLst/>
              </a:prstGeom>
              <a:blipFill>
                <a:blip r:embed="rId2"/>
                <a:stretch>
                  <a:fillRect l="-757" t="-5882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7463D939-C34D-4B7F-8C1A-8CE1666F0A76}"/>
                  </a:ext>
                </a:extLst>
              </p:cNvPr>
              <p:cNvSpPr/>
              <p:nvPr/>
            </p:nvSpPr>
            <p:spPr>
              <a:xfrm>
                <a:off x="3615720" y="2049155"/>
                <a:ext cx="533448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e>
                        <m:r>
                          <a:rPr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r>
                          <a:rPr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zh-CN" sz="2400" dirty="0"/>
                  <a:t> if we decide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7463D939-C34D-4B7F-8C1A-8CE1666F0A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5720" y="2049155"/>
                <a:ext cx="5334481" cy="461665"/>
              </a:xfrm>
              <a:prstGeom prst="rect">
                <a:avLst/>
              </a:prstGeom>
              <a:blipFill>
                <a:blip r:embed="rId3"/>
                <a:stretch>
                  <a:fillRect l="-343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>
            <a:extLst>
              <a:ext uri="{FF2B5EF4-FFF2-40B4-BE49-F238E27FC236}">
                <a16:creationId xmlns:a16="http://schemas.microsoft.com/office/drawing/2014/main" id="{22543CE5-2B9D-477A-95A1-2A3436D1AE5E}"/>
              </a:ext>
            </a:extLst>
          </p:cNvPr>
          <p:cNvSpPr/>
          <p:nvPr/>
        </p:nvSpPr>
        <p:spPr>
          <a:xfrm>
            <a:off x="488162" y="5031410"/>
            <a:ext cx="112808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</a:rPr>
              <a:t>Bayes decision rule for minimizing the probability of error: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E6AF26C4-3564-42AC-BBF4-B92586B411B1}"/>
                  </a:ext>
                </a:extLst>
              </p:cNvPr>
              <p:cNvSpPr/>
              <p:nvPr/>
            </p:nvSpPr>
            <p:spPr>
              <a:xfrm>
                <a:off x="3599598" y="2550187"/>
                <a:ext cx="585111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e>
                        <m:r>
                          <a:rPr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zh-CN" sz="2400" dirty="0"/>
                  <a:t> if we decide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E6AF26C4-3564-42AC-BBF4-B92586B411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598" y="2550187"/>
                <a:ext cx="5851118" cy="461665"/>
              </a:xfrm>
              <a:prstGeom prst="rect">
                <a:avLst/>
              </a:prstGeom>
              <a:blipFill>
                <a:blip r:embed="rId4"/>
                <a:stretch>
                  <a:fillRect l="-313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0C99B3A0-2AA9-4E27-9DE1-0ACEE1C55625}"/>
                  </a:ext>
                </a:extLst>
              </p:cNvPr>
              <p:cNvSpPr/>
              <p:nvPr/>
            </p:nvSpPr>
            <p:spPr>
              <a:xfrm>
                <a:off x="2072068" y="5647029"/>
                <a:ext cx="77072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400" dirty="0"/>
                  <a:t>decide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/>
                  <a:t> if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r>
                          <a:rPr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zh-CN" sz="2400" dirty="0"/>
                  <a:t>; otherwise decide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0C99B3A0-2AA9-4E27-9DE1-0ACEE1C556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068" y="5647029"/>
                <a:ext cx="7707200" cy="461665"/>
              </a:xfrm>
              <a:prstGeom prst="rect">
                <a:avLst/>
              </a:prstGeom>
              <a:blipFill>
                <a:blip r:embed="rId5"/>
                <a:stretch>
                  <a:fillRect l="-1266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2A0E2701-B675-499D-9ABF-5754AEA9EF0E}"/>
                  </a:ext>
                </a:extLst>
              </p:cNvPr>
              <p:cNvSpPr/>
              <p:nvPr/>
            </p:nvSpPr>
            <p:spPr>
              <a:xfrm>
                <a:off x="3000109" y="3813019"/>
                <a:ext cx="5851118" cy="8891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e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2A0E2701-B675-499D-9ABF-5754AEA9EF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109" y="3813019"/>
                <a:ext cx="5851118" cy="8891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矩形 29">
            <a:extLst>
              <a:ext uri="{FF2B5EF4-FFF2-40B4-BE49-F238E27FC236}">
                <a16:creationId xmlns:a16="http://schemas.microsoft.com/office/drawing/2014/main" id="{C3ADBDA2-664C-4B55-88DB-7555422C6F16}"/>
              </a:ext>
            </a:extLst>
          </p:cNvPr>
          <p:cNvSpPr/>
          <p:nvPr/>
        </p:nvSpPr>
        <p:spPr>
          <a:xfrm>
            <a:off x="488161" y="3400912"/>
            <a:ext cx="112808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</a:rPr>
              <a:t>Average probability of error</a:t>
            </a:r>
          </a:p>
        </p:txBody>
      </p:sp>
    </p:spTree>
    <p:extLst>
      <p:ext uri="{BB962C8B-B14F-4D97-AF65-F5344CB8AC3E}">
        <p14:creationId xmlns:p14="http://schemas.microsoft.com/office/powerpoint/2010/main" val="1819536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4" grpId="0" animBg="1"/>
      <p:bldP spid="16" grpId="0"/>
      <p:bldP spid="19" grpId="0"/>
      <p:bldP spid="22" grpId="0"/>
      <p:bldP spid="26" grpId="0"/>
      <p:bldP spid="29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74B0C82-5426-476C-AF59-0D3CEE14E84D}"/>
              </a:ext>
            </a:extLst>
          </p:cNvPr>
          <p:cNvSpPr/>
          <p:nvPr/>
        </p:nvSpPr>
        <p:spPr>
          <a:xfrm>
            <a:off x="413883" y="927990"/>
            <a:ext cx="11280809" cy="1341748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CE66A1-9D10-48F8-8777-563747D7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2498EB-F3F7-4EDA-BA1F-3CF5C7DE6FD4}"/>
              </a:ext>
            </a:extLst>
          </p:cNvPr>
          <p:cNvSpPr txBox="1"/>
          <p:nvPr/>
        </p:nvSpPr>
        <p:spPr>
          <a:xfrm>
            <a:off x="221382" y="114717"/>
            <a:ext cx="6835974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Bayes Error Rate—Minimum Error Rate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2543CE5-2B9D-477A-95A1-2A3436D1AE5E}"/>
              </a:ext>
            </a:extLst>
          </p:cNvPr>
          <p:cNvSpPr/>
          <p:nvPr/>
        </p:nvSpPr>
        <p:spPr>
          <a:xfrm>
            <a:off x="488161" y="1067167"/>
            <a:ext cx="112808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</a:rPr>
              <a:t>Bayes decision rule for minimizing the probability of error: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0C99B3A0-2AA9-4E27-9DE1-0ACEE1C55625}"/>
                  </a:ext>
                </a:extLst>
              </p:cNvPr>
              <p:cNvSpPr/>
              <p:nvPr/>
            </p:nvSpPr>
            <p:spPr>
              <a:xfrm>
                <a:off x="2072067" y="1682786"/>
                <a:ext cx="77072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400" dirty="0"/>
                  <a:t>decide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/>
                  <a:t> if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r>
                          <a:rPr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en-US" altLang="zh-CN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zh-CN" sz="2400" dirty="0"/>
                  <a:t>; otherwise decide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0C99B3A0-2AA9-4E27-9DE1-0ACEE1C556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067" y="1682786"/>
                <a:ext cx="7707200" cy="461665"/>
              </a:xfrm>
              <a:prstGeom prst="rect">
                <a:avLst/>
              </a:prstGeom>
              <a:blipFill>
                <a:blip r:embed="rId2"/>
                <a:stretch>
                  <a:fillRect l="-1266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>
            <a:extLst>
              <a:ext uri="{FF2B5EF4-FFF2-40B4-BE49-F238E27FC236}">
                <a16:creationId xmlns:a16="http://schemas.microsoft.com/office/drawing/2014/main" id="{CC29DD9B-3376-402E-9792-498CBD03C197}"/>
              </a:ext>
            </a:extLst>
          </p:cNvPr>
          <p:cNvGrpSpPr/>
          <p:nvPr/>
        </p:nvGrpSpPr>
        <p:grpSpPr>
          <a:xfrm>
            <a:off x="488161" y="2372778"/>
            <a:ext cx="8620699" cy="4370505"/>
            <a:chOff x="1818215" y="2423692"/>
            <a:chExt cx="8620699" cy="4370505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831F197B-AC3C-4C54-9C78-4D33BCC2D224}"/>
                </a:ext>
              </a:extLst>
            </p:cNvPr>
            <p:cNvGrpSpPr/>
            <p:nvPr/>
          </p:nvGrpSpPr>
          <p:grpSpPr>
            <a:xfrm>
              <a:off x="1818215" y="2423692"/>
              <a:ext cx="8620699" cy="4370505"/>
              <a:chOff x="1803461" y="2512430"/>
              <a:chExt cx="8216580" cy="4127813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039FE54A-5DDB-4AEE-B773-AB232F4B76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05047" y="2512430"/>
                <a:ext cx="7898479" cy="404658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矩形 14">
                    <a:extLst>
                      <a:ext uri="{FF2B5EF4-FFF2-40B4-BE49-F238E27FC236}">
                        <a16:creationId xmlns:a16="http://schemas.microsoft.com/office/drawing/2014/main" id="{F01D09A0-3C94-4BCF-B56E-9F2EA377C623}"/>
                      </a:ext>
                    </a:extLst>
                  </p:cNvPr>
                  <p:cNvSpPr/>
                  <p:nvPr/>
                </p:nvSpPr>
                <p:spPr>
                  <a:xfrm>
                    <a:off x="1803461" y="2659427"/>
                    <a:ext cx="1642378" cy="40011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>
                    <a:spAutoFit/>
                  </a:bodyPr>
                  <a:lstStyle/>
                  <a:p>
                    <a:pPr algn="just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altLang="zh-CN" sz="2000" dirty="0"/>
                  </a:p>
                </p:txBody>
              </p:sp>
            </mc:Choice>
            <mc:Fallback xmlns="">
              <p:sp>
                <p:nvSpPr>
                  <p:cNvPr id="15" name="矩形 14">
                    <a:extLst>
                      <a:ext uri="{FF2B5EF4-FFF2-40B4-BE49-F238E27FC236}">
                        <a16:creationId xmlns:a16="http://schemas.microsoft.com/office/drawing/2014/main" id="{F01D09A0-3C94-4BCF-B56E-9F2EA377C62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03461" y="2659427"/>
                    <a:ext cx="1642378" cy="4001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869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矩形 16">
                    <a:extLst>
                      <a:ext uri="{FF2B5EF4-FFF2-40B4-BE49-F238E27FC236}">
                        <a16:creationId xmlns:a16="http://schemas.microsoft.com/office/drawing/2014/main" id="{CACF6D02-FBEC-4D24-A9DF-FEB424B60991}"/>
                      </a:ext>
                    </a:extLst>
                  </p:cNvPr>
                  <p:cNvSpPr/>
                  <p:nvPr/>
                </p:nvSpPr>
                <p:spPr>
                  <a:xfrm>
                    <a:off x="3744689" y="2665681"/>
                    <a:ext cx="6275352" cy="461665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>
                    <a:spAutoFit/>
                  </a:bodyPr>
                  <a:lstStyle/>
                  <a:p>
                    <a:pPr algn="just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ℛ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ℛ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altLang="zh-CN" sz="2400" dirty="0"/>
                  </a:p>
                </p:txBody>
              </p:sp>
            </mc:Choice>
            <mc:Fallback xmlns="">
              <p:sp>
                <p:nvSpPr>
                  <p:cNvPr id="17" name="矩形 16">
                    <a:extLst>
                      <a:ext uri="{FF2B5EF4-FFF2-40B4-BE49-F238E27FC236}">
                        <a16:creationId xmlns:a16="http://schemas.microsoft.com/office/drawing/2014/main" id="{CACF6D02-FBEC-4D24-A9DF-FEB424B6099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44689" y="2665681"/>
                    <a:ext cx="6275352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12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矩形 7">
                    <a:extLst>
                      <a:ext uri="{FF2B5EF4-FFF2-40B4-BE49-F238E27FC236}">
                        <a16:creationId xmlns:a16="http://schemas.microsoft.com/office/drawing/2014/main" id="{00DA316F-9C9D-493D-BC6D-E86F1E105A57}"/>
                      </a:ext>
                    </a:extLst>
                  </p:cNvPr>
                  <p:cNvSpPr/>
                  <p:nvPr/>
                </p:nvSpPr>
                <p:spPr>
                  <a:xfrm>
                    <a:off x="3429643" y="3286784"/>
                    <a:ext cx="463909" cy="36933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矩形 7">
                    <a:extLst>
                      <a:ext uri="{FF2B5EF4-FFF2-40B4-BE49-F238E27FC236}">
                        <a16:creationId xmlns:a16="http://schemas.microsoft.com/office/drawing/2014/main" id="{00DA316F-9C9D-493D-BC6D-E86F1E105A5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9643" y="3286784"/>
                    <a:ext cx="463909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矩形 17">
                    <a:extLst>
                      <a:ext uri="{FF2B5EF4-FFF2-40B4-BE49-F238E27FC236}">
                        <a16:creationId xmlns:a16="http://schemas.microsoft.com/office/drawing/2014/main" id="{A3A122DA-990B-4FEE-A26A-7DD95F9949B4}"/>
                      </a:ext>
                    </a:extLst>
                  </p:cNvPr>
                  <p:cNvSpPr/>
                  <p:nvPr/>
                </p:nvSpPr>
                <p:spPr>
                  <a:xfrm>
                    <a:off x="6413134" y="3301502"/>
                    <a:ext cx="469231" cy="36933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18" name="矩形 17">
                    <a:extLst>
                      <a:ext uri="{FF2B5EF4-FFF2-40B4-BE49-F238E27FC236}">
                        <a16:creationId xmlns:a16="http://schemas.microsoft.com/office/drawing/2014/main" id="{A3A122DA-990B-4FEE-A26A-7DD95F9949B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13134" y="3301502"/>
                    <a:ext cx="469231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矩形 19">
                    <a:extLst>
                      <a:ext uri="{FF2B5EF4-FFF2-40B4-BE49-F238E27FC236}">
                        <a16:creationId xmlns:a16="http://schemas.microsoft.com/office/drawing/2014/main" id="{13C892F6-40BF-4AB7-A66F-BCCD48F028F8}"/>
                      </a:ext>
                    </a:extLst>
                  </p:cNvPr>
                  <p:cNvSpPr/>
                  <p:nvPr/>
                </p:nvSpPr>
                <p:spPr>
                  <a:xfrm>
                    <a:off x="5659359" y="5790833"/>
                    <a:ext cx="2151021" cy="84792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>
                    <a:spAutoFit/>
                  </a:bodyPr>
                  <a:lstStyle/>
                  <a:p>
                    <a:pPr algn="just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ℛ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</m:oMath>
                      </m:oMathPara>
                    </a14:m>
                    <a:endParaRPr lang="en-US" altLang="zh-CN" sz="2000" dirty="0"/>
                  </a:p>
                </p:txBody>
              </p:sp>
            </mc:Choice>
            <mc:Fallback xmlns="">
              <p:sp>
                <p:nvSpPr>
                  <p:cNvPr id="20" name="矩形 19">
                    <a:extLst>
                      <a:ext uri="{FF2B5EF4-FFF2-40B4-BE49-F238E27FC236}">
                        <a16:creationId xmlns:a16="http://schemas.microsoft.com/office/drawing/2014/main" id="{13C892F6-40BF-4AB7-A66F-BCCD48F028F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59359" y="5790833"/>
                    <a:ext cx="2151021" cy="84792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矩形 20">
                    <a:extLst>
                      <a:ext uri="{FF2B5EF4-FFF2-40B4-BE49-F238E27FC236}">
                        <a16:creationId xmlns:a16="http://schemas.microsoft.com/office/drawing/2014/main" id="{50CD4565-12D8-44CA-8D70-F3581F6D42D0}"/>
                      </a:ext>
                    </a:extLst>
                  </p:cNvPr>
                  <p:cNvSpPr/>
                  <p:nvPr/>
                </p:nvSpPr>
                <p:spPr>
                  <a:xfrm>
                    <a:off x="1973179" y="5792319"/>
                    <a:ext cx="2257256" cy="84792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>
                    <a:spAutoFit/>
                  </a:bodyPr>
                  <a:lstStyle/>
                  <a:p>
                    <a:pPr algn="just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ℛ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</m:oMath>
                      </m:oMathPara>
                    </a14:m>
                    <a:endParaRPr lang="en-US" altLang="zh-CN" sz="2000" dirty="0"/>
                  </a:p>
                </p:txBody>
              </p:sp>
            </mc:Choice>
            <mc:Fallback xmlns="">
              <p:sp>
                <p:nvSpPr>
                  <p:cNvPr id="21" name="矩形 20">
                    <a:extLst>
                      <a:ext uri="{FF2B5EF4-FFF2-40B4-BE49-F238E27FC236}">
                        <a16:creationId xmlns:a16="http://schemas.microsoft.com/office/drawing/2014/main" id="{50CD4565-12D8-44CA-8D70-F3581F6D42D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73179" y="5792319"/>
                    <a:ext cx="2257256" cy="84792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矩形 22">
                    <a:extLst>
                      <a:ext uri="{FF2B5EF4-FFF2-40B4-BE49-F238E27FC236}">
                        <a16:creationId xmlns:a16="http://schemas.microsoft.com/office/drawing/2014/main" id="{182303AD-749A-467F-87FA-C8D298C0FF9F}"/>
                      </a:ext>
                    </a:extLst>
                  </p:cNvPr>
                  <p:cNvSpPr/>
                  <p:nvPr/>
                </p:nvSpPr>
                <p:spPr>
                  <a:xfrm>
                    <a:off x="3600647" y="5438707"/>
                    <a:ext cx="514885" cy="36933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ℛ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矩形 22">
                    <a:extLst>
                      <a:ext uri="{FF2B5EF4-FFF2-40B4-BE49-F238E27FC236}">
                        <a16:creationId xmlns:a16="http://schemas.microsoft.com/office/drawing/2014/main" id="{182303AD-749A-467F-87FA-C8D298C0FF9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00647" y="5438707"/>
                    <a:ext cx="514885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矩形 23">
                    <a:extLst>
                      <a:ext uri="{FF2B5EF4-FFF2-40B4-BE49-F238E27FC236}">
                        <a16:creationId xmlns:a16="http://schemas.microsoft.com/office/drawing/2014/main" id="{C6180943-49FF-41FE-975D-9352668FC7CE}"/>
                      </a:ext>
                    </a:extLst>
                  </p:cNvPr>
                  <p:cNvSpPr/>
                  <p:nvPr/>
                </p:nvSpPr>
                <p:spPr>
                  <a:xfrm>
                    <a:off x="6122130" y="5453425"/>
                    <a:ext cx="520206" cy="36933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ℛ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4" name="矩形 23">
                    <a:extLst>
                      <a:ext uri="{FF2B5EF4-FFF2-40B4-BE49-F238E27FC236}">
                        <a16:creationId xmlns:a16="http://schemas.microsoft.com/office/drawing/2014/main" id="{C6180943-49FF-41FE-975D-9352668FC7C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22130" y="5453425"/>
                    <a:ext cx="520206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矩形 24">
                    <a:extLst>
                      <a:ext uri="{FF2B5EF4-FFF2-40B4-BE49-F238E27FC236}">
                        <a16:creationId xmlns:a16="http://schemas.microsoft.com/office/drawing/2014/main" id="{4300D2B6-9D5F-4385-BA1E-0BB812D284A8}"/>
                      </a:ext>
                    </a:extLst>
                  </p:cNvPr>
                  <p:cNvSpPr/>
                  <p:nvPr/>
                </p:nvSpPr>
                <p:spPr>
                  <a:xfrm>
                    <a:off x="4578303" y="5421501"/>
                    <a:ext cx="486607" cy="36933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5" name="矩形 24">
                    <a:extLst>
                      <a:ext uri="{FF2B5EF4-FFF2-40B4-BE49-F238E27FC236}">
                        <a16:creationId xmlns:a16="http://schemas.microsoft.com/office/drawing/2014/main" id="{4300D2B6-9D5F-4385-BA1E-0BB812D284A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78303" y="5421501"/>
                    <a:ext cx="486607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矩形 26">
                    <a:extLst>
                      <a:ext uri="{FF2B5EF4-FFF2-40B4-BE49-F238E27FC236}">
                        <a16:creationId xmlns:a16="http://schemas.microsoft.com/office/drawing/2014/main" id="{EAC4560D-B608-481D-80B1-82EF39599738}"/>
                      </a:ext>
                    </a:extLst>
                  </p:cNvPr>
                  <p:cNvSpPr/>
                  <p:nvPr/>
                </p:nvSpPr>
                <p:spPr>
                  <a:xfrm>
                    <a:off x="5066093" y="5422916"/>
                    <a:ext cx="304804" cy="36933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7" name="矩形 26">
                    <a:extLst>
                      <a:ext uri="{FF2B5EF4-FFF2-40B4-BE49-F238E27FC236}">
                        <a16:creationId xmlns:a16="http://schemas.microsoft.com/office/drawing/2014/main" id="{EAC4560D-B608-481D-80B1-82EF3959973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66093" y="5422916"/>
                    <a:ext cx="304804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1153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3F7753DC-B0B1-4A32-B81C-8E4E1D3AD25A}"/>
                  </a:ext>
                </a:extLst>
              </p:cNvPr>
              <p:cNvSpPr/>
              <p:nvPr/>
            </p:nvSpPr>
            <p:spPr>
              <a:xfrm>
                <a:off x="5566015" y="4052329"/>
                <a:ext cx="1076321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CN" sz="1600" b="1" dirty="0">
                    <a:solidFill>
                      <a:srgbClr val="FF0000"/>
                    </a:solidFill>
                  </a:rPr>
                  <a:t>Reducible error</a:t>
                </a:r>
                <a:endParaRPr lang="zh-CN" altLang="en-US" sz="1600" b="1" dirty="0">
                  <a:solidFill>
                    <a:srgbClr val="FF0000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7F5F465D-E7F2-4CC5-9207-3CE9B6C8C33F}"/>
                    </a:ext>
                  </a:extLst>
                </p:cNvPr>
                <p:cNvSpPr/>
                <p:nvPr/>
              </p:nvSpPr>
              <p:spPr>
                <a:xfrm>
                  <a:off x="8118281" y="5263872"/>
                  <a:ext cx="319795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7F5F465D-E7F2-4CC5-9207-3CE9B6C8C3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8281" y="5263872"/>
                  <a:ext cx="319795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B1425BC-F2CC-4DB7-9BF7-93ED5A20DB71}"/>
                  </a:ext>
                </a:extLst>
              </p:cNvPr>
              <p:cNvSpPr txBox="1"/>
              <p:nvPr/>
            </p:nvSpPr>
            <p:spPr>
              <a:xfrm>
                <a:off x="7051461" y="3126887"/>
                <a:ext cx="4945116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2000" dirty="0"/>
                  <a:t>: 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nonoptimal</a:t>
                </a:r>
                <a:r>
                  <a:rPr lang="en-US" altLang="zh-CN" sz="2000" dirty="0"/>
                  <a:t> decision point.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solidFill>
                      <a:srgbClr val="FF0000"/>
                    </a:solidFill>
                  </a:rPr>
                  <a:t>Pink area</a:t>
                </a:r>
                <a:r>
                  <a:rPr lang="en-US" altLang="zh-CN" sz="2000" dirty="0"/>
                  <a:t>: the probability of errors for deciding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when the nature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altLang="zh-CN" sz="2000" b="0" dirty="0">
                  <a:solidFill>
                    <a:srgbClr val="000000"/>
                  </a:solidFill>
                </a:endParaRPr>
              </a:p>
              <a:p>
                <a:pPr marL="742950" lvl="1" indent="-285750" algn="just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solidFill>
                      <a:schemeClr val="bg1">
                        <a:lumMod val="50000"/>
                      </a:schemeClr>
                    </a:solidFill>
                  </a:rPr>
                  <a:t>Gray area: </a:t>
                </a:r>
                <a:r>
                  <a:rPr lang="en-US" altLang="zh-CN" sz="2000" dirty="0"/>
                  <a:t>the converse. </a:t>
                </a:r>
              </a:p>
              <a:p>
                <a:pPr marL="285750" indent="-285750" algn="just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zh-CN" sz="2000" dirty="0"/>
                  <a:t>: decision boundary of Bayes decision, where the reducible error is eliminated and the total shaded area is 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minimum</a:t>
                </a:r>
                <a:r>
                  <a:rPr lang="en-US" altLang="zh-CN" sz="2000" dirty="0"/>
                  <a:t> possible (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Bayes error rate</a:t>
                </a:r>
                <a:r>
                  <a:rPr lang="en-US" altLang="zh-CN" sz="2000" dirty="0"/>
                  <a:t>). 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u"/>
                </a:pPr>
                <a:r>
                  <a:rPr lang="en-US" altLang="zh-CN" sz="2000" dirty="0"/>
                  <a:t>Bayes error rate: the minimum achievable error rate for a classification problem.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B1425BC-F2CC-4DB7-9BF7-93ED5A20D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1461" y="3126887"/>
                <a:ext cx="4945116" cy="3477875"/>
              </a:xfrm>
              <a:prstGeom prst="rect">
                <a:avLst/>
              </a:prstGeom>
              <a:blipFill>
                <a:blip r:embed="rId15"/>
                <a:stretch>
                  <a:fillRect l="-1110" t="-1053" r="-1233" b="-22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本框 32">
            <a:extLst>
              <a:ext uri="{FF2B5EF4-FFF2-40B4-BE49-F238E27FC236}">
                <a16:creationId xmlns:a16="http://schemas.microsoft.com/office/drawing/2014/main" id="{FF2E6C40-4F9A-4423-8A9F-B39CD5EB1BEC}"/>
              </a:ext>
            </a:extLst>
          </p:cNvPr>
          <p:cNvSpPr txBox="1"/>
          <p:nvPr/>
        </p:nvSpPr>
        <p:spPr>
          <a:xfrm>
            <a:off x="-3437" y="3260541"/>
            <a:ext cx="1652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Equal posterior probability</a:t>
            </a:r>
            <a:endParaRPr lang="zh-CN" altLang="en-US" b="1" dirty="0"/>
          </a:p>
        </p:txBody>
      </p:sp>
      <p:cxnSp>
        <p:nvCxnSpPr>
          <p:cNvPr id="35" name="连接符: 曲线 34">
            <a:extLst>
              <a:ext uri="{FF2B5EF4-FFF2-40B4-BE49-F238E27FC236}">
                <a16:creationId xmlns:a16="http://schemas.microsoft.com/office/drawing/2014/main" id="{E6F968A0-C2FC-46E8-9FFE-A656185FEC41}"/>
              </a:ext>
            </a:extLst>
          </p:cNvPr>
          <p:cNvCxnSpPr>
            <a:cxnSpLocks/>
          </p:cNvCxnSpPr>
          <p:nvPr/>
        </p:nvCxnSpPr>
        <p:spPr>
          <a:xfrm>
            <a:off x="1393646" y="3682242"/>
            <a:ext cx="2261103" cy="44240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696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351044" y="3441271"/>
            <a:ext cx="11183731" cy="1532483"/>
          </a:xfrm>
          <a:prstGeom prst="roundRect">
            <a:avLst>
              <a:gd name="adj" fmla="val 6444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351046" y="1164134"/>
            <a:ext cx="11183730" cy="1998166"/>
          </a:xfrm>
          <a:prstGeom prst="roundRect">
            <a:avLst>
              <a:gd name="adj" fmla="val 6444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本框 90"/>
              <p:cNvSpPr txBox="1"/>
              <p:nvPr/>
            </p:nvSpPr>
            <p:spPr>
              <a:xfrm>
                <a:off x="351046" y="1164134"/>
                <a:ext cx="10926554" cy="1835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71500" indent="-571500" algn="just">
                  <a:lnSpc>
                    <a:spcPct val="120000"/>
                  </a:lnSpc>
                  <a:buFont typeface="Wingdings" panose="05000000000000000000" pitchFamily="2" charset="2"/>
                  <a:buChar char="n"/>
                </a:pPr>
                <a:r>
                  <a:rPr lang="en-US" altLang="zh-CN" sz="2400" b="1" dirty="0"/>
                  <a:t>Analytical tractability </a:t>
                </a:r>
              </a:p>
              <a:p>
                <a:pPr marL="1028700" lvl="1" indent="-571500" algn="just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sz="2400" dirty="0"/>
                  <a:t>(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zh-CN" altLang="en-US" sz="2400" b="1" i="1" smtClean="0">
                        <a:latin typeface="Cambria Math" panose="02040503050406030204" pitchFamily="18" charset="0"/>
                      </a:rPr>
                      <m:t>𝜮</m:t>
                    </m:r>
                  </m:oMath>
                </a14:m>
                <a:r>
                  <a:rPr lang="en-US" altLang="zh-CN" sz="2400" dirty="0"/>
                  <a:t>) are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sufficient </a:t>
                </a:r>
                <a:r>
                  <a:rPr lang="en-US" altLang="zh-CN" sz="2400" dirty="0"/>
                  <a:t>to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uniquely characterize </a:t>
                </a:r>
                <a:r>
                  <a:rPr lang="en-US" altLang="zh-CN" sz="2400" dirty="0"/>
                  <a:t>the distribution.</a:t>
                </a:r>
              </a:p>
              <a:p>
                <a:pPr marL="1028700" lvl="1" indent="-571500" algn="just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sz="2400" dirty="0"/>
                  <a:t>If (Gaussian)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/>
                  <a:t>’s are mutually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uncorrelated</a:t>
                </a:r>
                <a:r>
                  <a:rPr lang="en-US" altLang="zh-CN" sz="2400" dirty="0"/>
                  <a:t>, then they are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independent</a:t>
                </a:r>
                <a:r>
                  <a:rPr lang="en-US" altLang="zh-CN" sz="2400" dirty="0"/>
                  <a:t>.</a:t>
                </a:r>
              </a:p>
              <a:p>
                <a:pPr marL="1028700" lvl="1" indent="-571500" algn="just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sz="2400" dirty="0"/>
                  <a:t>The marginal and conditional densities are also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Gaussian</a:t>
                </a:r>
                <a:r>
                  <a:rPr lang="en-US" altLang="zh-CN" sz="2400" dirty="0"/>
                  <a:t>.</a:t>
                </a:r>
              </a:p>
            </p:txBody>
          </p:sp>
        </mc:Choice>
        <mc:Fallback xmlns="">
          <p:sp>
            <p:nvSpPr>
              <p:cNvPr id="91" name="文本框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046" y="1164134"/>
                <a:ext cx="10926554" cy="1835567"/>
              </a:xfrm>
              <a:prstGeom prst="rect">
                <a:avLst/>
              </a:prstGeom>
              <a:blipFill>
                <a:blip r:embed="rId3"/>
                <a:stretch>
                  <a:fillRect l="-781" t="-332" b="-66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DF975FB9-E407-4C94-B6C7-31679711D6D8}"/>
              </a:ext>
            </a:extLst>
          </p:cNvPr>
          <p:cNvSpPr txBox="1"/>
          <p:nvPr/>
        </p:nvSpPr>
        <p:spPr>
          <a:xfrm>
            <a:off x="410681" y="177277"/>
            <a:ext cx="3197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/>
              <a:t>Why Gaussian</a:t>
            </a:r>
            <a:endParaRPr lang="zh-CN" altLang="en-US" sz="4000" b="1" dirty="0"/>
          </a:p>
        </p:txBody>
      </p:sp>
      <p:sp>
        <p:nvSpPr>
          <p:cNvPr id="2" name="矩形 1"/>
          <p:cNvSpPr/>
          <p:nvPr/>
        </p:nvSpPr>
        <p:spPr>
          <a:xfrm>
            <a:off x="410680" y="3544087"/>
            <a:ext cx="10866919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400" b="1" dirty="0"/>
              <a:t>Ubiquity-Frequently observed</a:t>
            </a:r>
          </a:p>
          <a:p>
            <a:pPr marL="1028700" lvl="1" indent="-5715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/>
              <a:t>Central limit theorem (Many distributions we wish to model are truly close to being normal distributions. </a:t>
            </a:r>
          </a:p>
        </p:txBody>
      </p:sp>
    </p:spTree>
    <p:extLst>
      <p:ext uri="{BB962C8B-B14F-4D97-AF65-F5344CB8AC3E}">
        <p14:creationId xmlns:p14="http://schemas.microsoft.com/office/powerpoint/2010/main" val="711373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1209675" y="1685925"/>
            <a:ext cx="9667875" cy="1419225"/>
          </a:xfrm>
          <a:prstGeom prst="roundRect">
            <a:avLst>
              <a:gd name="adj" fmla="val 6908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1" name="文本框 90"/>
          <p:cNvSpPr txBox="1"/>
          <p:nvPr/>
        </p:nvSpPr>
        <p:spPr>
          <a:xfrm>
            <a:off x="351046" y="1164134"/>
            <a:ext cx="11566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n"/>
            </a:pPr>
            <a:r>
              <a:rPr lang="en-US" altLang="zh-CN" sz="2400" dirty="0"/>
              <a:t>Probability density function: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2903413" y="1915060"/>
                <a:ext cx="5629811" cy="1051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800" b="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2800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800" b="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num>
                                <m:den>
                                  <m:r>
                                    <a:rPr lang="zh-CN" altLang="en-US" sz="2800" b="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den>
                              </m:f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3413" y="1915060"/>
                <a:ext cx="5629811" cy="10511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39CADE81-FE20-430A-A0DA-6B6F667D8390}"/>
              </a:ext>
            </a:extLst>
          </p:cNvPr>
          <p:cNvSpPr txBox="1"/>
          <p:nvPr/>
        </p:nvSpPr>
        <p:spPr>
          <a:xfrm>
            <a:off x="410681" y="177277"/>
            <a:ext cx="112706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Normal/Gaussian Distribution of a Random Variable</a:t>
            </a:r>
            <a:endParaRPr lang="zh-CN" altLang="en-US" sz="4000" b="1" dirty="0"/>
          </a:p>
        </p:txBody>
      </p:sp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417" y="3258987"/>
            <a:ext cx="5035500" cy="25108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410681" y="3424087"/>
                <a:ext cx="5685319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71500" indent="-571500" algn="just"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sz="2400" dirty="0"/>
                  <a:t> =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mean</a:t>
                </a:r>
                <a:r>
                  <a:rPr lang="en-US" altLang="zh-CN" sz="2400" dirty="0"/>
                  <a:t> (or expected value) of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sz="2400" dirty="0"/>
              </a:p>
              <a:p>
                <a:pPr marL="571500" indent="-571500" algn="just"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/>
                  <a:t>= expected squared deviation or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variance</a:t>
                </a: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81" y="3424087"/>
                <a:ext cx="5685319" cy="1200329"/>
              </a:xfrm>
              <a:prstGeom prst="rect">
                <a:avLst/>
              </a:prstGeom>
              <a:blipFill rotWithShape="0">
                <a:blip r:embed="rId6"/>
                <a:stretch>
                  <a:fillRect l="-1393" t="-4061" r="-1715" b="-10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6278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BD95A71-EAA6-4F5A-B4FB-DBF4ADF8C898}"/>
              </a:ext>
            </a:extLst>
          </p:cNvPr>
          <p:cNvSpPr/>
          <p:nvPr/>
        </p:nvSpPr>
        <p:spPr>
          <a:xfrm>
            <a:off x="328159" y="968662"/>
            <a:ext cx="11280809" cy="3141726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C56F2B-B6B4-40E4-877A-3BA26BA6C09D}"/>
              </a:ext>
            </a:extLst>
          </p:cNvPr>
          <p:cNvSpPr txBox="1"/>
          <p:nvPr/>
        </p:nvSpPr>
        <p:spPr>
          <a:xfrm>
            <a:off x="221382" y="114717"/>
            <a:ext cx="1810111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Gaussian 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4A93ACF-4339-4691-A398-2E2E53F86427}"/>
              </a:ext>
            </a:extLst>
          </p:cNvPr>
          <p:cNvSpPr/>
          <p:nvPr/>
        </p:nvSpPr>
        <p:spPr>
          <a:xfrm>
            <a:off x="411578" y="1043421"/>
            <a:ext cx="111973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Multivariate Gaussian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593052CA-D3EC-4E63-8467-1A42175D157F}"/>
                  </a:ext>
                </a:extLst>
              </p:cNvPr>
              <p:cNvSpPr/>
              <p:nvPr/>
            </p:nvSpPr>
            <p:spPr>
              <a:xfrm>
                <a:off x="2194137" y="1562100"/>
                <a:ext cx="7040710" cy="6821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400" b="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/2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zh-CN" altLang="en-US" sz="2400" b="1" i="1">
                                <a:latin typeface="Cambria Math" panose="02040503050406030204" pitchFamily="18" charset="0"/>
                              </a:rPr>
                              <m:t>𝚺</m:t>
                            </m:r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1/2</m:t>
                            </m:r>
                          </m:sup>
                        </m:sSup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400" b="1" i="1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b="1" i="1">
                                <a:latin typeface="Cambria Math" panose="02040503050406030204" pitchFamily="18" charset="0"/>
                              </a:rPr>
                              <m:t>𝚺</m:t>
                            </m:r>
                          </m:e>
                          <m:sup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2400" b="1" i="1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sz="2400" b="1" dirty="0"/>
                  <a:t> </a:t>
                </a: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593052CA-D3EC-4E63-8467-1A42175D15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137" y="1562100"/>
                <a:ext cx="7040710" cy="6821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0DC1FCC0-C3EB-4BC2-9C5C-84C0FA1701D0}"/>
                  </a:ext>
                </a:extLst>
              </p:cNvPr>
              <p:cNvSpPr/>
              <p:nvPr/>
            </p:nvSpPr>
            <p:spPr>
              <a:xfrm>
                <a:off x="411578" y="2490477"/>
                <a:ext cx="11197389" cy="16096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CN" altLang="en-US" sz="2400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2400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sz="2400" b="0" dirty="0"/>
                  <a:t>mean vector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CN" altLang="en-US" sz="2400" b="1" i="1">
                        <a:latin typeface="Cambria Math" panose="02040503050406030204" pitchFamily="18" charset="0"/>
                      </a:rPr>
                      <m:t>𝚺</m:t>
                    </m:r>
                    <m:r>
                      <a:rPr lang="zh-CN" altLang="en-US" sz="2400" b="1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altLang="zh-CN" sz="2400" dirty="0"/>
                  <a:t>: covariance matrix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|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r>
                  <a:rPr lang="en-US" altLang="zh-CN" sz="2400" dirty="0"/>
                  <a:t>|</a:t>
                </a:r>
                <a:r>
                  <a:rPr lang="zh-CN" altLang="en-US" sz="2400" dirty="0"/>
                  <a:t>：</a:t>
                </a:r>
                <a:r>
                  <a:rPr lang="en-US" altLang="zh-CN" sz="2400" dirty="0"/>
                  <a:t>determinant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b="1" i="1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p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en-US" altLang="zh-CN" sz="2400" dirty="0"/>
                  <a:t>inverse</a:t>
                </a: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0DC1FCC0-C3EB-4BC2-9C5C-84C0FA1701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578" y="2490477"/>
                <a:ext cx="11197389" cy="1609671"/>
              </a:xfrm>
              <a:prstGeom prst="rect">
                <a:avLst/>
              </a:prstGeom>
              <a:blipFill>
                <a:blip r:embed="rId3"/>
                <a:stretch>
                  <a:fillRect l="-763" t="-3030" b="-56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FD9CFC8-3046-4B2E-9E3E-C1A340085464}"/>
                  </a:ext>
                </a:extLst>
              </p:cNvPr>
              <p:cNvSpPr/>
              <p:nvPr/>
            </p:nvSpPr>
            <p:spPr>
              <a:xfrm>
                <a:off x="6382720" y="2539525"/>
                <a:ext cx="2852127" cy="12661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FD9CFC8-3046-4B2E-9E3E-C1A3400854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2720" y="2539525"/>
                <a:ext cx="2852127" cy="12661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34C18D70-4CDF-4DC2-8E1C-51CC4F42AC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4558" y="4214448"/>
            <a:ext cx="3974410" cy="255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697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BD95A71-EAA6-4F5A-B4FB-DBF4ADF8C898}"/>
              </a:ext>
            </a:extLst>
          </p:cNvPr>
          <p:cNvSpPr/>
          <p:nvPr/>
        </p:nvSpPr>
        <p:spPr>
          <a:xfrm>
            <a:off x="413885" y="3423454"/>
            <a:ext cx="11280809" cy="3025472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127E38B-B73C-4459-9111-840809AC04F2}"/>
              </a:ext>
            </a:extLst>
          </p:cNvPr>
          <p:cNvSpPr/>
          <p:nvPr/>
        </p:nvSpPr>
        <p:spPr>
          <a:xfrm>
            <a:off x="413885" y="990600"/>
            <a:ext cx="11280809" cy="2224619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C56F2B-B6B4-40E4-877A-3BA26BA6C09D}"/>
              </a:ext>
            </a:extLst>
          </p:cNvPr>
          <p:cNvSpPr txBox="1"/>
          <p:nvPr/>
        </p:nvSpPr>
        <p:spPr>
          <a:xfrm>
            <a:off x="221382" y="114717"/>
            <a:ext cx="3288272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Covariance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4A93ACF-4339-4691-A398-2E2E53F86427}"/>
                  </a:ext>
                </a:extLst>
              </p:cNvPr>
              <p:cNvSpPr/>
              <p:nvPr/>
            </p:nvSpPr>
            <p:spPr>
              <a:xfrm>
                <a:off x="479372" y="3539254"/>
                <a:ext cx="1119738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b="1" dirty="0"/>
                  <a:t>If 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r>
                  <a:rPr lang="en-US" altLang="zh-CN" sz="2400" dirty="0"/>
                  <a:t> is diagonal: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4A93ACF-4339-4691-A398-2E2E53F864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72" y="3539254"/>
                <a:ext cx="11197389" cy="461665"/>
              </a:xfrm>
              <a:prstGeom prst="rect">
                <a:avLst/>
              </a:prstGeom>
              <a:blipFill>
                <a:blip r:embed="rId2"/>
                <a:stretch>
                  <a:fillRect l="-763"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FFAD7484-1ACE-4E81-83B0-66175A61F2A1}"/>
                  </a:ext>
                </a:extLst>
              </p:cNvPr>
              <p:cNvSpPr/>
              <p:nvPr/>
            </p:nvSpPr>
            <p:spPr>
              <a:xfrm>
                <a:off x="497304" y="1100207"/>
                <a:ext cx="11197389" cy="2057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The diagonal elements are variances of each feature 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Relationship between any two features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Independent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sz="2400" dirty="0"/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Positive correlation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altLang="zh-CN" sz="2400" dirty="0"/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Negative correlation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FFAD7484-1ACE-4E81-83B0-66175A61F2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04" y="1100207"/>
                <a:ext cx="11197389" cy="2057999"/>
              </a:xfrm>
              <a:prstGeom prst="rect">
                <a:avLst/>
              </a:prstGeom>
              <a:blipFill>
                <a:blip r:embed="rId3"/>
                <a:stretch>
                  <a:fillRect l="-763" t="-2367" b="-44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593052CA-D3EC-4E63-8467-1A42175D157F}"/>
                  </a:ext>
                </a:extLst>
              </p:cNvPr>
              <p:cNvSpPr/>
              <p:nvPr/>
            </p:nvSpPr>
            <p:spPr>
              <a:xfrm>
                <a:off x="1853728" y="4116719"/>
                <a:ext cx="7040710" cy="6821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400" b="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/2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zh-CN" altLang="en-US" sz="2400" b="1" i="1">
                                <a:latin typeface="Cambria Math" panose="02040503050406030204" pitchFamily="18" charset="0"/>
                              </a:rPr>
                              <m:t>𝚺</m:t>
                            </m:r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1/2</m:t>
                            </m:r>
                          </m:sup>
                        </m:sSup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400" b="1" i="1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b="1" i="1">
                                <a:latin typeface="Cambria Math" panose="02040503050406030204" pitchFamily="18" charset="0"/>
                              </a:rPr>
                              <m:t>𝚺</m:t>
                            </m:r>
                          </m:e>
                          <m:sup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2400" b="1" i="1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sz="2400" b="1" dirty="0"/>
                  <a:t> </a:t>
                </a: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593052CA-D3EC-4E63-8467-1A42175D15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3728" y="4116719"/>
                <a:ext cx="7040710" cy="6821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FD9CFC8-3046-4B2E-9E3E-C1A340085464}"/>
                  </a:ext>
                </a:extLst>
              </p:cNvPr>
              <p:cNvSpPr/>
              <p:nvPr/>
            </p:nvSpPr>
            <p:spPr>
              <a:xfrm>
                <a:off x="8489752" y="1208724"/>
                <a:ext cx="2852127" cy="12661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FD9CFC8-3046-4B2E-9E3E-C1A3400854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752" y="1208724"/>
                <a:ext cx="2852127" cy="12661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52D07D7-343A-46BD-BC6F-368D89CFC8BE}"/>
                  </a:ext>
                </a:extLst>
              </p:cNvPr>
              <p:cNvSpPr/>
              <p:nvPr/>
            </p:nvSpPr>
            <p:spPr>
              <a:xfrm>
                <a:off x="1853728" y="5110599"/>
                <a:ext cx="5796074" cy="11382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rad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400" b="0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400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52D07D7-343A-46BD-BC6F-368D89CFC8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3728" y="5110599"/>
                <a:ext cx="5796074" cy="11382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箭头: 左弧形 3">
            <a:extLst>
              <a:ext uri="{FF2B5EF4-FFF2-40B4-BE49-F238E27FC236}">
                <a16:creationId xmlns:a16="http://schemas.microsoft.com/office/drawing/2014/main" id="{83BBD203-E4B0-4F88-AA3A-E8B622F175B7}"/>
              </a:ext>
            </a:extLst>
          </p:cNvPr>
          <p:cNvSpPr/>
          <p:nvPr/>
        </p:nvSpPr>
        <p:spPr>
          <a:xfrm>
            <a:off x="1713297" y="4541469"/>
            <a:ext cx="510139" cy="113826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914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角矩形 15"/>
          <p:cNvSpPr/>
          <p:nvPr/>
        </p:nvSpPr>
        <p:spPr>
          <a:xfrm>
            <a:off x="752475" y="3830188"/>
            <a:ext cx="3870542" cy="2770637"/>
          </a:xfrm>
          <a:prstGeom prst="roundRect">
            <a:avLst>
              <a:gd name="adj" fmla="val 6908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5" name="圆角矩形 14"/>
          <p:cNvSpPr/>
          <p:nvPr/>
        </p:nvSpPr>
        <p:spPr>
          <a:xfrm>
            <a:off x="1400175" y="1496162"/>
            <a:ext cx="8803735" cy="1020309"/>
          </a:xfrm>
          <a:prstGeom prst="roundRect">
            <a:avLst>
              <a:gd name="adj" fmla="val 6908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6330" y="-45326"/>
            <a:ext cx="3035670" cy="2274662"/>
          </a:xfrm>
          <a:prstGeom prst="rect">
            <a:avLst/>
          </a:prstGeom>
        </p:spPr>
      </p:pic>
      <p:sp>
        <p:nvSpPr>
          <p:cNvPr id="91" name="文本框 90"/>
          <p:cNvSpPr txBox="1"/>
          <p:nvPr/>
        </p:nvSpPr>
        <p:spPr>
          <a:xfrm>
            <a:off x="410681" y="1007854"/>
            <a:ext cx="11566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n"/>
            </a:pPr>
            <a:r>
              <a:rPr lang="en-US" altLang="zh-CN" sz="2400" dirty="0"/>
              <a:t>Probability density function: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839262" y="1624976"/>
                <a:ext cx="7061420" cy="6821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400" b="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/2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zh-CN" altLang="en-US" sz="2400" b="1" i="1">
                                <a:latin typeface="Cambria Math" panose="02040503050406030204" pitchFamily="18" charset="0"/>
                              </a:rPr>
                              <m:t>𝜮</m:t>
                            </m:r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1/2</m:t>
                            </m:r>
                          </m:sup>
                        </m:sSup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400" b="1" i="1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b="1" i="1">
                                <a:latin typeface="Cambria Math" panose="02040503050406030204" pitchFamily="18" charset="0"/>
                              </a:rPr>
                              <m:t>𝜮</m:t>
                            </m:r>
                          </m:e>
                          <m:sup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2400" b="1" i="1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sz="2400" b="1" i="1" dirty="0"/>
                  <a:t> 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9262" y="1624976"/>
                <a:ext cx="7061420" cy="68217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8A1436BB-B4AD-4B40-BBDD-5EFEEF6FD157}"/>
              </a:ext>
            </a:extLst>
          </p:cNvPr>
          <p:cNvSpPr txBox="1"/>
          <p:nvPr/>
        </p:nvSpPr>
        <p:spPr>
          <a:xfrm>
            <a:off x="410681" y="177277"/>
            <a:ext cx="50358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 err="1"/>
              <a:t>Mahalanobis</a:t>
            </a:r>
            <a:r>
              <a:rPr lang="en-US" altLang="zh-CN" sz="4000" b="1" dirty="0"/>
              <a:t>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9500B31-1D5A-4DAD-8A8F-16999ADE1E29}"/>
                  </a:ext>
                </a:extLst>
              </p:cNvPr>
              <p:cNvSpPr/>
              <p:nvPr/>
            </p:nvSpPr>
            <p:spPr>
              <a:xfrm>
                <a:off x="3885846" y="3047496"/>
                <a:ext cx="3260893" cy="5395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400" b="1" i="1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b="1" i="1">
                                <a:latin typeface="Cambria Math" panose="02040503050406030204" pitchFamily="18" charset="0"/>
                              </a:rPr>
                              <m:t>𝚺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2400" b="1" i="1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</m:e>
                    </m:rad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9500B31-1D5A-4DAD-8A8F-16999ADE1E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846" y="3047496"/>
                <a:ext cx="3260893" cy="53957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C44FD1AB-838E-4114-911D-4438C172EE6A}"/>
                  </a:ext>
                </a:extLst>
              </p:cNvPr>
              <p:cNvSpPr/>
              <p:nvPr/>
            </p:nvSpPr>
            <p:spPr>
              <a:xfrm>
                <a:off x="921179" y="4007648"/>
                <a:ext cx="3539150" cy="24622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spcBef>
                    <a:spcPts val="1200"/>
                  </a:spcBef>
                  <a:buFont typeface="Wingdings" panose="05000000000000000000" pitchFamily="2" charset="2"/>
                  <a:buChar char="ü"/>
                </a:pPr>
                <a:r>
                  <a:rPr lang="en-US" sz="2400" dirty="0"/>
                  <a:t>Represents the distance of the test point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from the mean 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342900" indent="-342900" algn="just">
                  <a:spcBef>
                    <a:spcPts val="1200"/>
                  </a:spcBef>
                  <a:buFont typeface="Wingdings" panose="05000000000000000000" pitchFamily="2" charset="2"/>
                  <a:buChar char="ü"/>
                </a:pPr>
                <a:r>
                  <a:rPr lang="en-US" sz="2400" dirty="0"/>
                  <a:t>I</a:t>
                </a:r>
                <a:r>
                  <a:rPr lang="en-US" altLang="zh-CN" sz="2400" dirty="0"/>
                  <a:t>f 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latin typeface="Cambria Math" panose="02040503050406030204" pitchFamily="18" charset="0"/>
                      </a:rPr>
                      <m:t>𝚺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Mahalanobis distance</a:t>
                </a:r>
                <a:r>
                  <a:rPr lang="en-US" altLang="zh-CN" sz="24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sz="2400" dirty="0"/>
                  <a:t> Euclidean distance.</a:t>
                </a: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44FD1AB-838E-4114-911D-4438C172EE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179" y="4007648"/>
                <a:ext cx="3539150" cy="2462213"/>
              </a:xfrm>
              <a:prstGeom prst="rect">
                <a:avLst/>
              </a:prstGeom>
              <a:blipFill rotWithShape="0">
                <a:blip r:embed="rId6"/>
                <a:stretch>
                  <a:fillRect l="-2238" t="-1980" r="-2754" b="-4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63E357AA-C510-4E56-B470-0B34588480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3017" y="3654746"/>
            <a:ext cx="7489688" cy="316995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ED691AA-2478-4129-B0F7-6613722F8280}"/>
              </a:ext>
            </a:extLst>
          </p:cNvPr>
          <p:cNvSpPr/>
          <p:nvPr/>
        </p:nvSpPr>
        <p:spPr>
          <a:xfrm>
            <a:off x="9992412" y="3808201"/>
            <a:ext cx="2120293" cy="4133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7D9F41C2-EB89-4E70-A8F5-39E78C3059EE}"/>
                  </a:ext>
                </a:extLst>
              </p:cNvPr>
              <p:cNvSpPr/>
              <p:nvPr/>
            </p:nvSpPr>
            <p:spPr>
              <a:xfrm>
                <a:off x="9829723" y="3793775"/>
                <a:ext cx="2445670" cy="4277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b="1" i="1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𝚺</m:t>
                            </m:r>
                          </m:e>
                          <m:sup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e>
                    </m:ra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7D9F41C2-EB89-4E70-A8F5-39E78C3059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9723" y="3793775"/>
                <a:ext cx="2445670" cy="427746"/>
              </a:xfrm>
              <a:prstGeom prst="rect">
                <a:avLst/>
              </a:prstGeom>
              <a:blipFill>
                <a:blip r:embed="rId9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4AAC51E2-37A4-4CF5-BE9C-0627EAB9C6A8}"/>
              </a:ext>
            </a:extLst>
          </p:cNvPr>
          <p:cNvSpPr/>
          <p:nvPr/>
        </p:nvSpPr>
        <p:spPr>
          <a:xfrm>
            <a:off x="9660041" y="5392205"/>
            <a:ext cx="2120293" cy="4133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54791526-7C87-433D-B3AB-070D8E3E9DFF}"/>
                  </a:ext>
                </a:extLst>
              </p:cNvPr>
              <p:cNvSpPr/>
              <p:nvPr/>
            </p:nvSpPr>
            <p:spPr>
              <a:xfrm>
                <a:off x="9670553" y="5309497"/>
                <a:ext cx="2072940" cy="42774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 algn="just"/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b="1" i="1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e>
                    </m:ra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54791526-7C87-433D-B3AB-070D8E3E9D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0553" y="5309497"/>
                <a:ext cx="2072940" cy="427746"/>
              </a:xfrm>
              <a:prstGeom prst="rect">
                <a:avLst/>
              </a:prstGeom>
              <a:blipFill rotWithShape="0">
                <a:blip r:embed="rId10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410681" y="2696836"/>
                <a:ext cx="6096000" cy="83099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571500" indent="-571500" algn="just">
                  <a:buFont typeface="Wingdings" panose="05000000000000000000" pitchFamily="2" charset="2"/>
                  <a:buChar char="n"/>
                </a:pPr>
                <a:r>
                  <a:rPr lang="en-US" altLang="zh-CN" sz="2400" b="1" dirty="0">
                    <a:solidFill>
                      <a:srgbClr val="FF0000"/>
                    </a:solidFill>
                  </a:rPr>
                  <a:t>Mean vector</a:t>
                </a:r>
                <a:r>
                  <a:rPr lang="en-US" altLang="zh-CN" sz="2400" dirty="0"/>
                  <a:t>: 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altLang="zh-CN" sz="2400" dirty="0"/>
                  <a:t>       </a:t>
                </a:r>
                <a:r>
                  <a:rPr lang="en-US" altLang="zh-CN" sz="2400" b="1" dirty="0">
                    <a:solidFill>
                      <a:srgbClr val="FF0000"/>
                    </a:solidFill>
                  </a:rPr>
                  <a:t>Covariance</a:t>
                </a:r>
                <a:r>
                  <a:rPr lang="en-US" altLang="zh-CN" sz="2400" dirty="0"/>
                  <a:t> </a:t>
                </a:r>
                <a:r>
                  <a:rPr lang="en-US" altLang="zh-CN" sz="2400" b="1" dirty="0">
                    <a:solidFill>
                      <a:srgbClr val="FF0000"/>
                    </a:solidFill>
                  </a:rPr>
                  <a:t>matrix: </a:t>
                </a:r>
                <a14:m>
                  <m:oMath xmlns:m="http://schemas.openxmlformats.org/officeDocument/2006/math">
                    <m:r>
                      <a:rPr lang="zh-CN" altLang="en-US" sz="2400" b="1"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r>
                  <a:rPr lang="en-US" altLang="zh-CN" sz="2400" dirty="0"/>
                  <a:t> </a:t>
                </a:r>
              </a:p>
              <a:p>
                <a:pPr marL="571500" indent="-571500" algn="just">
                  <a:buFont typeface="Wingdings" panose="05000000000000000000" pitchFamily="2" charset="2"/>
                  <a:buChar char="n"/>
                </a:pPr>
                <a:r>
                  <a:rPr lang="en-US" altLang="zh-CN" sz="2400" dirty="0" err="1"/>
                  <a:t>Mahalanobis</a:t>
                </a:r>
                <a:r>
                  <a:rPr lang="en-US" altLang="zh-CN" sz="2400" dirty="0"/>
                  <a:t> distance:</a:t>
                </a: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81" y="2696836"/>
                <a:ext cx="6096000" cy="830997"/>
              </a:xfrm>
              <a:prstGeom prst="rect">
                <a:avLst/>
              </a:prstGeom>
              <a:blipFill rotWithShape="0">
                <a:blip r:embed="rId11"/>
                <a:stretch>
                  <a:fillRect l="-1300" t="-5839" b="-153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0852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10"/>
          <p:cNvSpPr/>
          <p:nvPr/>
        </p:nvSpPr>
        <p:spPr>
          <a:xfrm>
            <a:off x="835003" y="3215140"/>
            <a:ext cx="10591800" cy="1690235"/>
          </a:xfrm>
          <a:prstGeom prst="roundRect">
            <a:avLst>
              <a:gd name="adj" fmla="val 6908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" name="圆角矩形 9"/>
          <p:cNvSpPr/>
          <p:nvPr/>
        </p:nvSpPr>
        <p:spPr>
          <a:xfrm>
            <a:off x="835003" y="1969638"/>
            <a:ext cx="10591800" cy="1020309"/>
          </a:xfrm>
          <a:prstGeom prst="roundRect">
            <a:avLst>
              <a:gd name="adj" fmla="val 6908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A1436BB-B4AD-4B40-BBDD-5EFEEF6FD157}"/>
              </a:ext>
            </a:extLst>
          </p:cNvPr>
          <p:cNvSpPr txBox="1"/>
          <p:nvPr/>
        </p:nvSpPr>
        <p:spPr>
          <a:xfrm>
            <a:off x="410681" y="177277"/>
            <a:ext cx="66656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Independent Gaussian Models</a:t>
            </a:r>
            <a:endParaRPr lang="zh-CN" alt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410681" y="1175497"/>
                <a:ext cx="115661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71500" indent="-571500" algn="just">
                  <a:buFont typeface="Wingdings" panose="05000000000000000000" pitchFamily="2" charset="2"/>
                  <a:buChar char="n"/>
                </a:pPr>
                <a:r>
                  <a:rPr lang="en-US" altLang="zh-CN" sz="2800" dirty="0"/>
                  <a:t>Special Case: Assume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800" dirty="0"/>
                  <a:t> are </a:t>
                </a:r>
                <a:r>
                  <a:rPr lang="en-US" altLang="zh-CN" sz="2800" dirty="0">
                    <a:solidFill>
                      <a:srgbClr val="FF0000"/>
                    </a:solidFill>
                  </a:rPr>
                  <a:t>independent</a:t>
                </a:r>
                <a:r>
                  <a:rPr lang="en-US" altLang="zh-CN" sz="2800" dirty="0"/>
                  <a:t>.</a:t>
                </a: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81" y="1175497"/>
                <a:ext cx="11566166" cy="523220"/>
              </a:xfrm>
              <a:prstGeom prst="rect">
                <a:avLst/>
              </a:prstGeom>
              <a:blipFill>
                <a:blip r:embed="rId3"/>
                <a:stretch>
                  <a:fillRect l="-896"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689782" y="2157769"/>
                <a:ext cx="4886659" cy="6783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400" b="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2400" dirty="0"/>
                  <a:t> </a:t>
                </a:r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82" y="2157769"/>
                <a:ext cx="4886659" cy="67832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6368694" y="2157769"/>
                <a:ext cx="4893776" cy="6783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400" b="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2400" dirty="0"/>
                  <a:t> </a:t>
                </a:r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694" y="2157769"/>
                <a:ext cx="4893776" cy="67832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/>
              <p:cNvSpPr/>
              <p:nvPr/>
            </p:nvSpPr>
            <p:spPr>
              <a:xfrm>
                <a:off x="2460485" y="3403946"/>
                <a:ext cx="7003712" cy="6783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400" b="1" i="1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b="1" i="1">
                                <a:latin typeface="Cambria Math" panose="02040503050406030204" pitchFamily="18" charset="0"/>
                              </a:rPr>
                              <m:t>𝚺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2400" b="1" i="1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sz="2400" dirty="0"/>
                  <a:t> </a:t>
                </a:r>
              </a:p>
            </p:txBody>
          </p:sp>
        </mc:Choice>
        <mc:Fallback xmlns=""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0485" y="3403946"/>
                <a:ext cx="7003712" cy="67832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4395090" y="4293518"/>
                <a:ext cx="227581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5090" y="4293518"/>
                <a:ext cx="2275816" cy="461665"/>
              </a:xfrm>
              <a:prstGeom prst="rect">
                <a:avLst/>
              </a:prstGeom>
              <a:blipFill rotWithShape="0">
                <a:blip r:embed="rId7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8278448" y="4291017"/>
                <a:ext cx="2984022" cy="4666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𝑑𝑖𝑎𝑔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8448" y="4291017"/>
                <a:ext cx="2984022" cy="466666"/>
              </a:xfrm>
              <a:prstGeom prst="rect">
                <a:avLst/>
              </a:prstGeom>
              <a:blipFill rotWithShape="0">
                <a:blip r:embed="rId8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/>
              <p:cNvSpPr/>
              <p:nvPr/>
            </p:nvSpPr>
            <p:spPr>
              <a:xfrm>
                <a:off x="545012" y="4293518"/>
                <a:ext cx="224253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400" dirty="0"/>
                  <a:t> </a:t>
                </a:r>
              </a:p>
            </p:txBody>
          </p:sp>
        </mc:Choice>
        <mc:Fallback xmlns="">
          <p:sp>
            <p:nvSpPr>
              <p:cNvPr id="34" name="矩形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012" y="4293518"/>
                <a:ext cx="2242537" cy="461665"/>
              </a:xfrm>
              <a:prstGeom prst="rect">
                <a:avLst/>
              </a:prstGeom>
              <a:blipFill rotWithShape="0">
                <a:blip r:embed="rId9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8961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3" grpId="0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圆角矩形 26"/>
          <p:cNvSpPr/>
          <p:nvPr/>
        </p:nvSpPr>
        <p:spPr>
          <a:xfrm>
            <a:off x="864135" y="1176292"/>
            <a:ext cx="10997128" cy="1020309"/>
          </a:xfrm>
          <a:prstGeom prst="roundRect">
            <a:avLst>
              <a:gd name="adj" fmla="val 6908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本框 90"/>
              <p:cNvSpPr txBox="1"/>
              <p:nvPr/>
            </p:nvSpPr>
            <p:spPr>
              <a:xfrm>
                <a:off x="1161872" y="1233839"/>
                <a:ext cx="3297029" cy="807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zh-CN" altLang="en-US" sz="2800" b="1" i="0" smtClean="0">
                        <a:latin typeface="Cambria Math" panose="02040503050406030204" pitchFamily="18" charset="0"/>
                      </a:rPr>
                      <m:t>𝚺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1   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   1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1" name="文本框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872" y="1233839"/>
                <a:ext cx="3297029" cy="80797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8A1436BB-B4AD-4B40-BBDD-5EFEEF6FD157}"/>
              </a:ext>
            </a:extLst>
          </p:cNvPr>
          <p:cNvSpPr txBox="1"/>
          <p:nvPr/>
        </p:nvSpPr>
        <p:spPr>
          <a:xfrm>
            <a:off x="410681" y="177277"/>
            <a:ext cx="69821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Multivariate Gaussian Examples</a:t>
            </a:r>
            <a:endParaRPr lang="zh-CN" altLang="en-US" sz="4000" b="1" dirty="0"/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872" y="2390493"/>
            <a:ext cx="2553056" cy="40391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/>
              <p:cNvSpPr/>
              <p:nvPr/>
            </p:nvSpPr>
            <p:spPr>
              <a:xfrm>
                <a:off x="2133428" y="6187841"/>
                <a:ext cx="568777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altLang="zh-CN" sz="2000" kern="5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0" kern="50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000" i="1" kern="5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5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kern="50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kern="500" dirty="0"/>
                  <a:t> </a:t>
                </a:r>
              </a:p>
            </p:txBody>
          </p:sp>
        </mc:Choice>
        <mc:Fallback xmlns=""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428" y="6187841"/>
                <a:ext cx="568777" cy="307777"/>
              </a:xfrm>
              <a:prstGeom prst="rect">
                <a:avLst/>
              </a:prstGeom>
              <a:blipFill rotWithShape="0">
                <a:blip r:embed="rId11"/>
                <a:stretch>
                  <a:fillRect b="-137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1177320" y="5055105"/>
                <a:ext cx="458186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Ins="0">
                <a:spAutoFit/>
              </a:bodyPr>
              <a:lstStyle/>
              <a:p>
                <a:r>
                  <a:rPr lang="en-US" altLang="zh-CN" sz="20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000" dirty="0"/>
                  <a:t> </a:t>
                </a:r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320" y="5055105"/>
                <a:ext cx="458186" cy="400110"/>
              </a:xfrm>
              <a:prstGeom prst="rect">
                <a:avLst/>
              </a:prstGeom>
              <a:blipFill rotWithShape="0">
                <a:blip r:embed="rId14"/>
                <a:stretch>
                  <a:fillRect r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矩形 35"/>
          <p:cNvSpPr/>
          <p:nvPr/>
        </p:nvSpPr>
        <p:spPr>
          <a:xfrm>
            <a:off x="1616457" y="4102298"/>
            <a:ext cx="374268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/>
              <p:cNvSpPr/>
              <p:nvPr/>
            </p:nvSpPr>
            <p:spPr>
              <a:xfrm>
                <a:off x="1611807" y="4036337"/>
                <a:ext cx="458186" cy="307777"/>
              </a:xfrm>
              <a:prstGeom prst="rect">
                <a:avLst/>
              </a:prstGeom>
              <a:noFill/>
            </p:spPr>
            <p:txBody>
              <a:bodyPr wrap="square" lIns="36000" tIns="0" rIns="0" bIns="0">
                <a:spAutoFit/>
              </a:bodyPr>
              <a:lstStyle/>
              <a:p>
                <a:r>
                  <a:rPr lang="en-US" altLang="zh-CN" sz="20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000" dirty="0"/>
                  <a:t> </a:t>
                </a:r>
              </a:p>
            </p:txBody>
          </p:sp>
        </mc:Choice>
        <mc:Fallback xmlns="">
          <p:sp>
            <p:nvSpPr>
              <p:cNvPr id="35" name="矩形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807" y="4036337"/>
                <a:ext cx="458186" cy="307777"/>
              </a:xfrm>
              <a:prstGeom prst="rect">
                <a:avLst/>
              </a:prstGeom>
              <a:blipFill rotWithShape="0">
                <a:blip r:embed="rId15"/>
                <a:stretch>
                  <a:fillRect b="-156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矩形 36"/>
          <p:cNvSpPr/>
          <p:nvPr/>
        </p:nvSpPr>
        <p:spPr>
          <a:xfrm>
            <a:off x="2819911" y="4125753"/>
            <a:ext cx="334163" cy="2747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/>
              <p:cNvSpPr/>
              <p:nvPr/>
            </p:nvSpPr>
            <p:spPr>
              <a:xfrm>
                <a:off x="2772286" y="4073723"/>
                <a:ext cx="361439" cy="307777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altLang="zh-CN" sz="2000" kern="5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0" kern="50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000" i="1" kern="5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5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kern="50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kern="500" dirty="0"/>
                  <a:t> </a:t>
                </a:r>
              </a:p>
            </p:txBody>
          </p:sp>
        </mc:Choice>
        <mc:Fallback xmlns="">
          <p:sp>
            <p:nvSpPr>
              <p:cNvPr id="34" name="矩形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2286" y="4073723"/>
                <a:ext cx="361439" cy="307777"/>
              </a:xfrm>
              <a:prstGeom prst="rect">
                <a:avLst/>
              </a:prstGeom>
              <a:blipFill rotWithShape="0">
                <a:blip r:embed="rId16"/>
                <a:stretch>
                  <a:fillRect r="-13559" b="-137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4714185" y="1233839"/>
                <a:ext cx="3297029" cy="810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zh-CN" altLang="en-US" sz="2800" b="1" i="0" smtClean="0">
                        <a:latin typeface="Cambria Math" panose="02040503050406030204" pitchFamily="18" charset="0"/>
                      </a:rPr>
                      <m:t>𝚺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0.6   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   0.6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185" y="1233839"/>
                <a:ext cx="3297029" cy="8107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6D65324C-302B-4BF8-A883-7F9D7CE73490}"/>
              </a:ext>
            </a:extLst>
          </p:cNvPr>
          <p:cNvGrpSpPr/>
          <p:nvPr/>
        </p:nvGrpSpPr>
        <p:grpSpPr>
          <a:xfrm>
            <a:off x="5086351" y="2400020"/>
            <a:ext cx="2519535" cy="4095598"/>
            <a:chOff x="5086351" y="2400020"/>
            <a:chExt cx="2519535" cy="4095598"/>
          </a:xfrm>
        </p:grpSpPr>
        <p:pic>
          <p:nvPicPr>
            <p:cNvPr id="6" name="图片 5" descr="屏幕剪辑"/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19514" y="2400020"/>
              <a:ext cx="2486372" cy="402963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矩形 27"/>
                <p:cNvSpPr/>
                <p:nvPr/>
              </p:nvSpPr>
              <p:spPr>
                <a:xfrm>
                  <a:off x="6086303" y="6187841"/>
                  <a:ext cx="568777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zh-CN" sz="2000" kern="500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2000" b="0" i="0" kern="50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000" i="1" kern="5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5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kern="5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kern="500" dirty="0"/>
                    <a:t> </a:t>
                  </a:r>
                </a:p>
              </p:txBody>
            </p:sp>
          </mc:Choice>
          <mc:Fallback xmlns="">
            <p:sp>
              <p:nvSpPr>
                <p:cNvPr id="28" name="矩形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6303" y="6187841"/>
                  <a:ext cx="568777" cy="307777"/>
                </a:xfrm>
                <a:prstGeom prst="rect">
                  <a:avLst/>
                </a:prstGeom>
                <a:blipFill>
                  <a:blip r:embed="rId19"/>
                  <a:stretch>
                    <a:fillRect b="-137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矩形 28"/>
                <p:cNvSpPr/>
                <p:nvPr/>
              </p:nvSpPr>
              <p:spPr>
                <a:xfrm>
                  <a:off x="5086351" y="5055105"/>
                  <a:ext cx="458186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Ins="0">
                  <a:spAutoFit/>
                </a:bodyPr>
                <a:lstStyle/>
                <a:p>
                  <a:r>
                    <a:rPr lang="en-US" altLang="zh-CN" sz="2000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29" name="矩形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6351" y="5055105"/>
                  <a:ext cx="458186" cy="400110"/>
                </a:xfrm>
                <a:prstGeom prst="rect">
                  <a:avLst/>
                </a:prstGeom>
                <a:blipFill>
                  <a:blip r:embed="rId20"/>
                  <a:stretch>
                    <a:fillRect r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矩形 37"/>
            <p:cNvSpPr/>
            <p:nvPr/>
          </p:nvSpPr>
          <p:spPr>
            <a:xfrm>
              <a:off x="5499251" y="4121348"/>
              <a:ext cx="374268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矩形 38"/>
                <p:cNvSpPr/>
                <p:nvPr/>
              </p:nvSpPr>
              <p:spPr>
                <a:xfrm>
                  <a:off x="5494601" y="4055387"/>
                  <a:ext cx="458186" cy="307777"/>
                </a:xfrm>
                <a:prstGeom prst="rect">
                  <a:avLst/>
                </a:prstGeom>
                <a:noFill/>
              </p:spPr>
              <p:txBody>
                <a:bodyPr wrap="square" lIns="36000" tIns="0" rIns="0" bIns="0">
                  <a:spAutoFit/>
                </a:bodyPr>
                <a:lstStyle/>
                <a:p>
                  <a:r>
                    <a:rPr lang="en-US" altLang="zh-CN" sz="2000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39" name="矩形 3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4601" y="4055387"/>
                  <a:ext cx="458186" cy="307777"/>
                </a:xfrm>
                <a:prstGeom prst="rect">
                  <a:avLst/>
                </a:prstGeom>
                <a:blipFill>
                  <a:blip r:embed="rId21"/>
                  <a:stretch>
                    <a:fillRect b="-156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矩形 39"/>
            <p:cNvSpPr/>
            <p:nvPr/>
          </p:nvSpPr>
          <p:spPr>
            <a:xfrm>
              <a:off x="6702705" y="4144803"/>
              <a:ext cx="334163" cy="2747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矩形 40"/>
                <p:cNvSpPr/>
                <p:nvPr/>
              </p:nvSpPr>
              <p:spPr>
                <a:xfrm>
                  <a:off x="6655080" y="4092773"/>
                  <a:ext cx="361439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zh-CN" sz="2000" kern="500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2000" b="0" i="0" kern="50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000" i="1" kern="5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5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kern="5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kern="500" dirty="0"/>
                    <a:t> </a:t>
                  </a:r>
                </a:p>
              </p:txBody>
            </p:sp>
          </mc:Choice>
          <mc:Fallback xmlns="">
            <p:sp>
              <p:nvSpPr>
                <p:cNvPr id="41" name="矩形 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5080" y="4092773"/>
                  <a:ext cx="361439" cy="307777"/>
                </a:xfrm>
                <a:prstGeom prst="rect">
                  <a:avLst/>
                </a:prstGeom>
                <a:blipFill>
                  <a:blip r:embed="rId22"/>
                  <a:stretch>
                    <a:fillRect r="-13559" b="-137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8605143" y="1233839"/>
                <a:ext cx="3297029" cy="807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zh-CN" altLang="en-US" sz="2800" b="1" i="0" smtClean="0">
                        <a:latin typeface="Cambria Math" panose="02040503050406030204" pitchFamily="18" charset="0"/>
                      </a:rPr>
                      <m:t>𝚺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2   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   2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5143" y="1233839"/>
                <a:ext cx="3297029" cy="80797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22B0A449-CCA2-4C22-A31D-E5E00CF852E5}"/>
              </a:ext>
            </a:extLst>
          </p:cNvPr>
          <p:cNvGrpSpPr/>
          <p:nvPr/>
        </p:nvGrpSpPr>
        <p:grpSpPr>
          <a:xfrm>
            <a:off x="9010472" y="2314283"/>
            <a:ext cx="2486372" cy="4181335"/>
            <a:chOff x="9010472" y="2314283"/>
            <a:chExt cx="2486372" cy="4181335"/>
          </a:xfrm>
        </p:grpSpPr>
        <p:pic>
          <p:nvPicPr>
            <p:cNvPr id="7" name="图片 6" descr="屏幕剪辑"/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10472" y="2314283"/>
              <a:ext cx="2486372" cy="411537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矩形 30"/>
                <p:cNvSpPr/>
                <p:nvPr/>
              </p:nvSpPr>
              <p:spPr>
                <a:xfrm>
                  <a:off x="10145816" y="6187841"/>
                  <a:ext cx="568777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zh-CN" sz="2000" kern="500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2000" b="0" i="0" kern="50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000" i="1" kern="5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5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kern="5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kern="500" dirty="0"/>
                    <a:t> </a:t>
                  </a:r>
                </a:p>
              </p:txBody>
            </p:sp>
          </mc:Choice>
          <mc:Fallback xmlns="">
            <p:sp>
              <p:nvSpPr>
                <p:cNvPr id="31" name="矩形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5816" y="6187841"/>
                  <a:ext cx="568777" cy="307777"/>
                </a:xfrm>
                <a:prstGeom prst="rect">
                  <a:avLst/>
                </a:prstGeom>
                <a:blipFill>
                  <a:blip r:embed="rId26"/>
                  <a:stretch>
                    <a:fillRect b="-137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矩形 31"/>
                <p:cNvSpPr/>
                <p:nvPr/>
              </p:nvSpPr>
              <p:spPr>
                <a:xfrm>
                  <a:off x="9086851" y="5055105"/>
                  <a:ext cx="458186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Ins="0">
                  <a:spAutoFit/>
                </a:bodyPr>
                <a:lstStyle/>
                <a:p>
                  <a:r>
                    <a:rPr lang="en-US" altLang="zh-CN" sz="2000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32" name="矩形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86851" y="5055105"/>
                  <a:ext cx="458186" cy="400110"/>
                </a:xfrm>
                <a:prstGeom prst="rect">
                  <a:avLst/>
                </a:prstGeom>
                <a:blipFill>
                  <a:blip r:embed="rId27"/>
                  <a:stretch>
                    <a:fillRect r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矩形 41"/>
            <p:cNvSpPr/>
            <p:nvPr/>
          </p:nvSpPr>
          <p:spPr>
            <a:xfrm>
              <a:off x="9465057" y="4019489"/>
              <a:ext cx="374268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矩形 42"/>
                <p:cNvSpPr/>
                <p:nvPr/>
              </p:nvSpPr>
              <p:spPr>
                <a:xfrm>
                  <a:off x="9460407" y="3953528"/>
                  <a:ext cx="458186" cy="307777"/>
                </a:xfrm>
                <a:prstGeom prst="rect">
                  <a:avLst/>
                </a:prstGeom>
                <a:noFill/>
              </p:spPr>
              <p:txBody>
                <a:bodyPr wrap="square" lIns="36000" tIns="0" rIns="0" bIns="0">
                  <a:spAutoFit/>
                </a:bodyPr>
                <a:lstStyle/>
                <a:p>
                  <a:r>
                    <a:rPr lang="en-US" altLang="zh-CN" sz="2000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43" name="矩形 4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0407" y="3953528"/>
                  <a:ext cx="458186" cy="307777"/>
                </a:xfrm>
                <a:prstGeom prst="rect">
                  <a:avLst/>
                </a:prstGeom>
                <a:blipFill>
                  <a:blip r:embed="rId28"/>
                  <a:stretch>
                    <a:fillRect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矩形 43"/>
            <p:cNvSpPr/>
            <p:nvPr/>
          </p:nvSpPr>
          <p:spPr>
            <a:xfrm>
              <a:off x="10668511" y="4042944"/>
              <a:ext cx="334163" cy="2747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矩形 44"/>
                <p:cNvSpPr/>
                <p:nvPr/>
              </p:nvSpPr>
              <p:spPr>
                <a:xfrm>
                  <a:off x="10620886" y="3990914"/>
                  <a:ext cx="361439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zh-CN" sz="2000" kern="500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2000" b="0" i="0" kern="50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000" i="1" kern="5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5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kern="5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kern="500" dirty="0"/>
                    <a:t> </a:t>
                  </a:r>
                </a:p>
              </p:txBody>
            </p:sp>
          </mc:Choice>
          <mc:Fallback xmlns="">
            <p:sp>
              <p:nvSpPr>
                <p:cNvPr id="45" name="矩形 4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20886" y="3990914"/>
                  <a:ext cx="361439" cy="307777"/>
                </a:xfrm>
                <a:prstGeom prst="rect">
                  <a:avLst/>
                </a:prstGeom>
                <a:blipFill>
                  <a:blip r:embed="rId29"/>
                  <a:stretch>
                    <a:fillRect r="-11667"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83449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圆角矩形 28"/>
          <p:cNvSpPr/>
          <p:nvPr/>
        </p:nvSpPr>
        <p:spPr>
          <a:xfrm>
            <a:off x="864135" y="1176292"/>
            <a:ext cx="10997128" cy="1020309"/>
          </a:xfrm>
          <a:prstGeom prst="roundRect">
            <a:avLst>
              <a:gd name="adj" fmla="val 6908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本框 90"/>
              <p:cNvSpPr txBox="1"/>
              <p:nvPr/>
            </p:nvSpPr>
            <p:spPr>
              <a:xfrm>
                <a:off x="1161872" y="1233839"/>
                <a:ext cx="3297029" cy="807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zh-CN" altLang="en-US" sz="2800" b="1" i="0" smtClean="0">
                        <a:latin typeface="Cambria Math" panose="02040503050406030204" pitchFamily="18" charset="0"/>
                      </a:rPr>
                      <m:t>𝚺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1   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   1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1" name="文本框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872" y="1233839"/>
                <a:ext cx="3297029" cy="80797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8A1436BB-B4AD-4B40-BBDD-5EFEEF6FD157}"/>
              </a:ext>
            </a:extLst>
          </p:cNvPr>
          <p:cNvSpPr txBox="1"/>
          <p:nvPr/>
        </p:nvSpPr>
        <p:spPr>
          <a:xfrm>
            <a:off x="410681" y="177277"/>
            <a:ext cx="69821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Multivariate Gaussian Examples</a:t>
            </a:r>
            <a:endParaRPr lang="zh-CN" altLang="en-US" sz="4000" b="1" dirty="0"/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872" y="2390493"/>
            <a:ext cx="2553056" cy="40391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2133428" y="6187841"/>
                <a:ext cx="568777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altLang="zh-CN" sz="2000" kern="5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0" kern="50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000" i="1" kern="5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5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kern="50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kern="500" dirty="0"/>
                  <a:t> </a:t>
                </a: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428" y="6187841"/>
                <a:ext cx="568777" cy="307777"/>
              </a:xfrm>
              <a:prstGeom prst="rect">
                <a:avLst/>
              </a:prstGeom>
              <a:blipFill rotWithShape="0">
                <a:blip r:embed="rId11"/>
                <a:stretch>
                  <a:fillRect b="-137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1177320" y="5055105"/>
                <a:ext cx="458186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Ins="0">
                <a:spAutoFit/>
              </a:bodyPr>
              <a:lstStyle/>
              <a:p>
                <a:r>
                  <a:rPr lang="en-US" altLang="zh-CN" sz="20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000" dirty="0"/>
                  <a:t> </a:t>
                </a: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320" y="5055105"/>
                <a:ext cx="458186" cy="400110"/>
              </a:xfrm>
              <a:prstGeom prst="rect">
                <a:avLst/>
              </a:prstGeom>
              <a:blipFill rotWithShape="0">
                <a:blip r:embed="rId14"/>
                <a:stretch>
                  <a:fillRect r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/>
          <p:cNvSpPr/>
          <p:nvPr/>
        </p:nvSpPr>
        <p:spPr>
          <a:xfrm>
            <a:off x="1616457" y="4102298"/>
            <a:ext cx="374268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1611807" y="4036337"/>
                <a:ext cx="458186" cy="307777"/>
              </a:xfrm>
              <a:prstGeom prst="rect">
                <a:avLst/>
              </a:prstGeom>
              <a:noFill/>
            </p:spPr>
            <p:txBody>
              <a:bodyPr wrap="square" lIns="36000" tIns="0" rIns="0" bIns="0">
                <a:spAutoFit/>
              </a:bodyPr>
              <a:lstStyle/>
              <a:p>
                <a:r>
                  <a:rPr lang="en-US" altLang="zh-CN" sz="20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000" dirty="0"/>
                  <a:t> </a:t>
                </a:r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807" y="4036337"/>
                <a:ext cx="458186" cy="307777"/>
              </a:xfrm>
              <a:prstGeom prst="rect">
                <a:avLst/>
              </a:prstGeom>
              <a:blipFill rotWithShape="0">
                <a:blip r:embed="rId15"/>
                <a:stretch>
                  <a:fillRect b="-156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/>
          <p:cNvSpPr/>
          <p:nvPr/>
        </p:nvSpPr>
        <p:spPr>
          <a:xfrm>
            <a:off x="2819911" y="4125753"/>
            <a:ext cx="334163" cy="2747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2772286" y="4073723"/>
                <a:ext cx="361439" cy="307777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altLang="zh-CN" sz="2000" kern="5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0" kern="50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000" i="1" kern="5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5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kern="50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kern="500" dirty="0"/>
                  <a:t> </a:t>
                </a:r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2286" y="4073723"/>
                <a:ext cx="361439" cy="307777"/>
              </a:xfrm>
              <a:prstGeom prst="rect">
                <a:avLst/>
              </a:prstGeom>
              <a:blipFill rotWithShape="0">
                <a:blip r:embed="rId16"/>
                <a:stretch>
                  <a:fillRect r="-13559" b="-137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4714185" y="1233839"/>
                <a:ext cx="3297029" cy="810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zh-CN" altLang="en-US" sz="2800" b="1" i="0" smtClean="0">
                        <a:latin typeface="Cambria Math" panose="02040503050406030204" pitchFamily="18" charset="0"/>
                      </a:rPr>
                      <m:t>𝚺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0.6   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      1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185" y="1233839"/>
                <a:ext cx="3297029" cy="8107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组合 29">
            <a:extLst>
              <a:ext uri="{FF2B5EF4-FFF2-40B4-BE49-F238E27FC236}">
                <a16:creationId xmlns:a16="http://schemas.microsoft.com/office/drawing/2014/main" id="{FBF9589A-A460-4CEB-9D3A-D70CD1061936}"/>
              </a:ext>
            </a:extLst>
          </p:cNvPr>
          <p:cNvGrpSpPr/>
          <p:nvPr/>
        </p:nvGrpSpPr>
        <p:grpSpPr>
          <a:xfrm>
            <a:off x="5086351" y="2390493"/>
            <a:ext cx="2543351" cy="4105125"/>
            <a:chOff x="5086351" y="2390493"/>
            <a:chExt cx="2543351" cy="4105125"/>
          </a:xfrm>
        </p:grpSpPr>
        <p:pic>
          <p:nvPicPr>
            <p:cNvPr id="2" name="图片 1" descr="屏幕剪辑"/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95698" y="2390493"/>
              <a:ext cx="2534004" cy="405821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 10"/>
                <p:cNvSpPr/>
                <p:nvPr/>
              </p:nvSpPr>
              <p:spPr>
                <a:xfrm>
                  <a:off x="6086303" y="6187841"/>
                  <a:ext cx="568777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zh-CN" sz="2000" kern="500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2000" b="0" i="0" kern="50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000" i="1" kern="5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5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kern="5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kern="500" dirty="0"/>
                    <a:t> </a:t>
                  </a:r>
                </a:p>
              </p:txBody>
            </p:sp>
          </mc:Choice>
          <mc:Fallback xmlns="">
            <p:sp>
              <p:nvSpPr>
                <p:cNvPr id="11" name="矩形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6303" y="6187841"/>
                  <a:ext cx="568777" cy="307777"/>
                </a:xfrm>
                <a:prstGeom prst="rect">
                  <a:avLst/>
                </a:prstGeom>
                <a:blipFill>
                  <a:blip r:embed="rId19"/>
                  <a:stretch>
                    <a:fillRect b="-137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 11"/>
                <p:cNvSpPr/>
                <p:nvPr/>
              </p:nvSpPr>
              <p:spPr>
                <a:xfrm>
                  <a:off x="5086351" y="5055105"/>
                  <a:ext cx="458186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Ins="0">
                  <a:spAutoFit/>
                </a:bodyPr>
                <a:lstStyle/>
                <a:p>
                  <a:r>
                    <a:rPr lang="en-US" altLang="zh-CN" sz="2000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12" name="矩形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6351" y="5055105"/>
                  <a:ext cx="458186" cy="400110"/>
                </a:xfrm>
                <a:prstGeom prst="rect">
                  <a:avLst/>
                </a:prstGeom>
                <a:blipFill>
                  <a:blip r:embed="rId20"/>
                  <a:stretch>
                    <a:fillRect r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矩形 20"/>
            <p:cNvSpPr/>
            <p:nvPr/>
          </p:nvSpPr>
          <p:spPr>
            <a:xfrm>
              <a:off x="5499251" y="4083248"/>
              <a:ext cx="374268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矩形 21"/>
                <p:cNvSpPr/>
                <p:nvPr/>
              </p:nvSpPr>
              <p:spPr>
                <a:xfrm>
                  <a:off x="5494601" y="4055387"/>
                  <a:ext cx="458186" cy="307777"/>
                </a:xfrm>
                <a:prstGeom prst="rect">
                  <a:avLst/>
                </a:prstGeom>
                <a:noFill/>
              </p:spPr>
              <p:txBody>
                <a:bodyPr wrap="square" lIns="36000" tIns="0" rIns="0" bIns="0">
                  <a:spAutoFit/>
                </a:bodyPr>
                <a:lstStyle/>
                <a:p>
                  <a:r>
                    <a:rPr lang="en-US" altLang="zh-CN" sz="2000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22" name="矩形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4601" y="4055387"/>
                  <a:ext cx="458186" cy="307777"/>
                </a:xfrm>
                <a:prstGeom prst="rect">
                  <a:avLst/>
                </a:prstGeom>
                <a:blipFill>
                  <a:blip r:embed="rId21"/>
                  <a:stretch>
                    <a:fillRect b="-156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矩形 22"/>
            <p:cNvSpPr/>
            <p:nvPr/>
          </p:nvSpPr>
          <p:spPr>
            <a:xfrm>
              <a:off x="6702705" y="4144803"/>
              <a:ext cx="334163" cy="2747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矩形 23"/>
                <p:cNvSpPr/>
                <p:nvPr/>
              </p:nvSpPr>
              <p:spPr>
                <a:xfrm>
                  <a:off x="6655080" y="4092773"/>
                  <a:ext cx="361439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zh-CN" sz="2000" kern="500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2000" b="0" i="0" kern="50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000" i="1" kern="5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5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kern="5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kern="500" dirty="0"/>
                    <a:t> </a:t>
                  </a:r>
                </a:p>
              </p:txBody>
            </p:sp>
          </mc:Choice>
          <mc:Fallback xmlns="">
            <p:sp>
              <p:nvSpPr>
                <p:cNvPr id="24" name="矩形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5080" y="4092773"/>
                  <a:ext cx="361439" cy="307777"/>
                </a:xfrm>
                <a:prstGeom prst="rect">
                  <a:avLst/>
                </a:prstGeom>
                <a:blipFill>
                  <a:blip r:embed="rId22"/>
                  <a:stretch>
                    <a:fillRect r="-13559" b="-137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8605143" y="1233839"/>
                <a:ext cx="3297029" cy="807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zh-CN" altLang="en-US" sz="2800" b="1" i="0" smtClean="0">
                        <a:latin typeface="Cambria Math" panose="02040503050406030204" pitchFamily="18" charset="0"/>
                      </a:rPr>
                      <m:t>𝚺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2   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   1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5143" y="1233839"/>
                <a:ext cx="3297029" cy="807978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F6F3F41A-F531-40F2-9459-216363B80986}"/>
              </a:ext>
            </a:extLst>
          </p:cNvPr>
          <p:cNvGrpSpPr/>
          <p:nvPr/>
        </p:nvGrpSpPr>
        <p:grpSpPr>
          <a:xfrm>
            <a:off x="8986655" y="2295230"/>
            <a:ext cx="2534004" cy="4200388"/>
            <a:chOff x="8986655" y="2295230"/>
            <a:chExt cx="2534004" cy="4200388"/>
          </a:xfrm>
        </p:grpSpPr>
        <p:pic>
          <p:nvPicPr>
            <p:cNvPr id="3" name="图片 2" descr="屏幕剪辑"/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86655" y="2295230"/>
              <a:ext cx="2534004" cy="413442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/>
                <p:cNvSpPr/>
                <p:nvPr/>
              </p:nvSpPr>
              <p:spPr>
                <a:xfrm>
                  <a:off x="10145816" y="6187841"/>
                  <a:ext cx="568777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zh-CN" sz="2000" kern="500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2000" b="0" i="0" kern="50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000" i="1" kern="5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5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kern="5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kern="500" dirty="0"/>
                    <a:t> </a:t>
                  </a:r>
                </a:p>
              </p:txBody>
            </p:sp>
          </mc:Choice>
          <mc:Fallback xmlns="">
            <p:sp>
              <p:nvSpPr>
                <p:cNvPr id="14" name="矩形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5816" y="6187841"/>
                  <a:ext cx="568777" cy="307777"/>
                </a:xfrm>
                <a:prstGeom prst="rect">
                  <a:avLst/>
                </a:prstGeom>
                <a:blipFill>
                  <a:blip r:embed="rId25"/>
                  <a:stretch>
                    <a:fillRect b="-137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矩形 14"/>
                <p:cNvSpPr/>
                <p:nvPr/>
              </p:nvSpPr>
              <p:spPr>
                <a:xfrm>
                  <a:off x="9086851" y="5055105"/>
                  <a:ext cx="458186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Ins="0">
                  <a:spAutoFit/>
                </a:bodyPr>
                <a:lstStyle/>
                <a:p>
                  <a:r>
                    <a:rPr lang="en-US" altLang="zh-CN" sz="2000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15" name="矩形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86851" y="5055105"/>
                  <a:ext cx="458186" cy="400110"/>
                </a:xfrm>
                <a:prstGeom prst="rect">
                  <a:avLst/>
                </a:prstGeom>
                <a:blipFill>
                  <a:blip r:embed="rId26"/>
                  <a:stretch>
                    <a:fillRect r="-12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矩形 24"/>
            <p:cNvSpPr/>
            <p:nvPr/>
          </p:nvSpPr>
          <p:spPr>
            <a:xfrm>
              <a:off x="9465057" y="4019489"/>
              <a:ext cx="374268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 25"/>
                <p:cNvSpPr/>
                <p:nvPr/>
              </p:nvSpPr>
              <p:spPr>
                <a:xfrm>
                  <a:off x="9460407" y="3953528"/>
                  <a:ext cx="458186" cy="307777"/>
                </a:xfrm>
                <a:prstGeom prst="rect">
                  <a:avLst/>
                </a:prstGeom>
                <a:noFill/>
              </p:spPr>
              <p:txBody>
                <a:bodyPr wrap="square" lIns="36000" tIns="0" rIns="0" bIns="0">
                  <a:spAutoFit/>
                </a:bodyPr>
                <a:lstStyle/>
                <a:p>
                  <a:r>
                    <a:rPr lang="en-US" altLang="zh-CN" sz="2000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26" name="矩形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0407" y="3953528"/>
                  <a:ext cx="458186" cy="307777"/>
                </a:xfrm>
                <a:prstGeom prst="rect">
                  <a:avLst/>
                </a:prstGeom>
                <a:blipFill>
                  <a:blip r:embed="rId27"/>
                  <a:stretch>
                    <a:fillRect b="-16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矩形 26"/>
            <p:cNvSpPr/>
            <p:nvPr/>
          </p:nvSpPr>
          <p:spPr>
            <a:xfrm>
              <a:off x="10668511" y="4042944"/>
              <a:ext cx="334163" cy="2747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矩形 27"/>
                <p:cNvSpPr/>
                <p:nvPr/>
              </p:nvSpPr>
              <p:spPr>
                <a:xfrm>
                  <a:off x="10620886" y="3990914"/>
                  <a:ext cx="361439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zh-CN" sz="2000" kern="500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2000" b="0" i="0" kern="50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000" i="1" kern="5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5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kern="5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kern="500" dirty="0"/>
                    <a:t> </a:t>
                  </a:r>
                </a:p>
              </p:txBody>
            </p:sp>
          </mc:Choice>
          <mc:Fallback xmlns="">
            <p:sp>
              <p:nvSpPr>
                <p:cNvPr id="28" name="矩形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20886" y="3990914"/>
                  <a:ext cx="361439" cy="307777"/>
                </a:xfrm>
                <a:prstGeom prst="rect">
                  <a:avLst/>
                </a:prstGeom>
                <a:blipFill>
                  <a:blip r:embed="rId28"/>
                  <a:stretch>
                    <a:fillRect r="-11667" b="-16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1261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圆角矩形 38"/>
          <p:cNvSpPr/>
          <p:nvPr/>
        </p:nvSpPr>
        <p:spPr>
          <a:xfrm>
            <a:off x="864135" y="1176292"/>
            <a:ext cx="10997128" cy="1020309"/>
          </a:xfrm>
          <a:prstGeom prst="roundRect">
            <a:avLst>
              <a:gd name="adj" fmla="val 6908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本框 90"/>
              <p:cNvSpPr txBox="1"/>
              <p:nvPr/>
            </p:nvSpPr>
            <p:spPr>
              <a:xfrm>
                <a:off x="1161872" y="1233839"/>
                <a:ext cx="3297029" cy="807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zh-CN" altLang="en-US" sz="2800" b="1" i="0" smtClean="0">
                        <a:latin typeface="Cambria Math" panose="02040503050406030204" pitchFamily="18" charset="0"/>
                      </a:rPr>
                      <m:t>𝚺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1   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   1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1" name="文本框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872" y="1233839"/>
                <a:ext cx="3297029" cy="80797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8A1436BB-B4AD-4B40-BBDD-5EFEEF6FD157}"/>
              </a:ext>
            </a:extLst>
          </p:cNvPr>
          <p:cNvSpPr txBox="1"/>
          <p:nvPr/>
        </p:nvSpPr>
        <p:spPr>
          <a:xfrm>
            <a:off x="410681" y="177277"/>
            <a:ext cx="69821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Multivariate Gaussian Examples</a:t>
            </a:r>
            <a:endParaRPr lang="zh-CN" alt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8605143" y="1233839"/>
                <a:ext cx="3297029" cy="807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zh-CN" altLang="en-US" sz="2800" b="1" i="0" smtClean="0">
                        <a:latin typeface="Cambria Math" panose="02040503050406030204" pitchFamily="18" charset="0"/>
                      </a:rPr>
                      <m:t>𝚺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1   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   2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5143" y="1233839"/>
                <a:ext cx="3297029" cy="80797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4714185" y="1233839"/>
                <a:ext cx="3297029" cy="810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zh-CN" altLang="en-US" sz="2800" b="1" i="0" smtClean="0">
                        <a:latin typeface="Cambria Math" panose="02040503050406030204" pitchFamily="18" charset="0"/>
                      </a:rPr>
                      <m:t>𝚺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1      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   0.6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185" y="1233839"/>
                <a:ext cx="3297029" cy="810799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C86EF45F-AAED-4454-8AA3-5507E5DD96B6}"/>
              </a:ext>
            </a:extLst>
          </p:cNvPr>
          <p:cNvGrpSpPr/>
          <p:nvPr/>
        </p:nvGrpSpPr>
        <p:grpSpPr>
          <a:xfrm>
            <a:off x="1161872" y="2390493"/>
            <a:ext cx="2553056" cy="4105125"/>
            <a:chOff x="1161872" y="2390493"/>
            <a:chExt cx="2553056" cy="4105125"/>
          </a:xfrm>
        </p:grpSpPr>
        <p:pic>
          <p:nvPicPr>
            <p:cNvPr id="4" name="图片 3" descr="屏幕剪辑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1872" y="2390493"/>
              <a:ext cx="2553056" cy="403916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矩形 21"/>
                <p:cNvSpPr/>
                <p:nvPr/>
              </p:nvSpPr>
              <p:spPr>
                <a:xfrm>
                  <a:off x="2133428" y="6187841"/>
                  <a:ext cx="568777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zh-CN" sz="2000" kern="500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2000" b="0" i="0" kern="50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000" i="1" kern="5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5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kern="5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kern="500" dirty="0"/>
                    <a:t> </a:t>
                  </a:r>
                </a:p>
              </p:txBody>
            </p:sp>
          </mc:Choice>
          <mc:Fallback xmlns="">
            <p:sp>
              <p:nvSpPr>
                <p:cNvPr id="22" name="矩形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3428" y="6187841"/>
                  <a:ext cx="568777" cy="307777"/>
                </a:xfrm>
                <a:prstGeom prst="rect">
                  <a:avLst/>
                </a:prstGeom>
                <a:blipFill>
                  <a:blip r:embed="rId8"/>
                  <a:stretch>
                    <a:fillRect b="-137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矩形 24"/>
                <p:cNvSpPr/>
                <p:nvPr/>
              </p:nvSpPr>
              <p:spPr>
                <a:xfrm>
                  <a:off x="1177320" y="5055105"/>
                  <a:ext cx="458186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Ins="0">
                  <a:spAutoFit/>
                </a:bodyPr>
                <a:lstStyle/>
                <a:p>
                  <a:r>
                    <a:rPr lang="en-US" altLang="zh-CN" sz="2000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25" name="矩形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7320" y="5055105"/>
                  <a:ext cx="458186" cy="400110"/>
                </a:xfrm>
                <a:prstGeom prst="rect">
                  <a:avLst/>
                </a:prstGeom>
                <a:blipFill>
                  <a:blip r:embed="rId9"/>
                  <a:stretch>
                    <a:fillRect r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矩形 26"/>
            <p:cNvSpPr/>
            <p:nvPr/>
          </p:nvSpPr>
          <p:spPr>
            <a:xfrm>
              <a:off x="1616457" y="4102298"/>
              <a:ext cx="374268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矩形 27"/>
                <p:cNvSpPr/>
                <p:nvPr/>
              </p:nvSpPr>
              <p:spPr>
                <a:xfrm>
                  <a:off x="1611807" y="4036337"/>
                  <a:ext cx="458186" cy="307777"/>
                </a:xfrm>
                <a:prstGeom prst="rect">
                  <a:avLst/>
                </a:prstGeom>
                <a:noFill/>
              </p:spPr>
              <p:txBody>
                <a:bodyPr wrap="square" lIns="36000" tIns="0" rIns="0" bIns="0">
                  <a:spAutoFit/>
                </a:bodyPr>
                <a:lstStyle/>
                <a:p>
                  <a:r>
                    <a:rPr lang="en-US" altLang="zh-CN" sz="2000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28" name="矩形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1807" y="4036337"/>
                  <a:ext cx="458186" cy="307777"/>
                </a:xfrm>
                <a:prstGeom prst="rect">
                  <a:avLst/>
                </a:prstGeom>
                <a:blipFill>
                  <a:blip r:embed="rId10"/>
                  <a:stretch>
                    <a:fillRect b="-156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矩形 28"/>
            <p:cNvSpPr/>
            <p:nvPr/>
          </p:nvSpPr>
          <p:spPr>
            <a:xfrm>
              <a:off x="2819911" y="4125753"/>
              <a:ext cx="334163" cy="2747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矩形 29"/>
                <p:cNvSpPr/>
                <p:nvPr/>
              </p:nvSpPr>
              <p:spPr>
                <a:xfrm>
                  <a:off x="2772286" y="4073723"/>
                  <a:ext cx="361439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zh-CN" sz="2000" kern="500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2000" b="0" i="0" kern="50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000" i="1" kern="5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5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kern="5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kern="500" dirty="0"/>
                    <a:t> </a:t>
                  </a:r>
                </a:p>
              </p:txBody>
            </p:sp>
          </mc:Choice>
          <mc:Fallback xmlns="">
            <p:sp>
              <p:nvSpPr>
                <p:cNvPr id="30" name="矩形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2286" y="4073723"/>
                  <a:ext cx="361439" cy="307777"/>
                </a:xfrm>
                <a:prstGeom prst="rect">
                  <a:avLst/>
                </a:prstGeom>
                <a:blipFill>
                  <a:blip r:embed="rId11"/>
                  <a:stretch>
                    <a:fillRect r="-13559" b="-137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A4C6D3E8-718A-42C3-A390-5C462CCEA90F}"/>
              </a:ext>
            </a:extLst>
          </p:cNvPr>
          <p:cNvGrpSpPr/>
          <p:nvPr/>
        </p:nvGrpSpPr>
        <p:grpSpPr>
          <a:xfrm>
            <a:off x="5086351" y="2419072"/>
            <a:ext cx="2519534" cy="4076546"/>
            <a:chOff x="5086351" y="2419072"/>
            <a:chExt cx="2519534" cy="4076546"/>
          </a:xfrm>
        </p:grpSpPr>
        <p:pic>
          <p:nvPicPr>
            <p:cNvPr id="7" name="图片 6" descr="屏幕剪辑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19513" y="2419072"/>
              <a:ext cx="2486372" cy="401058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 19"/>
                <p:cNvSpPr/>
                <p:nvPr/>
              </p:nvSpPr>
              <p:spPr>
                <a:xfrm>
                  <a:off x="6086303" y="6187841"/>
                  <a:ext cx="568777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zh-CN" sz="2000" kern="500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2000" b="0" i="0" kern="50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000" i="1" kern="5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5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kern="5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kern="500" dirty="0"/>
                    <a:t> </a:t>
                  </a:r>
                </a:p>
              </p:txBody>
            </p:sp>
          </mc:Choice>
          <mc:Fallback xmlns="">
            <p:sp>
              <p:nvSpPr>
                <p:cNvPr id="20" name="矩形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6303" y="6187841"/>
                  <a:ext cx="568777" cy="307777"/>
                </a:xfrm>
                <a:prstGeom prst="rect">
                  <a:avLst/>
                </a:prstGeom>
                <a:blipFill>
                  <a:blip r:embed="rId18"/>
                  <a:stretch>
                    <a:fillRect b="-137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矩形 20"/>
                <p:cNvSpPr/>
                <p:nvPr/>
              </p:nvSpPr>
              <p:spPr>
                <a:xfrm>
                  <a:off x="5086351" y="5055105"/>
                  <a:ext cx="458186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Ins="0">
                  <a:spAutoFit/>
                </a:bodyPr>
                <a:lstStyle/>
                <a:p>
                  <a:r>
                    <a:rPr lang="en-US" altLang="zh-CN" sz="2000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21" name="矩形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6351" y="5055105"/>
                  <a:ext cx="458186" cy="400110"/>
                </a:xfrm>
                <a:prstGeom prst="rect">
                  <a:avLst/>
                </a:prstGeom>
                <a:blipFill>
                  <a:blip r:embed="rId19"/>
                  <a:stretch>
                    <a:fillRect r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矩形 25"/>
            <p:cNvSpPr/>
            <p:nvPr/>
          </p:nvSpPr>
          <p:spPr>
            <a:xfrm>
              <a:off x="7291560" y="5467350"/>
              <a:ext cx="314325" cy="3429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5499251" y="4102298"/>
              <a:ext cx="374268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矩形 31"/>
                <p:cNvSpPr/>
                <p:nvPr/>
              </p:nvSpPr>
              <p:spPr>
                <a:xfrm>
                  <a:off x="5494601" y="4055387"/>
                  <a:ext cx="458186" cy="307777"/>
                </a:xfrm>
                <a:prstGeom prst="rect">
                  <a:avLst/>
                </a:prstGeom>
                <a:noFill/>
              </p:spPr>
              <p:txBody>
                <a:bodyPr wrap="square" lIns="36000" tIns="0" rIns="0" bIns="0">
                  <a:spAutoFit/>
                </a:bodyPr>
                <a:lstStyle/>
                <a:p>
                  <a:r>
                    <a:rPr lang="en-US" altLang="zh-CN" sz="2000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32" name="矩形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4601" y="4055387"/>
                  <a:ext cx="458186" cy="307777"/>
                </a:xfrm>
                <a:prstGeom prst="rect">
                  <a:avLst/>
                </a:prstGeom>
                <a:blipFill>
                  <a:blip r:embed="rId20"/>
                  <a:stretch>
                    <a:fillRect b="-156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矩形 32"/>
            <p:cNvSpPr/>
            <p:nvPr/>
          </p:nvSpPr>
          <p:spPr>
            <a:xfrm>
              <a:off x="6702705" y="4125753"/>
              <a:ext cx="334163" cy="2747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矩形 33"/>
                <p:cNvSpPr/>
                <p:nvPr/>
              </p:nvSpPr>
              <p:spPr>
                <a:xfrm>
                  <a:off x="6655080" y="4092773"/>
                  <a:ext cx="361439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zh-CN" sz="2000" kern="500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2000" b="0" i="0" kern="50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000" i="1" kern="5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5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kern="5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kern="500" dirty="0"/>
                    <a:t> </a:t>
                  </a:r>
                </a:p>
              </p:txBody>
            </p:sp>
          </mc:Choice>
          <mc:Fallback xmlns="">
            <p:sp>
              <p:nvSpPr>
                <p:cNvPr id="34" name="矩形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5080" y="4092773"/>
                  <a:ext cx="361439" cy="307777"/>
                </a:xfrm>
                <a:prstGeom prst="rect">
                  <a:avLst/>
                </a:prstGeom>
                <a:blipFill>
                  <a:blip r:embed="rId21"/>
                  <a:stretch>
                    <a:fillRect r="-13559" b="-137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481A0782-9262-4593-A0C3-B9A35FC9E7D1}"/>
              </a:ext>
            </a:extLst>
          </p:cNvPr>
          <p:cNvGrpSpPr/>
          <p:nvPr/>
        </p:nvGrpSpPr>
        <p:grpSpPr>
          <a:xfrm>
            <a:off x="8986655" y="2447651"/>
            <a:ext cx="2534004" cy="4047967"/>
            <a:chOff x="8986655" y="2447651"/>
            <a:chExt cx="2534004" cy="4047967"/>
          </a:xfrm>
        </p:grpSpPr>
        <p:pic>
          <p:nvPicPr>
            <p:cNvPr id="8" name="图片 7" descr="屏幕剪辑"/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86655" y="2447651"/>
              <a:ext cx="2534004" cy="398200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矩形 22"/>
                <p:cNvSpPr/>
                <p:nvPr/>
              </p:nvSpPr>
              <p:spPr>
                <a:xfrm>
                  <a:off x="10145816" y="6187841"/>
                  <a:ext cx="568777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zh-CN" sz="2000" kern="500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2000" b="0" i="0" kern="50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000" i="1" kern="5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5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kern="5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kern="500" dirty="0"/>
                    <a:t> </a:t>
                  </a:r>
                </a:p>
              </p:txBody>
            </p:sp>
          </mc:Choice>
          <mc:Fallback xmlns="">
            <p:sp>
              <p:nvSpPr>
                <p:cNvPr id="23" name="矩形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5816" y="6187841"/>
                  <a:ext cx="568777" cy="307777"/>
                </a:xfrm>
                <a:prstGeom prst="rect">
                  <a:avLst/>
                </a:prstGeom>
                <a:blipFill>
                  <a:blip r:embed="rId23"/>
                  <a:stretch>
                    <a:fillRect b="-137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矩形 23"/>
                <p:cNvSpPr/>
                <p:nvPr/>
              </p:nvSpPr>
              <p:spPr>
                <a:xfrm>
                  <a:off x="9086851" y="5055105"/>
                  <a:ext cx="458186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Ins="0">
                  <a:spAutoFit/>
                </a:bodyPr>
                <a:lstStyle/>
                <a:p>
                  <a:r>
                    <a:rPr lang="en-US" altLang="zh-CN" sz="2000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24" name="矩形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86851" y="5055105"/>
                  <a:ext cx="458186" cy="400110"/>
                </a:xfrm>
                <a:prstGeom prst="rect">
                  <a:avLst/>
                </a:prstGeom>
                <a:blipFill>
                  <a:blip r:embed="rId24"/>
                  <a:stretch>
                    <a:fillRect r="-12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矩形 34"/>
            <p:cNvSpPr/>
            <p:nvPr/>
          </p:nvSpPr>
          <p:spPr>
            <a:xfrm>
              <a:off x="9465057" y="4019489"/>
              <a:ext cx="374268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矩形 35"/>
                <p:cNvSpPr/>
                <p:nvPr/>
              </p:nvSpPr>
              <p:spPr>
                <a:xfrm>
                  <a:off x="9460407" y="3953528"/>
                  <a:ext cx="458186" cy="307777"/>
                </a:xfrm>
                <a:prstGeom prst="rect">
                  <a:avLst/>
                </a:prstGeom>
                <a:noFill/>
              </p:spPr>
              <p:txBody>
                <a:bodyPr wrap="square" lIns="36000" tIns="0" rIns="0" bIns="0">
                  <a:spAutoFit/>
                </a:bodyPr>
                <a:lstStyle/>
                <a:p>
                  <a:r>
                    <a:rPr lang="en-US" altLang="zh-CN" sz="2000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36" name="矩形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0407" y="3953528"/>
                  <a:ext cx="458186" cy="307777"/>
                </a:xfrm>
                <a:prstGeom prst="rect">
                  <a:avLst/>
                </a:prstGeom>
                <a:blipFill>
                  <a:blip r:embed="rId25"/>
                  <a:stretch>
                    <a:fillRect b="-16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矩形 36"/>
            <p:cNvSpPr/>
            <p:nvPr/>
          </p:nvSpPr>
          <p:spPr>
            <a:xfrm>
              <a:off x="10668511" y="4061994"/>
              <a:ext cx="334163" cy="2747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矩形 37"/>
                <p:cNvSpPr/>
                <p:nvPr/>
              </p:nvSpPr>
              <p:spPr>
                <a:xfrm>
                  <a:off x="10620886" y="4009964"/>
                  <a:ext cx="361439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zh-CN" sz="2000" kern="500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2000" b="0" i="0" kern="50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000" i="1" kern="5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5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kern="5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kern="500" dirty="0"/>
                    <a:t> </a:t>
                  </a:r>
                </a:p>
              </p:txBody>
            </p:sp>
          </mc:Choice>
          <mc:Fallback xmlns="">
            <p:sp>
              <p:nvSpPr>
                <p:cNvPr id="38" name="矩形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20886" y="4009964"/>
                  <a:ext cx="361439" cy="307777"/>
                </a:xfrm>
                <a:prstGeom prst="rect">
                  <a:avLst/>
                </a:prstGeom>
                <a:blipFill>
                  <a:blip r:embed="rId26"/>
                  <a:stretch>
                    <a:fillRect r="-11667" b="-16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2113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圆角矩形 35"/>
          <p:cNvSpPr/>
          <p:nvPr/>
        </p:nvSpPr>
        <p:spPr>
          <a:xfrm>
            <a:off x="864135" y="1176292"/>
            <a:ext cx="10997128" cy="1020309"/>
          </a:xfrm>
          <a:prstGeom prst="roundRect">
            <a:avLst>
              <a:gd name="adj" fmla="val 6908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本框 90"/>
              <p:cNvSpPr txBox="1"/>
              <p:nvPr/>
            </p:nvSpPr>
            <p:spPr>
              <a:xfrm>
                <a:off x="1161872" y="1233839"/>
                <a:ext cx="3297029" cy="807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zh-CN" altLang="en-US" sz="2800" b="1" i="0" smtClean="0">
                        <a:latin typeface="Cambria Math" panose="02040503050406030204" pitchFamily="18" charset="0"/>
                      </a:rPr>
                      <m:t>𝚺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1   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   1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1" name="文本框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872" y="1233839"/>
                <a:ext cx="3297029" cy="80797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8A1436BB-B4AD-4B40-BBDD-5EFEEF6FD157}"/>
              </a:ext>
            </a:extLst>
          </p:cNvPr>
          <p:cNvSpPr txBox="1"/>
          <p:nvPr/>
        </p:nvSpPr>
        <p:spPr>
          <a:xfrm>
            <a:off x="410681" y="177277"/>
            <a:ext cx="69821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Multivariate Gaussian Examples</a:t>
            </a:r>
            <a:endParaRPr lang="zh-CN" altLang="en-US" sz="4000" b="1" dirty="0"/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872" y="2390493"/>
            <a:ext cx="2553056" cy="40391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2133428" y="6187841"/>
                <a:ext cx="568777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altLang="zh-CN" sz="2000" kern="5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0" kern="50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000" i="1" kern="5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5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kern="50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kern="500" dirty="0"/>
                  <a:t> </a:t>
                </a:r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428" y="6187841"/>
                <a:ext cx="568777" cy="307777"/>
              </a:xfrm>
              <a:prstGeom prst="rect">
                <a:avLst/>
              </a:prstGeom>
              <a:blipFill rotWithShape="0">
                <a:blip r:embed="rId11"/>
                <a:stretch>
                  <a:fillRect b="-137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/>
              <p:cNvSpPr/>
              <p:nvPr/>
            </p:nvSpPr>
            <p:spPr>
              <a:xfrm>
                <a:off x="1177320" y="5055105"/>
                <a:ext cx="458186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Ins="0">
                <a:spAutoFit/>
              </a:bodyPr>
              <a:lstStyle/>
              <a:p>
                <a:r>
                  <a:rPr lang="en-US" altLang="zh-CN" sz="20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000" dirty="0"/>
                  <a:t> </a:t>
                </a:r>
              </a:p>
            </p:txBody>
          </p:sp>
        </mc:Choice>
        <mc:Fallback xmlns=""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320" y="5055105"/>
                <a:ext cx="458186" cy="400110"/>
              </a:xfrm>
              <a:prstGeom prst="rect">
                <a:avLst/>
              </a:prstGeom>
              <a:blipFill rotWithShape="0">
                <a:blip r:embed="rId14"/>
                <a:stretch>
                  <a:fillRect r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/>
          <p:cNvSpPr/>
          <p:nvPr/>
        </p:nvSpPr>
        <p:spPr>
          <a:xfrm>
            <a:off x="1616457" y="4102298"/>
            <a:ext cx="374268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/>
              <p:cNvSpPr/>
              <p:nvPr/>
            </p:nvSpPr>
            <p:spPr>
              <a:xfrm>
                <a:off x="1611807" y="4036337"/>
                <a:ext cx="458186" cy="307777"/>
              </a:xfrm>
              <a:prstGeom prst="rect">
                <a:avLst/>
              </a:prstGeom>
              <a:noFill/>
            </p:spPr>
            <p:txBody>
              <a:bodyPr wrap="square" lIns="36000" tIns="0" rIns="0" bIns="0">
                <a:spAutoFit/>
              </a:bodyPr>
              <a:lstStyle/>
              <a:p>
                <a:r>
                  <a:rPr lang="en-US" altLang="zh-CN" sz="20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000" dirty="0"/>
                  <a:t> </a:t>
                </a:r>
              </a:p>
            </p:txBody>
          </p:sp>
        </mc:Choice>
        <mc:Fallback xmlns=""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807" y="4036337"/>
                <a:ext cx="458186" cy="307777"/>
              </a:xfrm>
              <a:prstGeom prst="rect">
                <a:avLst/>
              </a:prstGeom>
              <a:blipFill rotWithShape="0">
                <a:blip r:embed="rId15"/>
                <a:stretch>
                  <a:fillRect b="-156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矩形 25"/>
          <p:cNvSpPr/>
          <p:nvPr/>
        </p:nvSpPr>
        <p:spPr>
          <a:xfrm>
            <a:off x="2819911" y="4125753"/>
            <a:ext cx="334163" cy="2747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/>
              <p:cNvSpPr/>
              <p:nvPr/>
            </p:nvSpPr>
            <p:spPr>
              <a:xfrm>
                <a:off x="2772286" y="4073723"/>
                <a:ext cx="361439" cy="307777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altLang="zh-CN" sz="2000" kern="5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0" kern="50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000" i="1" kern="5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5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kern="50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kern="500" dirty="0"/>
                  <a:t> </a:t>
                </a:r>
              </a:p>
            </p:txBody>
          </p:sp>
        </mc:Choice>
        <mc:Fallback xmlns=""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2286" y="4073723"/>
                <a:ext cx="361439" cy="307777"/>
              </a:xfrm>
              <a:prstGeom prst="rect">
                <a:avLst/>
              </a:prstGeom>
              <a:blipFill rotWithShape="0">
                <a:blip r:embed="rId16"/>
                <a:stretch>
                  <a:fillRect r="-13559" b="-137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4714185" y="1233839"/>
                <a:ext cx="3297029" cy="819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zh-CN" altLang="en-US" sz="2800" b="1" i="0" smtClean="0">
                        <a:latin typeface="Cambria Math" panose="02040503050406030204" pitchFamily="18" charset="0"/>
                      </a:rPr>
                      <m:t>𝚺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1   0.5</m:t>
                            </m:r>
                          </m:e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.5   1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185" y="1233839"/>
                <a:ext cx="3297029" cy="81958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>
            <a:extLst>
              <a:ext uri="{FF2B5EF4-FFF2-40B4-BE49-F238E27FC236}">
                <a16:creationId xmlns:a16="http://schemas.microsoft.com/office/drawing/2014/main" id="{57C89DDD-B6F9-4A73-A61F-ABC92B583761}"/>
              </a:ext>
            </a:extLst>
          </p:cNvPr>
          <p:cNvGrpSpPr/>
          <p:nvPr/>
        </p:nvGrpSpPr>
        <p:grpSpPr>
          <a:xfrm>
            <a:off x="5086351" y="2494560"/>
            <a:ext cx="2519534" cy="4001058"/>
            <a:chOff x="5086351" y="2494560"/>
            <a:chExt cx="2519534" cy="4001058"/>
          </a:xfrm>
        </p:grpSpPr>
        <p:pic>
          <p:nvPicPr>
            <p:cNvPr id="6" name="图片 5" descr="屏幕剪辑"/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29039" y="2494560"/>
              <a:ext cx="2467319" cy="4001058"/>
            </a:xfrm>
            <a:prstGeom prst="rect">
              <a:avLst/>
            </a:prstGeom>
          </p:spPr>
        </p:pic>
        <p:sp>
          <p:nvSpPr>
            <p:cNvPr id="11" name="矩形 10"/>
            <p:cNvSpPr/>
            <p:nvPr/>
          </p:nvSpPr>
          <p:spPr>
            <a:xfrm>
              <a:off x="7291560" y="5467350"/>
              <a:ext cx="314325" cy="3429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 17"/>
                <p:cNvSpPr/>
                <p:nvPr/>
              </p:nvSpPr>
              <p:spPr>
                <a:xfrm>
                  <a:off x="6086303" y="6187841"/>
                  <a:ext cx="568777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zh-CN" sz="2000" kern="500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2000" b="0" i="0" kern="50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000" i="1" kern="5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5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kern="5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kern="500" dirty="0"/>
                    <a:t> </a:t>
                  </a:r>
                </a:p>
              </p:txBody>
            </p:sp>
          </mc:Choice>
          <mc:Fallback xmlns="">
            <p:sp>
              <p:nvSpPr>
                <p:cNvPr id="18" name="矩形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6303" y="6187841"/>
                  <a:ext cx="568777" cy="307777"/>
                </a:xfrm>
                <a:prstGeom prst="rect">
                  <a:avLst/>
                </a:prstGeom>
                <a:blipFill>
                  <a:blip r:embed="rId19"/>
                  <a:stretch>
                    <a:fillRect b="-137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/>
                <p:cNvSpPr/>
                <p:nvPr/>
              </p:nvSpPr>
              <p:spPr>
                <a:xfrm>
                  <a:off x="5086351" y="5055105"/>
                  <a:ext cx="458186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Ins="0">
                  <a:spAutoFit/>
                </a:bodyPr>
                <a:lstStyle/>
                <a:p>
                  <a:r>
                    <a:rPr lang="en-US" altLang="zh-CN" sz="2000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19" name="矩形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6351" y="5055105"/>
                  <a:ext cx="458186" cy="400110"/>
                </a:xfrm>
                <a:prstGeom prst="rect">
                  <a:avLst/>
                </a:prstGeom>
                <a:blipFill>
                  <a:blip r:embed="rId20"/>
                  <a:stretch>
                    <a:fillRect r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矩形 27"/>
            <p:cNvSpPr/>
            <p:nvPr/>
          </p:nvSpPr>
          <p:spPr>
            <a:xfrm>
              <a:off x="5499251" y="4121348"/>
              <a:ext cx="374268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矩形 28"/>
                <p:cNvSpPr/>
                <p:nvPr/>
              </p:nvSpPr>
              <p:spPr>
                <a:xfrm>
                  <a:off x="5494601" y="4055387"/>
                  <a:ext cx="458186" cy="307777"/>
                </a:xfrm>
                <a:prstGeom prst="rect">
                  <a:avLst/>
                </a:prstGeom>
                <a:noFill/>
              </p:spPr>
              <p:txBody>
                <a:bodyPr wrap="square" lIns="36000" tIns="0" rIns="0" bIns="0">
                  <a:spAutoFit/>
                </a:bodyPr>
                <a:lstStyle/>
                <a:p>
                  <a:r>
                    <a:rPr lang="en-US" altLang="zh-CN" sz="2000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29" name="矩形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4601" y="4055387"/>
                  <a:ext cx="458186" cy="307777"/>
                </a:xfrm>
                <a:prstGeom prst="rect">
                  <a:avLst/>
                </a:prstGeom>
                <a:blipFill>
                  <a:blip r:embed="rId21"/>
                  <a:stretch>
                    <a:fillRect b="-156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矩形 29"/>
            <p:cNvSpPr/>
            <p:nvPr/>
          </p:nvSpPr>
          <p:spPr>
            <a:xfrm>
              <a:off x="6702705" y="4144803"/>
              <a:ext cx="334163" cy="2747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矩形 30"/>
                <p:cNvSpPr/>
                <p:nvPr/>
              </p:nvSpPr>
              <p:spPr>
                <a:xfrm>
                  <a:off x="6655080" y="4092773"/>
                  <a:ext cx="361439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zh-CN" sz="2000" kern="500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2000" b="0" i="0" kern="50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000" i="1" kern="5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5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kern="5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kern="500" dirty="0"/>
                    <a:t> </a:t>
                  </a:r>
                </a:p>
              </p:txBody>
            </p:sp>
          </mc:Choice>
          <mc:Fallback xmlns="">
            <p:sp>
              <p:nvSpPr>
                <p:cNvPr id="31" name="矩形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5080" y="4092773"/>
                  <a:ext cx="361439" cy="307777"/>
                </a:xfrm>
                <a:prstGeom prst="rect">
                  <a:avLst/>
                </a:prstGeom>
                <a:blipFill>
                  <a:blip r:embed="rId22"/>
                  <a:stretch>
                    <a:fillRect r="-13559" b="-137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8605143" y="1233839"/>
                <a:ext cx="3297029" cy="807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zh-CN" altLang="en-US" sz="2800" b="1" i="0" smtClean="0">
                        <a:latin typeface="Cambria Math" panose="02040503050406030204" pitchFamily="18" charset="0"/>
                      </a:rPr>
                      <m:t>𝚺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1   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.8</m:t>
                            </m:r>
                          </m:e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.8   1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5143" y="1233839"/>
                <a:ext cx="3297029" cy="807978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032166DF-9846-4EF6-9CF2-671161E1E85E}"/>
              </a:ext>
            </a:extLst>
          </p:cNvPr>
          <p:cNvGrpSpPr/>
          <p:nvPr/>
        </p:nvGrpSpPr>
        <p:grpSpPr>
          <a:xfrm>
            <a:off x="9000944" y="2438125"/>
            <a:ext cx="2505425" cy="4057493"/>
            <a:chOff x="9000944" y="2438125"/>
            <a:chExt cx="2505425" cy="4057493"/>
          </a:xfrm>
        </p:grpSpPr>
        <p:pic>
          <p:nvPicPr>
            <p:cNvPr id="3" name="图片 2" descr="屏幕剪辑"/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0944" y="2438125"/>
              <a:ext cx="2505425" cy="399153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矩形 20"/>
                <p:cNvSpPr/>
                <p:nvPr/>
              </p:nvSpPr>
              <p:spPr>
                <a:xfrm>
                  <a:off x="10145816" y="6187841"/>
                  <a:ext cx="568777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zh-CN" sz="2000" kern="500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2000" b="0" i="0" kern="50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000" i="1" kern="5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5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kern="5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kern="500" dirty="0"/>
                    <a:t> </a:t>
                  </a:r>
                </a:p>
              </p:txBody>
            </p:sp>
          </mc:Choice>
          <mc:Fallback xmlns="">
            <p:sp>
              <p:nvSpPr>
                <p:cNvPr id="21" name="矩形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5816" y="6187841"/>
                  <a:ext cx="568777" cy="307777"/>
                </a:xfrm>
                <a:prstGeom prst="rect">
                  <a:avLst/>
                </a:prstGeom>
                <a:blipFill>
                  <a:blip r:embed="rId25"/>
                  <a:stretch>
                    <a:fillRect b="-137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矩形 21"/>
                <p:cNvSpPr/>
                <p:nvPr/>
              </p:nvSpPr>
              <p:spPr>
                <a:xfrm>
                  <a:off x="9086851" y="5055105"/>
                  <a:ext cx="458186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Ins="0">
                  <a:spAutoFit/>
                </a:bodyPr>
                <a:lstStyle/>
                <a:p>
                  <a:r>
                    <a:rPr lang="en-US" altLang="zh-CN" sz="2000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22" name="矩形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86851" y="5055105"/>
                  <a:ext cx="458186" cy="400110"/>
                </a:xfrm>
                <a:prstGeom prst="rect">
                  <a:avLst/>
                </a:prstGeom>
                <a:blipFill>
                  <a:blip r:embed="rId26"/>
                  <a:stretch>
                    <a:fillRect r="-12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矩形 31"/>
            <p:cNvSpPr/>
            <p:nvPr/>
          </p:nvSpPr>
          <p:spPr>
            <a:xfrm>
              <a:off x="9465057" y="4019489"/>
              <a:ext cx="374268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矩形 32"/>
                <p:cNvSpPr/>
                <p:nvPr/>
              </p:nvSpPr>
              <p:spPr>
                <a:xfrm>
                  <a:off x="9460407" y="3953528"/>
                  <a:ext cx="458186" cy="307777"/>
                </a:xfrm>
                <a:prstGeom prst="rect">
                  <a:avLst/>
                </a:prstGeom>
                <a:noFill/>
              </p:spPr>
              <p:txBody>
                <a:bodyPr wrap="square" lIns="36000" tIns="0" rIns="0" bIns="0">
                  <a:spAutoFit/>
                </a:bodyPr>
                <a:lstStyle/>
                <a:p>
                  <a:r>
                    <a:rPr lang="en-US" altLang="zh-CN" sz="2000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33" name="矩形 3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0407" y="3953528"/>
                  <a:ext cx="458186" cy="307777"/>
                </a:xfrm>
                <a:prstGeom prst="rect">
                  <a:avLst/>
                </a:prstGeom>
                <a:blipFill>
                  <a:blip r:embed="rId27"/>
                  <a:stretch>
                    <a:fillRect b="-16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矩形 33"/>
            <p:cNvSpPr/>
            <p:nvPr/>
          </p:nvSpPr>
          <p:spPr>
            <a:xfrm>
              <a:off x="10668511" y="4042944"/>
              <a:ext cx="334163" cy="2747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矩形 34"/>
                <p:cNvSpPr/>
                <p:nvPr/>
              </p:nvSpPr>
              <p:spPr>
                <a:xfrm>
                  <a:off x="10620886" y="3990914"/>
                  <a:ext cx="361439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US" altLang="zh-CN" sz="2000" kern="500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2000" b="0" i="0" kern="50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000" i="1" kern="5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5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kern="5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kern="500" dirty="0"/>
                    <a:t> </a:t>
                  </a:r>
                </a:p>
              </p:txBody>
            </p:sp>
          </mc:Choice>
          <mc:Fallback xmlns="">
            <p:sp>
              <p:nvSpPr>
                <p:cNvPr id="35" name="矩形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20886" y="3990914"/>
                  <a:ext cx="361439" cy="307777"/>
                </a:xfrm>
                <a:prstGeom prst="rect">
                  <a:avLst/>
                </a:prstGeom>
                <a:blipFill>
                  <a:blip r:embed="rId28"/>
                  <a:stretch>
                    <a:fillRect r="-11667" b="-16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27665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BD95A71-EAA6-4F5A-B4FB-DBF4ADF8C898}"/>
              </a:ext>
            </a:extLst>
          </p:cNvPr>
          <p:cNvSpPr/>
          <p:nvPr/>
        </p:nvSpPr>
        <p:spPr>
          <a:xfrm>
            <a:off x="413883" y="2706049"/>
            <a:ext cx="11280809" cy="2690899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C56F2B-B6B4-40E4-877A-3BA26BA6C09D}"/>
              </a:ext>
            </a:extLst>
          </p:cNvPr>
          <p:cNvSpPr txBox="1"/>
          <p:nvPr/>
        </p:nvSpPr>
        <p:spPr>
          <a:xfrm>
            <a:off x="221382" y="114717"/>
            <a:ext cx="6383094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Discriminant Functions for Gaussian 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4A93ACF-4339-4691-A398-2E2E53F86427}"/>
              </a:ext>
            </a:extLst>
          </p:cNvPr>
          <p:cNvSpPr/>
          <p:nvPr/>
        </p:nvSpPr>
        <p:spPr>
          <a:xfrm>
            <a:off x="497302" y="2780808"/>
            <a:ext cx="111973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Case of multivariate Gaussian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5B1EE89-8D57-4368-B068-264088148B24}"/>
              </a:ext>
            </a:extLst>
          </p:cNvPr>
          <p:cNvSpPr/>
          <p:nvPr/>
        </p:nvSpPr>
        <p:spPr>
          <a:xfrm>
            <a:off x="413884" y="977930"/>
            <a:ext cx="11280809" cy="1364974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C8F12F-574E-48B0-BE9D-E4DD7E1B71F5}"/>
              </a:ext>
            </a:extLst>
          </p:cNvPr>
          <p:cNvSpPr/>
          <p:nvPr/>
        </p:nvSpPr>
        <p:spPr>
          <a:xfrm>
            <a:off x="497303" y="1052689"/>
            <a:ext cx="111973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For the minimum error rate, we take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5BD7403B-8390-4257-8E98-55B060AF05A5}"/>
                  </a:ext>
                </a:extLst>
              </p:cNvPr>
              <p:cNvSpPr/>
              <p:nvPr/>
            </p:nvSpPr>
            <p:spPr>
              <a:xfrm>
                <a:off x="3683997" y="1646666"/>
                <a:ext cx="567482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b="1" i="1" dirty="0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5BD7403B-8390-4257-8E98-55B060AF05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997" y="1646666"/>
                <a:ext cx="5674822" cy="461665"/>
              </a:xfrm>
              <a:prstGeom prst="rect">
                <a:avLst/>
              </a:prstGeom>
              <a:blipFill>
                <a:blip r:embed="rId2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C4AD079C-246D-4552-9533-27A3938C96A1}"/>
                  </a:ext>
                </a:extLst>
              </p:cNvPr>
              <p:cNvSpPr/>
              <p:nvPr/>
            </p:nvSpPr>
            <p:spPr>
              <a:xfrm>
                <a:off x="2073459" y="4427530"/>
                <a:ext cx="7842853" cy="783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𝚺</m:t>
                          </m:r>
                        </m:e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sz="2400" b="1" i="1"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𝚺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C4AD079C-246D-4552-9533-27A3938C96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3459" y="4427530"/>
                <a:ext cx="7842853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58EF48F-96DC-4BE9-8077-4ED7BF009D9A}"/>
                  </a:ext>
                </a:extLst>
              </p:cNvPr>
              <p:cNvSpPr/>
              <p:nvPr/>
            </p:nvSpPr>
            <p:spPr>
              <a:xfrm>
                <a:off x="1501469" y="3398431"/>
                <a:ext cx="9189054" cy="7811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800" b="1" i="1" dirty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800" b="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/2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𝚺</m:t>
                                </m:r>
                              </m:e>
                              <m:sub>
                                <m: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1/2</m:t>
                            </m:r>
                          </m:sup>
                        </m:sSup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b="1" i="1"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altLang="zh-CN" sz="28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𝚺</m:t>
                                </m:r>
                              </m:e>
                              <m:sub>
                                <m: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altLang="zh-CN" sz="2800" b="1" dirty="0"/>
                  <a:t> </a:t>
                </a: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58EF48F-96DC-4BE9-8077-4ED7BF009D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1469" y="3398431"/>
                <a:ext cx="9189054" cy="7811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7894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/>
      <p:bldP spid="14" grpId="0" animBg="1"/>
      <p:bldP spid="15" grpId="0"/>
      <p:bldP spid="16" grpId="0"/>
      <p:bldP spid="22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61F1BC0-FC1D-4A62-84AE-B4173A939C71}"/>
              </a:ext>
            </a:extLst>
          </p:cNvPr>
          <p:cNvSpPr/>
          <p:nvPr/>
        </p:nvSpPr>
        <p:spPr>
          <a:xfrm>
            <a:off x="413882" y="4499306"/>
            <a:ext cx="11280809" cy="1853649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5B1EE89-8D57-4368-B068-264088148B24}"/>
              </a:ext>
            </a:extLst>
          </p:cNvPr>
          <p:cNvSpPr/>
          <p:nvPr/>
        </p:nvSpPr>
        <p:spPr>
          <a:xfrm>
            <a:off x="413884" y="977929"/>
            <a:ext cx="11280809" cy="3353439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5C56F2B-B6B4-40E4-877A-3BA26BA6C09D}"/>
                  </a:ext>
                </a:extLst>
              </p:cNvPr>
              <p:cNvSpPr txBox="1"/>
              <p:nvPr/>
            </p:nvSpPr>
            <p:spPr>
              <a:xfrm>
                <a:off x="221382" y="114717"/>
                <a:ext cx="3016403" cy="7513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3200" b="1" dirty="0"/>
                  <a:t>Case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b="1" i="1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3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endParaRPr lang="en-US" altLang="zh-CN" sz="3200" b="1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5C56F2B-B6B4-40E4-877A-3BA26BA6C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82" y="114717"/>
                <a:ext cx="3016403" cy="751360"/>
              </a:xfrm>
              <a:prstGeom prst="rect">
                <a:avLst/>
              </a:prstGeom>
              <a:blipFill>
                <a:blip r:embed="rId6"/>
                <a:stretch>
                  <a:fillRect l="-5051" b="-26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593052CA-D3EC-4E63-8467-1A42175D157F}"/>
                  </a:ext>
                </a:extLst>
              </p:cNvPr>
              <p:cNvSpPr/>
              <p:nvPr/>
            </p:nvSpPr>
            <p:spPr>
              <a:xfrm>
                <a:off x="2019048" y="2466772"/>
                <a:ext cx="6602961" cy="7861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593052CA-D3EC-4E63-8467-1A42175D15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048" y="2466772"/>
                <a:ext cx="6602961" cy="7861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>
            <a:extLst>
              <a:ext uri="{FF2B5EF4-FFF2-40B4-BE49-F238E27FC236}">
                <a16:creationId xmlns:a16="http://schemas.microsoft.com/office/drawing/2014/main" id="{95C8F12F-574E-48B0-BE9D-E4DD7E1B71F5}"/>
              </a:ext>
            </a:extLst>
          </p:cNvPr>
          <p:cNvSpPr/>
          <p:nvPr/>
        </p:nvSpPr>
        <p:spPr>
          <a:xfrm>
            <a:off x="497303" y="1052689"/>
            <a:ext cx="111973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All features are independent and have the same variance for all classes.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C4AD079C-246D-4552-9533-27A3938C96A1}"/>
                  </a:ext>
                </a:extLst>
              </p:cNvPr>
              <p:cNvSpPr/>
              <p:nvPr/>
            </p:nvSpPr>
            <p:spPr>
              <a:xfrm>
                <a:off x="2019048" y="1511159"/>
                <a:ext cx="8070479" cy="783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𝚺</m:t>
                          </m:r>
                        </m:e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sz="2400" b="1" i="1"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𝚺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C4AD079C-246D-4552-9533-27A3938C96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048" y="1511159"/>
                <a:ext cx="8070479" cy="7838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810C0D82-058F-4F68-9D1F-E786FAA72E02}"/>
                  </a:ext>
                </a:extLst>
              </p:cNvPr>
              <p:cNvSpPr/>
              <p:nvPr/>
            </p:nvSpPr>
            <p:spPr>
              <a:xfrm>
                <a:off x="5213033" y="2221026"/>
                <a:ext cx="464838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just"/>
                <a:r>
                  <a:rPr lang="en-US" altLang="zh-CN" sz="2400" dirty="0">
                    <a:solidFill>
                      <a:srgbClr val="FF0000"/>
                    </a:solidFill>
                  </a:rPr>
                  <a:t>Euclidean distance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810C0D82-058F-4F68-9D1F-E786FAA72E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3033" y="2221026"/>
                <a:ext cx="4648380" cy="461665"/>
              </a:xfrm>
              <a:prstGeom prst="rect">
                <a:avLst/>
              </a:prstGeom>
              <a:blipFill>
                <a:blip r:embed="rId9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5D4F14CB-14AD-42CA-B82C-B7C23651094F}"/>
                  </a:ext>
                </a:extLst>
              </p:cNvPr>
              <p:cNvSpPr/>
              <p:nvPr/>
            </p:nvSpPr>
            <p:spPr>
              <a:xfrm>
                <a:off x="2019048" y="3420887"/>
                <a:ext cx="6670480" cy="7861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5D4F14CB-14AD-42CA-B82C-B7C2365109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048" y="3420887"/>
                <a:ext cx="6670480" cy="7861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83FDEC71-2B6A-40E3-BFA0-94696A38B773}"/>
                  </a:ext>
                </a:extLst>
              </p:cNvPr>
              <p:cNvSpPr/>
              <p:nvPr/>
            </p:nvSpPr>
            <p:spPr>
              <a:xfrm>
                <a:off x="4433330" y="4573474"/>
                <a:ext cx="3325334" cy="468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b="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83FDEC71-2B6A-40E3-BFA0-94696A38B7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330" y="4573474"/>
                <a:ext cx="3325334" cy="468205"/>
              </a:xfrm>
              <a:prstGeom prst="rect">
                <a:avLst/>
              </a:prstGeom>
              <a:blipFill>
                <a:blip r:embed="rId11"/>
                <a:stretch>
                  <a:fillRect b="-10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矩形 29">
            <a:extLst>
              <a:ext uri="{FF2B5EF4-FFF2-40B4-BE49-F238E27FC236}">
                <a16:creationId xmlns:a16="http://schemas.microsoft.com/office/drawing/2014/main" id="{3EFF6146-5C63-4A2B-BE82-645E5CE41588}"/>
              </a:ext>
            </a:extLst>
          </p:cNvPr>
          <p:cNvSpPr/>
          <p:nvPr/>
        </p:nvSpPr>
        <p:spPr>
          <a:xfrm>
            <a:off x="497303" y="4640942"/>
            <a:ext cx="111973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FF0000"/>
                </a:solidFill>
              </a:rPr>
              <a:t>Linear</a:t>
            </a:r>
            <a:r>
              <a:rPr lang="en-US" altLang="zh-CN" sz="2400" dirty="0"/>
              <a:t> discriminant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739F3CBB-1C5B-4344-9423-3C4675EF9AA7}"/>
                  </a:ext>
                </a:extLst>
              </p:cNvPr>
              <p:cNvSpPr/>
              <p:nvPr/>
            </p:nvSpPr>
            <p:spPr>
              <a:xfrm>
                <a:off x="2570294" y="5332988"/>
                <a:ext cx="1334981" cy="7277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739F3CBB-1C5B-4344-9423-3C4675EF9A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294" y="5332988"/>
                <a:ext cx="1334981" cy="7277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D042CBAC-AF26-47E4-BA53-D09F63CE8362}"/>
                  </a:ext>
                </a:extLst>
              </p:cNvPr>
              <p:cNvSpPr/>
              <p:nvPr/>
            </p:nvSpPr>
            <p:spPr>
              <a:xfrm>
                <a:off x="4894049" y="5224444"/>
                <a:ext cx="3482555" cy="8410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b="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D042CBAC-AF26-47E4-BA53-D09F63CE83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049" y="5224444"/>
                <a:ext cx="3482555" cy="84106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矩形 32">
            <a:extLst>
              <a:ext uri="{FF2B5EF4-FFF2-40B4-BE49-F238E27FC236}">
                <a16:creationId xmlns:a16="http://schemas.microsoft.com/office/drawing/2014/main" id="{E8E9AF64-5784-474D-9F77-2242DF7A622C}"/>
              </a:ext>
            </a:extLst>
          </p:cNvPr>
          <p:cNvSpPr/>
          <p:nvPr/>
        </p:nvSpPr>
        <p:spPr>
          <a:xfrm>
            <a:off x="7783821" y="4614954"/>
            <a:ext cx="6848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bias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52E99E0-0143-4647-BA87-5A8D88D3D0AA}"/>
              </a:ext>
            </a:extLst>
          </p:cNvPr>
          <p:cNvSpPr/>
          <p:nvPr/>
        </p:nvSpPr>
        <p:spPr>
          <a:xfrm>
            <a:off x="7036067" y="4614954"/>
            <a:ext cx="587141" cy="48765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193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17" grpId="0"/>
      <p:bldP spid="13" grpId="0"/>
      <p:bldP spid="18" grpId="0"/>
      <p:bldP spid="28" grpId="0"/>
      <p:bldP spid="30" grpId="0"/>
      <p:bldP spid="31" grpId="0"/>
      <p:bldP spid="33" grpId="0"/>
      <p:bldP spid="3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5B1EE89-8D57-4368-B068-264088148B24}"/>
              </a:ext>
            </a:extLst>
          </p:cNvPr>
          <p:cNvSpPr/>
          <p:nvPr/>
        </p:nvSpPr>
        <p:spPr>
          <a:xfrm>
            <a:off x="413884" y="977930"/>
            <a:ext cx="11280809" cy="2198408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5C56F2B-B6B4-40E4-877A-3BA26BA6C09D}"/>
                  </a:ext>
                </a:extLst>
              </p:cNvPr>
              <p:cNvSpPr txBox="1"/>
              <p:nvPr/>
            </p:nvSpPr>
            <p:spPr>
              <a:xfrm>
                <a:off x="221382" y="114717"/>
                <a:ext cx="3016403" cy="7513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3200" b="1" dirty="0"/>
                  <a:t>Case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b="1" i="1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3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endParaRPr lang="en-US" altLang="zh-CN" sz="3200" b="1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5C56F2B-B6B4-40E4-877A-3BA26BA6C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82" y="114717"/>
                <a:ext cx="3016403" cy="751360"/>
              </a:xfrm>
              <a:prstGeom prst="rect">
                <a:avLst/>
              </a:prstGeom>
              <a:blipFill>
                <a:blip r:embed="rId2"/>
                <a:stretch>
                  <a:fillRect l="-5051" b="-26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>
            <a:extLst>
              <a:ext uri="{FF2B5EF4-FFF2-40B4-BE49-F238E27FC236}">
                <a16:creationId xmlns:a16="http://schemas.microsoft.com/office/drawing/2014/main" id="{95C8F12F-574E-48B0-BE9D-E4DD7E1B71F5}"/>
              </a:ext>
            </a:extLst>
          </p:cNvPr>
          <p:cNvSpPr/>
          <p:nvPr/>
        </p:nvSpPr>
        <p:spPr>
          <a:xfrm>
            <a:off x="497303" y="1052689"/>
            <a:ext cx="111973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Minimum Distance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5D4F14CB-14AD-42CA-B82C-B7C23651094F}"/>
                  </a:ext>
                </a:extLst>
              </p:cNvPr>
              <p:cNvSpPr/>
              <p:nvPr/>
            </p:nvSpPr>
            <p:spPr>
              <a:xfrm>
                <a:off x="2186674" y="1587551"/>
                <a:ext cx="6375335" cy="7861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5D4F14CB-14AD-42CA-B82C-B7C2365109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674" y="1587551"/>
                <a:ext cx="6375335" cy="7861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63087FB3-2DB0-45D0-982F-A4A6D92F30FB}"/>
                  </a:ext>
                </a:extLst>
              </p:cNvPr>
              <p:cNvSpPr/>
              <p:nvPr/>
            </p:nvSpPr>
            <p:spPr>
              <a:xfrm>
                <a:off x="2253349" y="2636540"/>
                <a:ext cx="4322380" cy="4682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63087FB3-2DB0-45D0-982F-A4A6D92F30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3349" y="2636540"/>
                <a:ext cx="4322380" cy="46820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B05706D0-4844-417A-8D88-60C6C8BE97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009" y="3429000"/>
            <a:ext cx="7947453" cy="3243131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8905843E-DFF8-48A5-82A6-08E98929D287}"/>
              </a:ext>
            </a:extLst>
          </p:cNvPr>
          <p:cNvSpPr/>
          <p:nvPr/>
        </p:nvSpPr>
        <p:spPr>
          <a:xfrm>
            <a:off x="6800850" y="2636540"/>
            <a:ext cx="29697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/>
              <a:t>Assume equal priors</a:t>
            </a:r>
          </a:p>
        </p:txBody>
      </p:sp>
    </p:spTree>
    <p:extLst>
      <p:ext uri="{BB962C8B-B14F-4D97-AF65-F5344CB8AC3E}">
        <p14:creationId xmlns:p14="http://schemas.microsoft.com/office/powerpoint/2010/main" val="3913649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5B1EE89-8D57-4368-B068-264088148B24}"/>
              </a:ext>
            </a:extLst>
          </p:cNvPr>
          <p:cNvSpPr/>
          <p:nvPr/>
        </p:nvSpPr>
        <p:spPr>
          <a:xfrm>
            <a:off x="413884" y="977930"/>
            <a:ext cx="11280809" cy="1736747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5C56F2B-B6B4-40E4-877A-3BA26BA6C09D}"/>
                  </a:ext>
                </a:extLst>
              </p:cNvPr>
              <p:cNvSpPr txBox="1"/>
              <p:nvPr/>
            </p:nvSpPr>
            <p:spPr>
              <a:xfrm>
                <a:off x="221382" y="114717"/>
                <a:ext cx="3016403" cy="7513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3200" b="1" dirty="0"/>
                  <a:t>Case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b="1" i="1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3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endParaRPr lang="en-US" altLang="zh-CN" sz="3200" b="1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5C56F2B-B6B4-40E4-877A-3BA26BA6C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82" y="114717"/>
                <a:ext cx="3016403" cy="751360"/>
              </a:xfrm>
              <a:prstGeom prst="rect">
                <a:avLst/>
              </a:prstGeom>
              <a:blipFill>
                <a:blip r:embed="rId2"/>
                <a:stretch>
                  <a:fillRect l="-5051" b="-26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>
            <a:extLst>
              <a:ext uri="{FF2B5EF4-FFF2-40B4-BE49-F238E27FC236}">
                <a16:creationId xmlns:a16="http://schemas.microsoft.com/office/drawing/2014/main" id="{95C8F12F-574E-48B0-BE9D-E4DD7E1B71F5}"/>
              </a:ext>
            </a:extLst>
          </p:cNvPr>
          <p:cNvSpPr/>
          <p:nvPr/>
        </p:nvSpPr>
        <p:spPr>
          <a:xfrm>
            <a:off x="497303" y="1052689"/>
            <a:ext cx="111973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A classifier that uses </a:t>
            </a:r>
            <a:r>
              <a:rPr lang="en-US" altLang="zh-CN" sz="2400" i="1" dirty="0">
                <a:solidFill>
                  <a:srgbClr val="FF0000"/>
                </a:solidFill>
              </a:rPr>
              <a:t>linear discriminant functions </a:t>
            </a:r>
            <a:r>
              <a:rPr lang="en-US" altLang="zh-CN" sz="2400" dirty="0"/>
              <a:t>is called </a:t>
            </a:r>
            <a:r>
              <a:rPr lang="en-US" altLang="zh-CN" sz="2400" i="1" dirty="0"/>
              <a:t>“</a:t>
            </a:r>
            <a:r>
              <a:rPr lang="en-US" altLang="zh-CN" sz="2400" i="1" dirty="0">
                <a:solidFill>
                  <a:srgbClr val="FF0000"/>
                </a:solidFill>
              </a:rPr>
              <a:t>a linear machine</a:t>
            </a:r>
            <a:r>
              <a:rPr lang="en-US" altLang="zh-CN" sz="2400" i="1" dirty="0"/>
              <a:t>”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The decision surfaces for a linear machine are pieces of hyperplanes defined by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63087FB3-2DB0-45D0-982F-A4A6D92F30FB}"/>
                  </a:ext>
                </a:extLst>
              </p:cNvPr>
              <p:cNvSpPr/>
              <p:nvPr/>
            </p:nvSpPr>
            <p:spPr>
              <a:xfrm>
                <a:off x="3724545" y="2053473"/>
                <a:ext cx="4322380" cy="4914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63087FB3-2DB0-45D0-982F-A4A6D92F30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4545" y="2053473"/>
                <a:ext cx="4322380" cy="491417"/>
              </a:xfrm>
              <a:prstGeom prst="rect">
                <a:avLst/>
              </a:prstGeom>
              <a:blipFill>
                <a:blip r:embed="rId3"/>
                <a:stretch>
                  <a:fillRect b="-1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A4CDD74-D4C8-46C0-8E77-89D669963D5E}"/>
                  </a:ext>
                </a:extLst>
              </p:cNvPr>
              <p:cNvSpPr/>
              <p:nvPr/>
            </p:nvSpPr>
            <p:spPr>
              <a:xfrm>
                <a:off x="413884" y="2996757"/>
                <a:ext cx="11778116" cy="7861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A4CDD74-D4C8-46C0-8E77-89D669963D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884" y="2996757"/>
                <a:ext cx="11778116" cy="7861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1182DA23-8FB9-4863-A239-F92D30586023}"/>
                  </a:ext>
                </a:extLst>
              </p:cNvPr>
              <p:cNvSpPr/>
              <p:nvPr/>
            </p:nvSpPr>
            <p:spPr>
              <a:xfrm>
                <a:off x="413884" y="3874678"/>
                <a:ext cx="11778116" cy="9221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1182DA23-8FB9-4863-A239-F92D305860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884" y="3874678"/>
                <a:ext cx="11778116" cy="9221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0E4A5069-1A36-4ECD-B76C-F67B1C43DAE1}"/>
                  </a:ext>
                </a:extLst>
              </p:cNvPr>
              <p:cNvSpPr/>
              <p:nvPr/>
            </p:nvSpPr>
            <p:spPr>
              <a:xfrm>
                <a:off x="798895" y="4851645"/>
                <a:ext cx="10761047" cy="9423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fun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0E4A5069-1A36-4ECD-B76C-F67B1C43DA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895" y="4851645"/>
                <a:ext cx="10761047" cy="9423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F3B0BA1-B21C-4929-953E-F41C6EF1926A}"/>
              </a:ext>
            </a:extLst>
          </p:cNvPr>
          <p:cNvCxnSpPr/>
          <p:nvPr/>
        </p:nvCxnSpPr>
        <p:spPr>
          <a:xfrm>
            <a:off x="2387064" y="5688140"/>
            <a:ext cx="126091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4A825BC-3065-4ADF-AD56-CBC2478A85E1}"/>
              </a:ext>
            </a:extLst>
          </p:cNvPr>
          <p:cNvCxnSpPr>
            <a:cxnSpLocks/>
          </p:cNvCxnSpPr>
          <p:nvPr/>
        </p:nvCxnSpPr>
        <p:spPr>
          <a:xfrm>
            <a:off x="3964003" y="5830914"/>
            <a:ext cx="50741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0D4796F1-D36B-425B-A8FE-0D59E380C63F}"/>
                  </a:ext>
                </a:extLst>
              </p:cNvPr>
              <p:cNvSpPr/>
              <p:nvPr/>
            </p:nvSpPr>
            <p:spPr>
              <a:xfrm>
                <a:off x="497303" y="6062971"/>
                <a:ext cx="11264769" cy="4914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/>
                  <a:t>The hyperplane separating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400" dirty="0"/>
                  <a:t> always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orthogonal</a:t>
                </a:r>
                <a:r>
                  <a:rPr lang="en-US" altLang="zh-CN" sz="2400" dirty="0"/>
                  <a:t> to the line linking the means!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0D4796F1-D36B-425B-A8FE-0D59E380C6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03" y="6062971"/>
                <a:ext cx="11264769" cy="491417"/>
              </a:xfrm>
              <a:prstGeom prst="rect">
                <a:avLst/>
              </a:prstGeom>
              <a:blipFill>
                <a:blip r:embed="rId8"/>
                <a:stretch>
                  <a:fillRect l="-866" t="-8750" b="-23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7029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5B1EE89-8D57-4368-B068-264088148B24}"/>
              </a:ext>
            </a:extLst>
          </p:cNvPr>
          <p:cNvSpPr/>
          <p:nvPr/>
        </p:nvSpPr>
        <p:spPr>
          <a:xfrm>
            <a:off x="413884" y="977930"/>
            <a:ext cx="11280809" cy="3315774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5C56F2B-B6B4-40E4-877A-3BA26BA6C09D}"/>
                  </a:ext>
                </a:extLst>
              </p:cNvPr>
              <p:cNvSpPr txBox="1"/>
              <p:nvPr/>
            </p:nvSpPr>
            <p:spPr>
              <a:xfrm>
                <a:off x="221382" y="114717"/>
                <a:ext cx="3016403" cy="7513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3200" b="1" dirty="0"/>
                  <a:t>Case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b="1" i="1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3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endParaRPr lang="en-US" altLang="zh-CN" sz="3200" b="1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5C56F2B-B6B4-40E4-877A-3BA26BA6C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82" y="114717"/>
                <a:ext cx="3016403" cy="751360"/>
              </a:xfrm>
              <a:prstGeom prst="rect">
                <a:avLst/>
              </a:prstGeom>
              <a:blipFill>
                <a:blip r:embed="rId2"/>
                <a:stretch>
                  <a:fillRect l="-5051" b="-26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0E4A5069-1A36-4ECD-B76C-F67B1C43DAE1}"/>
                  </a:ext>
                </a:extLst>
              </p:cNvPr>
              <p:cNvSpPr/>
              <p:nvPr/>
            </p:nvSpPr>
            <p:spPr>
              <a:xfrm>
                <a:off x="852918" y="2073989"/>
                <a:ext cx="10761047" cy="12813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400" b="1" i="1">
                                          <a:latin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400" b="1" i="1">
                                          <a:latin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d>
                                            <m:dPr>
                                              <m:ctrlPr>
                                                <a:rPr lang="en-US" altLang="zh-CN" sz="2400" b="1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CN" sz="2400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24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𝝁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2400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zh-CN" sz="2400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24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𝝁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2400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func>
                                <m:func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 dirty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den>
                                  </m:f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400" b="1" i="1">
                                          <a:latin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400" b="1" i="1">
                                          <a:latin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d>
                        </m:e>
                      </m:d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0E4A5069-1A36-4ECD-B76C-F67B1C43DA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918" y="2073989"/>
                <a:ext cx="10761047" cy="12813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CD5198AC-7AF4-42EA-AA78-36B0A842BD01}"/>
                  </a:ext>
                </a:extLst>
              </p:cNvPr>
              <p:cNvSpPr/>
              <p:nvPr/>
            </p:nvSpPr>
            <p:spPr>
              <a:xfrm>
                <a:off x="-5721" y="1156822"/>
                <a:ext cx="10761047" cy="9423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fun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CD5198AC-7AF4-42EA-AA78-36B0A842BD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21" y="1156822"/>
                <a:ext cx="10761047" cy="9423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8944C35D-8836-4161-8A0F-2F37EE407A74}"/>
                  </a:ext>
                </a:extLst>
              </p:cNvPr>
              <p:cNvSpPr/>
              <p:nvPr/>
            </p:nvSpPr>
            <p:spPr>
              <a:xfrm>
                <a:off x="952310" y="3569754"/>
                <a:ext cx="9902408" cy="5984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8944C35D-8836-4161-8A0F-2F37EE407A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310" y="3569754"/>
                <a:ext cx="9902408" cy="5984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3EA23BE-F1FC-4C23-BE6C-9800A612AC9B}"/>
              </a:ext>
            </a:extLst>
          </p:cNvPr>
          <p:cNvSpPr/>
          <p:nvPr/>
        </p:nvSpPr>
        <p:spPr>
          <a:xfrm>
            <a:off x="413884" y="4583940"/>
            <a:ext cx="11280809" cy="1537727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41D6E82-56E5-40AB-B57D-5BF5D1427BA7}"/>
                  </a:ext>
                </a:extLst>
              </p:cNvPr>
              <p:cNvSpPr/>
              <p:nvPr/>
            </p:nvSpPr>
            <p:spPr>
              <a:xfrm>
                <a:off x="663582" y="4670877"/>
                <a:ext cx="5125827" cy="613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/>
                  <a:t>If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400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1" i="1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400" b="1" i="1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41D6E82-56E5-40AB-B57D-5BF5D1427B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82" y="4670877"/>
                <a:ext cx="5125827" cy="613886"/>
              </a:xfrm>
              <a:prstGeom prst="rect">
                <a:avLst/>
              </a:prstGeom>
              <a:blipFill>
                <a:blip r:embed="rId6"/>
                <a:stretch>
                  <a:fillRect l="-1902" b="-9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0D4796F1-D36B-425B-A8FE-0D59E380C63F}"/>
                  </a:ext>
                </a:extLst>
              </p:cNvPr>
              <p:cNvSpPr/>
              <p:nvPr/>
            </p:nvSpPr>
            <p:spPr>
              <a:xfrm>
                <a:off x="663582" y="5371886"/>
                <a:ext cx="11114534" cy="613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/>
                  <a:t>The mean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1" i="1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400" b="1" i="1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400" dirty="0"/>
                  <a:t> is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on the hyperplane </a:t>
                </a:r>
                <a:r>
                  <a:rPr lang="en-US" altLang="zh-CN" sz="2400" dirty="0"/>
                  <a:t>(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i.e, the hyperplane passes through it).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0D4796F1-D36B-425B-A8FE-0D59E380C6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82" y="5371886"/>
                <a:ext cx="11114534" cy="613886"/>
              </a:xfrm>
              <a:prstGeom prst="rect">
                <a:avLst/>
              </a:prstGeom>
              <a:blipFill>
                <a:blip r:embed="rId7"/>
                <a:stretch>
                  <a:fillRect l="-878" b="-99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586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5" grpId="0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5C56F2B-B6B4-40E4-877A-3BA26BA6C09D}"/>
                  </a:ext>
                </a:extLst>
              </p:cNvPr>
              <p:cNvSpPr txBox="1"/>
              <p:nvPr/>
            </p:nvSpPr>
            <p:spPr>
              <a:xfrm>
                <a:off x="221382" y="114717"/>
                <a:ext cx="7988967" cy="751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3200" b="1" dirty="0"/>
                  <a:t>Decision surface for Case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b="1" i="1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3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endParaRPr lang="en-US" altLang="zh-CN" sz="3200" b="1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5C56F2B-B6B4-40E4-877A-3BA26BA6C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82" y="114717"/>
                <a:ext cx="7988967" cy="751360"/>
              </a:xfrm>
              <a:prstGeom prst="rect">
                <a:avLst/>
              </a:prstGeom>
              <a:blipFill>
                <a:blip r:embed="rId2"/>
                <a:stretch>
                  <a:fillRect l="-1907" b="-26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组合 46">
            <a:extLst>
              <a:ext uri="{FF2B5EF4-FFF2-40B4-BE49-F238E27FC236}">
                <a16:creationId xmlns:a16="http://schemas.microsoft.com/office/drawing/2014/main" id="{4B5BD991-EBB1-42C0-8D05-D499A25B0DD1}"/>
              </a:ext>
            </a:extLst>
          </p:cNvPr>
          <p:cNvGrpSpPr/>
          <p:nvPr/>
        </p:nvGrpSpPr>
        <p:grpSpPr>
          <a:xfrm>
            <a:off x="221382" y="2011002"/>
            <a:ext cx="4206239" cy="3245534"/>
            <a:chOff x="221382" y="2011002"/>
            <a:chExt cx="4206239" cy="3245534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E1BA1B30-71F6-4F92-BAFD-AF0E9D22C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1382" y="2119646"/>
              <a:ext cx="4206239" cy="293251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5123C177-E59A-42CA-AFC7-226EC038E056}"/>
                    </a:ext>
                  </a:extLst>
                </p:cNvPr>
                <p:cNvSpPr/>
                <p:nvPr/>
              </p:nvSpPr>
              <p:spPr>
                <a:xfrm>
                  <a:off x="775868" y="4875873"/>
                  <a:ext cx="1262653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altLang="zh-CN" dirty="0"/>
                    <a:t>0.5</a:t>
                  </a:r>
                  <a:endParaRPr lang="zh-CN" altLang="en-US" dirty="0"/>
                </a:p>
              </p:txBody>
            </p:sp>
          </mc:Choice>
          <mc:Fallback xmlns=""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5123C177-E59A-42CA-AFC7-226EC038E05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5868" y="4875873"/>
                  <a:ext cx="1262653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10000" r="-3865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BBE6C57C-EB09-4552-BAEF-DEDE66A74821}"/>
                    </a:ext>
                  </a:extLst>
                </p:cNvPr>
                <p:cNvSpPr/>
                <p:nvPr/>
              </p:nvSpPr>
              <p:spPr>
                <a:xfrm>
                  <a:off x="2281950" y="4887204"/>
                  <a:ext cx="1267976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altLang="zh-CN" dirty="0"/>
                    <a:t>0.5</a:t>
                  </a:r>
                  <a:endParaRPr lang="zh-CN" altLang="en-US" dirty="0"/>
                </a:p>
              </p:txBody>
            </p:sp>
          </mc:Choice>
          <mc:Fallback xmlns="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BBE6C57C-EB09-4552-BAEF-DEDE66A7482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1950" y="4887204"/>
                  <a:ext cx="1267976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10000" r="-3846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240E998C-0DB7-49D5-9347-28B8E6EBEC6A}"/>
                    </a:ext>
                  </a:extLst>
                </p:cNvPr>
                <p:cNvSpPr/>
                <p:nvPr/>
              </p:nvSpPr>
              <p:spPr>
                <a:xfrm>
                  <a:off x="1257804" y="4604582"/>
                  <a:ext cx="296271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240E998C-0DB7-49D5-9347-28B8E6EBEC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7804" y="4604582"/>
                  <a:ext cx="296271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FA4D16B0-CE46-473F-8FF8-F9103DE18A21}"/>
                    </a:ext>
                  </a:extLst>
                </p:cNvPr>
                <p:cNvSpPr/>
                <p:nvPr/>
              </p:nvSpPr>
              <p:spPr>
                <a:xfrm>
                  <a:off x="2844955" y="4598860"/>
                  <a:ext cx="296271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FA4D16B0-CE46-473F-8FF8-F9103DE18A2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4955" y="4598860"/>
                  <a:ext cx="296271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31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115E9150-4D1A-464C-9B1D-D0F06A77C67D}"/>
                    </a:ext>
                  </a:extLst>
                </p:cNvPr>
                <p:cNvSpPr/>
                <p:nvPr/>
              </p:nvSpPr>
              <p:spPr>
                <a:xfrm>
                  <a:off x="1800648" y="2109071"/>
                  <a:ext cx="296271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115E9150-4D1A-464C-9B1D-D0F06A77C6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0648" y="2109071"/>
                  <a:ext cx="296271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244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B8D1DD68-1CF6-4FCD-B306-37EEC9DF2063}"/>
                    </a:ext>
                  </a:extLst>
                </p:cNvPr>
                <p:cNvSpPr/>
                <p:nvPr/>
              </p:nvSpPr>
              <p:spPr>
                <a:xfrm>
                  <a:off x="2434900" y="2112974"/>
                  <a:ext cx="296271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B8D1DD68-1CF6-4FCD-B306-37EEC9DF206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4900" y="2112974"/>
                  <a:ext cx="296271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265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BC1428A3-2D1C-4B3B-BA62-62CFA6CD2483}"/>
                    </a:ext>
                  </a:extLst>
                </p:cNvPr>
                <p:cNvSpPr/>
                <p:nvPr/>
              </p:nvSpPr>
              <p:spPr>
                <a:xfrm>
                  <a:off x="731042" y="2011002"/>
                  <a:ext cx="963341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BC1428A3-2D1C-4B3B-BA62-62CFA6CD248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042" y="2011002"/>
                  <a:ext cx="963341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2D065D09-3779-4CE2-AA8E-FD4107D4585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805" y="1961120"/>
            <a:ext cx="3604389" cy="33378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EA0501A0-8872-4D2C-B94F-DFA6D15607BF}"/>
                  </a:ext>
                </a:extLst>
              </p:cNvPr>
              <p:cNvSpPr/>
              <p:nvPr/>
            </p:nvSpPr>
            <p:spPr>
              <a:xfrm>
                <a:off x="6095999" y="4489173"/>
                <a:ext cx="296271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EA0501A0-8872-4D2C-B94F-DFA6D15607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4489173"/>
                <a:ext cx="296271" cy="338554"/>
              </a:xfrm>
              <a:prstGeom prst="rect">
                <a:avLst/>
              </a:prstGeom>
              <a:blipFill>
                <a:blip r:embed="rId12"/>
                <a:stretch>
                  <a:fillRect r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>
            <a:extLst>
              <a:ext uri="{FF2B5EF4-FFF2-40B4-BE49-F238E27FC236}">
                <a16:creationId xmlns:a16="http://schemas.microsoft.com/office/drawing/2014/main" id="{B1B66939-DE57-4FA1-A1E9-469B177F8BD8}"/>
              </a:ext>
            </a:extLst>
          </p:cNvPr>
          <p:cNvSpPr/>
          <p:nvPr/>
        </p:nvSpPr>
        <p:spPr>
          <a:xfrm>
            <a:off x="6518632" y="4369870"/>
            <a:ext cx="228677" cy="1193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FBB4836-65B8-4130-BED9-688EA838DA97}"/>
              </a:ext>
            </a:extLst>
          </p:cNvPr>
          <p:cNvSpPr/>
          <p:nvPr/>
        </p:nvSpPr>
        <p:spPr>
          <a:xfrm>
            <a:off x="5193773" y="4247468"/>
            <a:ext cx="568105" cy="2417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23EF9E93-849D-4AE7-8A80-5EF6732E0F11}"/>
                  </a:ext>
                </a:extLst>
              </p:cNvPr>
              <p:cNvSpPr/>
              <p:nvPr/>
            </p:nvSpPr>
            <p:spPr>
              <a:xfrm>
                <a:off x="6460882" y="4247468"/>
                <a:ext cx="29627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6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23EF9E93-849D-4AE7-8A80-5EF6732E0F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0882" y="4247468"/>
                <a:ext cx="296271" cy="338554"/>
              </a:xfrm>
              <a:prstGeom prst="rect">
                <a:avLst/>
              </a:prstGeom>
              <a:blipFill>
                <a:blip r:embed="rId13"/>
                <a:stretch>
                  <a:fillRect r="-18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1397B513-9771-4220-AF8F-F524F3140909}"/>
                  </a:ext>
                </a:extLst>
              </p:cNvPr>
              <p:cNvSpPr/>
              <p:nvPr/>
            </p:nvSpPr>
            <p:spPr>
              <a:xfrm>
                <a:off x="4844919" y="4286196"/>
                <a:ext cx="114031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1400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400" dirty="0"/>
                  <a:t>0.5</a:t>
                </a:r>
                <a:endParaRPr lang="zh-CN" altLang="en-US" sz="1400" dirty="0"/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1397B513-9771-4220-AF8F-F524F31409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4919" y="4286196"/>
                <a:ext cx="1140312" cy="307777"/>
              </a:xfrm>
              <a:prstGeom prst="rect">
                <a:avLst/>
              </a:prstGeom>
              <a:blipFill>
                <a:blip r:embed="rId14"/>
                <a:stretch>
                  <a:fillRect t="-3922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矩形 32">
            <a:extLst>
              <a:ext uri="{FF2B5EF4-FFF2-40B4-BE49-F238E27FC236}">
                <a16:creationId xmlns:a16="http://schemas.microsoft.com/office/drawing/2014/main" id="{2BFFC3A8-2683-4F7E-A99C-F93E414B64EB}"/>
              </a:ext>
            </a:extLst>
          </p:cNvPr>
          <p:cNvSpPr/>
          <p:nvPr/>
        </p:nvSpPr>
        <p:spPr>
          <a:xfrm>
            <a:off x="6830363" y="4126615"/>
            <a:ext cx="489125" cy="1595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51FCB1B3-5D09-4FFB-8F8D-0533B9E20623}"/>
                  </a:ext>
                </a:extLst>
              </p:cNvPr>
              <p:cNvSpPr/>
              <p:nvPr/>
            </p:nvSpPr>
            <p:spPr>
              <a:xfrm>
                <a:off x="6748765" y="4068619"/>
                <a:ext cx="1027076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1400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400" dirty="0"/>
                  <a:t>0.5</a:t>
                </a:r>
                <a:endParaRPr lang="zh-CN" altLang="en-US" sz="1400" dirty="0"/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51FCB1B3-5D09-4FFB-8F8D-0533B9E206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8765" y="4068619"/>
                <a:ext cx="1027076" cy="307777"/>
              </a:xfrm>
              <a:prstGeom prst="rect">
                <a:avLst/>
              </a:prstGeom>
              <a:blipFill>
                <a:blip r:embed="rId15"/>
                <a:stretch>
                  <a:fillRect t="-1961" r="-592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矩形 33">
            <a:extLst>
              <a:ext uri="{FF2B5EF4-FFF2-40B4-BE49-F238E27FC236}">
                <a16:creationId xmlns:a16="http://schemas.microsoft.com/office/drawing/2014/main" id="{543BFAEC-94CC-4851-B575-B71D8D4BEBCD}"/>
              </a:ext>
            </a:extLst>
          </p:cNvPr>
          <p:cNvSpPr/>
          <p:nvPr/>
        </p:nvSpPr>
        <p:spPr>
          <a:xfrm>
            <a:off x="7364395" y="4768303"/>
            <a:ext cx="568105" cy="4882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E69BDA10-810B-4E68-B420-BED46A0CAE48}"/>
              </a:ext>
            </a:extLst>
          </p:cNvPr>
          <p:cNvGrpSpPr/>
          <p:nvPr/>
        </p:nvGrpSpPr>
        <p:grpSpPr>
          <a:xfrm>
            <a:off x="8363106" y="1776863"/>
            <a:ext cx="3302713" cy="3706379"/>
            <a:chOff x="8363106" y="1776863"/>
            <a:chExt cx="3302713" cy="3706379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6D404341-CAB8-4FE1-9AF9-56C77BFE0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3106" y="1776863"/>
              <a:ext cx="3302713" cy="370637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EF337714-0D02-460B-9521-A0931D027F0A}"/>
                    </a:ext>
                  </a:extLst>
                </p:cNvPr>
                <p:cNvSpPr/>
                <p:nvPr/>
              </p:nvSpPr>
              <p:spPr>
                <a:xfrm>
                  <a:off x="9979050" y="4150619"/>
                  <a:ext cx="296271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EF337714-0D02-460B-9521-A0931D027F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9050" y="4150619"/>
                  <a:ext cx="296271" cy="338554"/>
                </a:xfrm>
                <a:prstGeom prst="rect">
                  <a:avLst/>
                </a:prstGeom>
                <a:blipFill>
                  <a:blip r:embed="rId17"/>
                  <a:stretch>
                    <a:fillRect r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71343747-F321-4AD7-AFCA-AAF40FA11D69}"/>
                </a:ext>
              </a:extLst>
            </p:cNvPr>
            <p:cNvSpPr/>
            <p:nvPr/>
          </p:nvSpPr>
          <p:spPr>
            <a:xfrm>
              <a:off x="11162079" y="3369348"/>
              <a:ext cx="228677" cy="1193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38C34566-C245-4481-879E-B3C0A86E6404}"/>
                    </a:ext>
                  </a:extLst>
                </p:cNvPr>
                <p:cNvSpPr/>
                <p:nvPr/>
              </p:nvSpPr>
              <p:spPr>
                <a:xfrm>
                  <a:off x="11104329" y="3246946"/>
                  <a:ext cx="296271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6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38C34566-C245-4481-879E-B3C0A86E640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4329" y="3246946"/>
                  <a:ext cx="296271" cy="338554"/>
                </a:xfrm>
                <a:prstGeom prst="rect">
                  <a:avLst/>
                </a:prstGeom>
                <a:blipFill>
                  <a:blip r:embed="rId18"/>
                  <a:stretch>
                    <a:fillRect r="-1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68814812-5058-4EC1-A7D7-6A0FA5E537A7}"/>
                </a:ext>
              </a:extLst>
            </p:cNvPr>
            <p:cNvSpPr/>
            <p:nvPr/>
          </p:nvSpPr>
          <p:spPr>
            <a:xfrm>
              <a:off x="9294665" y="4126615"/>
              <a:ext cx="438946" cy="2497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946224D6-2339-48BC-A736-2C38652445C3}"/>
                </a:ext>
              </a:extLst>
            </p:cNvPr>
            <p:cNvSpPr/>
            <p:nvPr/>
          </p:nvSpPr>
          <p:spPr>
            <a:xfrm>
              <a:off x="10724330" y="2740708"/>
              <a:ext cx="437749" cy="1468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9E49CF00-99FE-452E-88EB-7C7535B9E6B6}"/>
                    </a:ext>
                  </a:extLst>
                </p:cNvPr>
                <p:cNvSpPr/>
                <p:nvPr/>
              </p:nvSpPr>
              <p:spPr>
                <a:xfrm>
                  <a:off x="10391352" y="2380334"/>
                  <a:ext cx="1027076" cy="3077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1400" i="1" dirty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altLang="zh-CN" sz="1400" dirty="0"/>
                    <a:t>0.5</a:t>
                  </a:r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9E49CF00-99FE-452E-88EB-7C7535B9E6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91352" y="2380334"/>
                  <a:ext cx="1027076" cy="307777"/>
                </a:xfrm>
                <a:prstGeom prst="rect">
                  <a:avLst/>
                </a:prstGeom>
                <a:blipFill>
                  <a:blip r:embed="rId19"/>
                  <a:stretch>
                    <a:fillRect t="-1961" r="-1190" b="-196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4A289655-B0C7-4482-B0B0-7D048B90DFB4}"/>
                    </a:ext>
                  </a:extLst>
                </p:cNvPr>
                <p:cNvSpPr/>
                <p:nvPr/>
              </p:nvSpPr>
              <p:spPr>
                <a:xfrm>
                  <a:off x="8984224" y="4192080"/>
                  <a:ext cx="1022909" cy="307777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1400" i="1" dirty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altLang="zh-CN" sz="1400" dirty="0"/>
                    <a:t>0.5</a:t>
                  </a:r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4A289655-B0C7-4482-B0B0-7D048B90DF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4224" y="4192080"/>
                  <a:ext cx="1022909" cy="307777"/>
                </a:xfrm>
                <a:prstGeom prst="rect">
                  <a:avLst/>
                </a:prstGeom>
                <a:blipFill>
                  <a:blip r:embed="rId20"/>
                  <a:stretch>
                    <a:fillRect t="-4000" r="-595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07981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5C56F2B-B6B4-40E4-877A-3BA26BA6C09D}"/>
              </a:ext>
            </a:extLst>
          </p:cNvPr>
          <p:cNvSpPr txBox="1"/>
          <p:nvPr/>
        </p:nvSpPr>
        <p:spPr>
          <a:xfrm>
            <a:off x="221382" y="114717"/>
            <a:ext cx="5192447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Priors and Decision Boundary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3E4AD13-D7E8-497E-B078-C6A2BAF68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632" y="2100168"/>
            <a:ext cx="4996306" cy="37679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6B06B76C-C6DA-48D3-9724-1F1AB4DEEED5}"/>
                  </a:ext>
                </a:extLst>
              </p:cNvPr>
              <p:cNvSpPr/>
              <p:nvPr/>
            </p:nvSpPr>
            <p:spPr>
              <a:xfrm>
                <a:off x="2142658" y="5545187"/>
                <a:ext cx="126265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0.7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6B06B76C-C6DA-48D3-9724-1F1AB4DEEE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658" y="5545187"/>
                <a:ext cx="1262653" cy="369332"/>
              </a:xfrm>
              <a:prstGeom prst="rect">
                <a:avLst/>
              </a:prstGeom>
              <a:blipFill>
                <a:blip r:embed="rId3"/>
                <a:stretch>
                  <a:fillRect t="-10000" r="-3365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03EB69DB-44AB-4349-B418-AA585C5169DC}"/>
                  </a:ext>
                </a:extLst>
              </p:cNvPr>
              <p:cNvSpPr/>
              <p:nvPr/>
            </p:nvSpPr>
            <p:spPr>
              <a:xfrm>
                <a:off x="3648740" y="5556518"/>
                <a:ext cx="126797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0.3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03EB69DB-44AB-4349-B418-AA585C5169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8740" y="5556518"/>
                <a:ext cx="1267976" cy="369332"/>
              </a:xfrm>
              <a:prstGeom prst="rect">
                <a:avLst/>
              </a:prstGeom>
              <a:blipFill>
                <a:blip r:embed="rId4"/>
                <a:stretch>
                  <a:fillRect t="-10000" r="-3365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C3B9C263-19E8-430C-8A5C-B86B0F4D3F14}"/>
                  </a:ext>
                </a:extLst>
              </p:cNvPr>
              <p:cNvSpPr/>
              <p:nvPr/>
            </p:nvSpPr>
            <p:spPr>
              <a:xfrm>
                <a:off x="2451336" y="5216146"/>
                <a:ext cx="296271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C3B9C263-19E8-430C-8A5C-B86B0F4D3F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336" y="5216146"/>
                <a:ext cx="296271" cy="369332"/>
              </a:xfrm>
              <a:prstGeom prst="rect">
                <a:avLst/>
              </a:prstGeom>
              <a:blipFill>
                <a:blip r:embed="rId5"/>
                <a:stretch>
                  <a:fillRect r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365945A9-6C3F-4734-9192-B91E754E1FD1}"/>
                  </a:ext>
                </a:extLst>
              </p:cNvPr>
              <p:cNvSpPr/>
              <p:nvPr/>
            </p:nvSpPr>
            <p:spPr>
              <a:xfrm>
                <a:off x="4423497" y="5210424"/>
                <a:ext cx="296271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365945A9-6C3F-4734-9192-B91E754E1F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3497" y="5210424"/>
                <a:ext cx="296271" cy="369332"/>
              </a:xfrm>
              <a:prstGeom prst="rect">
                <a:avLst/>
              </a:prstGeom>
              <a:blipFill>
                <a:blip r:embed="rId6"/>
                <a:stretch>
                  <a:fillRect r="-3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61E9D0BE-29E4-4980-9F19-38276B6AE723}"/>
                  </a:ext>
                </a:extLst>
              </p:cNvPr>
              <p:cNvSpPr/>
              <p:nvPr/>
            </p:nvSpPr>
            <p:spPr>
              <a:xfrm>
                <a:off x="2670092" y="2154015"/>
                <a:ext cx="296271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61E9D0BE-29E4-4980-9F19-38276B6AE7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092" y="2154015"/>
                <a:ext cx="296271" cy="369332"/>
              </a:xfrm>
              <a:prstGeom prst="rect">
                <a:avLst/>
              </a:prstGeom>
              <a:blipFill>
                <a:blip r:embed="rId7"/>
                <a:stretch>
                  <a:fillRect r="-244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E634E165-BBB0-459C-85B6-66E5BADC35CD}"/>
                  </a:ext>
                </a:extLst>
              </p:cNvPr>
              <p:cNvSpPr/>
              <p:nvPr/>
            </p:nvSpPr>
            <p:spPr>
              <a:xfrm>
                <a:off x="3477594" y="2138668"/>
                <a:ext cx="296271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E634E165-BBB0-459C-85B6-66E5BADC35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7594" y="2138668"/>
                <a:ext cx="296271" cy="369332"/>
              </a:xfrm>
              <a:prstGeom prst="rect">
                <a:avLst/>
              </a:prstGeom>
              <a:blipFill>
                <a:blip r:embed="rId8"/>
                <a:stretch>
                  <a:fillRect r="-265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41572074-3B87-464C-9147-CFE445EB81EC}"/>
                  </a:ext>
                </a:extLst>
              </p:cNvPr>
              <p:cNvSpPr/>
              <p:nvPr/>
            </p:nvSpPr>
            <p:spPr>
              <a:xfrm>
                <a:off x="1606938" y="2011002"/>
                <a:ext cx="963341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41572074-3B87-464C-9147-CFE445EB81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6938" y="2011002"/>
                <a:ext cx="963341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A5C20D20-5D4A-44C8-A381-57FB7A8B777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7830" y="1723537"/>
            <a:ext cx="4446586" cy="45211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06005D5-A0D0-4026-B4F0-914FE4AE838A}"/>
                  </a:ext>
                </a:extLst>
              </p:cNvPr>
              <p:cNvSpPr/>
              <p:nvPr/>
            </p:nvSpPr>
            <p:spPr>
              <a:xfrm>
                <a:off x="8894161" y="5133458"/>
                <a:ext cx="296271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06005D5-A0D0-4026-B4F0-914FE4AE83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4161" y="5133458"/>
                <a:ext cx="296271" cy="338554"/>
              </a:xfrm>
              <a:prstGeom prst="rect">
                <a:avLst/>
              </a:prstGeom>
              <a:blipFill>
                <a:blip r:embed="rId11"/>
                <a:stretch>
                  <a:fillRect r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矩形 27">
            <a:extLst>
              <a:ext uri="{FF2B5EF4-FFF2-40B4-BE49-F238E27FC236}">
                <a16:creationId xmlns:a16="http://schemas.microsoft.com/office/drawing/2014/main" id="{A033A937-34DD-4E6A-AF16-B6CDFEA9BBF5}"/>
              </a:ext>
            </a:extLst>
          </p:cNvPr>
          <p:cNvSpPr/>
          <p:nvPr/>
        </p:nvSpPr>
        <p:spPr>
          <a:xfrm>
            <a:off x="9463898" y="4821357"/>
            <a:ext cx="328524" cy="2699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1199DBA-2597-422F-B6D2-4ACB3ED9655C}"/>
              </a:ext>
            </a:extLst>
          </p:cNvPr>
          <p:cNvSpPr/>
          <p:nvPr/>
        </p:nvSpPr>
        <p:spPr>
          <a:xfrm>
            <a:off x="7834164" y="5091321"/>
            <a:ext cx="568105" cy="2114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299EB611-5F7B-4469-A170-297658B1F297}"/>
                  </a:ext>
                </a:extLst>
              </p:cNvPr>
              <p:cNvSpPr/>
              <p:nvPr/>
            </p:nvSpPr>
            <p:spPr>
              <a:xfrm>
                <a:off x="9414553" y="4752767"/>
                <a:ext cx="29627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6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299EB611-5F7B-4469-A170-297658B1F2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4553" y="4752767"/>
                <a:ext cx="296271" cy="338554"/>
              </a:xfrm>
              <a:prstGeom prst="rect">
                <a:avLst/>
              </a:prstGeom>
              <a:blipFill>
                <a:blip r:embed="rId12"/>
                <a:stretch>
                  <a:fillRect r="-163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51100595-B1E2-4466-B326-C9B86B94DC40}"/>
                  </a:ext>
                </a:extLst>
              </p:cNvPr>
              <p:cNvSpPr/>
              <p:nvPr/>
            </p:nvSpPr>
            <p:spPr>
              <a:xfrm>
                <a:off x="7713293" y="5003656"/>
                <a:ext cx="114031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1400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400" dirty="0"/>
                  <a:t>0.8</a:t>
                </a:r>
                <a:endParaRPr lang="zh-CN" altLang="en-US" sz="1400" dirty="0"/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51100595-B1E2-4466-B326-C9B86B94DC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293" y="5003656"/>
                <a:ext cx="1140312" cy="307777"/>
              </a:xfrm>
              <a:prstGeom prst="rect">
                <a:avLst/>
              </a:prstGeom>
              <a:blipFill>
                <a:blip r:embed="rId13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矩形 31">
            <a:extLst>
              <a:ext uri="{FF2B5EF4-FFF2-40B4-BE49-F238E27FC236}">
                <a16:creationId xmlns:a16="http://schemas.microsoft.com/office/drawing/2014/main" id="{91A6FC39-FB19-4FAD-822E-DBCA41F736F2}"/>
              </a:ext>
            </a:extLst>
          </p:cNvPr>
          <p:cNvSpPr/>
          <p:nvPr/>
        </p:nvSpPr>
        <p:spPr>
          <a:xfrm>
            <a:off x="9435023" y="4616641"/>
            <a:ext cx="489125" cy="1595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D1646AE3-DDDB-418E-8F93-633098DF20AE}"/>
                  </a:ext>
                </a:extLst>
              </p:cNvPr>
              <p:cNvSpPr/>
              <p:nvPr/>
            </p:nvSpPr>
            <p:spPr>
              <a:xfrm>
                <a:off x="9355595" y="4462752"/>
                <a:ext cx="1027076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1400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400" dirty="0"/>
                  <a:t>0.2</a:t>
                </a:r>
                <a:endParaRPr lang="zh-CN" altLang="en-US" sz="1400" dirty="0"/>
              </a:p>
            </p:txBody>
          </p:sp>
        </mc:Choice>
        <mc:Fallback xmlns="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D1646AE3-DDDB-418E-8F93-633098DF20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5595" y="4462752"/>
                <a:ext cx="1027076" cy="307777"/>
              </a:xfrm>
              <a:prstGeom prst="rect">
                <a:avLst/>
              </a:prstGeom>
              <a:blipFill>
                <a:blip r:embed="rId14"/>
                <a:stretch>
                  <a:fillRect t="-3922" r="-1190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BD4EEF15-106D-410F-BA2B-AD59F61A7345}"/>
                  </a:ext>
                </a:extLst>
              </p:cNvPr>
              <p:cNvSpPr/>
              <p:nvPr/>
            </p:nvSpPr>
            <p:spPr>
              <a:xfrm>
                <a:off x="4832679" y="52933"/>
                <a:ext cx="7692696" cy="9840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b="1" i="1">
                                          <a:latin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b="1" i="1">
                                          <a:latin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d>
                                            <m:dPr>
                                              <m:ctrlPr>
                                                <a:rPr lang="en-US" altLang="zh-CN" b="1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CN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𝝁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zh-CN" i="1" dirty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zh-CN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𝝁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func>
                                <m:func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 dirty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 dirty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den>
                                  </m:f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b="1" i="1">
                                          <a:latin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b="1" i="1">
                                          <a:latin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d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b="1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BD4EEF15-106D-410F-BA2B-AD59F61A73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2679" y="52933"/>
                <a:ext cx="7692696" cy="98405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02530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5B1EE89-8D57-4368-B068-264088148B24}"/>
              </a:ext>
            </a:extLst>
          </p:cNvPr>
          <p:cNvSpPr/>
          <p:nvPr/>
        </p:nvSpPr>
        <p:spPr>
          <a:xfrm>
            <a:off x="413884" y="977929"/>
            <a:ext cx="11280809" cy="2247037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5C56F2B-B6B4-40E4-877A-3BA26BA6C09D}"/>
                  </a:ext>
                </a:extLst>
              </p:cNvPr>
              <p:cNvSpPr txBox="1"/>
              <p:nvPr/>
            </p:nvSpPr>
            <p:spPr>
              <a:xfrm>
                <a:off x="221382" y="114717"/>
                <a:ext cx="2619435" cy="7534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3200" b="1" dirty="0"/>
                  <a:t>Case 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b="1" i="1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3200" b="1" i="1"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endParaRPr lang="en-US" altLang="zh-CN" sz="3200" b="1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5C56F2B-B6B4-40E4-877A-3BA26BA6C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82" y="114717"/>
                <a:ext cx="2619435" cy="753411"/>
              </a:xfrm>
              <a:prstGeom prst="rect">
                <a:avLst/>
              </a:prstGeom>
              <a:blipFill>
                <a:blip r:embed="rId2"/>
                <a:stretch>
                  <a:fillRect l="-5814" b="-26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593052CA-D3EC-4E63-8467-1A42175D157F}"/>
                  </a:ext>
                </a:extLst>
              </p:cNvPr>
              <p:cNvSpPr/>
              <p:nvPr/>
            </p:nvSpPr>
            <p:spPr>
              <a:xfrm>
                <a:off x="2019048" y="2404764"/>
                <a:ext cx="6756593" cy="783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𝚺</m:t>
                          </m:r>
                        </m:e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593052CA-D3EC-4E63-8467-1A42175D15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048" y="2404764"/>
                <a:ext cx="6756593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>
            <a:extLst>
              <a:ext uri="{FF2B5EF4-FFF2-40B4-BE49-F238E27FC236}">
                <a16:creationId xmlns:a16="http://schemas.microsoft.com/office/drawing/2014/main" id="{95C8F12F-574E-48B0-BE9D-E4DD7E1B71F5}"/>
              </a:ext>
            </a:extLst>
          </p:cNvPr>
          <p:cNvSpPr/>
          <p:nvPr/>
        </p:nvSpPr>
        <p:spPr>
          <a:xfrm>
            <a:off x="497303" y="1052689"/>
            <a:ext cx="111973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Covariance of all classes are </a:t>
            </a:r>
            <a:r>
              <a:rPr lang="en-US" altLang="zh-CN" sz="2400" dirty="0">
                <a:solidFill>
                  <a:srgbClr val="FF0000"/>
                </a:solidFill>
              </a:rPr>
              <a:t>identical</a:t>
            </a:r>
            <a:r>
              <a:rPr lang="en-US" altLang="zh-CN" sz="2400" dirty="0"/>
              <a:t> but </a:t>
            </a:r>
            <a:r>
              <a:rPr lang="en-US" altLang="zh-CN" sz="2400" dirty="0">
                <a:solidFill>
                  <a:srgbClr val="FF0000"/>
                </a:solidFill>
              </a:rPr>
              <a:t>arbitrary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C4AD079C-246D-4552-9533-27A3938C96A1}"/>
                  </a:ext>
                </a:extLst>
              </p:cNvPr>
              <p:cNvSpPr/>
              <p:nvPr/>
            </p:nvSpPr>
            <p:spPr>
              <a:xfrm>
                <a:off x="2015136" y="1511159"/>
                <a:ext cx="8078302" cy="783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𝚺</m:t>
                          </m:r>
                        </m:e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sz="2400" b="1" i="1"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𝚺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C4AD079C-246D-4552-9533-27A3938C96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136" y="1511159"/>
                <a:ext cx="8078302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8A2BB3FD-02FE-44E5-97D3-21EC4C0F2B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058" y="3298369"/>
            <a:ext cx="5436384" cy="33954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4B04976-A9CE-49AB-B678-C7EB2203DD1C}"/>
                  </a:ext>
                </a:extLst>
              </p:cNvPr>
              <p:cNvSpPr/>
              <p:nvPr/>
            </p:nvSpPr>
            <p:spPr>
              <a:xfrm>
                <a:off x="514711" y="4054990"/>
                <a:ext cx="4652211" cy="837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Squared </a:t>
                </a:r>
                <a:r>
                  <a:rPr lang="en-US" altLang="zh-CN" sz="2400" dirty="0" err="1"/>
                  <a:t>Mahalanobis</a:t>
                </a:r>
                <a:r>
                  <a:rPr lang="en-US" altLang="zh-CN" sz="2400" dirty="0"/>
                  <a:t> Distance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b="1" i="1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b="1" i="1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1" i="1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400" dirty="0"/>
                  <a:t> 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4B04976-A9CE-49AB-B678-C7EB2203DD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11" y="4054990"/>
                <a:ext cx="4652211" cy="837537"/>
              </a:xfrm>
              <a:prstGeom prst="rect">
                <a:avLst/>
              </a:prstGeom>
              <a:blipFill>
                <a:blip r:embed="rId10"/>
                <a:stretch>
                  <a:fillRect l="-1702" t="-5797" b="-123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57821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5C56F2B-B6B4-40E4-877A-3BA26BA6C09D}"/>
              </a:ext>
            </a:extLst>
          </p:cNvPr>
          <p:cNvSpPr txBox="1"/>
          <p:nvPr/>
        </p:nvSpPr>
        <p:spPr>
          <a:xfrm>
            <a:off x="221382" y="114717"/>
            <a:ext cx="7677807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 err="1"/>
              <a:t>Mahalanobis</a:t>
            </a:r>
            <a:r>
              <a:rPr lang="en-US" altLang="zh-CN" sz="3200" b="1" dirty="0"/>
              <a:t> Distance vs Euclidean Distance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7978E8E-2CFA-48D7-808C-AE0A829D1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694" y="1426898"/>
            <a:ext cx="4463260" cy="46072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9E176CA7-E7A9-40A5-878B-9FA0AD687996}"/>
                  </a:ext>
                </a:extLst>
              </p:cNvPr>
              <p:cNvSpPr/>
              <p:nvPr/>
            </p:nvSpPr>
            <p:spPr>
              <a:xfrm>
                <a:off x="6010736" y="1426898"/>
                <a:ext cx="5799462" cy="16475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b="1" dirty="0">
                    <a:solidFill>
                      <a:srgbClr val="FF0000"/>
                    </a:solidFill>
                  </a:rPr>
                  <a:t>Mahalanobis</a:t>
                </a:r>
                <a:r>
                  <a:rPr lang="en-US" altLang="zh-CN" sz="2400" dirty="0"/>
                  <a:t> Distance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b="1" i="1"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b="1" i="1">
                                <a:latin typeface="Cambria Math" panose="02040503050406030204" pitchFamily="18" charset="0"/>
                              </a:rPr>
                              <m:t>𝚺</m:t>
                            </m:r>
                          </m:e>
                          <m:sup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b="1" i="1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rad>
                  </m:oMath>
                </a14:m>
                <a:endParaRPr lang="en-US" altLang="zh-CN" sz="2400" b="1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Points of equal </a:t>
                </a:r>
                <a:r>
                  <a:rPr lang="en-US" altLang="zh-CN" sz="2400" dirty="0" err="1"/>
                  <a:t>Mahalanobis</a:t>
                </a:r>
                <a:r>
                  <a:rPr lang="en-US" altLang="zh-CN" sz="2400" dirty="0"/>
                  <a:t> distance to the mean lies on an ellipse.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9E176CA7-E7A9-40A5-878B-9FA0AD6879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0736" y="1426898"/>
                <a:ext cx="5799462" cy="1647567"/>
              </a:xfrm>
              <a:prstGeom prst="rect">
                <a:avLst/>
              </a:prstGeom>
              <a:blipFill>
                <a:blip r:embed="rId3"/>
                <a:stretch>
                  <a:fillRect l="-1367" t="-2963" b="-74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9DE43647-91BD-4759-96F1-78B4B6999560}"/>
                  </a:ext>
                </a:extLst>
              </p:cNvPr>
              <p:cNvSpPr/>
              <p:nvPr/>
            </p:nvSpPr>
            <p:spPr>
              <a:xfrm>
                <a:off x="6010736" y="3730516"/>
                <a:ext cx="5799462" cy="16475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b="1" dirty="0">
                    <a:solidFill>
                      <a:srgbClr val="FF0000"/>
                    </a:solidFill>
                  </a:rPr>
                  <a:t>Euclidean</a:t>
                </a:r>
                <a:r>
                  <a:rPr lang="en-US" altLang="zh-CN" sz="2400" dirty="0"/>
                  <a:t> Distance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b="1" i="1"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b="1" i="1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rad>
                  </m:oMath>
                </a14:m>
                <a:endParaRPr lang="en-US" altLang="zh-CN" sz="2400" b="1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Points of equal Euclidean distance to the mean lies on a circle.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9DE43647-91BD-4759-96F1-78B4B69995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0736" y="3730516"/>
                <a:ext cx="5799462" cy="1647567"/>
              </a:xfrm>
              <a:prstGeom prst="rect">
                <a:avLst/>
              </a:prstGeom>
              <a:blipFill>
                <a:blip r:embed="rId4"/>
                <a:stretch>
                  <a:fillRect l="-1367" t="-2963" b="-74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7356E54C-EF47-49C0-B8A1-FC72E3FC4631}"/>
              </a:ext>
            </a:extLst>
          </p:cNvPr>
          <p:cNvSpPr/>
          <p:nvPr/>
        </p:nvSpPr>
        <p:spPr>
          <a:xfrm>
            <a:off x="5014762" y="1588168"/>
            <a:ext cx="375385" cy="39174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A2A3074B-B03D-4DB8-BB76-30E844DA9C18}"/>
                  </a:ext>
                </a:extLst>
              </p:cNvPr>
              <p:cNvSpPr/>
              <p:nvPr/>
            </p:nvSpPr>
            <p:spPr>
              <a:xfrm>
                <a:off x="5091264" y="5700776"/>
                <a:ext cx="549574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A2A3074B-B03D-4DB8-BB76-30E844DA9C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1264" y="5700776"/>
                <a:ext cx="549574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D4C429A5-D166-4D97-97BD-763E148D8C17}"/>
                  </a:ext>
                </a:extLst>
              </p:cNvPr>
              <p:cNvSpPr/>
              <p:nvPr/>
            </p:nvSpPr>
            <p:spPr>
              <a:xfrm>
                <a:off x="878694" y="1451041"/>
                <a:ext cx="556691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D4C429A5-D166-4D97-97BD-763E148D8C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694" y="1451041"/>
                <a:ext cx="556691" cy="461665"/>
              </a:xfrm>
              <a:prstGeom prst="rect">
                <a:avLst/>
              </a:prstGeom>
              <a:blipFill>
                <a:blip r:embed="rId6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21153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5B1EE89-8D57-4368-B068-264088148B24}"/>
              </a:ext>
            </a:extLst>
          </p:cNvPr>
          <p:cNvSpPr/>
          <p:nvPr/>
        </p:nvSpPr>
        <p:spPr>
          <a:xfrm>
            <a:off x="413884" y="977929"/>
            <a:ext cx="11280809" cy="2247037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5C56F2B-B6B4-40E4-877A-3BA26BA6C09D}"/>
                  </a:ext>
                </a:extLst>
              </p:cNvPr>
              <p:cNvSpPr txBox="1"/>
              <p:nvPr/>
            </p:nvSpPr>
            <p:spPr>
              <a:xfrm>
                <a:off x="221382" y="114717"/>
                <a:ext cx="2619435" cy="7534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3200" b="1" dirty="0"/>
                  <a:t>Case 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b="1" i="1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3200" b="1" i="1"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endParaRPr lang="en-US" altLang="zh-CN" sz="3200" b="1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5C56F2B-B6B4-40E4-877A-3BA26BA6C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82" y="114717"/>
                <a:ext cx="2619435" cy="753411"/>
              </a:xfrm>
              <a:prstGeom prst="rect">
                <a:avLst/>
              </a:prstGeom>
              <a:blipFill>
                <a:blip r:embed="rId2"/>
                <a:stretch>
                  <a:fillRect l="-5814" b="-26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593052CA-D3EC-4E63-8467-1A42175D157F}"/>
                  </a:ext>
                </a:extLst>
              </p:cNvPr>
              <p:cNvSpPr/>
              <p:nvPr/>
            </p:nvSpPr>
            <p:spPr>
              <a:xfrm>
                <a:off x="2019048" y="2404764"/>
                <a:ext cx="6756593" cy="783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𝚺</m:t>
                          </m:r>
                        </m:e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593052CA-D3EC-4E63-8467-1A42175D15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048" y="2404764"/>
                <a:ext cx="6756593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>
            <a:extLst>
              <a:ext uri="{FF2B5EF4-FFF2-40B4-BE49-F238E27FC236}">
                <a16:creationId xmlns:a16="http://schemas.microsoft.com/office/drawing/2014/main" id="{95C8F12F-574E-48B0-BE9D-E4DD7E1B71F5}"/>
              </a:ext>
            </a:extLst>
          </p:cNvPr>
          <p:cNvSpPr/>
          <p:nvPr/>
        </p:nvSpPr>
        <p:spPr>
          <a:xfrm>
            <a:off x="497303" y="1052689"/>
            <a:ext cx="111973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Covariance of all classes are </a:t>
            </a:r>
            <a:r>
              <a:rPr lang="en-US" altLang="zh-CN" sz="2400" dirty="0">
                <a:solidFill>
                  <a:srgbClr val="FF0000"/>
                </a:solidFill>
              </a:rPr>
              <a:t>identical</a:t>
            </a:r>
            <a:r>
              <a:rPr lang="en-US" altLang="zh-CN" sz="2400" dirty="0"/>
              <a:t> but </a:t>
            </a:r>
            <a:r>
              <a:rPr lang="en-US" altLang="zh-CN" sz="2400" dirty="0">
                <a:solidFill>
                  <a:srgbClr val="FF0000"/>
                </a:solidFill>
              </a:rPr>
              <a:t>arbitrary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C4AD079C-246D-4552-9533-27A3938C96A1}"/>
                  </a:ext>
                </a:extLst>
              </p:cNvPr>
              <p:cNvSpPr/>
              <p:nvPr/>
            </p:nvSpPr>
            <p:spPr>
              <a:xfrm>
                <a:off x="2019048" y="1511159"/>
                <a:ext cx="8070479" cy="783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𝚺</m:t>
                          </m:r>
                        </m:e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sz="2400" b="1" i="1"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𝚺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C4AD079C-246D-4552-9533-27A3938C96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048" y="1511159"/>
                <a:ext cx="8070479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393A4EF-056C-4956-8246-22910CB707D7}"/>
              </a:ext>
            </a:extLst>
          </p:cNvPr>
          <p:cNvSpPr/>
          <p:nvPr/>
        </p:nvSpPr>
        <p:spPr>
          <a:xfrm>
            <a:off x="413884" y="3633033"/>
            <a:ext cx="11280809" cy="1713808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28A0FF59-3735-4295-9624-6808BD4AF86B}"/>
                  </a:ext>
                </a:extLst>
              </p:cNvPr>
              <p:cNvSpPr/>
              <p:nvPr/>
            </p:nvSpPr>
            <p:spPr>
              <a:xfrm>
                <a:off x="4433332" y="3707200"/>
                <a:ext cx="3325334" cy="468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b="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28A0FF59-3735-4295-9624-6808BD4AF8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332" y="3707200"/>
                <a:ext cx="3325334" cy="468205"/>
              </a:xfrm>
              <a:prstGeom prst="rect">
                <a:avLst/>
              </a:prstGeom>
              <a:blipFill>
                <a:blip r:embed="rId9"/>
                <a:stretch>
                  <a:fillRect b="-10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735167D3-0410-4091-9BF8-CB9F13ACE358}"/>
              </a:ext>
            </a:extLst>
          </p:cNvPr>
          <p:cNvSpPr/>
          <p:nvPr/>
        </p:nvSpPr>
        <p:spPr>
          <a:xfrm>
            <a:off x="497305" y="3774668"/>
            <a:ext cx="111973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FF0000"/>
                </a:solidFill>
              </a:rPr>
              <a:t>Linear</a:t>
            </a:r>
            <a:r>
              <a:rPr lang="en-US" altLang="zh-CN" sz="2400" dirty="0"/>
              <a:t> discriminant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65B60444-7297-4CCF-B218-E5E825D2DF12}"/>
                  </a:ext>
                </a:extLst>
              </p:cNvPr>
              <p:cNvSpPr/>
              <p:nvPr/>
            </p:nvSpPr>
            <p:spPr>
              <a:xfrm>
                <a:off x="2570296" y="4466714"/>
                <a:ext cx="178318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𝚺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65B60444-7297-4CCF-B218-E5E825D2DF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296" y="4466714"/>
                <a:ext cx="1783180" cy="461665"/>
              </a:xfrm>
              <a:prstGeom prst="rect">
                <a:avLst/>
              </a:prstGeom>
              <a:blipFill>
                <a:blip r:embed="rId10"/>
                <a:stretch>
                  <a:fillRect b="-9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981167C3-0416-4EAB-8AEE-1CCD7E5B50A0}"/>
                  </a:ext>
                </a:extLst>
              </p:cNvPr>
              <p:cNvSpPr/>
              <p:nvPr/>
            </p:nvSpPr>
            <p:spPr>
              <a:xfrm>
                <a:off x="4894051" y="4358170"/>
                <a:ext cx="4197559" cy="783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b="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𝚺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981167C3-0416-4EAB-8AEE-1CCD7E5B50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051" y="4358170"/>
                <a:ext cx="4197559" cy="78380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>
            <a:extLst>
              <a:ext uri="{FF2B5EF4-FFF2-40B4-BE49-F238E27FC236}">
                <a16:creationId xmlns:a16="http://schemas.microsoft.com/office/drawing/2014/main" id="{66F21B58-1060-4454-8BEB-D686F1E4C123}"/>
              </a:ext>
            </a:extLst>
          </p:cNvPr>
          <p:cNvSpPr/>
          <p:nvPr/>
        </p:nvSpPr>
        <p:spPr>
          <a:xfrm>
            <a:off x="7783823" y="3748680"/>
            <a:ext cx="6848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bias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060A53-AE85-4B6C-87E3-2E8E502B2AB3}"/>
              </a:ext>
            </a:extLst>
          </p:cNvPr>
          <p:cNvSpPr/>
          <p:nvPr/>
        </p:nvSpPr>
        <p:spPr>
          <a:xfrm>
            <a:off x="7036069" y="3748680"/>
            <a:ext cx="587141" cy="48765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0164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0C3346F-57DF-4ADC-9741-E7D0CD5E235D}"/>
              </a:ext>
            </a:extLst>
          </p:cNvPr>
          <p:cNvSpPr/>
          <p:nvPr/>
        </p:nvSpPr>
        <p:spPr>
          <a:xfrm>
            <a:off x="405863" y="3759314"/>
            <a:ext cx="11280809" cy="2433408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5B1EE89-8D57-4368-B068-264088148B24}"/>
              </a:ext>
            </a:extLst>
          </p:cNvPr>
          <p:cNvSpPr/>
          <p:nvPr/>
        </p:nvSpPr>
        <p:spPr>
          <a:xfrm>
            <a:off x="413884" y="1168374"/>
            <a:ext cx="11280809" cy="2433408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5C56F2B-B6B4-40E4-877A-3BA26BA6C09D}"/>
                  </a:ext>
                </a:extLst>
              </p:cNvPr>
              <p:cNvSpPr txBox="1"/>
              <p:nvPr/>
            </p:nvSpPr>
            <p:spPr>
              <a:xfrm>
                <a:off x="221382" y="114717"/>
                <a:ext cx="6761787" cy="7534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3200" b="1" dirty="0"/>
                  <a:t>Decision Boundaries for Case 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b="1" i="1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3200" b="1" i="1"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endParaRPr lang="en-US" altLang="zh-CN" sz="3200" b="1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5C56F2B-B6B4-40E4-877A-3BA26BA6C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82" y="114717"/>
                <a:ext cx="6761787" cy="753411"/>
              </a:xfrm>
              <a:prstGeom prst="rect">
                <a:avLst/>
              </a:prstGeom>
              <a:blipFill>
                <a:blip r:embed="rId2"/>
                <a:stretch>
                  <a:fillRect l="-2252" b="-26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63087FB3-2DB0-45D0-982F-A4A6D92F30FB}"/>
                  </a:ext>
                </a:extLst>
              </p:cNvPr>
              <p:cNvSpPr/>
              <p:nvPr/>
            </p:nvSpPr>
            <p:spPr>
              <a:xfrm>
                <a:off x="3751700" y="1255478"/>
                <a:ext cx="4322380" cy="4914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63087FB3-2DB0-45D0-982F-A4A6D92F30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1700" y="1255478"/>
                <a:ext cx="4322380" cy="491417"/>
              </a:xfrm>
              <a:prstGeom prst="rect">
                <a:avLst/>
              </a:prstGeom>
              <a:blipFill>
                <a:blip r:embed="rId3"/>
                <a:stretch>
                  <a:fillRect b="-98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A4CDD74-D4C8-46C0-8E77-89D669963D5E}"/>
                  </a:ext>
                </a:extLst>
              </p:cNvPr>
              <p:cNvSpPr/>
              <p:nvPr/>
            </p:nvSpPr>
            <p:spPr>
              <a:xfrm>
                <a:off x="57750" y="1746895"/>
                <a:ext cx="11778116" cy="7861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𝚺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𝚺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A4CDD74-D4C8-46C0-8E77-89D669963D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50" y="1746895"/>
                <a:ext cx="11778116" cy="7861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1182DA23-8FB9-4863-A239-F92D30586023}"/>
                  </a:ext>
                </a:extLst>
              </p:cNvPr>
              <p:cNvSpPr/>
              <p:nvPr/>
            </p:nvSpPr>
            <p:spPr>
              <a:xfrm>
                <a:off x="57750" y="2624816"/>
                <a:ext cx="11778116" cy="9221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𝚺</m:t>
                              </m:r>
                            </m:e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𝚺</m:t>
                              </m:r>
                            </m:e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𝚺</m:t>
                              </m:r>
                            </m:e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𝚺</m:t>
                              </m:r>
                            </m:e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1182DA23-8FB9-4863-A239-F92D305860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50" y="2624816"/>
                <a:ext cx="11778116" cy="9221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0E4A5069-1A36-4ECD-B76C-F67B1C43DAE1}"/>
                  </a:ext>
                </a:extLst>
              </p:cNvPr>
              <p:cNvSpPr/>
              <p:nvPr/>
            </p:nvSpPr>
            <p:spPr>
              <a:xfrm>
                <a:off x="730994" y="3939714"/>
                <a:ext cx="10761047" cy="9423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𝚺</m:t>
                              </m:r>
                            </m:e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𝚺</m:t>
                              </m:r>
                            </m:e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𝚺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fun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0E4A5069-1A36-4ECD-B76C-F67B1C43DA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994" y="3939714"/>
                <a:ext cx="10761047" cy="9423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F3B0BA1-B21C-4929-953E-F41C6EF1926A}"/>
              </a:ext>
            </a:extLst>
          </p:cNvPr>
          <p:cNvCxnSpPr>
            <a:cxnSpLocks/>
          </p:cNvCxnSpPr>
          <p:nvPr/>
        </p:nvCxnSpPr>
        <p:spPr>
          <a:xfrm>
            <a:off x="1702844" y="4776209"/>
            <a:ext cx="221381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4A825BC-3065-4ADF-AD56-CBC2478A85E1}"/>
              </a:ext>
            </a:extLst>
          </p:cNvPr>
          <p:cNvCxnSpPr>
            <a:cxnSpLocks/>
          </p:cNvCxnSpPr>
          <p:nvPr/>
        </p:nvCxnSpPr>
        <p:spPr>
          <a:xfrm>
            <a:off x="4234590" y="5005610"/>
            <a:ext cx="539014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0D4796F1-D36B-425B-A8FE-0D59E380C63F}"/>
                  </a:ext>
                </a:extLst>
              </p:cNvPr>
              <p:cNvSpPr/>
              <p:nvPr/>
            </p:nvSpPr>
            <p:spPr>
              <a:xfrm>
                <a:off x="678578" y="5288209"/>
                <a:ext cx="11264769" cy="8607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/>
                  <a:t>The hyperplane separating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400" dirty="0"/>
                  <a:t> is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generally</a:t>
                </a:r>
                <a:r>
                  <a:rPr lang="en-US" altLang="zh-CN" sz="2400" dirty="0"/>
                  <a:t>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not</a:t>
                </a:r>
                <a:r>
                  <a:rPr lang="en-US" altLang="zh-CN" sz="2400" dirty="0"/>
                  <a:t>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orthogonal</a:t>
                </a:r>
                <a:r>
                  <a:rPr lang="en-US" altLang="zh-CN" sz="2400" dirty="0"/>
                  <a:t> to the line linking the means!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0D4796F1-D36B-425B-A8FE-0D59E380C6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578" y="5288209"/>
                <a:ext cx="11264769" cy="860748"/>
              </a:xfrm>
              <a:prstGeom prst="rect">
                <a:avLst/>
              </a:prstGeom>
              <a:blipFill>
                <a:blip r:embed="rId7"/>
                <a:stretch>
                  <a:fillRect l="-812" t="-4930" b="-14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1354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2" grpId="0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0C3346F-57DF-4ADC-9741-E7D0CD5E235D}"/>
              </a:ext>
            </a:extLst>
          </p:cNvPr>
          <p:cNvSpPr/>
          <p:nvPr/>
        </p:nvSpPr>
        <p:spPr>
          <a:xfrm>
            <a:off x="405064" y="4046236"/>
            <a:ext cx="11280809" cy="2166710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5B1EE89-8D57-4368-B068-264088148B24}"/>
              </a:ext>
            </a:extLst>
          </p:cNvPr>
          <p:cNvSpPr/>
          <p:nvPr/>
        </p:nvSpPr>
        <p:spPr>
          <a:xfrm>
            <a:off x="413884" y="1168374"/>
            <a:ext cx="11280809" cy="2582848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5C56F2B-B6B4-40E4-877A-3BA26BA6C09D}"/>
                  </a:ext>
                </a:extLst>
              </p:cNvPr>
              <p:cNvSpPr txBox="1"/>
              <p:nvPr/>
            </p:nvSpPr>
            <p:spPr>
              <a:xfrm>
                <a:off x="221382" y="114717"/>
                <a:ext cx="6761787" cy="7534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3200" b="1" dirty="0"/>
                  <a:t>Decision Boundaries for Case 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b="1" i="1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3200" b="1" i="1"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endParaRPr lang="en-US" altLang="zh-CN" sz="3200" b="1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5C56F2B-B6B4-40E4-877A-3BA26BA6C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82" y="114717"/>
                <a:ext cx="6761787" cy="753411"/>
              </a:xfrm>
              <a:prstGeom prst="rect">
                <a:avLst/>
              </a:prstGeom>
              <a:blipFill>
                <a:blip r:embed="rId2"/>
                <a:stretch>
                  <a:fillRect l="-2252" b="-26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0E4A5069-1A36-4ECD-B76C-F67B1C43DAE1}"/>
                  </a:ext>
                </a:extLst>
              </p:cNvPr>
              <p:cNvSpPr/>
              <p:nvPr/>
            </p:nvSpPr>
            <p:spPr>
              <a:xfrm>
                <a:off x="925625" y="1240154"/>
                <a:ext cx="10761047" cy="9423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𝚺</m:t>
                              </m:r>
                            </m:e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𝚺</m:t>
                              </m:r>
                            </m:e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𝚺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fun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0E4A5069-1A36-4ECD-B76C-F67B1C43DA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625" y="1240154"/>
                <a:ext cx="10761047" cy="9423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F3B0BA1-B21C-4929-953E-F41C6EF1926A}"/>
              </a:ext>
            </a:extLst>
          </p:cNvPr>
          <p:cNvCxnSpPr>
            <a:cxnSpLocks/>
          </p:cNvCxnSpPr>
          <p:nvPr/>
        </p:nvCxnSpPr>
        <p:spPr>
          <a:xfrm>
            <a:off x="1868900" y="2076649"/>
            <a:ext cx="221381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4A825BC-3065-4ADF-AD56-CBC2478A85E1}"/>
              </a:ext>
            </a:extLst>
          </p:cNvPr>
          <p:cNvCxnSpPr>
            <a:cxnSpLocks/>
          </p:cNvCxnSpPr>
          <p:nvPr/>
        </p:nvCxnSpPr>
        <p:spPr>
          <a:xfrm>
            <a:off x="4429221" y="2306050"/>
            <a:ext cx="539014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3712F3B-5627-47ED-8980-8503BB8D8DEE}"/>
                  </a:ext>
                </a:extLst>
              </p:cNvPr>
              <p:cNvSpPr/>
              <p:nvPr/>
            </p:nvSpPr>
            <p:spPr>
              <a:xfrm>
                <a:off x="734725" y="2421171"/>
                <a:ext cx="10959968" cy="12813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𝚺</m:t>
                              </m:r>
                            </m:e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𝚺</m:t>
                              </m:r>
                            </m:e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d>
                        <m:d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num>
                            <m:den>
                              <m:sSup>
                                <m:sSupPr>
                                  <m:ctrlP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400" b="1" i="1">
                                              <a:latin typeface="Cambria Math" panose="02040503050406030204" pitchFamily="18" charset="0"/>
                                            </a:rPr>
                                            <m:t>𝝁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400" b="1" i="1">
                                              <a:latin typeface="Cambria Math" panose="02040503050406030204" pitchFamily="18" charset="0"/>
                                            </a:rPr>
                                            <m:t>𝝁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𝚺</m:t>
                                  </m:r>
                                </m:e>
                                <m:sup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400" b="1" i="1">
                                          <a:latin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400" b="1" i="1">
                                          <a:latin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3712F3B-5627-47ED-8980-8503BB8D8D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25" y="2421171"/>
                <a:ext cx="10959968" cy="12813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51B13A59-AB4C-4257-A642-528792608E35}"/>
                  </a:ext>
                </a:extLst>
              </p:cNvPr>
              <p:cNvSpPr/>
              <p:nvPr/>
            </p:nvSpPr>
            <p:spPr>
              <a:xfrm>
                <a:off x="952310" y="4080336"/>
                <a:ext cx="9902408" cy="5984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𝚺</m:t>
                                  </m:r>
                                </m:e>
                                <m:sup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𝚺</m:t>
                                  </m:r>
                                </m:e>
                                <m:sup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51B13A59-AB4C-4257-A642-528792608E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310" y="4080336"/>
                <a:ext cx="9902408" cy="5984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95BDEAD4-4A54-40B8-867E-067892BFC4E2}"/>
                  </a:ext>
                </a:extLst>
              </p:cNvPr>
              <p:cNvSpPr/>
              <p:nvPr/>
            </p:nvSpPr>
            <p:spPr>
              <a:xfrm>
                <a:off x="505328" y="4921111"/>
                <a:ext cx="11181345" cy="983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/>
                  <a:t>If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400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1" i="1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400" b="1" i="1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400" dirty="0"/>
                  <a:t>, which is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on the hyperplane </a:t>
                </a:r>
                <a:r>
                  <a:rPr lang="en-US" altLang="zh-CN" sz="2400" dirty="0"/>
                  <a:t>(</a:t>
                </a:r>
                <a:r>
                  <a:rPr lang="en-US" altLang="zh-CN" sz="2400" dirty="0" err="1"/>
                  <a:t>i.e</a:t>
                </a:r>
                <a:r>
                  <a:rPr lang="en-US" altLang="zh-CN" sz="2400" dirty="0"/>
                  <a:t>, the hyperplane passes through it).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95BDEAD4-4A54-40B8-867E-067892BFC4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328" y="4921111"/>
                <a:ext cx="11181345" cy="983218"/>
              </a:xfrm>
              <a:prstGeom prst="rect">
                <a:avLst/>
              </a:prstGeom>
              <a:blipFill>
                <a:blip r:embed="rId6"/>
                <a:stretch>
                  <a:fillRect l="-872" r="-218" b="-129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>
            <a:extLst>
              <a:ext uri="{FF2B5EF4-FFF2-40B4-BE49-F238E27FC236}">
                <a16:creationId xmlns:a16="http://schemas.microsoft.com/office/drawing/2014/main" id="{907099F1-71DF-4BB0-9419-1353BBA3A49A}"/>
              </a:ext>
            </a:extLst>
          </p:cNvPr>
          <p:cNvSpPr/>
          <p:nvPr/>
        </p:nvSpPr>
        <p:spPr>
          <a:xfrm>
            <a:off x="6507617" y="5538305"/>
            <a:ext cx="66235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Just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generally not orthogonal.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16977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5B1EE89-8D57-4368-B068-264088148B24}"/>
              </a:ext>
            </a:extLst>
          </p:cNvPr>
          <p:cNvSpPr/>
          <p:nvPr/>
        </p:nvSpPr>
        <p:spPr>
          <a:xfrm>
            <a:off x="413884" y="977929"/>
            <a:ext cx="11280809" cy="139951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5C56F2B-B6B4-40E4-877A-3BA26BA6C09D}"/>
                  </a:ext>
                </a:extLst>
              </p:cNvPr>
              <p:cNvSpPr txBox="1"/>
              <p:nvPr/>
            </p:nvSpPr>
            <p:spPr>
              <a:xfrm>
                <a:off x="221382" y="114717"/>
                <a:ext cx="3097451" cy="7513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3200" b="1" dirty="0"/>
                  <a:t>Case 3: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b="1" i="1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32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3200" b="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endParaRPr lang="en-US" altLang="zh-CN" sz="3200" b="1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5C56F2B-B6B4-40E4-877A-3BA26BA6C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82" y="114717"/>
                <a:ext cx="3097451" cy="751360"/>
              </a:xfrm>
              <a:prstGeom prst="rect">
                <a:avLst/>
              </a:prstGeom>
              <a:blipFill>
                <a:blip r:embed="rId2"/>
                <a:stretch>
                  <a:fillRect l="-4921" b="-26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>
            <a:extLst>
              <a:ext uri="{FF2B5EF4-FFF2-40B4-BE49-F238E27FC236}">
                <a16:creationId xmlns:a16="http://schemas.microsoft.com/office/drawing/2014/main" id="{95C8F12F-574E-48B0-BE9D-E4DD7E1B71F5}"/>
              </a:ext>
            </a:extLst>
          </p:cNvPr>
          <p:cNvSpPr/>
          <p:nvPr/>
        </p:nvSpPr>
        <p:spPr>
          <a:xfrm>
            <a:off x="497303" y="1052689"/>
            <a:ext cx="111973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Each class has a different covariance matrix, proportional to the </a:t>
            </a:r>
            <a:r>
              <a:rPr lang="en-US" altLang="zh-CN" sz="2400" i="1" dirty="0">
                <a:solidFill>
                  <a:srgbClr val="FF0000"/>
                </a:solidFill>
              </a:rPr>
              <a:t>identity</a:t>
            </a:r>
            <a:r>
              <a:rPr lang="en-US" altLang="zh-CN" sz="2400" dirty="0"/>
              <a:t> matrix.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C4AD079C-246D-4552-9533-27A3938C96A1}"/>
                  </a:ext>
                </a:extLst>
              </p:cNvPr>
              <p:cNvSpPr/>
              <p:nvPr/>
            </p:nvSpPr>
            <p:spPr>
              <a:xfrm>
                <a:off x="2019048" y="1511159"/>
                <a:ext cx="8070479" cy="783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𝚺</m:t>
                          </m:r>
                        </m:e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sz="2400" b="1" i="1"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𝚺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C4AD079C-246D-4552-9533-27A3938C96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048" y="1511159"/>
                <a:ext cx="8070479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393A4EF-056C-4956-8246-22910CB707D7}"/>
              </a:ext>
            </a:extLst>
          </p:cNvPr>
          <p:cNvSpPr/>
          <p:nvPr/>
        </p:nvSpPr>
        <p:spPr>
          <a:xfrm>
            <a:off x="413882" y="2753433"/>
            <a:ext cx="11280809" cy="1713808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35167D3-0410-4091-9BF8-CB9F13ACE358}"/>
              </a:ext>
            </a:extLst>
          </p:cNvPr>
          <p:cNvSpPr/>
          <p:nvPr/>
        </p:nvSpPr>
        <p:spPr>
          <a:xfrm>
            <a:off x="497303" y="2895068"/>
            <a:ext cx="111973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FF0000"/>
                </a:solidFill>
              </a:rPr>
              <a:t>Quadratic</a:t>
            </a:r>
            <a:r>
              <a:rPr lang="en-US" altLang="zh-CN" sz="2400" dirty="0"/>
              <a:t> discriminant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593052CA-D3EC-4E63-8467-1A42175D157F}"/>
                  </a:ext>
                </a:extLst>
              </p:cNvPr>
              <p:cNvSpPr/>
              <p:nvPr/>
            </p:nvSpPr>
            <p:spPr>
              <a:xfrm>
                <a:off x="1909257" y="3466576"/>
                <a:ext cx="8067337" cy="8908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sSubSup>
                            <m:sSub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 smtClean="0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sz="2400" b="0" i="0" dirty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⁡(</m:t>
                      </m:r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593052CA-D3EC-4E63-8467-1A42175D15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9257" y="3466576"/>
                <a:ext cx="8067337" cy="8908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89405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5B1EE89-8D57-4368-B068-264088148B24}"/>
              </a:ext>
            </a:extLst>
          </p:cNvPr>
          <p:cNvSpPr/>
          <p:nvPr/>
        </p:nvSpPr>
        <p:spPr>
          <a:xfrm>
            <a:off x="278296" y="1016263"/>
            <a:ext cx="11628782" cy="4576427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5C56F2B-B6B4-40E4-877A-3BA26BA6C09D}"/>
                  </a:ext>
                </a:extLst>
              </p:cNvPr>
              <p:cNvSpPr txBox="1"/>
              <p:nvPr/>
            </p:nvSpPr>
            <p:spPr>
              <a:xfrm>
                <a:off x="221382" y="114717"/>
                <a:ext cx="3097451" cy="7513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3200" b="1" dirty="0"/>
                  <a:t>Case 3: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b="1" i="1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32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3200" b="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endParaRPr lang="en-US" altLang="zh-CN" sz="3200" b="1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5C56F2B-B6B4-40E4-877A-3BA26BA6C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82" y="114717"/>
                <a:ext cx="3097451" cy="751360"/>
              </a:xfrm>
              <a:prstGeom prst="rect">
                <a:avLst/>
              </a:prstGeom>
              <a:blipFill>
                <a:blip r:embed="rId2"/>
                <a:stretch>
                  <a:fillRect l="-4921" b="-26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>
            <a:extLst>
              <a:ext uri="{FF2B5EF4-FFF2-40B4-BE49-F238E27FC236}">
                <a16:creationId xmlns:a16="http://schemas.microsoft.com/office/drawing/2014/main" id="{95C8F12F-574E-48B0-BE9D-E4DD7E1B71F5}"/>
              </a:ext>
            </a:extLst>
          </p:cNvPr>
          <p:cNvSpPr/>
          <p:nvPr/>
        </p:nvSpPr>
        <p:spPr>
          <a:xfrm>
            <a:off x="497303" y="1052689"/>
            <a:ext cx="111973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Decision boundary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393A4EF-056C-4956-8246-22910CB707D7}"/>
              </a:ext>
            </a:extLst>
          </p:cNvPr>
          <p:cNvSpPr/>
          <p:nvPr/>
        </p:nvSpPr>
        <p:spPr>
          <a:xfrm>
            <a:off x="276692" y="5684033"/>
            <a:ext cx="11709899" cy="978181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593052CA-D3EC-4E63-8467-1A42175D157F}"/>
                  </a:ext>
                </a:extLst>
              </p:cNvPr>
              <p:cNvSpPr/>
              <p:nvPr/>
            </p:nvSpPr>
            <p:spPr>
              <a:xfrm>
                <a:off x="-267163" y="2672746"/>
                <a:ext cx="12488547" cy="7861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 smtClean="0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</m:e>
                      </m:func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den>
                      </m:f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CN" sz="2400" dirty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593052CA-D3EC-4E63-8467-1A42175D15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7163" y="2672746"/>
                <a:ext cx="12488547" cy="7861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D62067D-3593-4941-9E21-433BB6F348B8}"/>
                  </a:ext>
                </a:extLst>
              </p:cNvPr>
              <p:cNvSpPr/>
              <p:nvPr/>
            </p:nvSpPr>
            <p:spPr>
              <a:xfrm>
                <a:off x="2143192" y="1592562"/>
                <a:ext cx="1759008" cy="4687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3 3</m:t>
                          </m:r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D62067D-3593-4941-9E21-433BB6F348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192" y="1592562"/>
                <a:ext cx="1759008" cy="468718"/>
              </a:xfrm>
              <a:prstGeom prst="rect">
                <a:avLst/>
              </a:prstGeom>
              <a:blipFill>
                <a:blip r:embed="rId4"/>
                <a:stretch>
                  <a:fillRect b="-16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BFCDA6F8-A25F-4241-AB5B-92CCED6BCC53}"/>
                  </a:ext>
                </a:extLst>
              </p:cNvPr>
              <p:cNvSpPr/>
              <p:nvPr/>
            </p:nvSpPr>
            <p:spPr>
              <a:xfrm>
                <a:off x="4337877" y="1592562"/>
                <a:ext cx="2361416" cy="4687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−3 −3</m:t>
                          </m:r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BFCDA6F8-A25F-4241-AB5B-92CCED6BCC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877" y="1592562"/>
                <a:ext cx="2361416" cy="468718"/>
              </a:xfrm>
              <a:prstGeom prst="rect">
                <a:avLst/>
              </a:prstGeom>
              <a:blipFill>
                <a:blip r:embed="rId5"/>
                <a:stretch>
                  <a:fillRect b="-16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003E95-A262-4929-B37E-7A76DB9ACC04}"/>
                  </a:ext>
                </a:extLst>
              </p:cNvPr>
              <p:cNvSpPr/>
              <p:nvPr/>
            </p:nvSpPr>
            <p:spPr>
              <a:xfrm>
                <a:off x="8688325" y="1596089"/>
                <a:ext cx="112479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003E95-A262-4929-B37E-7A76DB9ACC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8325" y="1596089"/>
                <a:ext cx="1124795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D1C872D-B9B7-4BC6-8C5C-A53306EED877}"/>
                  </a:ext>
                </a:extLst>
              </p:cNvPr>
              <p:cNvSpPr/>
              <p:nvPr/>
            </p:nvSpPr>
            <p:spPr>
              <a:xfrm>
                <a:off x="7134970" y="1596089"/>
                <a:ext cx="111767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D1C872D-B9B7-4BC6-8C5C-A53306EED8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970" y="1596089"/>
                <a:ext cx="1117678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C0623DD1-12F5-4939-AFB3-D92D155B479F}"/>
                  </a:ext>
                </a:extLst>
              </p:cNvPr>
              <p:cNvSpPr/>
              <p:nvPr/>
            </p:nvSpPr>
            <p:spPr>
              <a:xfrm>
                <a:off x="4300352" y="2273817"/>
                <a:ext cx="26143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C0623DD1-12F5-4939-AFB3-D92D155B47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0352" y="2273817"/>
                <a:ext cx="2614370" cy="461665"/>
              </a:xfrm>
              <a:prstGeom prst="rect">
                <a:avLst/>
              </a:prstGeom>
              <a:blipFill>
                <a:blip r:embed="rId8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D5B6CF5-D54F-4671-8C1E-65E7280F26BF}"/>
                  </a:ext>
                </a:extLst>
              </p:cNvPr>
              <p:cNvSpPr/>
              <p:nvPr/>
            </p:nvSpPr>
            <p:spPr>
              <a:xfrm>
                <a:off x="605255" y="3519171"/>
                <a:ext cx="10743710" cy="468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 smtClean="0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−32</m:t>
                      </m:r>
                      <m:func>
                        <m:func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</m:e>
                      </m:func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fun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32</m:t>
                      </m:r>
                      <m:r>
                        <m:rPr>
                          <m:sty m:val="p"/>
                        </m:rPr>
                        <a:rPr lang="en-US" altLang="zh-CN" sz="2400" dirty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D5B6CF5-D54F-4671-8C1E-65E7280F26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55" y="3519171"/>
                <a:ext cx="10743710" cy="468205"/>
              </a:xfrm>
              <a:prstGeom prst="rect">
                <a:avLst/>
              </a:prstGeom>
              <a:blipFill>
                <a:blip r:embed="rId9"/>
                <a:stretch>
                  <a:fillRect b="-16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A27E3D76-F72C-4821-B287-5434618D466F}"/>
                  </a:ext>
                </a:extLst>
              </p:cNvPr>
              <p:cNvSpPr/>
              <p:nvPr/>
            </p:nvSpPr>
            <p:spPr>
              <a:xfrm>
                <a:off x="1032038" y="3949304"/>
                <a:ext cx="9890143" cy="9221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+8</m:t>
                      </m:r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−32</m:t>
                      </m:r>
                      <m:func>
                        <m:func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fun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A27E3D76-F72C-4821-B287-5434618D46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038" y="3949304"/>
                <a:ext cx="9890143" cy="92217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46400566-800D-47B0-9D3C-4648ABFD169C}"/>
                  </a:ext>
                </a:extLst>
              </p:cNvPr>
              <p:cNvSpPr/>
              <p:nvPr/>
            </p:nvSpPr>
            <p:spPr>
              <a:xfrm>
                <a:off x="2733598" y="4806514"/>
                <a:ext cx="6366999" cy="7861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+18−</m:t>
                      </m:r>
                      <m:f>
                        <m:f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func>
                        <m:func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fun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fun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46400566-800D-47B0-9D3C-4648ABFD16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598" y="4806514"/>
                <a:ext cx="6366999" cy="7861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92375F14-A02C-41B9-BD52-34E65B5419F5}"/>
                  </a:ext>
                </a:extLst>
              </p:cNvPr>
              <p:cNvSpPr/>
              <p:nvPr/>
            </p:nvSpPr>
            <p:spPr>
              <a:xfrm>
                <a:off x="2912500" y="5740038"/>
                <a:ext cx="5704703" cy="9221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n-US" altLang="zh-CN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</m:eqAr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eqArr>
                            </m:e>
                          </m:d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32</m:t>
                      </m:r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 dirty="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92375F14-A02C-41B9-BD52-34E65B5419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500" y="5740038"/>
                <a:ext cx="5704703" cy="92217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C7C4BF5-09F4-44AD-A864-E274DC94C46A}"/>
                  </a:ext>
                </a:extLst>
              </p:cNvPr>
              <p:cNvSpPr/>
              <p:nvPr/>
            </p:nvSpPr>
            <p:spPr>
              <a:xfrm>
                <a:off x="9158721" y="4968769"/>
                <a:ext cx="2439433" cy="461665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C7C4BF5-09F4-44AD-A864-E274DC94C4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8721" y="4968769"/>
                <a:ext cx="2439433" cy="461665"/>
              </a:xfrm>
              <a:prstGeom prst="rect">
                <a:avLst/>
              </a:prstGeom>
              <a:blipFill>
                <a:blip r:embed="rId14"/>
                <a:stretch>
                  <a:fillRect b="-12346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262BE19-62B2-4303-A795-F855F7BF7863}"/>
                  </a:ext>
                </a:extLst>
              </p:cNvPr>
              <p:cNvSpPr/>
              <p:nvPr/>
            </p:nvSpPr>
            <p:spPr>
              <a:xfrm>
                <a:off x="4452095" y="34597"/>
                <a:ext cx="8067337" cy="8908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sSubSup>
                            <m:sSub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 smtClean="0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sz="2400" b="0" i="0" dirty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⁡(</m:t>
                      </m:r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262BE19-62B2-4303-A795-F855F7BF78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095" y="34597"/>
                <a:ext cx="8067337" cy="89082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1611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7" grpId="0"/>
      <p:bldP spid="20" grpId="0"/>
      <p:bldP spid="23" grpId="0"/>
      <p:bldP spid="26" grpId="0"/>
      <p:bldP spid="27" grpId="0"/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5B1EE89-8D57-4368-B068-264088148B24}"/>
              </a:ext>
            </a:extLst>
          </p:cNvPr>
          <p:cNvSpPr/>
          <p:nvPr/>
        </p:nvSpPr>
        <p:spPr>
          <a:xfrm>
            <a:off x="413884" y="977929"/>
            <a:ext cx="11280809" cy="139951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5C56F2B-B6B4-40E4-877A-3BA26BA6C09D}"/>
                  </a:ext>
                </a:extLst>
              </p:cNvPr>
              <p:cNvSpPr txBox="1"/>
              <p:nvPr/>
            </p:nvSpPr>
            <p:spPr>
              <a:xfrm>
                <a:off x="221382" y="114717"/>
                <a:ext cx="3759747" cy="7534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3200" b="1" dirty="0"/>
                  <a:t>Case 4: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b="1" i="1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200" b="1" dirty="0"/>
                  <a:t>arbitrary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5C56F2B-B6B4-40E4-877A-3BA26BA6C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82" y="114717"/>
                <a:ext cx="3759747" cy="753411"/>
              </a:xfrm>
              <a:prstGeom prst="rect">
                <a:avLst/>
              </a:prstGeom>
              <a:blipFill>
                <a:blip r:embed="rId2"/>
                <a:stretch>
                  <a:fillRect l="-4052" r="-3566" b="-26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>
            <a:extLst>
              <a:ext uri="{FF2B5EF4-FFF2-40B4-BE49-F238E27FC236}">
                <a16:creationId xmlns:a16="http://schemas.microsoft.com/office/drawing/2014/main" id="{95C8F12F-574E-48B0-BE9D-E4DD7E1B71F5}"/>
              </a:ext>
            </a:extLst>
          </p:cNvPr>
          <p:cNvSpPr/>
          <p:nvPr/>
        </p:nvSpPr>
        <p:spPr>
          <a:xfrm>
            <a:off x="497303" y="1052689"/>
            <a:ext cx="111973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Each class has a different covariance matrix.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C4AD079C-246D-4552-9533-27A3938C96A1}"/>
                  </a:ext>
                </a:extLst>
              </p:cNvPr>
              <p:cNvSpPr/>
              <p:nvPr/>
            </p:nvSpPr>
            <p:spPr>
              <a:xfrm>
                <a:off x="2019048" y="1511159"/>
                <a:ext cx="8070479" cy="783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𝚺</m:t>
                          </m:r>
                        </m:e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sz="2400" b="1" i="1"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𝚺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C4AD079C-246D-4552-9533-27A3938C96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048" y="1511159"/>
                <a:ext cx="8070479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393A4EF-056C-4956-8246-22910CB707D7}"/>
              </a:ext>
            </a:extLst>
          </p:cNvPr>
          <p:cNvSpPr/>
          <p:nvPr/>
        </p:nvSpPr>
        <p:spPr>
          <a:xfrm>
            <a:off x="413882" y="2558183"/>
            <a:ext cx="11280809" cy="3603172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35167D3-0410-4091-9BF8-CB9F13ACE358}"/>
              </a:ext>
            </a:extLst>
          </p:cNvPr>
          <p:cNvSpPr/>
          <p:nvPr/>
        </p:nvSpPr>
        <p:spPr>
          <a:xfrm>
            <a:off x="497303" y="2558183"/>
            <a:ext cx="111973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Quadratic discriminant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593052CA-D3EC-4E63-8467-1A42175D157F}"/>
                  </a:ext>
                </a:extLst>
              </p:cNvPr>
              <p:cNvSpPr/>
              <p:nvPr/>
            </p:nvSpPr>
            <p:spPr>
              <a:xfrm>
                <a:off x="3087978" y="3135848"/>
                <a:ext cx="4576830" cy="468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p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593052CA-D3EC-4E63-8467-1A42175D15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7978" y="3135848"/>
                <a:ext cx="4576830" cy="468205"/>
              </a:xfrm>
              <a:prstGeom prst="rect">
                <a:avLst/>
              </a:prstGeom>
              <a:blipFill>
                <a:blip r:embed="rId9"/>
                <a:stretch>
                  <a:fillRect b="-10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707B1939-17CF-4B74-84C0-0ECE24567E80}"/>
                  </a:ext>
                </a:extLst>
              </p:cNvPr>
              <p:cNvSpPr/>
              <p:nvPr/>
            </p:nvSpPr>
            <p:spPr>
              <a:xfrm>
                <a:off x="3436851" y="3711545"/>
                <a:ext cx="2527359" cy="783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bSup>
                        <m:sSub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𝚺</m:t>
                          </m:r>
                        </m:e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707B1939-17CF-4B74-84C0-0ECE24567E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6851" y="3711545"/>
                <a:ext cx="2527359" cy="7838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59CD0B95-E600-43CE-B98C-20DCD59D8171}"/>
                  </a:ext>
                </a:extLst>
              </p:cNvPr>
              <p:cNvSpPr/>
              <p:nvPr/>
            </p:nvSpPr>
            <p:spPr>
              <a:xfrm>
                <a:off x="3506424" y="4562883"/>
                <a:ext cx="2244845" cy="4781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𝚺</m:t>
                          </m:r>
                        </m:e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59CD0B95-E600-43CE-B98C-20DCD59D81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6424" y="4562883"/>
                <a:ext cx="2244845" cy="478144"/>
              </a:xfrm>
              <a:prstGeom prst="rect">
                <a:avLst/>
              </a:prstGeom>
              <a:blipFill>
                <a:blip r:embed="rId11"/>
                <a:stretch>
                  <a:fillRect b="-89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DBE401D-65BC-4F84-AB22-3877419FDFA3}"/>
                  </a:ext>
                </a:extLst>
              </p:cNvPr>
              <p:cNvSpPr/>
              <p:nvPr/>
            </p:nvSpPr>
            <p:spPr>
              <a:xfrm>
                <a:off x="3436851" y="5228743"/>
                <a:ext cx="6200736" cy="11531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𝚺</m:t>
                          </m:r>
                        </m:e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sz="2400" b="1" i="1"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𝚺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b="1" dirty="0"/>
              </a:p>
              <a:p>
                <a:pPr lvl="1" algn="just"/>
                <a:endParaRPr lang="en-US" altLang="zh-CN" sz="2400" b="1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DBE401D-65BC-4F84-AB22-3877419FDF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6851" y="5228743"/>
                <a:ext cx="6200736" cy="115313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28436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5B1EE89-8D57-4368-B068-264088148B24}"/>
              </a:ext>
            </a:extLst>
          </p:cNvPr>
          <p:cNvSpPr/>
          <p:nvPr/>
        </p:nvSpPr>
        <p:spPr>
          <a:xfrm>
            <a:off x="413884" y="977929"/>
            <a:ext cx="11280809" cy="1275089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5C56F2B-B6B4-40E4-877A-3BA26BA6C09D}"/>
                  </a:ext>
                </a:extLst>
              </p:cNvPr>
              <p:cNvSpPr txBox="1"/>
              <p:nvPr/>
            </p:nvSpPr>
            <p:spPr>
              <a:xfrm>
                <a:off x="221382" y="114717"/>
                <a:ext cx="3634521" cy="7534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3200" b="1" dirty="0"/>
                  <a:t>Case 4: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b="1" i="1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3200" b="1" dirty="0"/>
                  <a:t>=arbitrary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5C56F2B-B6B4-40E4-877A-3BA26BA6C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82" y="114717"/>
                <a:ext cx="3634521" cy="753411"/>
              </a:xfrm>
              <a:prstGeom prst="rect">
                <a:avLst/>
              </a:prstGeom>
              <a:blipFill>
                <a:blip r:embed="rId2"/>
                <a:stretch>
                  <a:fillRect l="-4188" r="-3518" b="-26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>
            <a:extLst>
              <a:ext uri="{FF2B5EF4-FFF2-40B4-BE49-F238E27FC236}">
                <a16:creationId xmlns:a16="http://schemas.microsoft.com/office/drawing/2014/main" id="{95C8F12F-574E-48B0-BE9D-E4DD7E1B71F5}"/>
              </a:ext>
            </a:extLst>
          </p:cNvPr>
          <p:cNvSpPr/>
          <p:nvPr/>
        </p:nvSpPr>
        <p:spPr>
          <a:xfrm>
            <a:off x="497303" y="1052689"/>
            <a:ext cx="111973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The decision boundaries are hyperquadrics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Hyperplanes, pairs of hyperplanes, hyperspheres, </a:t>
            </a:r>
            <a:r>
              <a:rPr lang="en-US" altLang="zh-CN" sz="2400" dirty="0" err="1"/>
              <a:t>hyperellipsoids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hyperparaboloids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hyperhyperboloids</a:t>
            </a:r>
            <a:r>
              <a:rPr lang="en-US" altLang="zh-CN" sz="2400" dirty="0"/>
              <a:t>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E17EDF8-6112-40AF-B46E-DC7629EFDDA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215"/>
          <a:stretch/>
        </p:blipFill>
        <p:spPr>
          <a:xfrm>
            <a:off x="7328701" y="3269458"/>
            <a:ext cx="4365991" cy="185139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840D17F-8948-4545-B92B-BE79400364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511" y="3269458"/>
            <a:ext cx="1780731" cy="18975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D29A7FA-46B4-4745-9F75-46FA9B78AB1C}"/>
              </a:ext>
            </a:extLst>
          </p:cNvPr>
          <p:cNvSpPr/>
          <p:nvPr/>
        </p:nvSpPr>
        <p:spPr>
          <a:xfrm>
            <a:off x="1327187" y="2384252"/>
            <a:ext cx="77882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超平面，超平面对，超球面，超椭球，超抛物面，超双曲面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E99B61A9-DCFF-4DB5-8FED-6D52824577CC}"/>
                  </a:ext>
                </a:extLst>
              </p:cNvPr>
              <p:cNvSpPr/>
              <p:nvPr/>
            </p:nvSpPr>
            <p:spPr>
              <a:xfrm>
                <a:off x="7181747" y="123149"/>
                <a:ext cx="4576830" cy="468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p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E99B61A9-DCFF-4DB5-8FED-6D52824577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747" y="123149"/>
                <a:ext cx="4576830" cy="468205"/>
              </a:xfrm>
              <a:prstGeom prst="rect">
                <a:avLst/>
              </a:prstGeom>
              <a:blipFill>
                <a:blip r:embed="rId5"/>
                <a:stretch>
                  <a:fillRect b="-10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7F6E796F-2295-4E4D-B76E-0FDACBAFADE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2905560" y="3269458"/>
            <a:ext cx="4365991" cy="189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9058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525EF0EE-CFB0-4279-B115-FC82F6E16938}"/>
              </a:ext>
            </a:extLst>
          </p:cNvPr>
          <p:cNvGrpSpPr/>
          <p:nvPr/>
        </p:nvGrpSpPr>
        <p:grpSpPr>
          <a:xfrm>
            <a:off x="2728554" y="971548"/>
            <a:ext cx="7214343" cy="4648479"/>
            <a:chOff x="2632301" y="1135177"/>
            <a:chExt cx="7214343" cy="4648479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9B7F757E-6513-47F1-9A3E-682A04F91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32301" y="1177250"/>
              <a:ext cx="7214343" cy="450349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2FEA0CB2-AAEE-4528-9C5E-091D1C54BC97}"/>
                    </a:ext>
                  </a:extLst>
                </p:cNvPr>
                <p:cNvSpPr/>
                <p:nvPr/>
              </p:nvSpPr>
              <p:spPr>
                <a:xfrm>
                  <a:off x="3818124" y="5414324"/>
                  <a:ext cx="296271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2FEA0CB2-AAEE-4528-9C5E-091D1C54BC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8124" y="5414324"/>
                  <a:ext cx="296271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93B30A6B-A211-4DCA-9F4E-420B898EED61}"/>
                    </a:ext>
                  </a:extLst>
                </p:cNvPr>
                <p:cNvSpPr/>
                <p:nvPr/>
              </p:nvSpPr>
              <p:spPr>
                <a:xfrm>
                  <a:off x="5258624" y="5414324"/>
                  <a:ext cx="296271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93B30A6B-A211-4DCA-9F4E-420B898EED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8624" y="5414324"/>
                  <a:ext cx="296271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306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BE6218AD-44B0-426F-911B-1DCEFDE926F2}"/>
                    </a:ext>
                  </a:extLst>
                </p:cNvPr>
                <p:cNvSpPr/>
                <p:nvPr/>
              </p:nvSpPr>
              <p:spPr>
                <a:xfrm>
                  <a:off x="5287148" y="3258773"/>
                  <a:ext cx="296271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BE6218AD-44B0-426F-911B-1DCEFDE926F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7148" y="3258773"/>
                  <a:ext cx="296271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244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C04D5B16-58BE-4E1F-90CB-28F1B9C5D8C8}"/>
                    </a:ext>
                  </a:extLst>
                </p:cNvPr>
                <p:cNvSpPr/>
                <p:nvPr/>
              </p:nvSpPr>
              <p:spPr>
                <a:xfrm>
                  <a:off x="5258625" y="2061666"/>
                  <a:ext cx="296271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C04D5B16-58BE-4E1F-90CB-28F1B9C5D8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8625" y="2061666"/>
                  <a:ext cx="296271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265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2A91DC21-CF0C-4174-AFD1-00B10105C1E6}"/>
                    </a:ext>
                  </a:extLst>
                </p:cNvPr>
                <p:cNvSpPr/>
                <p:nvPr/>
              </p:nvSpPr>
              <p:spPr>
                <a:xfrm>
                  <a:off x="4620078" y="1135177"/>
                  <a:ext cx="963341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2A91DC21-CF0C-4174-AFD1-00B10105C1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0078" y="1135177"/>
                  <a:ext cx="963341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7BDD65FA-C3AA-4850-99F7-E4A63F2E89B5}"/>
                    </a:ext>
                  </a:extLst>
                </p:cNvPr>
                <p:cNvSpPr/>
                <p:nvPr/>
              </p:nvSpPr>
              <p:spPr>
                <a:xfrm>
                  <a:off x="6762673" y="5414324"/>
                  <a:ext cx="296271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7BDD65FA-C3AA-4850-99F7-E4A63F2E89B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2673" y="5414324"/>
                  <a:ext cx="296271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AA24F245-A757-4DDD-AF4B-D6E796494BB5}"/>
              </a:ext>
            </a:extLst>
          </p:cNvPr>
          <p:cNvSpPr/>
          <p:nvPr/>
        </p:nvSpPr>
        <p:spPr>
          <a:xfrm>
            <a:off x="2277893" y="5821358"/>
            <a:ext cx="71042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Non-simply connected decision regions can arise for Gaussians having unequal variance.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E0CA452-93D1-42F1-81A9-A6FA81555B76}"/>
                  </a:ext>
                </a:extLst>
              </p:cNvPr>
              <p:cNvSpPr txBox="1"/>
              <p:nvPr/>
            </p:nvSpPr>
            <p:spPr>
              <a:xfrm>
                <a:off x="221382" y="114717"/>
                <a:ext cx="3634521" cy="7534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3200" b="1" dirty="0"/>
                  <a:t>Case 4: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b="1" i="1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3200" b="1" dirty="0"/>
                  <a:t>=arbitrary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E0CA452-93D1-42F1-81A9-A6FA81555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82" y="114717"/>
                <a:ext cx="3634521" cy="753411"/>
              </a:xfrm>
              <a:prstGeom prst="rect">
                <a:avLst/>
              </a:prstGeom>
              <a:blipFill>
                <a:blip r:embed="rId10"/>
                <a:stretch>
                  <a:fillRect l="-4188" r="-3518" b="-26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21676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5B1EE89-8D57-4368-B068-264088148B24}"/>
              </a:ext>
            </a:extLst>
          </p:cNvPr>
          <p:cNvSpPr/>
          <p:nvPr/>
        </p:nvSpPr>
        <p:spPr>
          <a:xfrm>
            <a:off x="413884" y="977929"/>
            <a:ext cx="11280809" cy="1861524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C56F2B-B6B4-40E4-877A-3BA26BA6C09D}"/>
              </a:ext>
            </a:extLst>
          </p:cNvPr>
          <p:cNvSpPr txBox="1"/>
          <p:nvPr/>
        </p:nvSpPr>
        <p:spPr>
          <a:xfrm>
            <a:off x="221382" y="114717"/>
            <a:ext cx="1901674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Summary 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C8F12F-574E-48B0-BE9D-E4DD7E1B71F5}"/>
              </a:ext>
            </a:extLst>
          </p:cNvPr>
          <p:cNvSpPr/>
          <p:nvPr/>
        </p:nvSpPr>
        <p:spPr>
          <a:xfrm>
            <a:off x="497303" y="1052689"/>
            <a:ext cx="1119738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The Bayes classifier for normally distributed classes (general case) is a quadratic classifier.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The Bayes classifier for normally distributed classes with equal covariance matrices is a linear classifier.</a:t>
            </a:r>
          </a:p>
        </p:txBody>
      </p:sp>
    </p:spTree>
    <p:extLst>
      <p:ext uri="{BB962C8B-B14F-4D97-AF65-F5344CB8AC3E}">
        <p14:creationId xmlns:p14="http://schemas.microsoft.com/office/powerpoint/2010/main" val="2637201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477929" y="2508748"/>
            <a:ext cx="4778296" cy="920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/>
              <a:t>N</a:t>
            </a:r>
            <a:r>
              <a:rPr lang="en-US" altLang="zh-CN" sz="4000" b="1" dirty="0"/>
              <a:t>aïve Bayes Classifier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9370147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5A6678A-59EF-45FE-9CDB-5A84AAAF4E98}"/>
              </a:ext>
            </a:extLst>
          </p:cNvPr>
          <p:cNvSpPr/>
          <p:nvPr/>
        </p:nvSpPr>
        <p:spPr>
          <a:xfrm>
            <a:off x="413885" y="990600"/>
            <a:ext cx="11280809" cy="1184709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CE66A1-9D10-48F8-8777-563747D7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2498EB-F3F7-4EDA-BA1F-3CF5C7DE6FD4}"/>
              </a:ext>
            </a:extLst>
          </p:cNvPr>
          <p:cNvSpPr txBox="1"/>
          <p:nvPr/>
        </p:nvSpPr>
        <p:spPr>
          <a:xfrm>
            <a:off x="221382" y="114717"/>
            <a:ext cx="3858942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Naïve Bayes Classifier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D7BDC09-9FC7-4AC4-9679-CBCFD7B4FF25}"/>
              </a:ext>
            </a:extLst>
          </p:cNvPr>
          <p:cNvSpPr/>
          <p:nvPr/>
        </p:nvSpPr>
        <p:spPr>
          <a:xfrm>
            <a:off x="497306" y="1165468"/>
            <a:ext cx="1064153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>
                <a:solidFill>
                  <a:srgbClr val="000000"/>
                </a:solidFill>
              </a:rPr>
              <a:t>A </a:t>
            </a:r>
            <a:r>
              <a:rPr lang="en-US" altLang="zh-CN" sz="2400" b="1" dirty="0">
                <a:solidFill>
                  <a:srgbClr val="000000"/>
                </a:solidFill>
              </a:rPr>
              <a:t>Naive Bayes classifier </a:t>
            </a:r>
            <a:r>
              <a:rPr lang="en-US" altLang="zh-CN" sz="2400" dirty="0">
                <a:solidFill>
                  <a:srgbClr val="000000"/>
                </a:solidFill>
              </a:rPr>
              <a:t>is a simple probabilistic classifier based on applying Bayes' theorem (from Bayesian statistics) with strong (naive) independence assumptions. 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219A59E-BA11-46E5-BC95-1EB995D2133E}"/>
              </a:ext>
            </a:extLst>
          </p:cNvPr>
          <p:cNvGrpSpPr/>
          <p:nvPr/>
        </p:nvGrpSpPr>
        <p:grpSpPr>
          <a:xfrm>
            <a:off x="413884" y="2316332"/>
            <a:ext cx="11280809" cy="1471052"/>
            <a:chOff x="413884" y="2316332"/>
            <a:chExt cx="11280809" cy="1471052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CE86E1FB-B969-4872-A8E4-A5FC91612CDE}"/>
                </a:ext>
              </a:extLst>
            </p:cNvPr>
            <p:cNvSpPr/>
            <p:nvPr/>
          </p:nvSpPr>
          <p:spPr>
            <a:xfrm>
              <a:off x="413884" y="2316332"/>
              <a:ext cx="11280809" cy="1471052"/>
            </a:xfrm>
            <a:prstGeom prst="roundRect">
              <a:avLst>
                <a:gd name="adj" fmla="val 3573"/>
              </a:avLst>
            </a:prstGeom>
            <a:solidFill>
              <a:srgbClr val="E6F5F0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5AD6F11-8C9A-4E11-A3B6-5969DEDF0B92}"/>
                </a:ext>
              </a:extLst>
            </p:cNvPr>
            <p:cNvSpPr/>
            <p:nvPr/>
          </p:nvSpPr>
          <p:spPr>
            <a:xfrm>
              <a:off x="497306" y="2790708"/>
              <a:ext cx="11014509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US" altLang="zh-CN" sz="2400" dirty="0">
                  <a:solidFill>
                    <a:srgbClr val="000000"/>
                  </a:solidFill>
                  <a:latin typeface="FreeSerif"/>
                </a:rPr>
                <a:t>Assumes that the presence (or absence) of a particular feature of a class is unrelated to the presence (or absence) of any other feature. 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503CF9E-35E0-49B3-8588-EDBB51273779}"/>
                </a:ext>
              </a:extLst>
            </p:cNvPr>
            <p:cNvSpPr/>
            <p:nvPr/>
          </p:nvSpPr>
          <p:spPr>
            <a:xfrm>
              <a:off x="497306" y="2358130"/>
              <a:ext cx="370787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/>
              <a:r>
                <a:rPr lang="en-US" altLang="zh-CN" sz="2400" b="1" dirty="0">
                  <a:solidFill>
                    <a:srgbClr val="000000"/>
                  </a:solidFill>
                </a:rPr>
                <a:t>Independent feature model</a:t>
              </a:r>
              <a:endParaRPr lang="en-US" altLang="zh-CN" sz="2400" b="1" dirty="0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4E1A0F34-B6C4-4E62-A287-C3574D77B928}"/>
              </a:ext>
            </a:extLst>
          </p:cNvPr>
          <p:cNvGrpSpPr/>
          <p:nvPr/>
        </p:nvGrpSpPr>
        <p:grpSpPr>
          <a:xfrm>
            <a:off x="413883" y="3928408"/>
            <a:ext cx="11280809" cy="2080016"/>
            <a:chOff x="413883" y="3928408"/>
            <a:chExt cx="11280809" cy="2080016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5A85152D-E24D-44B7-A129-2A83D9660980}"/>
                </a:ext>
              </a:extLst>
            </p:cNvPr>
            <p:cNvSpPr/>
            <p:nvPr/>
          </p:nvSpPr>
          <p:spPr>
            <a:xfrm>
              <a:off x="413883" y="3947165"/>
              <a:ext cx="11280809" cy="2061259"/>
            </a:xfrm>
            <a:prstGeom prst="roundRect">
              <a:avLst>
                <a:gd name="adj" fmla="val 3573"/>
              </a:avLst>
            </a:prstGeom>
            <a:solidFill>
              <a:srgbClr val="F9E6E6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AE64AD1-E9D7-4E8B-8617-192C323B0F19}"/>
                </a:ext>
              </a:extLst>
            </p:cNvPr>
            <p:cNvSpPr/>
            <p:nvPr/>
          </p:nvSpPr>
          <p:spPr>
            <a:xfrm>
              <a:off x="497306" y="3928408"/>
              <a:ext cx="11014509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US" altLang="zh-CN" sz="2400" dirty="0">
                  <a:solidFill>
                    <a:srgbClr val="000000"/>
                  </a:solidFill>
                  <a:latin typeface="FreeSerif"/>
                </a:rPr>
                <a:t>For example, a fruit may be considered to be an apple if </a:t>
              </a:r>
              <a:r>
                <a:rPr lang="en-US" altLang="zh-CN" sz="2400" i="1" dirty="0">
                  <a:solidFill>
                    <a:srgbClr val="C00000"/>
                  </a:solidFill>
                  <a:latin typeface="FreeSerif"/>
                </a:rPr>
                <a:t>it is red</a:t>
              </a:r>
              <a:r>
                <a:rPr lang="en-US" altLang="zh-CN" sz="2400" i="1" dirty="0">
                  <a:solidFill>
                    <a:srgbClr val="000000"/>
                  </a:solidFill>
                  <a:latin typeface="FreeSerif"/>
                </a:rPr>
                <a:t>, </a:t>
              </a:r>
              <a:r>
                <a:rPr lang="en-US" altLang="zh-CN" sz="2400" i="1" dirty="0">
                  <a:solidFill>
                    <a:srgbClr val="003300"/>
                  </a:solidFill>
                  <a:latin typeface="FreeSerif"/>
                </a:rPr>
                <a:t>round</a:t>
              </a:r>
              <a:r>
                <a:rPr lang="en-US" altLang="zh-CN" sz="2400" i="1" dirty="0">
                  <a:solidFill>
                    <a:srgbClr val="000000"/>
                  </a:solidFill>
                  <a:latin typeface="FreeSerif"/>
                </a:rPr>
                <a:t>, and </a:t>
              </a:r>
              <a:r>
                <a:rPr lang="en-US" altLang="zh-CN" sz="2400" i="1" dirty="0">
                  <a:solidFill>
                    <a:srgbClr val="0000FF"/>
                  </a:solidFill>
                  <a:latin typeface="FreeSerif"/>
                </a:rPr>
                <a:t>about 4" in diameter</a:t>
              </a:r>
              <a:r>
                <a:rPr lang="en-US" altLang="zh-CN" sz="2400" i="1" dirty="0">
                  <a:solidFill>
                    <a:srgbClr val="000000"/>
                  </a:solidFill>
                  <a:latin typeface="FreeSerif"/>
                </a:rPr>
                <a:t>. </a:t>
              </a:r>
            </a:p>
            <a:p>
              <a:pPr algn="just"/>
              <a:r>
                <a:rPr lang="en-US" altLang="zh-CN" sz="2400" dirty="0">
                  <a:solidFill>
                    <a:srgbClr val="000000"/>
                  </a:solidFill>
                  <a:latin typeface="FreeSerif"/>
                </a:rPr>
                <a:t>Even if these features depend on each other or upon the existence of the other</a:t>
              </a:r>
              <a:br>
                <a:rPr lang="en-US" altLang="zh-CN" sz="2400" dirty="0">
                  <a:solidFill>
                    <a:srgbClr val="000000"/>
                  </a:solidFill>
                  <a:latin typeface="FreeSerif"/>
                </a:rPr>
              </a:br>
              <a:r>
                <a:rPr lang="en-US" altLang="zh-CN" sz="2400" dirty="0">
                  <a:solidFill>
                    <a:srgbClr val="000000"/>
                  </a:solidFill>
                  <a:latin typeface="FreeSerif"/>
                </a:rPr>
                <a:t>features, a naive Bayes classifier considers all of these properties to </a:t>
              </a:r>
              <a:r>
                <a:rPr lang="en-US" altLang="zh-CN" sz="2400" dirty="0">
                  <a:solidFill>
                    <a:srgbClr val="C00000"/>
                  </a:solidFill>
                  <a:latin typeface="FreeSerif"/>
                </a:rPr>
                <a:t>independently</a:t>
              </a:r>
              <a:r>
                <a:rPr lang="en-US" altLang="zh-CN" sz="2400" dirty="0">
                  <a:solidFill>
                    <a:srgbClr val="000000"/>
                  </a:solidFill>
                  <a:latin typeface="FreeSerif"/>
                </a:rPr>
                <a:t> contribute to the probability that this fruit is an apple.</a:t>
              </a:r>
              <a:r>
                <a:rPr lang="en-US" altLang="zh-CN" sz="2400" dirty="0"/>
                <a:t> </a:t>
              </a:r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694177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5A6678A-59EF-45FE-9CDB-5A84AAAF4E98}"/>
              </a:ext>
            </a:extLst>
          </p:cNvPr>
          <p:cNvSpPr/>
          <p:nvPr/>
        </p:nvSpPr>
        <p:spPr>
          <a:xfrm>
            <a:off x="413885" y="990599"/>
            <a:ext cx="11280809" cy="3275069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CE66A1-9D10-48F8-8777-563747D7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2498EB-F3F7-4EDA-BA1F-3CF5C7DE6FD4}"/>
              </a:ext>
            </a:extLst>
          </p:cNvPr>
          <p:cNvSpPr txBox="1"/>
          <p:nvPr/>
        </p:nvSpPr>
        <p:spPr>
          <a:xfrm>
            <a:off x="221382" y="114717"/>
            <a:ext cx="3858942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Naïve Bayes Classifier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D7BDC09-9FC7-4AC4-9679-CBCFD7B4FF25}"/>
              </a:ext>
            </a:extLst>
          </p:cNvPr>
          <p:cNvSpPr/>
          <p:nvPr/>
        </p:nvSpPr>
        <p:spPr>
          <a:xfrm>
            <a:off x="413884" y="1129563"/>
            <a:ext cx="1128080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In spite of their naive design and apparently over-simplified assumptions, naive Bayes classifiers have </a:t>
            </a:r>
            <a:r>
              <a:rPr lang="en-US" altLang="zh-CN" sz="2400" dirty="0">
                <a:solidFill>
                  <a:srgbClr val="FF0000"/>
                </a:solidFill>
              </a:rPr>
              <a:t>worked quite well </a:t>
            </a:r>
            <a:r>
              <a:rPr lang="en-US" altLang="zh-CN" sz="2400" dirty="0"/>
              <a:t>in many complex real-world situations.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In 2004, analysis of the Bayesian classification problem has shown that there are some theoretical reasons for the apparently unreasonable efficacy of naive Bayes classifiers.</a:t>
            </a:r>
            <a:r>
              <a:rPr lang="en-US" altLang="zh-CN" sz="2400" baseline="30000" dirty="0"/>
              <a:t>[1]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Still, a comprehensive comparison with other classification methods in 2006 showed that Bayes classification is outperformed by more current approaches, such as boosted trees or random forests.</a:t>
            </a:r>
            <a:r>
              <a:rPr lang="en-US" altLang="zh-CN" sz="2400" baseline="30000" dirty="0"/>
              <a:t>[2]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FDD7916-02DF-4A2E-B3C4-7FFFC222E464}"/>
              </a:ext>
            </a:extLst>
          </p:cNvPr>
          <p:cNvGrpSpPr/>
          <p:nvPr/>
        </p:nvGrpSpPr>
        <p:grpSpPr>
          <a:xfrm>
            <a:off x="413883" y="4576717"/>
            <a:ext cx="11322521" cy="1833710"/>
            <a:chOff x="413883" y="3421684"/>
            <a:chExt cx="11322521" cy="1833710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952595F-93E0-4D33-817F-7BA3F165C8A5}"/>
                </a:ext>
              </a:extLst>
            </p:cNvPr>
            <p:cNvSpPr/>
            <p:nvPr/>
          </p:nvSpPr>
          <p:spPr>
            <a:xfrm>
              <a:off x="413883" y="3421684"/>
              <a:ext cx="11280809" cy="1833710"/>
            </a:xfrm>
            <a:prstGeom prst="roundRect">
              <a:avLst>
                <a:gd name="adj" fmla="val 3573"/>
              </a:avLst>
            </a:prstGeom>
            <a:solidFill>
              <a:srgbClr val="F9E6E6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D355B2E0-3849-4388-97A6-EE96D08C86DD}"/>
                </a:ext>
              </a:extLst>
            </p:cNvPr>
            <p:cNvSpPr/>
            <p:nvPr/>
          </p:nvSpPr>
          <p:spPr>
            <a:xfrm>
              <a:off x="455595" y="3514661"/>
              <a:ext cx="11280809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 algn="just">
                <a:buFont typeface="Arial" panose="020B0604020202020204" pitchFamily="34" charset="0"/>
                <a:buChar char="•"/>
              </a:pPr>
              <a:r>
                <a:rPr lang="en-US" altLang="zh-CN" sz="2400" dirty="0"/>
                <a:t>It only requires a small amount of training data to estimate the parameters (means and variances of the variables) necessary for classification. </a:t>
              </a:r>
            </a:p>
            <a:p>
              <a:pPr marL="342900" indent="-342900" algn="just">
                <a:buFont typeface="Arial" panose="020B0604020202020204" pitchFamily="34" charset="0"/>
                <a:buChar char="•"/>
              </a:pPr>
              <a:r>
                <a:rPr lang="en-US" altLang="zh-CN" sz="2400" dirty="0"/>
                <a:t>Because independent variables are assumed, only the variances of the variables for each class need to be determined and not the entire covariance matrix.</a:t>
              </a:r>
              <a:endParaRPr lang="en-US" altLang="zh-CN" sz="2400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5358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7587F05-57E6-42F0-BD59-6B73A57944DF}"/>
              </a:ext>
            </a:extLst>
          </p:cNvPr>
          <p:cNvSpPr/>
          <p:nvPr/>
        </p:nvSpPr>
        <p:spPr>
          <a:xfrm>
            <a:off x="413884" y="3376993"/>
            <a:ext cx="11280809" cy="2898679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5A6678A-59EF-45FE-9CDB-5A84AAAF4E98}"/>
              </a:ext>
            </a:extLst>
          </p:cNvPr>
          <p:cNvSpPr/>
          <p:nvPr/>
        </p:nvSpPr>
        <p:spPr>
          <a:xfrm>
            <a:off x="413885" y="990600"/>
            <a:ext cx="11280809" cy="2127985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CE66A1-9D10-48F8-8777-563747D7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2498EB-F3F7-4EDA-BA1F-3CF5C7DE6FD4}"/>
              </a:ext>
            </a:extLst>
          </p:cNvPr>
          <p:cNvSpPr txBox="1"/>
          <p:nvPr/>
        </p:nvSpPr>
        <p:spPr>
          <a:xfrm>
            <a:off x="221382" y="114717"/>
            <a:ext cx="5768118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Naïve Bayes Probabilistic Model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D7BDC09-9FC7-4AC4-9679-CBCFD7B4FF25}"/>
              </a:ext>
            </a:extLst>
          </p:cNvPr>
          <p:cNvSpPr/>
          <p:nvPr/>
        </p:nvSpPr>
        <p:spPr>
          <a:xfrm>
            <a:off x="497306" y="1098728"/>
            <a:ext cx="106415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/>
              <a:t>Abstractly, the probability model for a classifier is a conditional model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ECF1706-8719-4645-AF7F-CA4F73A5A0FD}"/>
                  </a:ext>
                </a:extLst>
              </p:cNvPr>
              <p:cNvSpPr txBox="1"/>
              <p:nvPr/>
            </p:nvSpPr>
            <p:spPr>
              <a:xfrm>
                <a:off x="4314700" y="1660038"/>
                <a:ext cx="255307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ECF1706-8719-4645-AF7F-CA4F73A5A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700" y="1660038"/>
                <a:ext cx="255307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02AA3F8-7EBC-4984-9ECD-82C04F654CFA}"/>
                  </a:ext>
                </a:extLst>
              </p:cNvPr>
              <p:cNvSpPr/>
              <p:nvPr/>
            </p:nvSpPr>
            <p:spPr>
              <a:xfrm>
                <a:off x="497306" y="2509155"/>
                <a:ext cx="1095675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sz="2400" dirty="0"/>
                  <a:t>: outcome or class;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/>
                  <a:t>: feature variables. 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02AA3F8-7EBC-4984-9ECD-82C04F654C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06" y="2509155"/>
                <a:ext cx="10956757" cy="461665"/>
              </a:xfrm>
              <a:prstGeom prst="rect">
                <a:avLst/>
              </a:prstGeom>
              <a:blipFill>
                <a:blip r:embed="rId3"/>
                <a:stretch>
                  <a:fillRect l="-167"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ECF1706-8719-4645-AF7F-CA4F73A5A0FD}"/>
                  </a:ext>
                </a:extLst>
              </p:cNvPr>
              <p:cNvSpPr txBox="1"/>
              <p:nvPr/>
            </p:nvSpPr>
            <p:spPr>
              <a:xfrm>
                <a:off x="2938277" y="5119818"/>
                <a:ext cx="6315445" cy="7974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e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</m:d>
                    <m:r>
                      <a:rPr lang="en-US" altLang="zh-CN" sz="3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sz="3200" dirty="0"/>
                  <a:t> 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ECF1706-8719-4645-AF7F-CA4F73A5A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8277" y="5119818"/>
                <a:ext cx="6315445" cy="7974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4CE066B4-E5BE-412F-86FB-0D8B34A0736E}"/>
                  </a:ext>
                </a:extLst>
              </p:cNvPr>
              <p:cNvSpPr/>
              <p:nvPr/>
            </p:nvSpPr>
            <p:spPr>
              <a:xfrm>
                <a:off x="497305" y="3429000"/>
                <a:ext cx="11033759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b="1" u="sng" dirty="0">
                    <a:solidFill>
                      <a:srgbClr val="C00000"/>
                    </a:solidFill>
                  </a:rPr>
                  <a:t>Problem</a:t>
                </a:r>
                <a:r>
                  <a:rPr lang="en-US" altLang="zh-CN" sz="2400" dirty="0"/>
                  <a:t>: if the number of features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CN" sz="2400" dirty="0"/>
                  <a:t> is large or when a feature can take on a large number of values, then basing such a model on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probability tables</a:t>
                </a:r>
                <a:r>
                  <a:rPr lang="en-US" altLang="zh-CN" sz="2400" dirty="0"/>
                  <a:t> is infeasible. 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We therefore reformulate the model to make it more tractable. 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Using Bayes' theorem, we write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4CE066B4-E5BE-412F-86FB-0D8B34A073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05" y="3429000"/>
                <a:ext cx="11033759" cy="1569660"/>
              </a:xfrm>
              <a:prstGeom prst="rect">
                <a:avLst/>
              </a:prstGeom>
              <a:blipFill>
                <a:blip r:embed="rId5"/>
                <a:stretch>
                  <a:fillRect l="-773" t="-3113" r="-829" b="-77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1135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5A6678A-59EF-45FE-9CDB-5A84AAAF4E98}"/>
              </a:ext>
            </a:extLst>
          </p:cNvPr>
          <p:cNvSpPr/>
          <p:nvPr/>
        </p:nvSpPr>
        <p:spPr>
          <a:xfrm>
            <a:off x="413885" y="990599"/>
            <a:ext cx="11280809" cy="2763253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CE66A1-9D10-48F8-8777-563747D7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2498EB-F3F7-4EDA-BA1F-3CF5C7DE6FD4}"/>
              </a:ext>
            </a:extLst>
          </p:cNvPr>
          <p:cNvSpPr txBox="1"/>
          <p:nvPr/>
        </p:nvSpPr>
        <p:spPr>
          <a:xfrm>
            <a:off x="221382" y="114717"/>
            <a:ext cx="5768118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Naïve Bayes Probabilistic Model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D7BDC09-9FC7-4AC4-9679-CBCFD7B4FF25}"/>
              </a:ext>
            </a:extLst>
          </p:cNvPr>
          <p:cNvSpPr/>
          <p:nvPr/>
        </p:nvSpPr>
        <p:spPr>
          <a:xfrm>
            <a:off x="497306" y="2127737"/>
            <a:ext cx="106415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/>
              <a:t>In plain English the above equation can be written as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BCA7439-CFF7-4852-AFBB-1F1A95437184}"/>
              </a:ext>
            </a:extLst>
          </p:cNvPr>
          <p:cNvSpPr/>
          <p:nvPr/>
        </p:nvSpPr>
        <p:spPr>
          <a:xfrm>
            <a:off x="413885" y="4218813"/>
            <a:ext cx="11280809" cy="1340631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ECF1706-8719-4645-AF7F-CA4F73A5A0FD}"/>
                  </a:ext>
                </a:extLst>
              </p:cNvPr>
              <p:cNvSpPr txBox="1"/>
              <p:nvPr/>
            </p:nvSpPr>
            <p:spPr>
              <a:xfrm>
                <a:off x="2956892" y="2739846"/>
                <a:ext cx="5062220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𝑝𝑜𝑠𝑡𝑒𝑟𝑖𝑜𝑟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𝑝𝑟𝑖𝑜𝑟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𝑙𝑖𝑘𝑒𝑙𝑖h𝑜𝑜𝑑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𝑒𝑣𝑖𝑑𝑒𝑛𝑐𝑒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ECF1706-8719-4645-AF7F-CA4F73A5A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6892" y="2739846"/>
                <a:ext cx="5062220" cy="8182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497306" y="4257313"/>
                <a:ext cx="1119738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2400" dirty="0"/>
                  <a:t>In practice we are only interested in the numerator of that fraction, since the denominator does not depend on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sz="2400" dirty="0"/>
                  <a:t> and the values of the features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400" b="0" i="1" baseline="-25000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b="1" i="1" baseline="-25000" dirty="0"/>
                  <a:t>  </a:t>
                </a:r>
                <a:r>
                  <a:rPr lang="en-US" altLang="zh-CN" sz="2400" dirty="0"/>
                  <a:t>are given, so that the denominator is effectively constant. 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06" y="4257313"/>
                <a:ext cx="11197388" cy="1200329"/>
              </a:xfrm>
              <a:prstGeom prst="rect">
                <a:avLst/>
              </a:prstGeom>
              <a:blipFill>
                <a:blip r:embed="rId3"/>
                <a:stretch>
                  <a:fillRect l="-871" t="-4061" r="-871" b="-10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ECF1706-8719-4645-AF7F-CA4F73A5A0FD}"/>
                  </a:ext>
                </a:extLst>
              </p:cNvPr>
              <p:cNvSpPr txBox="1"/>
              <p:nvPr/>
            </p:nvSpPr>
            <p:spPr>
              <a:xfrm>
                <a:off x="8915793" y="1397465"/>
                <a:ext cx="22561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ECF1706-8719-4645-AF7F-CA4F73A5A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793" y="1397465"/>
                <a:ext cx="225613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EB478C6-102E-45B8-9847-2D2B2221529D}"/>
                  </a:ext>
                </a:extLst>
              </p:cNvPr>
              <p:cNvSpPr txBox="1"/>
              <p:nvPr/>
            </p:nvSpPr>
            <p:spPr>
              <a:xfrm>
                <a:off x="2831777" y="1260056"/>
                <a:ext cx="6315445" cy="7974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e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</m:d>
                    <m:r>
                      <a:rPr lang="en-US" altLang="zh-CN" sz="3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sz="3200" dirty="0"/>
                  <a:t> 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EB478C6-102E-45B8-9847-2D2B22215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1777" y="1260056"/>
                <a:ext cx="6315445" cy="7974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D6D1E247-043E-4194-83CB-7D3743CC25E1}"/>
              </a:ext>
            </a:extLst>
          </p:cNvPr>
          <p:cNvSpPr/>
          <p:nvPr/>
        </p:nvSpPr>
        <p:spPr>
          <a:xfrm>
            <a:off x="5755908" y="1189837"/>
            <a:ext cx="2512194" cy="59822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322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 animBg="1"/>
      <p:bldP spid="5" grpId="0"/>
      <p:bldP spid="2" grpId="0"/>
      <p:bldP spid="13" grpId="0"/>
      <p:bldP spid="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5A6678A-59EF-45FE-9CDB-5A84AAAF4E98}"/>
              </a:ext>
            </a:extLst>
          </p:cNvPr>
          <p:cNvSpPr/>
          <p:nvPr/>
        </p:nvSpPr>
        <p:spPr>
          <a:xfrm>
            <a:off x="413885" y="990599"/>
            <a:ext cx="11280809" cy="305201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CE66A1-9D10-48F8-8777-563747D7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2498EB-F3F7-4EDA-BA1F-3CF5C7DE6FD4}"/>
              </a:ext>
            </a:extLst>
          </p:cNvPr>
          <p:cNvSpPr txBox="1"/>
          <p:nvPr/>
        </p:nvSpPr>
        <p:spPr>
          <a:xfrm>
            <a:off x="221382" y="114717"/>
            <a:ext cx="5768118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Naïve Bayes Probabilistic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ECF1706-8719-4645-AF7F-CA4F73A5A0FD}"/>
                  </a:ext>
                </a:extLst>
              </p:cNvPr>
              <p:cNvSpPr txBox="1"/>
              <p:nvPr/>
            </p:nvSpPr>
            <p:spPr>
              <a:xfrm>
                <a:off x="497306" y="1188412"/>
                <a:ext cx="11142281" cy="25853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800" b="0" dirty="0"/>
              </a:p>
              <a:p>
                <a:r>
                  <a:rPr lang="en-US" altLang="zh-CN" sz="2800" dirty="0"/>
                  <a:t>     =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endParaRPr lang="en-US" altLang="zh-CN" sz="2800" dirty="0"/>
              </a:p>
              <a:p>
                <a:r>
                  <a:rPr lang="en-US" altLang="zh-CN" sz="2800" dirty="0"/>
                  <a:t>     =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…,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2800" b="0" i="1" baseline="-2500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altLang="zh-CN" sz="2800" dirty="0"/>
              </a:p>
              <a:p>
                <a:r>
                  <a:rPr lang="en-US" altLang="zh-CN" sz="2800" dirty="0"/>
                  <a:t>     =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280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28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2800" i="1" baseline="-25000">
                            <a:latin typeface="Cambria Math" panose="02040503050406030204" pitchFamily="18" charset="0"/>
                          </a:rPr>
                          <m:t>1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800" dirty="0"/>
              </a:p>
              <a:p>
                <a:r>
                  <a:rPr lang="en-US" altLang="zh-CN" sz="2800" dirty="0"/>
                  <a:t>     =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2800" i="1" baseline="-25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2800" b="0" i="1" baseline="-2500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28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2800" i="1" baseline="-25000">
                            <a:latin typeface="Cambria Math" panose="02040503050406030204" pitchFamily="18" charset="0"/>
                          </a:rPr>
                          <m:t>1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2800" b="0" i="1" baseline="-2500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lang="en-US" altLang="zh-CN" sz="2800" dirty="0"/>
              </a:p>
              <a:p>
                <a:r>
                  <a:rPr lang="en-US" altLang="zh-CN" sz="2800" dirty="0"/>
                  <a:t>     =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2800" i="1" baseline="-25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2800" i="1" baseline="-2500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2800" i="1" baseline="-25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2800" i="1" baseline="-25000">
                            <a:latin typeface="Cambria Math" panose="02040503050406030204" pitchFamily="18" charset="0"/>
                          </a:rPr>
                          <m:t>1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2800" i="1" baseline="-2500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ECF1706-8719-4645-AF7F-CA4F73A5A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06" y="1188412"/>
                <a:ext cx="11142281" cy="2585323"/>
              </a:xfrm>
              <a:prstGeom prst="rect">
                <a:avLst/>
              </a:prstGeom>
              <a:blipFill>
                <a:blip r:embed="rId2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4E28B863-61A4-418C-B545-378911757125}"/>
              </a:ext>
            </a:extLst>
          </p:cNvPr>
          <p:cNvGrpSpPr/>
          <p:nvPr/>
        </p:nvGrpSpPr>
        <p:grpSpPr>
          <a:xfrm>
            <a:off x="413884" y="4485582"/>
            <a:ext cx="11280809" cy="1645712"/>
            <a:chOff x="413884" y="4485582"/>
            <a:chExt cx="11280809" cy="1645712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CE5911EA-5127-4A5B-A588-E252C2DC0F6B}"/>
                </a:ext>
              </a:extLst>
            </p:cNvPr>
            <p:cNvSpPr/>
            <p:nvPr/>
          </p:nvSpPr>
          <p:spPr>
            <a:xfrm>
              <a:off x="413884" y="4485582"/>
              <a:ext cx="11280809" cy="1645712"/>
            </a:xfrm>
            <a:prstGeom prst="roundRect">
              <a:avLst>
                <a:gd name="adj" fmla="val 3573"/>
              </a:avLst>
            </a:prstGeom>
            <a:solidFill>
              <a:srgbClr val="E6F5F0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2ECF1706-8719-4645-AF7F-CA4F73A5A0FD}"/>
                </a:ext>
              </a:extLst>
            </p:cNvPr>
            <p:cNvSpPr txBox="1"/>
            <p:nvPr/>
          </p:nvSpPr>
          <p:spPr>
            <a:xfrm>
              <a:off x="2956892" y="4958094"/>
              <a:ext cx="6315445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2400" dirty="0"/>
                <a:t>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/>
                <p:cNvSpPr txBox="1"/>
                <p:nvPr/>
              </p:nvSpPr>
              <p:spPr>
                <a:xfrm>
                  <a:off x="497306" y="4527720"/>
                  <a:ext cx="11075878" cy="8607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r>
                    <a:rPr lang="en-US" altLang="zh-CN" sz="2400" dirty="0"/>
                    <a:t> “Naive” Assumption: each feature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a14:m>
                  <a:r>
                    <a:rPr lang="en-US" altLang="zh-CN" sz="2400" dirty="0"/>
                    <a:t> is conditionally independent of every other feature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a14:m>
                  <a:r>
                    <a:rPr lang="en-US" altLang="zh-CN" sz="2400" dirty="0"/>
                    <a:t> for </a:t>
                  </a:r>
                  <a14:m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sz="2400" i="1" dirty="0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altLang="zh-CN" sz="2400" i="1" dirty="0" err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" name="文本框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306" y="4527720"/>
                  <a:ext cx="11075878" cy="860748"/>
                </a:xfrm>
                <a:prstGeom prst="rect">
                  <a:avLst/>
                </a:prstGeom>
                <a:blipFill>
                  <a:blip r:embed="rId3"/>
                  <a:stretch>
                    <a:fillRect l="-881" t="-5674" r="-881" b="-1276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2ECF1706-8719-4645-AF7F-CA4F73A5A0FD}"/>
                    </a:ext>
                  </a:extLst>
                </p:cNvPr>
                <p:cNvSpPr txBox="1"/>
                <p:nvPr/>
              </p:nvSpPr>
              <p:spPr>
                <a:xfrm>
                  <a:off x="4096951" y="5430607"/>
                  <a:ext cx="3288144" cy="49641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2ECF1706-8719-4645-AF7F-CA4F73A5A0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6951" y="5430607"/>
                  <a:ext cx="3288144" cy="49641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30291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5A6678A-59EF-45FE-9CDB-5A84AAAF4E98}"/>
              </a:ext>
            </a:extLst>
          </p:cNvPr>
          <p:cNvSpPr/>
          <p:nvPr/>
        </p:nvSpPr>
        <p:spPr>
          <a:xfrm>
            <a:off x="413885" y="990600"/>
            <a:ext cx="11300060" cy="2218740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CE66A1-9D10-48F8-8777-563747D7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2498EB-F3F7-4EDA-BA1F-3CF5C7DE6FD4}"/>
              </a:ext>
            </a:extLst>
          </p:cNvPr>
          <p:cNvSpPr txBox="1"/>
          <p:nvPr/>
        </p:nvSpPr>
        <p:spPr>
          <a:xfrm>
            <a:off x="221382" y="114717"/>
            <a:ext cx="5768118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Naïve Bayes Probabilistic Model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13885" y="1062462"/>
            <a:ext cx="10449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The joint model can be expressed as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ECF1706-8719-4645-AF7F-CA4F73A5A0FD}"/>
                  </a:ext>
                </a:extLst>
              </p:cNvPr>
              <p:cNvSpPr txBox="1"/>
              <p:nvPr/>
            </p:nvSpPr>
            <p:spPr>
              <a:xfrm>
                <a:off x="1564952" y="1726935"/>
                <a:ext cx="9003587" cy="14152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endParaRPr lang="en-US" altLang="zh-CN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nary>
                        <m:naryPr>
                          <m:chr m:val="∏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ECF1706-8719-4645-AF7F-CA4F73A5A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4952" y="1726935"/>
                <a:ext cx="9003587" cy="1415259"/>
              </a:xfrm>
              <a:prstGeom prst="rect">
                <a:avLst/>
              </a:prstGeom>
              <a:blipFill>
                <a:blip r:embed="rId3"/>
                <a:stretch>
                  <a:fillRect l="-12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99DA153C-8D9A-4486-A6B7-C80C2DE99726}"/>
              </a:ext>
            </a:extLst>
          </p:cNvPr>
          <p:cNvGrpSpPr/>
          <p:nvPr/>
        </p:nvGrpSpPr>
        <p:grpSpPr>
          <a:xfrm>
            <a:off x="413884" y="3554516"/>
            <a:ext cx="11300061" cy="2576777"/>
            <a:chOff x="413884" y="3554516"/>
            <a:chExt cx="11300061" cy="2576777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1A9FF57-DA30-4C5C-9EE3-4F716BD024E5}"/>
                </a:ext>
              </a:extLst>
            </p:cNvPr>
            <p:cNvSpPr/>
            <p:nvPr/>
          </p:nvSpPr>
          <p:spPr>
            <a:xfrm>
              <a:off x="413885" y="3554516"/>
              <a:ext cx="11300060" cy="2576777"/>
            </a:xfrm>
            <a:prstGeom prst="roundRect">
              <a:avLst>
                <a:gd name="adj" fmla="val 3573"/>
              </a:avLst>
            </a:prstGeom>
            <a:solidFill>
              <a:srgbClr val="E6F5F0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2ECF1706-8719-4645-AF7F-CA4F73A5A0FD}"/>
                </a:ext>
              </a:extLst>
            </p:cNvPr>
            <p:cNvSpPr txBox="1"/>
            <p:nvPr/>
          </p:nvSpPr>
          <p:spPr>
            <a:xfrm>
              <a:off x="2956892" y="4958094"/>
              <a:ext cx="6315445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2400" dirty="0"/>
                <a:t> </a:t>
              </a: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413884" y="3632189"/>
              <a:ext cx="99653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Therefore, we have,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2ECF1706-8719-4645-AF7F-CA4F73A5A0FD}"/>
                    </a:ext>
                  </a:extLst>
                </p:cNvPr>
                <p:cNvSpPr txBox="1"/>
                <p:nvPr/>
              </p:nvSpPr>
              <p:spPr>
                <a:xfrm>
                  <a:off x="2845112" y="3998642"/>
                  <a:ext cx="4798108" cy="104592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den>
                        </m:f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nary>
                          <m:naryPr>
                            <m:chr m:val="∏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p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2ECF1706-8719-4645-AF7F-CA4F73A5A0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5112" y="3998642"/>
                  <a:ext cx="4798108" cy="104592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/>
                <p:cNvSpPr/>
                <p:nvPr/>
              </p:nvSpPr>
              <p:spPr>
                <a:xfrm>
                  <a:off x="452385" y="5142760"/>
                  <a:ext cx="11223059" cy="83099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just"/>
                  <a:r>
                    <a:rPr lang="en-US" altLang="zh-CN" sz="2400" dirty="0"/>
                    <a:t>where </a:t>
                  </a:r>
                  <a14:m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a14:m>
                  <a:r>
                    <a:rPr lang="en-US" altLang="zh-CN" sz="2400" dirty="0"/>
                    <a:t> (the evidence) is a scaling factor dependent only 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a14:m>
                  <a:r>
                    <a:rPr lang="en-US" altLang="zh-CN" sz="2400" dirty="0"/>
                    <a:t> , i.e., a constant if the values of the feature variables are known.</a:t>
                  </a:r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" name="矩形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385" y="5142760"/>
                  <a:ext cx="11223059" cy="830997"/>
                </a:xfrm>
                <a:prstGeom prst="rect">
                  <a:avLst/>
                </a:prstGeom>
                <a:blipFill>
                  <a:blip r:embed="rId5"/>
                  <a:stretch>
                    <a:fillRect l="-815" t="-5882" r="-869" b="-1617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10110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38151B0-EFB2-416F-8ECC-9689C0137A79}"/>
              </a:ext>
            </a:extLst>
          </p:cNvPr>
          <p:cNvSpPr/>
          <p:nvPr/>
        </p:nvSpPr>
        <p:spPr>
          <a:xfrm>
            <a:off x="413883" y="4652174"/>
            <a:ext cx="11280809" cy="1386804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7D6097B-AA89-4F4C-86F9-1288A8888B2C}"/>
              </a:ext>
            </a:extLst>
          </p:cNvPr>
          <p:cNvSpPr/>
          <p:nvPr/>
        </p:nvSpPr>
        <p:spPr>
          <a:xfrm>
            <a:off x="413884" y="3078895"/>
            <a:ext cx="11280809" cy="1386804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5A6678A-59EF-45FE-9CDB-5A84AAAF4E98}"/>
              </a:ext>
            </a:extLst>
          </p:cNvPr>
          <p:cNvSpPr/>
          <p:nvPr/>
        </p:nvSpPr>
        <p:spPr>
          <a:xfrm>
            <a:off x="413885" y="990600"/>
            <a:ext cx="11280809" cy="1935480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CE66A1-9D10-48F8-8777-563747D7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2498EB-F3F7-4EDA-BA1F-3CF5C7DE6FD4}"/>
              </a:ext>
            </a:extLst>
          </p:cNvPr>
          <p:cNvSpPr txBox="1"/>
          <p:nvPr/>
        </p:nvSpPr>
        <p:spPr>
          <a:xfrm>
            <a:off x="221382" y="114717"/>
            <a:ext cx="5768118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Naïve Bayes Probabilistic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426097" y="1924578"/>
                <a:ext cx="11126806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400" dirty="0"/>
                  <a:t>This model is factored into a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class prior</a:t>
                </a:r>
                <a:r>
                  <a:rPr lang="en-US" altLang="zh-CN" sz="2400" i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i="1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sz="2400" dirty="0"/>
                  <a:t>and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independent probability distributions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400" b="0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</a:rPr>
                  <a:t>. 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97" y="1924578"/>
                <a:ext cx="11126806" cy="830997"/>
              </a:xfrm>
              <a:prstGeom prst="rect">
                <a:avLst/>
              </a:prstGeom>
              <a:blipFill>
                <a:blip r:embed="rId2"/>
                <a:stretch>
                  <a:fillRect l="-877" t="-5882" r="-822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4F30D81-F990-4D74-A486-D34876474F14}"/>
                  </a:ext>
                </a:extLst>
              </p:cNvPr>
              <p:cNvSpPr txBox="1"/>
              <p:nvPr/>
            </p:nvSpPr>
            <p:spPr>
              <a:xfrm>
                <a:off x="3191621" y="990600"/>
                <a:ext cx="4798108" cy="10459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nary>
                        <m:naryPr>
                          <m:chr m:val="∏"/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4F30D81-F990-4D74-A486-D34876474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621" y="990600"/>
                <a:ext cx="4798108" cy="10459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BBBD0FF9-8C9C-41B3-A663-EE37B70ED4B9}"/>
                  </a:ext>
                </a:extLst>
              </p:cNvPr>
              <p:cNvSpPr/>
              <p:nvPr/>
            </p:nvSpPr>
            <p:spPr>
              <a:xfrm>
                <a:off x="413883" y="4745411"/>
                <a:ext cx="11126806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400" dirty="0"/>
                  <a:t>In practice,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CN" sz="2400" i="1" dirty="0"/>
                  <a:t> </a:t>
                </a:r>
                <a:r>
                  <a:rPr lang="en-US" altLang="zh-CN" sz="2400" dirty="0"/>
                  <a:t>often (binary classification) and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400" dirty="0"/>
                  <a:t> (Bernoulli feature: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2400" dirty="0"/>
                  <a:t>) are common, and so the total number of parameters of the naive Bayes model is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CN" sz="2400" dirty="0"/>
                  <a:t>, where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CN" sz="2400" dirty="0"/>
                  <a:t> is the number of features used for classification.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BBBD0FF9-8C9C-41B3-A663-EE37B70ED4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883" y="4745411"/>
                <a:ext cx="11126806" cy="1200329"/>
              </a:xfrm>
              <a:prstGeom prst="rect">
                <a:avLst/>
              </a:prstGeom>
              <a:blipFill>
                <a:blip r:embed="rId4"/>
                <a:stretch>
                  <a:fillRect l="-877" t="-4061" r="-822" b="-10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CFE5D853-22AE-4624-8207-FA8608570AE8}"/>
                  </a:ext>
                </a:extLst>
              </p:cNvPr>
              <p:cNvSpPr/>
              <p:nvPr/>
            </p:nvSpPr>
            <p:spPr>
              <a:xfrm>
                <a:off x="485092" y="3188962"/>
                <a:ext cx="11055597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400" dirty="0"/>
                  <a:t>If there are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400" b="1" i="1" dirty="0"/>
                  <a:t> </a:t>
                </a:r>
                <a:r>
                  <a:rPr lang="en-US" altLang="zh-CN" sz="2400" dirty="0"/>
                  <a:t>classes and if a model for each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400" i="1" baseline="-25000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 can be expressed in terms of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400" dirty="0"/>
                  <a:t> parameters, then the corresponding naive Bayes model has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−1)+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𝑟𝑘</m:t>
                    </m:r>
                  </m:oMath>
                </a14:m>
                <a:r>
                  <a:rPr lang="en-US" altLang="zh-CN" sz="2400" dirty="0"/>
                  <a:t> parameters. </a:t>
                </a: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CFE5D853-22AE-4624-8207-FA8608570A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092" y="3188962"/>
                <a:ext cx="11055597" cy="1200329"/>
              </a:xfrm>
              <a:prstGeom prst="rect">
                <a:avLst/>
              </a:prstGeom>
              <a:blipFill>
                <a:blip r:embed="rId5"/>
                <a:stretch>
                  <a:fillRect l="-883" t="-4061" r="-827" b="-10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325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2" grpId="0"/>
      <p:bldP spid="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5A6678A-59EF-45FE-9CDB-5A84AAAF4E98}"/>
              </a:ext>
            </a:extLst>
          </p:cNvPr>
          <p:cNvSpPr/>
          <p:nvPr/>
        </p:nvSpPr>
        <p:spPr>
          <a:xfrm>
            <a:off x="413885" y="990599"/>
            <a:ext cx="11463790" cy="3019425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CE66A1-9D10-48F8-8777-563747D7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2498EB-F3F7-4EDA-BA1F-3CF5C7DE6FD4}"/>
              </a:ext>
            </a:extLst>
          </p:cNvPr>
          <p:cNvSpPr txBox="1"/>
          <p:nvPr/>
        </p:nvSpPr>
        <p:spPr>
          <a:xfrm>
            <a:off x="221382" y="114717"/>
            <a:ext cx="3875163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Parameter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529388" y="1067929"/>
                <a:ext cx="11088305" cy="18774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We can use the </a:t>
                </a:r>
                <a:r>
                  <a:rPr lang="en-US" altLang="zh-CN" sz="2400" i="1" dirty="0">
                    <a:solidFill>
                      <a:srgbClr val="FF0000"/>
                    </a:solidFill>
                  </a:rPr>
                  <a:t>maximum likelihood estimates </a:t>
                </a:r>
                <a:r>
                  <a:rPr lang="en-US" altLang="zh-CN" sz="2400" dirty="0"/>
                  <a:t>of the probabilities. </a:t>
                </a:r>
              </a:p>
              <a:p>
                <a:pPr marL="800100" lvl="1" indent="-342900" algn="just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Given a dataset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zh-CN" alt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zh-CN" alt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, where the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 samples are drawn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independently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 from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identical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 distribution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dirty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zh-CN" sz="2400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zh-CN" altLang="en-US" sz="2400" b="1" i="1" dirty="0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, estimate parameters </a:t>
                </a:r>
                <a14:m>
                  <m:oMath xmlns:m="http://schemas.openxmlformats.org/officeDocument/2006/math">
                    <m:r>
                      <a:rPr lang="zh-CN" altLang="en-US" sz="2400" b="1" i="1" dirty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800100" lvl="1" indent="-342900" algn="just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ML 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estimate parameters </a:t>
                </a:r>
                <a14:m>
                  <m:oMath xmlns:m="http://schemas.openxmlformats.org/officeDocument/2006/math">
                    <m:r>
                      <a:rPr lang="zh-CN" altLang="en-US" sz="2400" b="1" i="1" dirty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 maximizes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dirty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zh-CN" altLang="en-US" sz="2400" b="1" i="1" dirty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88" y="1067929"/>
                <a:ext cx="11088305" cy="1877437"/>
              </a:xfrm>
              <a:prstGeom prst="rect">
                <a:avLst/>
              </a:prstGeom>
              <a:blipFill>
                <a:blip r:embed="rId2"/>
                <a:stretch>
                  <a:fillRect l="-770" t="-2597" r="-825" b="-64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4FD8F077-F936-449E-A735-90903362086E}"/>
                  </a:ext>
                </a:extLst>
              </p:cNvPr>
              <p:cNvSpPr/>
              <p:nvPr/>
            </p:nvSpPr>
            <p:spPr>
              <a:xfrm>
                <a:off x="3518444" y="3168976"/>
                <a:ext cx="2489015" cy="5148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0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acc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arg</m:t>
                      </m:r>
                      <m:r>
                        <a:rPr lang="en-US" altLang="zh-CN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b="0" i="0" dirty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zh-CN" altLang="en-US" sz="20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altLang="zh-CN" sz="2000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  <m:r>
                            <a:rPr lang="en-US" altLang="zh-CN" sz="2000" b="1" i="1" dirty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zh-CN" altLang="en-US" sz="20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altLang="zh-CN" sz="2000" b="1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4FD8F077-F936-449E-A735-9090336208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8444" y="3168976"/>
                <a:ext cx="2489015" cy="514885"/>
              </a:xfrm>
              <a:prstGeom prst="rect">
                <a:avLst/>
              </a:prstGeom>
              <a:blipFill>
                <a:blip r:embed="rId3"/>
                <a:stretch>
                  <a:fillRect t="-5952" b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0D7C44CD-BEE5-45E8-B8B4-D01CA9021CFA}"/>
                  </a:ext>
                </a:extLst>
              </p:cNvPr>
              <p:cNvSpPr/>
              <p:nvPr/>
            </p:nvSpPr>
            <p:spPr>
              <a:xfrm>
                <a:off x="6773375" y="2999109"/>
                <a:ext cx="2993960" cy="6971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dirty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  <m:e>
                          <m:r>
                            <a:rPr lang="zh-CN" altLang="en-US" sz="20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subSup"/>
                          <m:ctrlPr>
                            <a:rPr lang="en-US" altLang="zh-CN" sz="2000" b="1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2000" b="1" i="1" dirty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0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000" b="1" i="1" dirty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zh-CN" altLang="en-US" sz="20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0D7C44CD-BEE5-45E8-B8B4-D01CA9021C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3375" y="2999109"/>
                <a:ext cx="2993960" cy="6971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90C1865F-61E4-4D74-B96F-C3C3ADB7E2EC}"/>
                  </a:ext>
                </a:extLst>
              </p:cNvPr>
              <p:cNvSpPr/>
              <p:nvPr/>
            </p:nvSpPr>
            <p:spPr>
              <a:xfrm>
                <a:off x="8540268" y="2545256"/>
                <a:ext cx="172425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is an 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i.i.d</a:t>
                </a:r>
                <a:r>
                  <a:rPr lang="en-US" sz="2000" dirty="0">
                    <a:solidFill>
                      <a:srgbClr val="FF0000"/>
                    </a:solidFill>
                  </a:rPr>
                  <a:t> set</a:t>
                </a: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90C1865F-61E4-4D74-B96F-C3C3ADB7E2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0268" y="2545256"/>
                <a:ext cx="1724255" cy="400110"/>
              </a:xfrm>
              <a:prstGeom prst="rect">
                <a:avLst/>
              </a:prstGeom>
              <a:blipFill>
                <a:blip r:embed="rId5"/>
                <a:stretch>
                  <a:fillRect t="-9231" r="-2473" b="-2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组合 25">
            <a:extLst>
              <a:ext uri="{FF2B5EF4-FFF2-40B4-BE49-F238E27FC236}">
                <a16:creationId xmlns:a16="http://schemas.microsoft.com/office/drawing/2014/main" id="{4D7D77EF-3D1C-4D25-AC72-64A99DF76896}"/>
              </a:ext>
            </a:extLst>
          </p:cNvPr>
          <p:cNvGrpSpPr/>
          <p:nvPr/>
        </p:nvGrpSpPr>
        <p:grpSpPr>
          <a:xfrm>
            <a:off x="2454530" y="4223486"/>
            <a:ext cx="7717319" cy="2216064"/>
            <a:chOff x="2454530" y="4223486"/>
            <a:chExt cx="7717319" cy="2216064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74BFC232-68BF-4610-B6E7-E00C5778A7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4530" y="4233634"/>
              <a:ext cx="7717319" cy="2051873"/>
            </a:xfrm>
            <a:prstGeom prst="rect">
              <a:avLst/>
            </a:prstGeom>
          </p:spPr>
        </p:pic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E96A652-D2EA-4CAF-A0AA-F7A9C59E6354}"/>
                </a:ext>
              </a:extLst>
            </p:cNvPr>
            <p:cNvSpPr/>
            <p:nvPr/>
          </p:nvSpPr>
          <p:spPr>
            <a:xfrm>
              <a:off x="7402025" y="4223486"/>
              <a:ext cx="1950017" cy="3293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655A08A5-9876-41CF-A635-2D77ED01247F}"/>
                    </a:ext>
                  </a:extLst>
                </p:cNvPr>
                <p:cNvSpPr/>
                <p:nvPr/>
              </p:nvSpPr>
              <p:spPr>
                <a:xfrm>
                  <a:off x="5219747" y="6058612"/>
                  <a:ext cx="381835" cy="38093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b="1" i="1" dirty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655A08A5-9876-41CF-A635-2D77ED0124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9747" y="6058612"/>
                  <a:ext cx="381835" cy="380938"/>
                </a:xfrm>
                <a:prstGeom prst="rect">
                  <a:avLst/>
                </a:prstGeom>
                <a:blipFill>
                  <a:blip r:embed="rId7"/>
                  <a:stretch>
                    <a:fillRect t="-1613" r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7453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B3654A2-642A-4EC7-B7B9-EF5414317077}"/>
              </a:ext>
            </a:extLst>
          </p:cNvPr>
          <p:cNvSpPr/>
          <p:nvPr/>
        </p:nvSpPr>
        <p:spPr>
          <a:xfrm>
            <a:off x="607097" y="2857609"/>
            <a:ext cx="10899308" cy="1742966"/>
          </a:xfrm>
          <a:prstGeom prst="roundRect">
            <a:avLst>
              <a:gd name="adj" fmla="val 4718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0A728F4-EC80-48BA-9A9C-583A613772B2}"/>
              </a:ext>
            </a:extLst>
          </p:cNvPr>
          <p:cNvSpPr/>
          <p:nvPr/>
        </p:nvSpPr>
        <p:spPr>
          <a:xfrm>
            <a:off x="591113" y="1205745"/>
            <a:ext cx="10889885" cy="1384994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74801A-4A41-4DC6-A3FE-0D6028970431}"/>
              </a:ext>
            </a:extLst>
          </p:cNvPr>
          <p:cNvSpPr txBox="1"/>
          <p:nvPr/>
        </p:nvSpPr>
        <p:spPr>
          <a:xfrm>
            <a:off x="591113" y="245239"/>
            <a:ext cx="70915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Maximum-Likelihood Estimation</a:t>
            </a:r>
            <a:endParaRPr lang="zh-CN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AC00E0A-B1DA-4FE9-B5E8-0C237AC00725}"/>
                  </a:ext>
                </a:extLst>
              </p:cNvPr>
              <p:cNvSpPr/>
              <p:nvPr/>
            </p:nvSpPr>
            <p:spPr>
              <a:xfrm>
                <a:off x="616520" y="1289265"/>
                <a:ext cx="1088988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ML </a:t>
                </a:r>
                <a:r>
                  <a:rPr lang="en-US" sz="2400" dirty="0">
                    <a:solidFill>
                      <a:schemeClr val="tx1"/>
                    </a:solidFill>
                  </a:rPr>
                  <a:t>estimate parameters </a:t>
                </a:r>
                <a14:m>
                  <m:oMath xmlns:m="http://schemas.openxmlformats.org/officeDocument/2006/math">
                    <m:r>
                      <a:rPr lang="zh-CN" altLang="en-US" sz="2400" b="1" i="1" dirty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maximizes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zh-CN" altLang="en-US" sz="2400" b="1" i="1" dirty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zh-CN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zh-CN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AC00E0A-B1DA-4FE9-B5E8-0C237AC007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20" y="1289265"/>
                <a:ext cx="10889885" cy="461665"/>
              </a:xfrm>
              <a:prstGeom prst="rect">
                <a:avLst/>
              </a:prstGeom>
              <a:blipFill>
                <a:blip r:embed="rId2"/>
                <a:stretch>
                  <a:fillRect l="-839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2854C8F2-1748-4B8D-8CB0-91938969BFCC}"/>
                  </a:ext>
                </a:extLst>
              </p:cNvPr>
              <p:cNvSpPr/>
              <p:nvPr/>
            </p:nvSpPr>
            <p:spPr>
              <a:xfrm>
                <a:off x="3815750" y="1896005"/>
                <a:ext cx="3244927" cy="5992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4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ac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arg</m:t>
                      </m:r>
                      <m:r>
                        <a:rPr lang="en-US" altLang="zh-CN" sz="24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dirty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400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zh-CN" altLang="en-US" sz="24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2854C8F2-1748-4B8D-8CB0-91938969BF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750" y="1896005"/>
                <a:ext cx="3244927" cy="5992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>
            <a:extLst>
              <a:ext uri="{FF2B5EF4-FFF2-40B4-BE49-F238E27FC236}">
                <a16:creationId xmlns:a16="http://schemas.microsoft.com/office/drawing/2014/main" id="{478FBA72-3326-4F48-A894-8A0D7556D804}"/>
              </a:ext>
            </a:extLst>
          </p:cNvPr>
          <p:cNvSpPr/>
          <p:nvPr/>
        </p:nvSpPr>
        <p:spPr>
          <a:xfrm>
            <a:off x="581690" y="2973351"/>
            <a:ext cx="1088988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 dirty="0"/>
              <a:t>All model parameters (</a:t>
            </a:r>
            <a:r>
              <a:rPr lang="en-US" altLang="zh-CN" sz="2400" i="1" dirty="0"/>
              <a:t>i.e.</a:t>
            </a:r>
            <a:r>
              <a:rPr lang="en-US" altLang="zh-CN" sz="2400" dirty="0"/>
              <a:t>, class priors and feature probability distributions) can be approximated with relative </a:t>
            </a:r>
            <a:r>
              <a:rPr lang="en-US" altLang="zh-CN" sz="2400" dirty="0">
                <a:solidFill>
                  <a:srgbClr val="FF0000"/>
                </a:solidFill>
              </a:rPr>
              <a:t>frequencies</a:t>
            </a:r>
            <a:r>
              <a:rPr lang="en-US" altLang="zh-CN" sz="2400" dirty="0"/>
              <a:t> from the training set. 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DC3294D-11E3-4018-A17C-26E2EF8C327C}"/>
              </a:ext>
            </a:extLst>
          </p:cNvPr>
          <p:cNvSpPr txBox="1"/>
          <p:nvPr/>
        </p:nvSpPr>
        <p:spPr>
          <a:xfrm>
            <a:off x="616520" y="392009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FF0000"/>
                </a:solidFill>
              </a:rPr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3421364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/>
      <p:bldP spid="1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B3654A2-642A-4EC7-B7B9-EF5414317077}"/>
              </a:ext>
            </a:extLst>
          </p:cNvPr>
          <p:cNvSpPr/>
          <p:nvPr/>
        </p:nvSpPr>
        <p:spPr>
          <a:xfrm>
            <a:off x="623081" y="2390884"/>
            <a:ext cx="10899308" cy="3755152"/>
          </a:xfrm>
          <a:prstGeom prst="roundRect">
            <a:avLst>
              <a:gd name="adj" fmla="val 4718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74801A-4A41-4DC6-A3FE-0D6028970431}"/>
              </a:ext>
            </a:extLst>
          </p:cNvPr>
          <p:cNvSpPr txBox="1"/>
          <p:nvPr/>
        </p:nvSpPr>
        <p:spPr>
          <a:xfrm>
            <a:off x="591113" y="245239"/>
            <a:ext cx="70915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Maximum-Likelihood Estimation</a:t>
            </a:r>
            <a:endParaRPr lang="zh-CN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478FBA72-3326-4F48-A894-8A0D7556D804}"/>
                  </a:ext>
                </a:extLst>
              </p:cNvPr>
              <p:cNvSpPr/>
              <p:nvPr/>
            </p:nvSpPr>
            <p:spPr>
              <a:xfrm>
                <a:off x="597674" y="2506626"/>
                <a:ext cx="1088988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/>
                  <a:t>Let us consider the MLE for </a:t>
                </a:r>
                <a:r>
                  <a:rPr lang="en-US" altLang="zh-CN" sz="2400" b="1" dirty="0">
                    <a:solidFill>
                      <a:srgbClr val="FF0000"/>
                    </a:solidFill>
                  </a:rPr>
                  <a:t>binomial</a:t>
                </a:r>
                <a:r>
                  <a:rPr lang="en-US" altLang="zh-CN" sz="2400" dirty="0"/>
                  <a:t> </a:t>
                </a:r>
                <a:r>
                  <a:rPr lang="en-US" altLang="zh-CN" sz="2400" b="1" dirty="0">
                    <a:solidFill>
                      <a:srgbClr val="FF0000"/>
                    </a:solidFill>
                  </a:rPr>
                  <a:t>distribution </a:t>
                </a:r>
                <a:r>
                  <a:rPr lang="en-US" altLang="zh-CN" sz="2400" b="1" dirty="0"/>
                  <a:t>(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altLang="zh-CN" sz="2400" b="1" dirty="0"/>
                  <a:t> independent </a:t>
                </a:r>
                <a:r>
                  <a:rPr lang="en-US" altLang="zh-CN" sz="2400" dirty="0"/>
                  <a:t>Bernoulli Trials</a:t>
                </a:r>
                <a:r>
                  <a:rPr lang="en-US" altLang="zh-CN" sz="2400" b="1" dirty="0"/>
                  <a:t>)</a:t>
                </a:r>
                <a:r>
                  <a:rPr lang="en-US" altLang="zh-CN" sz="2400" dirty="0"/>
                  <a:t>,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478FBA72-3326-4F48-A894-8A0D7556D8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74" y="2506626"/>
                <a:ext cx="10889885" cy="461665"/>
              </a:xfrm>
              <a:prstGeom prst="rect">
                <a:avLst/>
              </a:prstGeom>
              <a:blipFill>
                <a:blip r:embed="rId2"/>
                <a:stretch>
                  <a:fillRect l="-840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EA0B91B8-E48E-415F-B6F7-9AE7431CEACC}"/>
                  </a:ext>
                </a:extLst>
              </p:cNvPr>
              <p:cNvSpPr/>
              <p:nvPr/>
            </p:nvSpPr>
            <p:spPr>
              <a:xfrm>
                <a:off x="597674" y="3099690"/>
                <a:ext cx="1099820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b="0" dirty="0"/>
                  <a:t>Let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and the actual data (number of successes)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, then its likelihood is </a:t>
                </a: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EA0B91B8-E48E-415F-B6F7-9AE7431CEA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74" y="3099690"/>
                <a:ext cx="10998204" cy="461665"/>
              </a:xfrm>
              <a:prstGeom prst="rect">
                <a:avLst/>
              </a:prstGeom>
              <a:blipFill>
                <a:blip r:embed="rId3"/>
                <a:stretch>
                  <a:fillRect l="-831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1DE95713-8782-449B-848E-29E0A8C23817}"/>
                  </a:ext>
                </a:extLst>
              </p:cNvPr>
              <p:cNvSpPr/>
              <p:nvPr/>
            </p:nvSpPr>
            <p:spPr>
              <a:xfrm>
                <a:off x="3422183" y="3709554"/>
                <a:ext cx="5632696" cy="4764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sSup>
                        <m:sSup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1DE95713-8782-449B-848E-29E0A8C238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2183" y="3709554"/>
                <a:ext cx="5632696" cy="476477"/>
              </a:xfrm>
              <a:prstGeom prst="rect">
                <a:avLst/>
              </a:prstGeom>
              <a:blipFill>
                <a:blip r:embed="rId4"/>
                <a:stretch>
                  <a:fillRect b="-179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A4157447-1B05-4861-ADE3-486CFB484BB6}"/>
                  </a:ext>
                </a:extLst>
              </p:cNvPr>
              <p:cNvSpPr/>
              <p:nvPr/>
            </p:nvSpPr>
            <p:spPr>
              <a:xfrm>
                <a:off x="7102069" y="4413519"/>
                <a:ext cx="3905621" cy="871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𝑙𝑛𝐿</m:t>
                          </m:r>
                          <m:d>
                            <m:d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num>
                        <m:den>
                          <m:r>
                            <a:rPr lang="zh-CN" altLang="en-US" sz="240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A4157447-1B05-4861-ADE3-486CFB484B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2069" y="4413519"/>
                <a:ext cx="3905621" cy="871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35099302-1C06-4636-8AC0-A4577D1D94A3}"/>
                  </a:ext>
                </a:extLst>
              </p:cNvPr>
              <p:cNvSpPr/>
              <p:nvPr/>
            </p:nvSpPr>
            <p:spPr>
              <a:xfrm>
                <a:off x="4088405" y="5254139"/>
                <a:ext cx="1062599" cy="7911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35099302-1C06-4636-8AC0-A4577D1D94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8405" y="5254139"/>
                <a:ext cx="1062599" cy="79117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D83E3170-2A65-4795-AD67-B9A23FAF6394}"/>
                  </a:ext>
                </a:extLst>
              </p:cNvPr>
              <p:cNvSpPr/>
              <p:nvPr/>
            </p:nvSpPr>
            <p:spPr>
              <a:xfrm>
                <a:off x="623081" y="4601375"/>
                <a:ext cx="1088988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/>
                  <a:t>Taking the derivative of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𝑙𝑛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 with respect to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2400" dirty="0"/>
                  <a:t>: 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D83E3170-2A65-4795-AD67-B9A23FAF63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81" y="4601375"/>
                <a:ext cx="10889885" cy="461665"/>
              </a:xfrm>
              <a:prstGeom prst="rect">
                <a:avLst/>
              </a:prstGeom>
              <a:blipFill>
                <a:blip r:embed="rId7"/>
                <a:stretch>
                  <a:fillRect l="-839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>
            <a:extLst>
              <a:ext uri="{FF2B5EF4-FFF2-40B4-BE49-F238E27FC236}">
                <a16:creationId xmlns:a16="http://schemas.microsoft.com/office/drawing/2014/main" id="{AB628C62-191F-4868-B5F5-3CC341FCB61B}"/>
              </a:ext>
            </a:extLst>
          </p:cNvPr>
          <p:cNvSpPr/>
          <p:nvPr/>
        </p:nvSpPr>
        <p:spPr>
          <a:xfrm>
            <a:off x="656442" y="5163758"/>
            <a:ext cx="108898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Then we have,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72D7379-1551-4DCA-BDA9-D8518674CFD7}"/>
              </a:ext>
            </a:extLst>
          </p:cNvPr>
          <p:cNvSpPr/>
          <p:nvPr/>
        </p:nvSpPr>
        <p:spPr>
          <a:xfrm>
            <a:off x="597674" y="1028239"/>
            <a:ext cx="10899308" cy="1092948"/>
          </a:xfrm>
          <a:prstGeom prst="roundRect">
            <a:avLst>
              <a:gd name="adj" fmla="val 4718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70E08B3-95A6-40C1-B0D1-063CF0F444E1}"/>
              </a:ext>
            </a:extLst>
          </p:cNvPr>
          <p:cNvSpPr/>
          <p:nvPr/>
        </p:nvSpPr>
        <p:spPr>
          <a:xfrm>
            <a:off x="572267" y="1143981"/>
            <a:ext cx="1088988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 dirty="0"/>
              <a:t>All model parameters (</a:t>
            </a:r>
            <a:r>
              <a:rPr lang="en-US" altLang="zh-CN" sz="2400" i="1" dirty="0"/>
              <a:t>i.e.</a:t>
            </a:r>
            <a:r>
              <a:rPr lang="en-US" altLang="zh-CN" sz="2400" dirty="0"/>
              <a:t>, class priors and feature probability distributions) can be approximated with relative </a:t>
            </a:r>
            <a:r>
              <a:rPr lang="en-US" altLang="zh-CN" sz="2400" dirty="0">
                <a:solidFill>
                  <a:srgbClr val="FF0000"/>
                </a:solidFill>
              </a:rPr>
              <a:t>frequencies</a:t>
            </a:r>
            <a:r>
              <a:rPr lang="en-US" altLang="zh-CN" sz="2400" dirty="0"/>
              <a:t> from the training set. </a:t>
            </a:r>
          </a:p>
        </p:txBody>
      </p:sp>
    </p:spTree>
    <p:extLst>
      <p:ext uri="{BB962C8B-B14F-4D97-AF65-F5344CB8AC3E}">
        <p14:creationId xmlns:p14="http://schemas.microsoft.com/office/powerpoint/2010/main" val="2462517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/>
      <p:bldP spid="19" grpId="0"/>
      <p:bldP spid="21" grpId="0"/>
      <p:bldP spid="22" grpId="0"/>
      <p:bldP spid="23" grpId="0"/>
      <p:bldP spid="2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CE66A1-9D10-48F8-8777-563747D7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2498EB-F3F7-4EDA-BA1F-3CF5C7DE6FD4}"/>
              </a:ext>
            </a:extLst>
          </p:cNvPr>
          <p:cNvSpPr txBox="1"/>
          <p:nvPr/>
        </p:nvSpPr>
        <p:spPr>
          <a:xfrm>
            <a:off x="221382" y="114717"/>
            <a:ext cx="9746001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Parameter Estimation (Maximum-Likelihood Estimation)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92BF610-4FF6-416D-BFBD-C22F68CAED0C}"/>
              </a:ext>
            </a:extLst>
          </p:cNvPr>
          <p:cNvGrpSpPr/>
          <p:nvPr/>
        </p:nvGrpSpPr>
        <p:grpSpPr>
          <a:xfrm>
            <a:off x="375782" y="4468308"/>
            <a:ext cx="11280809" cy="1856870"/>
            <a:chOff x="413882" y="3867362"/>
            <a:chExt cx="11280809" cy="2012445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21F8AF4F-BDE8-483C-8DBA-8218485D3DEE}"/>
                </a:ext>
              </a:extLst>
            </p:cNvPr>
            <p:cNvSpPr/>
            <p:nvPr/>
          </p:nvSpPr>
          <p:spPr>
            <a:xfrm>
              <a:off x="413882" y="3867362"/>
              <a:ext cx="11280809" cy="2012445"/>
            </a:xfrm>
            <a:prstGeom prst="roundRect">
              <a:avLst>
                <a:gd name="adj" fmla="val 3573"/>
              </a:avLst>
            </a:prstGeom>
            <a:solidFill>
              <a:srgbClr val="E6F5F0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22F06651-3C4C-4A68-8E46-1848AAEC4C4E}"/>
                    </a:ext>
                  </a:extLst>
                </p:cNvPr>
                <p:cNvSpPr/>
                <p:nvPr/>
              </p:nvSpPr>
              <p:spPr>
                <a:xfrm>
                  <a:off x="3190817" y="4675757"/>
                  <a:ext cx="5605124" cy="9540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)=</m:t>
                        </m:r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num>
                          <m:den>
                            <m:nary>
                              <m:naryPr>
                                <m:chr m:val="∑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den>
                        </m:f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22F06651-3C4C-4A68-8E46-1848AAEC4C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0817" y="4675757"/>
                  <a:ext cx="5605124" cy="954044"/>
                </a:xfrm>
                <a:prstGeom prst="rect">
                  <a:avLst/>
                </a:prstGeom>
                <a:blipFill>
                  <a:blip r:embed="rId2"/>
                  <a:stretch>
                    <a:fillRect b="-206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9DB12C3B-5588-4A4B-99BD-2E83F56838B1}"/>
                    </a:ext>
                  </a:extLst>
                </p:cNvPr>
                <p:cNvSpPr/>
                <p:nvPr/>
              </p:nvSpPr>
              <p:spPr>
                <a:xfrm>
                  <a:off x="413883" y="4019033"/>
                  <a:ext cx="11158992" cy="49141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285750" indent="-285750" algn="just">
                    <a:buFont typeface="Arial" panose="020B0604020202020204" pitchFamily="34" charset="0"/>
                    <a:buChar char="•"/>
                  </a:pPr>
                  <a:r>
                    <a:rPr lang="en-US" altLang="zh-CN" sz="2400" dirty="0">
                      <a:solidFill>
                        <a:schemeClr val="tx1"/>
                      </a:solidFill>
                    </a:rPr>
                    <a:t>We can estimate the independent probability distribution </a:t>
                  </a:r>
                  <a14:m>
                    <m:oMath xmlns:m="http://schemas.openxmlformats.org/officeDocument/2006/math"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sz="2400" dirty="0">
                      <a:solidFill>
                        <a:schemeClr val="tx1"/>
                      </a:solidFill>
                    </a:rPr>
                    <a:t> as follows:</a:t>
                  </a:r>
                </a:p>
              </p:txBody>
            </p:sp>
          </mc:Choice>
          <mc:Fallback xmlns="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9DB12C3B-5588-4A4B-99BD-2E83F56838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883" y="4019033"/>
                  <a:ext cx="11158992" cy="491417"/>
                </a:xfrm>
                <a:prstGeom prst="rect">
                  <a:avLst/>
                </a:prstGeom>
                <a:blipFill>
                  <a:blip r:embed="rId3"/>
                  <a:stretch>
                    <a:fillRect l="-765" t="-9459" r="-765" b="-3378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BCB7CDA-ABC9-4CD8-8729-829DF17422D4}"/>
              </a:ext>
            </a:extLst>
          </p:cNvPr>
          <p:cNvGrpSpPr/>
          <p:nvPr/>
        </p:nvGrpSpPr>
        <p:grpSpPr>
          <a:xfrm>
            <a:off x="375783" y="1723714"/>
            <a:ext cx="11280809" cy="2636191"/>
            <a:chOff x="375783" y="1723714"/>
            <a:chExt cx="11280809" cy="2636191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85A6678A-59EF-45FE-9CDB-5A84AAAF4E98}"/>
                </a:ext>
              </a:extLst>
            </p:cNvPr>
            <p:cNvSpPr/>
            <p:nvPr/>
          </p:nvSpPr>
          <p:spPr>
            <a:xfrm>
              <a:off x="375783" y="1723714"/>
              <a:ext cx="11280809" cy="2636191"/>
            </a:xfrm>
            <a:prstGeom prst="roundRect">
              <a:avLst>
                <a:gd name="adj" fmla="val 3573"/>
              </a:avLst>
            </a:prstGeom>
            <a:solidFill>
              <a:srgbClr val="FFFBD6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8C1B6D61-249C-44BF-9B06-E0FADEA88C14}"/>
                </a:ext>
              </a:extLst>
            </p:cNvPr>
            <p:cNvSpPr/>
            <p:nvPr/>
          </p:nvSpPr>
          <p:spPr>
            <a:xfrm>
              <a:off x="375784" y="1825649"/>
              <a:ext cx="11011303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altLang="zh-CN" sz="2400" dirty="0"/>
                <a:t>A class' prior may be estimated as (prior for a given class) = (number of samples in the class) / (total number of samples), or just assuming equiprobable classes (i.e., priors = 1 / (number of classes)).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52BEC3F1-F01A-4CCA-B33D-E2796F6FC880}"/>
                    </a:ext>
                  </a:extLst>
                </p:cNvPr>
                <p:cNvSpPr/>
                <p:nvPr/>
              </p:nvSpPr>
              <p:spPr>
                <a:xfrm>
                  <a:off x="2724150" y="3397750"/>
                  <a:ext cx="3615477" cy="84356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)=</m:t>
                        </m:r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52BEC3F1-F01A-4CCA-B33D-E2796F6FC8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4150" y="3397750"/>
                  <a:ext cx="3615477" cy="84356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9E994F07-B592-4F31-A329-FD92DD297E4A}"/>
                    </a:ext>
                  </a:extLst>
                </p:cNvPr>
                <p:cNvSpPr/>
                <p:nvPr/>
              </p:nvSpPr>
              <p:spPr>
                <a:xfrm>
                  <a:off x="7024081" y="3427630"/>
                  <a:ext cx="2058512" cy="78380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)=</m:t>
                        </m:r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9E994F07-B592-4F31-A329-FD92DD297E4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4081" y="3427630"/>
                  <a:ext cx="2058512" cy="78380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DA22CB3-03C2-46FB-8B43-7B147ACD0CA4}"/>
                </a:ext>
              </a:extLst>
            </p:cNvPr>
            <p:cNvSpPr/>
            <p:nvPr/>
          </p:nvSpPr>
          <p:spPr>
            <a:xfrm>
              <a:off x="6492517" y="3588700"/>
              <a:ext cx="45397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/>
                <a:t>or</a:t>
              </a:r>
              <a:endParaRPr lang="zh-CN" altLang="en-US" sz="24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08BEBC2E-68E3-477A-8939-2E02815CDC54}"/>
                  </a:ext>
                </a:extLst>
              </p:cNvPr>
              <p:cNvSpPr/>
              <p:nvPr/>
            </p:nvSpPr>
            <p:spPr>
              <a:xfrm>
                <a:off x="1042757" y="941510"/>
                <a:ext cx="10106485" cy="622286"/>
              </a:xfrm>
              <a:prstGeom prst="rect">
                <a:avLst/>
              </a:prstGeom>
              <a:ln w="38100">
                <a:solidFill>
                  <a:srgbClr val="0000FF"/>
                </a:solidFill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400" b="0" dirty="0"/>
                  <a:t>Let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and the actual data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, then based on MLE, we have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08BEBC2E-68E3-477A-8939-2E02815CDC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757" y="941510"/>
                <a:ext cx="10106485" cy="622286"/>
              </a:xfrm>
              <a:prstGeom prst="rect">
                <a:avLst/>
              </a:prstGeom>
              <a:blipFill>
                <a:blip r:embed="rId6"/>
                <a:stretch>
                  <a:fillRect l="-240" b="-5505"/>
                </a:stretch>
              </a:blipFill>
              <a:ln w="38100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1916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5A6678A-59EF-45FE-9CDB-5A84AAAF4E98}"/>
              </a:ext>
            </a:extLst>
          </p:cNvPr>
          <p:cNvSpPr/>
          <p:nvPr/>
        </p:nvSpPr>
        <p:spPr>
          <a:xfrm>
            <a:off x="413885" y="990599"/>
            <a:ext cx="11280809" cy="499110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CE66A1-9D10-48F8-8777-563747D7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2498EB-F3F7-4EDA-BA1F-3CF5C7DE6FD4}"/>
              </a:ext>
            </a:extLst>
          </p:cNvPr>
          <p:cNvSpPr txBox="1"/>
          <p:nvPr/>
        </p:nvSpPr>
        <p:spPr>
          <a:xfrm>
            <a:off x="221382" y="114717"/>
            <a:ext cx="3875163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Parameter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529388" y="1067929"/>
                <a:ext cx="10824412" cy="35086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If one is dealing with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continuous</a:t>
                </a:r>
                <a:r>
                  <a:rPr lang="en-US" altLang="zh-CN" sz="2400" dirty="0"/>
                  <a:t> data, a typical assumption is that the continuous values associated with each class are distributed according to a </a:t>
                </a:r>
                <a:r>
                  <a:rPr lang="en-US" altLang="zh-CN" sz="2400" b="1" i="1" dirty="0">
                    <a:solidFill>
                      <a:srgbClr val="FF0000"/>
                    </a:solidFill>
                  </a:rPr>
                  <a:t>Gaussian distribution</a:t>
                </a:r>
                <a:r>
                  <a:rPr lang="en-US" altLang="zh-CN" sz="2400" dirty="0"/>
                  <a:t>.</a:t>
                </a:r>
              </a:p>
              <a:p>
                <a:pPr marL="342900" indent="-342900" algn="just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For example, suppose the training data contains a continuous attribute,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400" dirty="0"/>
                  <a:t>. We first segment the data by the class, and then compute the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 sz="2400" dirty="0"/>
                  <a:t> and variance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/>
                  <a:t>of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400" dirty="0"/>
                  <a:t> in each class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zh-CN" sz="2400" dirty="0"/>
                  <a:t>. </a:t>
                </a:r>
              </a:p>
              <a:p>
                <a:pPr marL="342900" indent="-342900" algn="just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 sz="2400" dirty="0"/>
                  <a:t> be the mean of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400" dirty="0"/>
                  <a:t> associated with class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zh-CN" sz="2400" dirty="0"/>
                  <a:t>,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2400" dirty="0"/>
                  <a:t> be the variance. </a:t>
                </a:r>
              </a:p>
              <a:p>
                <a:pPr marL="342900" indent="-342900" algn="just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Then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 can be computed by plugging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sz="2400" dirty="0"/>
                  <a:t> into the equation as follows: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88" y="1067929"/>
                <a:ext cx="10824412" cy="3508653"/>
              </a:xfrm>
              <a:prstGeom prst="rect">
                <a:avLst/>
              </a:prstGeom>
              <a:blipFill>
                <a:blip r:embed="rId2"/>
                <a:stretch>
                  <a:fillRect l="-788" t="-1389" r="-845" b="-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085546" y="4816535"/>
                <a:ext cx="9472865" cy="9735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e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Sup>
                                <m:sSub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400" b="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  <m:sup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</m:den>
                      </m:f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400" b="0" i="1" baseline="3000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546" y="4816535"/>
                <a:ext cx="9472865" cy="9735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7303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5A6678A-59EF-45FE-9CDB-5A84AAAF4E98}"/>
              </a:ext>
            </a:extLst>
          </p:cNvPr>
          <p:cNvSpPr/>
          <p:nvPr/>
        </p:nvSpPr>
        <p:spPr>
          <a:xfrm>
            <a:off x="413885" y="990599"/>
            <a:ext cx="11216641" cy="4163319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CE66A1-9D10-48F8-8777-563747D7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2498EB-F3F7-4EDA-BA1F-3CF5C7DE6FD4}"/>
              </a:ext>
            </a:extLst>
          </p:cNvPr>
          <p:cNvSpPr txBox="1"/>
          <p:nvPr/>
        </p:nvSpPr>
        <p:spPr>
          <a:xfrm>
            <a:off x="221382" y="114717"/>
            <a:ext cx="8924046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Constructing a classifier from the probability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529388" y="1067929"/>
                <a:ext cx="10700085" cy="40859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The discussion so far has derived the independent feature model, that is, the naive Bayes probability model. </a:t>
                </a:r>
              </a:p>
              <a:p>
                <a:pPr marL="342900" indent="-342900" algn="just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The naive Bayes classifier combines this model with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a decision rule. </a:t>
                </a:r>
              </a:p>
              <a:p>
                <a:pPr marL="342900" indent="-342900" algn="just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One common rule is to pick the hypothesis that is most probable; this is known as the </a:t>
                </a:r>
                <a:r>
                  <a:rPr lang="en-US" altLang="zh-CN" sz="2400" i="1" dirty="0">
                    <a:solidFill>
                      <a:srgbClr val="FF0000"/>
                    </a:solidFill>
                  </a:rPr>
                  <a:t>maximum a posteriori </a:t>
                </a:r>
                <a:r>
                  <a:rPr lang="en-US" altLang="zh-CN" sz="2400" dirty="0"/>
                  <a:t>or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MAP</a:t>
                </a:r>
                <a:r>
                  <a:rPr lang="en-US" altLang="zh-CN" sz="2400" dirty="0"/>
                  <a:t> decision rule. </a:t>
                </a:r>
              </a:p>
              <a:p>
                <a:pPr marL="342900" indent="-342900" algn="just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The corresponding classifier is defined as follows:</a:t>
                </a:r>
              </a:p>
              <a:p>
                <a:pPr algn="just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𝑐𝑙𝑎𝑠𝑠𝑖𝑓𝑦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𝑎𝑟𝑔</m:t>
                          </m:r>
                          <m:limLow>
                            <m:limLow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nary>
                            <m:naryPr>
                              <m:chr m:val="∏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sup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88" y="1067929"/>
                <a:ext cx="10700085" cy="4085990"/>
              </a:xfrm>
              <a:prstGeom prst="rect">
                <a:avLst/>
              </a:prstGeom>
              <a:blipFill>
                <a:blip r:embed="rId2"/>
                <a:stretch>
                  <a:fillRect l="-798" t="-1194" r="-8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94145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5A6678A-59EF-45FE-9CDB-5A84AAAF4E98}"/>
              </a:ext>
            </a:extLst>
          </p:cNvPr>
          <p:cNvSpPr/>
          <p:nvPr/>
        </p:nvSpPr>
        <p:spPr>
          <a:xfrm>
            <a:off x="413885" y="990600"/>
            <a:ext cx="11216641" cy="997557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CE66A1-9D10-48F8-8777-563747D7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2498EB-F3F7-4EDA-BA1F-3CF5C7DE6FD4}"/>
              </a:ext>
            </a:extLst>
          </p:cNvPr>
          <p:cNvSpPr txBox="1"/>
          <p:nvPr/>
        </p:nvSpPr>
        <p:spPr>
          <a:xfrm>
            <a:off x="328044" y="97722"/>
            <a:ext cx="5045164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Examples--Sex Classification </a:t>
            </a:r>
          </a:p>
        </p:txBody>
      </p:sp>
      <p:sp>
        <p:nvSpPr>
          <p:cNvPr id="6" name="矩形 5"/>
          <p:cNvSpPr/>
          <p:nvPr/>
        </p:nvSpPr>
        <p:spPr>
          <a:xfrm>
            <a:off x="529388" y="1067929"/>
            <a:ext cx="108244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dirty="0"/>
              <a:t>Problem</a:t>
            </a:r>
            <a:r>
              <a:rPr lang="en-US" altLang="zh-CN" sz="2400" dirty="0"/>
              <a:t>: Classify whether a given person is a male or a female based on the measured features. The features include height, weight, and foot size.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0B71B3-6A4C-43CA-B064-A79ACDBAFAD1}"/>
              </a:ext>
            </a:extLst>
          </p:cNvPr>
          <p:cNvSpPr/>
          <p:nvPr/>
        </p:nvSpPr>
        <p:spPr>
          <a:xfrm>
            <a:off x="1165545" y="3298700"/>
            <a:ext cx="24158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zh-CN" sz="2000" b="1" dirty="0"/>
              <a:t>Example training set.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9BD2354-49CA-44A8-9442-4A39A5591E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650" y="2149257"/>
            <a:ext cx="5548249" cy="467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4922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5A6678A-59EF-45FE-9CDB-5A84AAAF4E98}"/>
              </a:ext>
            </a:extLst>
          </p:cNvPr>
          <p:cNvSpPr/>
          <p:nvPr/>
        </p:nvSpPr>
        <p:spPr>
          <a:xfrm>
            <a:off x="413885" y="990600"/>
            <a:ext cx="11216641" cy="908326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CE66A1-9D10-48F8-8777-563747D7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2498EB-F3F7-4EDA-BA1F-3CF5C7DE6FD4}"/>
              </a:ext>
            </a:extLst>
          </p:cNvPr>
          <p:cNvSpPr txBox="1"/>
          <p:nvPr/>
        </p:nvSpPr>
        <p:spPr>
          <a:xfrm>
            <a:off x="221382" y="114717"/>
            <a:ext cx="5045164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Examples--Sex Classification </a:t>
            </a:r>
          </a:p>
        </p:txBody>
      </p:sp>
      <p:sp>
        <p:nvSpPr>
          <p:cNvPr id="6" name="矩形 5"/>
          <p:cNvSpPr/>
          <p:nvPr/>
        </p:nvSpPr>
        <p:spPr>
          <a:xfrm>
            <a:off x="529388" y="1067929"/>
            <a:ext cx="108244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/>
              <a:t>The classifier created from the training set using a Gaussian distribution assumption would be: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529388" y="4126506"/>
                <a:ext cx="10824412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400" dirty="0"/>
                  <a:t>Let's say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𝑚𝑎𝑙𝑒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𝑓𝑒𝑚𝑎𝑙𝑒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 = 0.5.</m:t>
                    </m:r>
                  </m:oMath>
                </a14:m>
                <a:r>
                  <a:rPr lang="en-US" altLang="zh-CN" sz="2400" dirty="0"/>
                  <a:t> </a:t>
                </a:r>
              </a:p>
              <a:p>
                <a:pPr algn="just"/>
                <a:r>
                  <a:rPr lang="en-US" altLang="zh-CN" sz="2400" dirty="0"/>
                  <a:t>If we determine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 based on frequency in the training set, we happen to get the same answer.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88" y="4126506"/>
                <a:ext cx="10824412" cy="1200329"/>
              </a:xfrm>
              <a:prstGeom prst="rect">
                <a:avLst/>
              </a:prstGeom>
              <a:blipFill>
                <a:blip r:embed="rId3"/>
                <a:stretch>
                  <a:fillRect l="-901" t="-4061" r="-845" b="-10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0397B572-43A5-4C9E-B5E5-7E87CB9C95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799" y="2204504"/>
            <a:ext cx="10738402" cy="144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285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5A6678A-59EF-45FE-9CDB-5A84AAAF4E98}"/>
              </a:ext>
            </a:extLst>
          </p:cNvPr>
          <p:cNvSpPr/>
          <p:nvPr/>
        </p:nvSpPr>
        <p:spPr>
          <a:xfrm>
            <a:off x="413885" y="990600"/>
            <a:ext cx="11216641" cy="645695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CE66A1-9D10-48F8-8777-563747D7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2498EB-F3F7-4EDA-BA1F-3CF5C7DE6FD4}"/>
              </a:ext>
            </a:extLst>
          </p:cNvPr>
          <p:cNvSpPr txBox="1"/>
          <p:nvPr/>
        </p:nvSpPr>
        <p:spPr>
          <a:xfrm>
            <a:off x="221382" y="114717"/>
            <a:ext cx="1375698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Testing</a:t>
            </a:r>
          </a:p>
        </p:txBody>
      </p:sp>
      <p:sp>
        <p:nvSpPr>
          <p:cNvPr id="6" name="矩形 5"/>
          <p:cNvSpPr/>
          <p:nvPr/>
        </p:nvSpPr>
        <p:spPr>
          <a:xfrm>
            <a:off x="529388" y="1067929"/>
            <a:ext cx="108244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/>
              <a:t>A testing sample to be classified as a male or female.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027E17F-CD67-4500-9314-5E99CDE0A584}"/>
                  </a:ext>
                </a:extLst>
              </p:cNvPr>
              <p:cNvSpPr/>
              <p:nvPr/>
            </p:nvSpPr>
            <p:spPr>
              <a:xfrm>
                <a:off x="304799" y="3758647"/>
                <a:ext cx="1166902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𝑝𝑜𝑠𝑡𝑒𝑟𝑖𝑜𝑟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𝑓𝑒𝑚𝑎𝑙𝑒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𝑓𝑒𝑚𝑎𝑙𝑒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h𝑒𝑖𝑔h𝑡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𝑓𝑒𝑚𝑎𝑙𝑒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𝑤𝑒𝑖𝑔h𝑡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𝑓𝑒𝑚𝑎𝑙𝑒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𝑓𝑜𝑜𝑡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𝑠𝑖𝑧𝑒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𝑓𝑒𝑚𝑎𝑙𝑒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) /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𝑒𝑣𝑖𝑑𝑒𝑛𝑐𝑒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027E17F-CD67-4500-9314-5E99CDE0A5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" y="3758647"/>
                <a:ext cx="11669028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3C1AC96-269A-4E66-A135-4BDC01DE5AB8}"/>
                  </a:ext>
                </a:extLst>
              </p:cNvPr>
              <p:cNvSpPr/>
              <p:nvPr/>
            </p:nvSpPr>
            <p:spPr>
              <a:xfrm>
                <a:off x="413885" y="3223578"/>
                <a:ext cx="1132572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𝑝𝑜𝑠𝑡𝑒𝑟𝑖𝑜𝑟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𝑚𝑎𝑙𝑒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𝑚𝑎𝑙𝑒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err="1">
                          <a:latin typeface="Cambria Math" panose="02040503050406030204" pitchFamily="18" charset="0"/>
                        </a:rPr>
                        <m:t>h𝑒𝑖𝑔h𝑡</m:t>
                      </m:r>
                      <m:r>
                        <a:rPr lang="en-US" altLang="zh-CN" sz="2000" i="1" dirty="0" err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2000" i="1" dirty="0" err="1">
                          <a:latin typeface="Cambria Math" panose="02040503050406030204" pitchFamily="18" charset="0"/>
                        </a:rPr>
                        <m:t>𝑚𝑎𝑙𝑒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err="1">
                          <a:latin typeface="Cambria Math" panose="02040503050406030204" pitchFamily="18" charset="0"/>
                        </a:rPr>
                        <m:t>𝑤𝑒𝑖𝑔h𝑡</m:t>
                      </m:r>
                      <m:r>
                        <a:rPr lang="en-US" altLang="zh-CN" sz="2000" i="1" dirty="0" err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2000" i="1" dirty="0" err="1">
                          <a:latin typeface="Cambria Math" panose="02040503050406030204" pitchFamily="18" charset="0"/>
                        </a:rPr>
                        <m:t>𝑚𝑎𝑙𝑒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𝑓𝑜𝑜𝑡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i="1" dirty="0" err="1">
                          <a:latin typeface="Cambria Math" panose="02040503050406030204" pitchFamily="18" charset="0"/>
                        </a:rPr>
                        <m:t>𝑠𝑖𝑧𝑒</m:t>
                      </m:r>
                      <m:r>
                        <a:rPr lang="en-US" altLang="zh-CN" sz="2000" i="1" dirty="0" err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2000" i="1" dirty="0" err="1">
                          <a:latin typeface="Cambria Math" panose="02040503050406030204" pitchFamily="18" charset="0"/>
                        </a:rPr>
                        <m:t>𝑚𝑎𝑙𝑒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) / 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𝑒𝑣𝑖𝑑𝑒𝑛𝑐𝑒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3C1AC96-269A-4E66-A135-4BDC01DE5A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885" y="3223578"/>
                <a:ext cx="11325728" cy="400110"/>
              </a:xfrm>
              <a:prstGeom prst="rect">
                <a:avLst/>
              </a:prstGeom>
              <a:blipFill>
                <a:blip r:embed="rId4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A0FADAC-6377-4022-BBB5-4610EBBBEE08}"/>
                  </a:ext>
                </a:extLst>
              </p:cNvPr>
              <p:cNvSpPr/>
              <p:nvPr/>
            </p:nvSpPr>
            <p:spPr>
              <a:xfrm>
                <a:off x="-474849" y="4262938"/>
                <a:ext cx="13160945" cy="10014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𝑒𝑣𝑖𝑑𝑒𝑛𝑐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𝑚𝑎𝑙𝑒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err="1">
                          <a:latin typeface="Cambria Math" panose="02040503050406030204" pitchFamily="18" charset="0"/>
                        </a:rPr>
                        <m:t>h𝑒𝑖𝑔h𝑡</m:t>
                      </m:r>
                      <m:r>
                        <a:rPr lang="en-US" altLang="zh-CN" sz="2000" i="1" dirty="0" err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2000" i="1" dirty="0" err="1">
                          <a:latin typeface="Cambria Math" panose="02040503050406030204" pitchFamily="18" charset="0"/>
                        </a:rPr>
                        <m:t>𝑚𝑎𝑙𝑒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err="1">
                          <a:latin typeface="Cambria Math" panose="02040503050406030204" pitchFamily="18" charset="0"/>
                        </a:rPr>
                        <m:t>𝑤𝑒𝑖𝑔h𝑡</m:t>
                      </m:r>
                      <m:r>
                        <a:rPr lang="en-US" altLang="zh-CN" sz="2000" i="1" dirty="0" err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2000" i="1" dirty="0" err="1">
                          <a:latin typeface="Cambria Math" panose="02040503050406030204" pitchFamily="18" charset="0"/>
                        </a:rPr>
                        <m:t>𝑚𝑎𝑙𝑒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err="1" smtClean="0">
                          <a:latin typeface="Cambria Math" panose="02040503050406030204" pitchFamily="18" charset="0"/>
                        </a:rPr>
                        <m:t>𝑓𝑜𝑜𝑡𝑠𝑖𝑧𝑒</m:t>
                      </m:r>
                      <m:r>
                        <a:rPr lang="en-US" altLang="zh-CN" sz="2000" i="1" dirty="0" err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2000" i="1" dirty="0" err="1">
                          <a:latin typeface="Cambria Math" panose="02040503050406030204" pitchFamily="18" charset="0"/>
                        </a:rPr>
                        <m:t>𝑚𝑎𝑙𝑒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𝑓𝑒𝑚𝑎𝑙𝑒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err="1">
                          <a:latin typeface="Cambria Math" panose="02040503050406030204" pitchFamily="18" charset="0"/>
                        </a:rPr>
                        <m:t>h𝑒𝑖𝑔h𝑡</m:t>
                      </m:r>
                      <m:r>
                        <a:rPr lang="en-US" altLang="zh-CN" sz="2000" i="1" dirty="0" err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2000" i="1" dirty="0" err="1">
                          <a:latin typeface="Cambria Math" panose="02040503050406030204" pitchFamily="18" charset="0"/>
                        </a:rPr>
                        <m:t>𝑓𝑒𝑚𝑎𝑙𝑒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err="1">
                          <a:latin typeface="Cambria Math" panose="02040503050406030204" pitchFamily="18" charset="0"/>
                        </a:rPr>
                        <m:t>𝑤𝑒𝑖𝑔h𝑡</m:t>
                      </m:r>
                      <m:r>
                        <a:rPr lang="en-US" altLang="zh-CN" sz="2000" i="1" dirty="0" err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2000" i="1" dirty="0" err="1">
                          <a:latin typeface="Cambria Math" panose="02040503050406030204" pitchFamily="18" charset="0"/>
                        </a:rPr>
                        <m:t>𝑓𝑒𝑚𝑎𝑙𝑒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𝑓𝑜𝑜𝑡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i="1" dirty="0" err="1">
                          <a:latin typeface="Cambria Math" panose="02040503050406030204" pitchFamily="18" charset="0"/>
                        </a:rPr>
                        <m:t>𝑠𝑖𝑧𝑒</m:t>
                      </m:r>
                      <m:r>
                        <a:rPr lang="en-US" altLang="zh-CN" sz="2000" i="1" dirty="0" err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2000" i="1" dirty="0" err="1">
                          <a:latin typeface="Cambria Math" panose="02040503050406030204" pitchFamily="18" charset="0"/>
                        </a:rPr>
                        <m:t>𝑓𝑒𝑚𝑎𝑙𝑒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A0FADAC-6377-4022-BBB5-4610EBBBEE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74849" y="4262938"/>
                <a:ext cx="13160945" cy="1001428"/>
              </a:xfrm>
              <a:prstGeom prst="rect">
                <a:avLst/>
              </a:prstGeom>
              <a:blipFill>
                <a:blip r:embed="rId5"/>
                <a:stretch>
                  <a:fillRect b="-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9525D4D8-97DF-4DB0-81B5-A9A0AF4EBD18}"/>
              </a:ext>
            </a:extLst>
          </p:cNvPr>
          <p:cNvSpPr/>
          <p:nvPr/>
        </p:nvSpPr>
        <p:spPr>
          <a:xfrm>
            <a:off x="413885" y="5633860"/>
            <a:ext cx="108244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The evidence may be ignored since it is a positive constant.</a:t>
            </a:r>
            <a:endParaRPr lang="zh-CN" altLang="en-US" sz="24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C03E829-3196-4602-B2F4-9C2C3D7AEC1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440" y="1899088"/>
            <a:ext cx="5400059" cy="98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824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FA6BF32D-90BD-4AB4-94D1-3A043F197421}"/>
              </a:ext>
            </a:extLst>
          </p:cNvPr>
          <p:cNvSpPr/>
          <p:nvPr/>
        </p:nvSpPr>
        <p:spPr>
          <a:xfrm>
            <a:off x="349717" y="5496024"/>
            <a:ext cx="11409145" cy="860325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5A6678A-59EF-45FE-9CDB-5A84AAAF4E98}"/>
              </a:ext>
            </a:extLst>
          </p:cNvPr>
          <p:cNvSpPr/>
          <p:nvPr/>
        </p:nvSpPr>
        <p:spPr>
          <a:xfrm>
            <a:off x="349717" y="990600"/>
            <a:ext cx="11409145" cy="4260994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CE66A1-9D10-48F8-8777-563747D7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2498EB-F3F7-4EDA-BA1F-3CF5C7DE6FD4}"/>
              </a:ext>
            </a:extLst>
          </p:cNvPr>
          <p:cNvSpPr txBox="1"/>
          <p:nvPr/>
        </p:nvSpPr>
        <p:spPr>
          <a:xfrm>
            <a:off x="221382" y="114717"/>
            <a:ext cx="1375698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Testing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606391" y="990599"/>
                <a:ext cx="11024136" cy="42441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𝑚𝑎𝑙𝑒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 = 0.5 </m:t>
                    </m:r>
                  </m:oMath>
                </a14:m>
                <a:r>
                  <a:rPr lang="en-US" altLang="zh-CN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h𝑒𝑖𝑔h𝑡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𝑚𝑎𝑙𝑒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 = 1.5789</m:t>
                    </m:r>
                  </m:oMath>
                </a14:m>
                <a:r>
                  <a:rPr lang="en-US" altLang="zh-CN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𝑤𝑒𝑖𝑔h𝑡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𝑚𝑎𝑙𝑒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 = 5.9881</m:t>
                    </m:r>
                    <m:sSup>
                      <m:sSup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𝑓𝑜𝑜𝑡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𝑠𝑖𝑧𝑒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𝑚𝑎𝑙𝑒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 = 1.3112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𝑝𝑜𝑠𝑡𝑒𝑟𝑖𝑜𝑟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𝑛𝑢𝑚𝑒𝑟𝑎𝑡𝑜𝑟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𝑚𝑎𝑙𝑒</m:t>
                        </m:r>
                      </m:e>
                    </m:d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𝑡h𝑒𝑖𝑟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𝑝𝑟𝑜𝑑𝑢𝑐𝑡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 = 6.1984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/>
                  <a:t> </a:t>
                </a:r>
              </a:p>
              <a:p>
                <a:endParaRPr lang="en-US" altLang="zh-CN" sz="2400" dirty="0"/>
              </a:p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𝑓𝑒𝑚𝑎𝑙𝑒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 = 0.5  </m:t>
                    </m:r>
                  </m:oMath>
                </a14:m>
                <a:r>
                  <a:rPr lang="en-US" altLang="zh-CN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h𝑒𝑖𝑔h𝑡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𝑓𝑒𝑚𝑎𝑙𝑒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 = 2.2346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𝑤𝑒𝑖𝑔h𝑡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𝑓𝑒𝑚𝑎𝑙𝑒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 = 1.6789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𝑓𝑜𝑜𝑡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𝑠𝑖𝑧𝑒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𝑓𝑒𝑚𝑎𝑙𝑒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 = 2.8669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𝑝𝑜𝑠𝑡𝑒𝑟𝑖𝑜𝑟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𝑛𝑢𝑚𝑒𝑟𝑎𝑡𝑜𝑟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𝑓𝑒𝑚𝑎𝑙𝑒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𝑡h𝑒𝑖𝑟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𝑝𝑟𝑜𝑑𝑢𝑐𝑡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= 5.3778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altLang="zh-CN" sz="2400" dirty="0"/>
                  <a:t> </a:t>
                </a: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391" y="990599"/>
                <a:ext cx="11024136" cy="4244175"/>
              </a:xfrm>
              <a:prstGeom prst="rect">
                <a:avLst/>
              </a:prstGeom>
              <a:blipFill>
                <a:blip r:embed="rId2"/>
                <a:stretch>
                  <a:fillRect l="-4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17C116B0-54F7-45A4-A34E-C43B7E1ACDE7}"/>
              </a:ext>
            </a:extLst>
          </p:cNvPr>
          <p:cNvSpPr/>
          <p:nvPr/>
        </p:nvSpPr>
        <p:spPr>
          <a:xfrm>
            <a:off x="458001" y="5695353"/>
            <a:ext cx="108957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Since posterior numerator (</a:t>
            </a:r>
            <a:r>
              <a:rPr lang="en-US" altLang="zh-CN" sz="2400" dirty="0">
                <a:solidFill>
                  <a:srgbClr val="FF0000"/>
                </a:solidFill>
              </a:rPr>
              <a:t>female</a:t>
            </a:r>
            <a:r>
              <a:rPr lang="en-US" altLang="zh-CN" sz="2400" dirty="0"/>
              <a:t>) &gt; posterior numerator (</a:t>
            </a:r>
            <a:r>
              <a:rPr lang="en-US" altLang="zh-CN" sz="2400" dirty="0">
                <a:solidFill>
                  <a:srgbClr val="FF0000"/>
                </a:solidFill>
              </a:rPr>
              <a:t>male</a:t>
            </a:r>
            <a:r>
              <a:rPr lang="en-US" altLang="zh-CN" sz="2400" dirty="0"/>
              <a:t>), the sample is </a:t>
            </a:r>
            <a:r>
              <a:rPr lang="en-US" altLang="zh-CN" sz="2400" dirty="0">
                <a:solidFill>
                  <a:srgbClr val="FF0000"/>
                </a:solidFill>
              </a:rPr>
              <a:t>female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25155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00E5AC80-1B82-4206-A6E4-9812E25F14CB}"/>
              </a:ext>
            </a:extLst>
          </p:cNvPr>
          <p:cNvSpPr/>
          <p:nvPr/>
        </p:nvSpPr>
        <p:spPr>
          <a:xfrm>
            <a:off x="413885" y="3737043"/>
            <a:ext cx="11216641" cy="996260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5A6678A-59EF-45FE-9CDB-5A84AAAF4E98}"/>
              </a:ext>
            </a:extLst>
          </p:cNvPr>
          <p:cNvSpPr/>
          <p:nvPr/>
        </p:nvSpPr>
        <p:spPr>
          <a:xfrm>
            <a:off x="413885" y="990600"/>
            <a:ext cx="11216641" cy="2295525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CE66A1-9D10-48F8-8777-563747D7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2498EB-F3F7-4EDA-BA1F-3CF5C7DE6FD4}"/>
              </a:ext>
            </a:extLst>
          </p:cNvPr>
          <p:cNvSpPr txBox="1"/>
          <p:nvPr/>
        </p:nvSpPr>
        <p:spPr>
          <a:xfrm>
            <a:off x="221382" y="114717"/>
            <a:ext cx="4371325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Document Classification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529388" y="1067929"/>
                <a:ext cx="11101138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Consider the binary document classification of spam/non-spam E-mails. 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We can model a document with a set of words, where the (independent) probability that the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/>
                  <a:t>-</a:t>
                </a:r>
                <a:r>
                  <a:rPr lang="en-US" altLang="zh-CN" sz="2400" dirty="0" err="1"/>
                  <a:t>th</a:t>
                </a:r>
                <a:r>
                  <a:rPr lang="en-US" altLang="zh-CN" sz="2400" dirty="0"/>
                  <a:t> word occurs in a document from class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sz="2400" dirty="0"/>
                  <a:t> can be written as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88" y="1067929"/>
                <a:ext cx="11101138" cy="1200329"/>
              </a:xfrm>
              <a:prstGeom prst="rect">
                <a:avLst/>
              </a:prstGeom>
              <a:blipFill>
                <a:blip r:embed="rId2"/>
                <a:stretch>
                  <a:fillRect l="-769" t="-4061" r="-824" b="-10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5140000" y="2391013"/>
                <a:ext cx="132363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0000" y="2391013"/>
                <a:ext cx="132363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529388" y="3794193"/>
            <a:ext cx="1121664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Assume that words are not dependent on the length of the document, position within the document with relation to other words, or other document-context.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AAA6033-F5F9-4F77-8E42-D2BED14A3342}"/>
                  </a:ext>
                </a:extLst>
              </p:cNvPr>
              <p:cNvSpPr txBox="1"/>
              <p:nvPr/>
            </p:nvSpPr>
            <p:spPr>
              <a:xfrm>
                <a:off x="4454147" y="5014351"/>
                <a:ext cx="3136115" cy="894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zh-CN" altLang="en-US" sz="2400" dirty="0"/>
                            <m:t> </m:t>
                          </m:r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AAA6033-F5F9-4F77-8E42-D2BED14A3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147" y="5014351"/>
                <a:ext cx="3136115" cy="8942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6910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/>
      <p:bldP spid="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5A6678A-59EF-45FE-9CDB-5A84AAAF4E98}"/>
              </a:ext>
            </a:extLst>
          </p:cNvPr>
          <p:cNvSpPr/>
          <p:nvPr/>
        </p:nvSpPr>
        <p:spPr>
          <a:xfrm>
            <a:off x="413885" y="990600"/>
            <a:ext cx="11216641" cy="990600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CE66A1-9D10-48F8-8777-563747D7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2498EB-F3F7-4EDA-BA1F-3CF5C7DE6FD4}"/>
              </a:ext>
            </a:extLst>
          </p:cNvPr>
          <p:cNvSpPr txBox="1"/>
          <p:nvPr/>
        </p:nvSpPr>
        <p:spPr>
          <a:xfrm>
            <a:off x="221382" y="114717"/>
            <a:ext cx="4371325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Document Classification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471635" y="1173614"/>
                <a:ext cx="1110113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/>
                  <a:t>What is the probability that a given document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zh-CN" sz="2400" dirty="0"/>
                  <a:t> belongs to a given class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sz="2400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sz="2400" dirty="0"/>
                  <a:t>i.e.,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?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35" y="1173614"/>
                <a:ext cx="11101139" cy="461665"/>
              </a:xfrm>
              <a:prstGeom prst="rect">
                <a:avLst/>
              </a:prstGeom>
              <a:blipFill>
                <a:blip r:embed="rId2"/>
                <a:stretch>
                  <a:fillRect l="-824" t="-10667" r="-220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F472FD9-DDDC-4882-AED9-54A54B9BA512}"/>
              </a:ext>
            </a:extLst>
          </p:cNvPr>
          <p:cNvSpPr/>
          <p:nvPr/>
        </p:nvSpPr>
        <p:spPr>
          <a:xfrm>
            <a:off x="413885" y="2569143"/>
            <a:ext cx="11216641" cy="1313074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52A0046-CEEB-4138-8F2C-35A0C6242489}"/>
              </a:ext>
            </a:extLst>
          </p:cNvPr>
          <p:cNvSpPr/>
          <p:nvPr/>
        </p:nvSpPr>
        <p:spPr>
          <a:xfrm>
            <a:off x="529388" y="2646472"/>
            <a:ext cx="107000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Bayes' theorem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0E9C67E-6ACD-415E-A264-C1DBC2BC9D69}"/>
                  </a:ext>
                </a:extLst>
              </p:cNvPr>
              <p:cNvSpPr txBox="1"/>
              <p:nvPr/>
            </p:nvSpPr>
            <p:spPr>
              <a:xfrm>
                <a:off x="4002505" y="2843015"/>
                <a:ext cx="3138680" cy="778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0E9C67E-6ACD-415E-A264-C1DBC2BC9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2505" y="2843015"/>
                <a:ext cx="3138680" cy="7789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576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7E63D6B-5EF7-444B-89A9-3BFA76CAA28E}"/>
              </a:ext>
            </a:extLst>
          </p:cNvPr>
          <p:cNvSpPr/>
          <p:nvPr/>
        </p:nvSpPr>
        <p:spPr>
          <a:xfrm>
            <a:off x="413884" y="2496370"/>
            <a:ext cx="11216641" cy="3977227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5A6678A-59EF-45FE-9CDB-5A84AAAF4E98}"/>
              </a:ext>
            </a:extLst>
          </p:cNvPr>
          <p:cNvSpPr/>
          <p:nvPr/>
        </p:nvSpPr>
        <p:spPr>
          <a:xfrm>
            <a:off x="413885" y="990600"/>
            <a:ext cx="11216641" cy="1313074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CE66A1-9D10-48F8-8777-563747D7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2498EB-F3F7-4EDA-BA1F-3CF5C7DE6FD4}"/>
              </a:ext>
            </a:extLst>
          </p:cNvPr>
          <p:cNvSpPr txBox="1"/>
          <p:nvPr/>
        </p:nvSpPr>
        <p:spPr>
          <a:xfrm>
            <a:off x="221382" y="114717"/>
            <a:ext cx="4371325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Document Classification </a:t>
            </a:r>
          </a:p>
        </p:txBody>
      </p:sp>
      <p:sp>
        <p:nvSpPr>
          <p:cNvPr id="6" name="矩形 5"/>
          <p:cNvSpPr/>
          <p:nvPr/>
        </p:nvSpPr>
        <p:spPr>
          <a:xfrm>
            <a:off x="529388" y="1067929"/>
            <a:ext cx="107000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Bayes' theorem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4002505" y="1264472"/>
                <a:ext cx="3138680" cy="778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2505" y="1264472"/>
                <a:ext cx="3138680" cy="778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529388" y="2507219"/>
            <a:ext cx="112487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Assume that there are only 2 mutually exclusive classes, S and ¬S (e.g. spam/not spam), 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2060154" y="3236855"/>
                <a:ext cx="7657801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zh-CN" altLang="en-US" sz="2400" dirty="0"/>
                            <m:t> </m:t>
                          </m:r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e>
                          <m:r>
                            <m:rPr>
                              <m:nor/>
                            </m:rPr>
                            <a:rPr lang="en-US" altLang="zh-CN" sz="2400" dirty="0"/>
                            <m:t>¬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nor/>
                            </m:rPr>
                            <a:rPr lang="en-US" altLang="zh-CN" sz="2400" dirty="0"/>
                            <m:t>¬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zh-CN" altLang="en-US" sz="2400" dirty="0"/>
                            <m:t> </m:t>
                          </m:r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0154" y="3236855"/>
                <a:ext cx="7657801" cy="8962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83C9490D-1D2B-4CC2-9441-04E6065B6610}"/>
                  </a:ext>
                </a:extLst>
              </p:cNvPr>
              <p:cNvSpPr/>
              <p:nvPr/>
            </p:nvSpPr>
            <p:spPr>
              <a:xfrm>
                <a:off x="1712224" y="4325759"/>
                <a:ext cx="9048819" cy="9885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nary>
                        <m:naryPr>
                          <m:chr m:val="∏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zh-CN" altLang="en-US" sz="2400" dirty="0"/>
                            <m:t> 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CN" sz="2400" dirty="0"/>
                            <m:t>¬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CN" sz="2400" dirty="0"/>
                            <m:t>¬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nary>
                        <m:naryPr>
                          <m:chr m:val="∏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nor/>
                            </m:rPr>
                            <a:rPr lang="en-US" altLang="zh-CN" sz="2400" dirty="0"/>
                            <m:t>¬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zh-CN" altLang="en-US" sz="2400" dirty="0"/>
                            <m:t> </m:t>
                          </m:r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83C9490D-1D2B-4CC2-9441-04E6065B66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224" y="4325759"/>
                <a:ext cx="9048819" cy="9885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F0FC5C1-9C0C-4352-BB58-B26AE010C718}"/>
                  </a:ext>
                </a:extLst>
              </p:cNvPr>
              <p:cNvSpPr txBox="1"/>
              <p:nvPr/>
            </p:nvSpPr>
            <p:spPr>
              <a:xfrm>
                <a:off x="1140237" y="5554592"/>
                <a:ext cx="3973652" cy="8017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CN" sz="2400" dirty="0"/>
                                <m:t>¬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nary>
                            <m:naryPr>
                              <m:chr m:val="∏"/>
                              <m:limLoc m:val="subSup"/>
                              <m:supHide m:val="on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CN" sz="2400" dirty="0"/>
                            <m:t>¬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nary>
                            <m:naryPr>
                              <m:chr m:val="∏"/>
                              <m:limLoc m:val="subSup"/>
                              <m:supHide m:val="on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dirty="0"/>
                                <m:t>¬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F0FC5C1-9C0C-4352-BB58-B26AE010C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237" y="5554592"/>
                <a:ext cx="3973652" cy="8017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5ACB51A-7397-4936-AC4A-B4EA847173D5}"/>
                  </a:ext>
                </a:extLst>
              </p:cNvPr>
              <p:cNvSpPr txBox="1"/>
              <p:nvPr/>
            </p:nvSpPr>
            <p:spPr>
              <a:xfrm>
                <a:off x="7060318" y="5582270"/>
                <a:ext cx="4169155" cy="902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CN" sz="2400" dirty="0"/>
                                <m:t>¬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CN" sz="2400" dirty="0"/>
                            <m:t>¬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</m:den>
                      </m:f>
                      <m:nary>
                        <m:naryPr>
                          <m:chr m:val="∏"/>
                          <m:sup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dirty="0"/>
                                <m:t>¬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5ACB51A-7397-4936-AC4A-B4EA84717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0318" y="5582270"/>
                <a:ext cx="4169155" cy="9026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箭头: 右 1">
            <a:extLst>
              <a:ext uri="{FF2B5EF4-FFF2-40B4-BE49-F238E27FC236}">
                <a16:creationId xmlns:a16="http://schemas.microsoft.com/office/drawing/2014/main" id="{68B791BC-2A03-473D-A742-5266D5FE3F71}"/>
              </a:ext>
            </a:extLst>
          </p:cNvPr>
          <p:cNvSpPr/>
          <p:nvPr/>
        </p:nvSpPr>
        <p:spPr>
          <a:xfrm>
            <a:off x="5571845" y="5736657"/>
            <a:ext cx="915582" cy="4042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640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DB2C6F4-B50E-4F76-8219-B4BAF13257E5}"/>
              </a:ext>
            </a:extLst>
          </p:cNvPr>
          <p:cNvSpPr/>
          <p:nvPr/>
        </p:nvSpPr>
        <p:spPr>
          <a:xfrm>
            <a:off x="413885" y="5362018"/>
            <a:ext cx="11216641" cy="1217014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53B1C22-899E-4204-959E-1F0B3EB9ACE3}"/>
              </a:ext>
            </a:extLst>
          </p:cNvPr>
          <p:cNvSpPr/>
          <p:nvPr/>
        </p:nvSpPr>
        <p:spPr>
          <a:xfrm>
            <a:off x="413885" y="3291072"/>
            <a:ext cx="11216641" cy="1809798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5A6678A-59EF-45FE-9CDB-5A84AAAF4E98}"/>
              </a:ext>
            </a:extLst>
          </p:cNvPr>
          <p:cNvSpPr/>
          <p:nvPr/>
        </p:nvSpPr>
        <p:spPr>
          <a:xfrm>
            <a:off x="413885" y="1130559"/>
            <a:ext cx="11248726" cy="1949945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CE66A1-9D10-48F8-8777-563747D7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2498EB-F3F7-4EDA-BA1F-3CF5C7DE6FD4}"/>
              </a:ext>
            </a:extLst>
          </p:cNvPr>
          <p:cNvSpPr txBox="1"/>
          <p:nvPr/>
        </p:nvSpPr>
        <p:spPr>
          <a:xfrm>
            <a:off x="221382" y="114717"/>
            <a:ext cx="4371325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Document Classification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3794851" y="1217186"/>
                <a:ext cx="4169155" cy="902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CN" sz="2400" dirty="0"/>
                                <m:t>¬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CN" sz="2400" dirty="0"/>
                            <m:t>¬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</m:den>
                      </m:f>
                      <m:nary>
                        <m:naryPr>
                          <m:chr m:val="∏"/>
                          <m:sup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dirty="0"/>
                                <m:t>¬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851" y="1217186"/>
                <a:ext cx="4169155" cy="9026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529387" y="2249507"/>
                <a:ext cx="10700085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The probability ratio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altLang="zh-CN" sz="2400" b="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dirty="0">
                        <a:latin typeface="Cambria Math" panose="02040503050406030204" pitchFamily="18" charset="0"/>
                      </a:rPr>
                      <m:t>(¬</m:t>
                    </m:r>
                    <m:r>
                      <a:rPr lang="en-US" altLang="zh-CN" sz="2400" b="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2400" b="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400" b="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sz="2400" dirty="0"/>
                  <a:t>can be expressed in terms of a series of likelihood ratios. </a:t>
                </a: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87" y="2249507"/>
                <a:ext cx="10700085" cy="830997"/>
              </a:xfrm>
              <a:prstGeom prst="rect">
                <a:avLst/>
              </a:prstGeom>
              <a:blipFill>
                <a:blip r:embed="rId3"/>
                <a:stretch>
                  <a:fillRect l="-798" t="-5882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529387" y="3309081"/>
            <a:ext cx="62134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/>
              <a:t>Taking the logarithm of all these ratios, we have: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2709511" y="4031894"/>
                <a:ext cx="6121932" cy="919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CN" sz="2400" dirty="0"/>
                                        <m:t>¬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e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CN" sz="2400" dirty="0"/>
                                        <m:t>¬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dirty="0"/>
                                <m:t>¬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511" y="4031894"/>
                <a:ext cx="6121932" cy="9195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009CB991-E43B-4F24-BAFE-478A1FDECECE}"/>
              </a:ext>
            </a:extLst>
          </p:cNvPr>
          <p:cNvSpPr/>
          <p:nvPr/>
        </p:nvSpPr>
        <p:spPr>
          <a:xfrm>
            <a:off x="7023433" y="3492679"/>
            <a:ext cx="52429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i="1" dirty="0">
                <a:solidFill>
                  <a:srgbClr val="FF0000"/>
                </a:solidFill>
              </a:rPr>
              <a:t>log-likelihood ratios</a:t>
            </a:r>
            <a:r>
              <a:rPr lang="zh-CN" altLang="en-US" sz="2400" b="1" dirty="0">
                <a:solidFill>
                  <a:srgbClr val="FF0000"/>
                </a:solidFill>
              </a:rPr>
              <a:t>（对数似然比）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4B8F141-10E6-42C4-B9F2-905DA591F384}"/>
                  </a:ext>
                </a:extLst>
              </p:cNvPr>
              <p:cNvSpPr/>
              <p:nvPr/>
            </p:nvSpPr>
            <p:spPr>
              <a:xfrm>
                <a:off x="653715" y="5421451"/>
                <a:ext cx="10700085" cy="10500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/>
                  <a:t>Finally, the document can be classified as follows.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It is spam if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)&gt;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(¬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 (i.e.,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𝑙𝑛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CN" sz="2400" i="1" dirty="0"/>
                          <m:t>¬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CN" sz="2400" dirty="0"/>
                  <a:t> ), otherwise it is not spam.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4B8F141-10E6-42C4-B9F2-905DA591F3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15" y="5421451"/>
                <a:ext cx="10700085" cy="1050031"/>
              </a:xfrm>
              <a:prstGeom prst="rect">
                <a:avLst/>
              </a:prstGeom>
              <a:blipFill>
                <a:blip r:embed="rId5"/>
                <a:stretch>
                  <a:fillRect l="-854" t="-46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969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1" grpId="0" animBg="1"/>
      <p:bldP spid="7" grpId="0"/>
      <p:bldP spid="9" grpId="0"/>
      <p:bldP spid="2" grpId="0"/>
      <p:bldP spid="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5A6678A-59EF-45FE-9CDB-5A84AAAF4E98}"/>
              </a:ext>
            </a:extLst>
          </p:cNvPr>
          <p:cNvSpPr/>
          <p:nvPr/>
        </p:nvSpPr>
        <p:spPr>
          <a:xfrm>
            <a:off x="221382" y="3419150"/>
            <a:ext cx="11280809" cy="2965384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CE66A1-9D10-48F8-8777-563747D7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2498EB-F3F7-4EDA-BA1F-3CF5C7DE6FD4}"/>
              </a:ext>
            </a:extLst>
          </p:cNvPr>
          <p:cNvSpPr txBox="1"/>
          <p:nvPr/>
        </p:nvSpPr>
        <p:spPr>
          <a:xfrm>
            <a:off x="221382" y="114717"/>
            <a:ext cx="3323539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Sample Correction</a:t>
            </a:r>
          </a:p>
        </p:txBody>
      </p:sp>
      <p:sp>
        <p:nvSpPr>
          <p:cNvPr id="6" name="矩形 5"/>
          <p:cNvSpPr/>
          <p:nvPr/>
        </p:nvSpPr>
        <p:spPr>
          <a:xfrm>
            <a:off x="336885" y="3496479"/>
            <a:ext cx="10700085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 dirty="0"/>
              <a:t>If a given class and feature value </a:t>
            </a:r>
            <a:r>
              <a:rPr lang="en-US" altLang="zh-CN" sz="2400" dirty="0">
                <a:solidFill>
                  <a:srgbClr val="FF0000"/>
                </a:solidFill>
              </a:rPr>
              <a:t>never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occur</a:t>
            </a:r>
            <a:r>
              <a:rPr lang="en-US" altLang="zh-CN" sz="2400" dirty="0"/>
              <a:t> together in the training set then the frequency-based probability estimate will be </a:t>
            </a:r>
            <a:r>
              <a:rPr lang="en-US" altLang="zh-CN" sz="2400" dirty="0">
                <a:solidFill>
                  <a:srgbClr val="FF0000"/>
                </a:solidFill>
              </a:rPr>
              <a:t>zero</a:t>
            </a:r>
            <a:r>
              <a:rPr lang="en-US" altLang="zh-CN" sz="2400" dirty="0"/>
              <a:t>. </a:t>
            </a: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 dirty="0"/>
              <a:t>This is problematic since it will </a:t>
            </a:r>
            <a:r>
              <a:rPr lang="en-US" altLang="zh-CN" sz="2400" dirty="0">
                <a:solidFill>
                  <a:srgbClr val="FF0000"/>
                </a:solidFill>
              </a:rPr>
              <a:t>wipe out </a:t>
            </a:r>
            <a:r>
              <a:rPr lang="en-US" altLang="zh-CN" sz="2400" dirty="0"/>
              <a:t>all information in the other probabilities when they are </a:t>
            </a:r>
            <a:r>
              <a:rPr lang="en-US" altLang="zh-CN" sz="2400" dirty="0">
                <a:solidFill>
                  <a:srgbClr val="FF0000"/>
                </a:solidFill>
              </a:rPr>
              <a:t>multiplied</a:t>
            </a:r>
            <a:r>
              <a:rPr lang="en-US" altLang="zh-CN" sz="2400" dirty="0"/>
              <a:t>. </a:t>
            </a: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 dirty="0"/>
              <a:t>It is therefore often desirable to incorporate a </a:t>
            </a:r>
            <a:r>
              <a:rPr lang="en-US" altLang="zh-CN" sz="2400" dirty="0">
                <a:solidFill>
                  <a:srgbClr val="FF0000"/>
                </a:solidFill>
              </a:rPr>
              <a:t>small-sample correction </a:t>
            </a:r>
            <a:r>
              <a:rPr lang="en-US" altLang="zh-CN" sz="2400" dirty="0"/>
              <a:t>in all probability estimates such that no probability is ever set to be exactly zero.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97F45FC-6EAC-4092-A945-3E9D464FCE0E}"/>
                  </a:ext>
                </a:extLst>
              </p:cNvPr>
              <p:cNvSpPr/>
              <p:nvPr/>
            </p:nvSpPr>
            <p:spPr>
              <a:xfrm>
                <a:off x="2364598" y="1243626"/>
                <a:ext cx="5605124" cy="9540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97F45FC-6EAC-4092-A945-3E9D464FCE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4598" y="1243626"/>
                <a:ext cx="5605124" cy="9540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2BFFDE97-D9F3-42B5-AFF8-BA57794BA375}"/>
                  </a:ext>
                </a:extLst>
              </p:cNvPr>
              <p:cNvSpPr/>
              <p:nvPr/>
            </p:nvSpPr>
            <p:spPr>
              <a:xfrm>
                <a:off x="2364598" y="2236334"/>
                <a:ext cx="8105680" cy="11382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𝑐𝑙𝑎𝑠𝑠𝑖𝑓𝑦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𝑎𝑟𝑔</m:t>
                          </m:r>
                          <m:limLow>
                            <m:limLow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nary>
                            <m:naryPr>
                              <m:chr m:val="∏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sup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2BFFDE97-D9F3-42B5-AFF8-BA57794BA3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4598" y="2236334"/>
                <a:ext cx="8105680" cy="11382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2642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8EB4C2E-3778-48FD-9571-5019E1CEF9F9}"/>
              </a:ext>
            </a:extLst>
          </p:cNvPr>
          <p:cNvSpPr/>
          <p:nvPr/>
        </p:nvSpPr>
        <p:spPr>
          <a:xfrm>
            <a:off x="413884" y="3965612"/>
            <a:ext cx="11280809" cy="2069432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5A6678A-59EF-45FE-9CDB-5A84AAAF4E98}"/>
              </a:ext>
            </a:extLst>
          </p:cNvPr>
          <p:cNvSpPr/>
          <p:nvPr/>
        </p:nvSpPr>
        <p:spPr>
          <a:xfrm>
            <a:off x="413885" y="990600"/>
            <a:ext cx="11280809" cy="2743714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CE66A1-9D10-48F8-8777-563747D7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2498EB-F3F7-4EDA-BA1F-3CF5C7DE6FD4}"/>
              </a:ext>
            </a:extLst>
          </p:cNvPr>
          <p:cNvSpPr txBox="1"/>
          <p:nvPr/>
        </p:nvSpPr>
        <p:spPr>
          <a:xfrm>
            <a:off x="221382" y="114717"/>
            <a:ext cx="3323539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Sample Correction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24DAFFC6-544C-45B4-8B50-9A154A0B7C32}"/>
                  </a:ext>
                </a:extLst>
              </p:cNvPr>
              <p:cNvSpPr/>
              <p:nvPr/>
            </p:nvSpPr>
            <p:spPr>
              <a:xfrm>
                <a:off x="1613783" y="1178644"/>
                <a:ext cx="4584075" cy="8521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d>
                            </m:e>
                          </m:nary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24DAFFC6-544C-45B4-8B50-9A154A0B7C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783" y="1178644"/>
                <a:ext cx="4584075" cy="8521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6DB29139-BA05-4A32-9C47-C4B16FD0BB65}"/>
                  </a:ext>
                </a:extLst>
              </p:cNvPr>
              <p:cNvSpPr/>
              <p:nvPr/>
            </p:nvSpPr>
            <p:spPr>
              <a:xfrm>
                <a:off x="1613783" y="2249397"/>
                <a:ext cx="6615401" cy="9798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d>
                            </m:e>
                          </m:nary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d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</m:nary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6DB29139-BA05-4A32-9C47-C4B16FD0BB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783" y="2249397"/>
                <a:ext cx="6615401" cy="9798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CEAA275-5D41-4D96-9A3F-86D26A619793}"/>
                  </a:ext>
                </a:extLst>
              </p:cNvPr>
              <p:cNvSpPr/>
              <p:nvPr/>
            </p:nvSpPr>
            <p:spPr>
              <a:xfrm>
                <a:off x="651954" y="3991416"/>
                <a:ext cx="9637831" cy="19552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=0:</m:t>
                    </m:r>
                  </m:oMath>
                </a14:m>
                <a:r>
                  <a:rPr lang="en-US" altLang="zh-CN" sz="2400" b="1" dirty="0"/>
                  <a:t> maximum-likelihood estimation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=1:</m:t>
                    </m:r>
                  </m:oMath>
                </a14:m>
                <a:r>
                  <a:rPr lang="en-US" altLang="zh-CN" sz="2400" b="1" dirty="0"/>
                  <a:t> Laplace Smoothing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b="1" dirty="0"/>
                  <a:t>Notably, under this correction, we still have,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zh-CN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nary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CEAA275-5D41-4D96-9A3F-86D26A6197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54" y="3991416"/>
                <a:ext cx="9637831" cy="1955215"/>
              </a:xfrm>
              <a:prstGeom prst="rect">
                <a:avLst/>
              </a:prstGeom>
              <a:blipFill>
                <a:blip r:embed="rId4"/>
                <a:stretch>
                  <a:fillRect l="-1012"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872E2C3-EFFB-4763-AC65-CB5E2C0F498D}"/>
                  </a:ext>
                </a:extLst>
              </p:cNvPr>
              <p:cNvSpPr/>
              <p:nvPr/>
            </p:nvSpPr>
            <p:spPr>
              <a:xfrm>
                <a:off x="8115977" y="2505235"/>
                <a:ext cx="98924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872E2C3-EFFB-4763-AC65-CB5E2C0F49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5977" y="2505235"/>
                <a:ext cx="98924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1AB7CC50-FC56-4A59-914D-18BA4D4CAD79}"/>
                  </a:ext>
                </a:extLst>
              </p:cNvPr>
              <p:cNvSpPr/>
              <p:nvPr/>
            </p:nvSpPr>
            <p:spPr>
              <a:xfrm>
                <a:off x="6697954" y="3230393"/>
                <a:ext cx="4481227" cy="5039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b="1" dirty="0"/>
                  <a:t>: the total number of possible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CN" b="1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1AB7CC50-FC56-4A59-914D-18BA4D4CAD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7954" y="3230393"/>
                <a:ext cx="4481227" cy="503921"/>
              </a:xfrm>
              <a:prstGeom prst="rect">
                <a:avLst/>
              </a:prstGeom>
              <a:blipFill>
                <a:blip r:embed="rId6"/>
                <a:stretch>
                  <a:fillRect b="-144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>
            <a:extLst>
              <a:ext uri="{FF2B5EF4-FFF2-40B4-BE49-F238E27FC236}">
                <a16:creationId xmlns:a16="http://schemas.microsoft.com/office/drawing/2014/main" id="{53392875-076F-43D1-8EAD-74E2D3814E80}"/>
              </a:ext>
            </a:extLst>
          </p:cNvPr>
          <p:cNvSpPr/>
          <p:nvPr/>
        </p:nvSpPr>
        <p:spPr>
          <a:xfrm>
            <a:off x="761272" y="6132403"/>
            <a:ext cx="8614346" cy="5062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Please refer to </a:t>
            </a:r>
            <a:r>
              <a:rPr lang="en-US" altLang="zh-CN" sz="2000" dirty="0">
                <a:hlinkClick r:id="rId7"/>
              </a:rPr>
              <a:t>https://zhuanlan.zhihu.com/p/24291822</a:t>
            </a:r>
            <a:r>
              <a:rPr lang="en-US" altLang="zh-CN" sz="2000" b="1" dirty="0"/>
              <a:t>  for detailed derivation.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7FF27EDE-1516-4806-ADE0-E353D55D2A11}"/>
                  </a:ext>
                </a:extLst>
              </p:cNvPr>
              <p:cNvSpPr/>
              <p:nvPr/>
            </p:nvSpPr>
            <p:spPr>
              <a:xfrm>
                <a:off x="6697953" y="1332863"/>
                <a:ext cx="3058145" cy="4641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b="1" dirty="0"/>
                  <a:t>: the total number of classes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7FF27EDE-1516-4806-ADE0-E353D55D2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7953" y="1332863"/>
                <a:ext cx="3058145" cy="464166"/>
              </a:xfrm>
              <a:prstGeom prst="rect">
                <a:avLst/>
              </a:prstGeom>
              <a:blipFill>
                <a:blip r:embed="rId8"/>
                <a:stretch>
                  <a:fillRect r="-998" b="-21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5221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5A6678A-59EF-45FE-9CDB-5A84AAAF4E98}"/>
              </a:ext>
            </a:extLst>
          </p:cNvPr>
          <p:cNvSpPr/>
          <p:nvPr/>
        </p:nvSpPr>
        <p:spPr>
          <a:xfrm>
            <a:off x="333273" y="927898"/>
            <a:ext cx="11216641" cy="4077239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CE66A1-9D10-48F8-8777-563747D7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2498EB-F3F7-4EDA-BA1F-3CF5C7DE6FD4}"/>
              </a:ext>
            </a:extLst>
          </p:cNvPr>
          <p:cNvSpPr txBox="1"/>
          <p:nvPr/>
        </p:nvSpPr>
        <p:spPr>
          <a:xfrm>
            <a:off x="221382" y="114717"/>
            <a:ext cx="1654812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Remarks</a:t>
            </a:r>
          </a:p>
        </p:txBody>
      </p:sp>
      <p:sp>
        <p:nvSpPr>
          <p:cNvPr id="6" name="矩形 5"/>
          <p:cNvSpPr/>
          <p:nvPr/>
        </p:nvSpPr>
        <p:spPr>
          <a:xfrm>
            <a:off x="529388" y="1067929"/>
            <a:ext cx="10824412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 dirty="0"/>
              <a:t>Despite the fact that the far-reaching independence assumptions are often inaccurate, the naive Bayes classifier has several properties that make it </a:t>
            </a:r>
            <a:r>
              <a:rPr lang="en-US" altLang="zh-CN" sz="2400" dirty="0">
                <a:solidFill>
                  <a:srgbClr val="FF0000"/>
                </a:solidFill>
              </a:rPr>
              <a:t>surprisingly useful </a:t>
            </a:r>
            <a:r>
              <a:rPr lang="en-US" altLang="zh-CN" sz="2400" dirty="0"/>
              <a:t>in practice. 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 dirty="0"/>
              <a:t>The decoupling of the class conditional feature distributions means that each distribution can be independently estimated as a one dimensional distribution. This in turn helps to </a:t>
            </a:r>
            <a:r>
              <a:rPr lang="en-US" altLang="zh-CN" sz="2400" dirty="0">
                <a:solidFill>
                  <a:srgbClr val="FF0000"/>
                </a:solidFill>
              </a:rPr>
              <a:t>alleviate problems </a:t>
            </a:r>
            <a:r>
              <a:rPr lang="en-US" altLang="zh-CN" sz="2400" dirty="0"/>
              <a:t>stemming from </a:t>
            </a:r>
            <a:r>
              <a:rPr lang="en-US" altLang="zh-CN" sz="2400" dirty="0">
                <a:solidFill>
                  <a:srgbClr val="FF0000"/>
                </a:solidFill>
              </a:rPr>
              <a:t>the curse of dimensionality</a:t>
            </a:r>
            <a:r>
              <a:rPr lang="en-US" altLang="zh-CN" sz="2400" dirty="0"/>
              <a:t>. 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 dirty="0"/>
              <a:t>Like all probabilistic classifiers under the MAP decision rule, it arrives at the correct classification </a:t>
            </a:r>
            <a:r>
              <a:rPr lang="en-US" altLang="zh-CN" sz="2400" i="1" dirty="0">
                <a:solidFill>
                  <a:srgbClr val="FF0000"/>
                </a:solidFill>
              </a:rPr>
              <a:t>as long as the correct class is more probable than any other class</a:t>
            </a:r>
            <a:r>
              <a:rPr lang="en-US" altLang="zh-CN" sz="2400" dirty="0"/>
              <a:t>; hence class probabilities do not have to be estimated very well. </a:t>
            </a:r>
          </a:p>
        </p:txBody>
      </p:sp>
    </p:spTree>
    <p:extLst>
      <p:ext uri="{BB962C8B-B14F-4D97-AF65-F5344CB8AC3E}">
        <p14:creationId xmlns:p14="http://schemas.microsoft.com/office/powerpoint/2010/main" val="3966352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5A6678A-59EF-45FE-9CDB-5A84AAAF4E98}"/>
              </a:ext>
            </a:extLst>
          </p:cNvPr>
          <p:cNvSpPr/>
          <p:nvPr/>
        </p:nvSpPr>
        <p:spPr>
          <a:xfrm>
            <a:off x="333273" y="927898"/>
            <a:ext cx="11216641" cy="3307218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CE66A1-9D10-48F8-8777-563747D7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2498EB-F3F7-4EDA-BA1F-3CF5C7DE6FD4}"/>
              </a:ext>
            </a:extLst>
          </p:cNvPr>
          <p:cNvSpPr txBox="1"/>
          <p:nvPr/>
        </p:nvSpPr>
        <p:spPr>
          <a:xfrm>
            <a:off x="221382" y="114717"/>
            <a:ext cx="1888594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Reference</a:t>
            </a:r>
          </a:p>
        </p:txBody>
      </p:sp>
      <p:sp>
        <p:nvSpPr>
          <p:cNvPr id="6" name="矩形 5"/>
          <p:cNvSpPr/>
          <p:nvPr/>
        </p:nvSpPr>
        <p:spPr>
          <a:xfrm>
            <a:off x="529388" y="1067929"/>
            <a:ext cx="1082441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>
                <a:solidFill>
                  <a:srgbClr val="000000"/>
                </a:solidFill>
                <a:latin typeface="FreeSerif"/>
              </a:rPr>
              <a:t>[1] Harry Zhang "The Optimality of Naive Bayes". FLAIRS2004 conference. </a:t>
            </a:r>
            <a:r>
              <a:rPr lang="en-US" altLang="zh-CN" sz="2400" i="1" dirty="0">
                <a:solidFill>
                  <a:srgbClr val="000000"/>
                </a:solidFill>
                <a:latin typeface="FreeSerifItalic"/>
              </a:rPr>
              <a:t>(available online: PDF </a:t>
            </a:r>
            <a:r>
              <a:rPr lang="en-US" altLang="zh-CN" sz="2400" dirty="0">
                <a:solidFill>
                  <a:srgbClr val="000000"/>
                </a:solidFill>
                <a:latin typeface="FreeSerif"/>
              </a:rPr>
              <a:t>(http://www.cs.unb.ca/profs/hzhang/publications/FLAIRS04ZhangH.pdf)</a:t>
            </a:r>
            <a:r>
              <a:rPr lang="en-US" altLang="zh-CN" sz="2400" i="1" dirty="0">
                <a:solidFill>
                  <a:srgbClr val="000000"/>
                </a:solidFill>
                <a:latin typeface="FreeSerifItalic"/>
              </a:rPr>
              <a:t>)</a:t>
            </a:r>
            <a:br>
              <a:rPr lang="en-US" altLang="zh-CN" sz="2400" i="1" dirty="0">
                <a:solidFill>
                  <a:srgbClr val="000000"/>
                </a:solidFill>
                <a:latin typeface="FreeSerifItalic"/>
              </a:rPr>
            </a:br>
            <a:r>
              <a:rPr lang="en-US" altLang="zh-CN" sz="2400" dirty="0">
                <a:solidFill>
                  <a:srgbClr val="000000"/>
                </a:solidFill>
                <a:latin typeface="FreeSerif"/>
              </a:rPr>
              <a:t>[2] Caruana, R. and Niculescu-</a:t>
            </a:r>
            <a:r>
              <a:rPr lang="en-US" altLang="zh-CN" sz="2400" dirty="0" err="1">
                <a:solidFill>
                  <a:srgbClr val="000000"/>
                </a:solidFill>
                <a:latin typeface="FreeSerif"/>
              </a:rPr>
              <a:t>Mizil</a:t>
            </a:r>
            <a:r>
              <a:rPr lang="en-US" altLang="zh-CN" sz="2400" dirty="0">
                <a:solidFill>
                  <a:srgbClr val="000000"/>
                </a:solidFill>
                <a:latin typeface="FreeSerif"/>
              </a:rPr>
              <a:t>, A.: "An empirical comparison of supervised learning algorithms". Proceedings of the 23rd international conference on Machine learning, 2006.</a:t>
            </a:r>
          </a:p>
          <a:p>
            <a:pPr algn="just"/>
            <a:r>
              <a:rPr lang="en-US" altLang="zh-CN" sz="2400" dirty="0">
                <a:solidFill>
                  <a:srgbClr val="000000"/>
                </a:solidFill>
                <a:latin typeface="FreeSerif"/>
              </a:rPr>
              <a:t>[3] George H. John and Pat Langley (1995). Estimating Continuous Distributions in Bayesian Classifiers. Proceedings of the Eleventh Conference on Uncertainty in Artificial Intelligence. pp. 338-345. Morgan Kaufmann, San Mateo.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016686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5A6678A-59EF-45FE-9CDB-5A84AAAF4E98}"/>
              </a:ext>
            </a:extLst>
          </p:cNvPr>
          <p:cNvSpPr/>
          <p:nvPr/>
        </p:nvSpPr>
        <p:spPr>
          <a:xfrm>
            <a:off x="333273" y="975523"/>
            <a:ext cx="11216641" cy="4015577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CE66A1-9D10-48F8-8777-563747D7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2498EB-F3F7-4EDA-BA1F-3CF5C7DE6FD4}"/>
              </a:ext>
            </a:extLst>
          </p:cNvPr>
          <p:cNvSpPr txBox="1"/>
          <p:nvPr/>
        </p:nvSpPr>
        <p:spPr>
          <a:xfrm>
            <a:off x="221382" y="114717"/>
            <a:ext cx="2040943" cy="7546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529388" y="1067929"/>
                <a:ext cx="10824412" cy="3763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US" altLang="zh-CN" sz="3200" dirty="0">
                    <a:solidFill>
                      <a:srgbClr val="000000"/>
                    </a:solidFill>
                    <a:latin typeface="FreeSerif"/>
                  </a:rPr>
                  <a:t>Naïve assumption: independent features.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𝑝𝑜𝑠𝑡𝑒𝑟𝑖𝑜𝑟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𝑝𝑟𝑖𝑜𝑟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𝑙𝑖𝑘𝑒𝑙𝑖h𝑜𝑜𝑑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𝑒𝑣𝑖𝑑𝑒𝑛𝑐𝑒</m:t>
                        </m:r>
                      </m:den>
                    </m:f>
                  </m:oMath>
                </a14:m>
                <a:r>
                  <a:rPr lang="en-US" altLang="zh-CN" sz="3200" dirty="0"/>
                  <a:t> 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US" altLang="zh-CN" sz="3200" dirty="0"/>
                  <a:t>Maximum Likelihood Estimates</a:t>
                </a:r>
              </a:p>
              <a:p>
                <a:pPr marL="914400" lvl="1" indent="-457200" algn="just">
                  <a:buFont typeface="Arial" panose="020B0604020202020204" pitchFamily="34" charset="0"/>
                  <a:buChar char="•"/>
                </a:pPr>
                <a:r>
                  <a:rPr lang="en-US" altLang="zh-CN" sz="3200" dirty="0"/>
                  <a:t>Discrete features</a:t>
                </a:r>
              </a:p>
              <a:p>
                <a:pPr marL="914400" lvl="1" indent="-457200" algn="just">
                  <a:buFont typeface="Arial" panose="020B0604020202020204" pitchFamily="34" charset="0"/>
                  <a:buChar char="•"/>
                </a:pPr>
                <a:r>
                  <a:rPr lang="en-US" altLang="zh-CN" sz="3200" dirty="0"/>
                  <a:t>Continuous features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US" altLang="zh-CN" sz="3200" dirty="0"/>
                  <a:t>Sample Correction</a:t>
                </a:r>
              </a:p>
              <a:p>
                <a:pPr marL="914400" lvl="1" indent="-457200" algn="just">
                  <a:buFont typeface="Arial" panose="020B0604020202020204" pitchFamily="34" charset="0"/>
                  <a:buChar char="•"/>
                </a:pPr>
                <a:r>
                  <a:rPr lang="en-US" altLang="zh-CN" sz="3200" dirty="0"/>
                  <a:t>Laplace Smoothing</a:t>
                </a: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88" y="1067929"/>
                <a:ext cx="10824412" cy="3763466"/>
              </a:xfrm>
              <a:prstGeom prst="rect">
                <a:avLst/>
              </a:prstGeom>
              <a:blipFill>
                <a:blip r:embed="rId2"/>
                <a:stretch>
                  <a:fillRect l="-1295" t="-2104" b="-43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4362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7093</TotalTime>
  <Words>4255</Words>
  <Application>Microsoft Macintosh PowerPoint</Application>
  <PresentationFormat>Widescreen</PresentationFormat>
  <Paragraphs>524</Paragraphs>
  <Slides>61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0" baseType="lpstr">
      <vt:lpstr>等线</vt:lpstr>
      <vt:lpstr>FreeSerif</vt:lpstr>
      <vt:lpstr>FreeSerifItalic</vt:lpstr>
      <vt:lpstr>Arial</vt:lpstr>
      <vt:lpstr>Calibri</vt:lpstr>
      <vt:lpstr>Calibri Light</vt:lpstr>
      <vt:lpstr>Cambria Math</vt:lpstr>
      <vt:lpstr>Wingdings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Naive Bayes</dc:title>
  <dc:creator>songxuemeng</dc:creator>
  <cp:lastModifiedBy>Microsoft Office User</cp:lastModifiedBy>
  <cp:revision>330</cp:revision>
  <dcterms:created xsi:type="dcterms:W3CDTF">2018-12-04T01:53:00Z</dcterms:created>
  <dcterms:modified xsi:type="dcterms:W3CDTF">2022-11-02T06:20:20Z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2052-11.1.0.7932</vt:lpwstr>
  </property>
</Properties>
</file>