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sldIdLst>
    <p:sldId id="262" r:id="rId2"/>
    <p:sldId id="286" r:id="rId3"/>
    <p:sldId id="380" r:id="rId4"/>
    <p:sldId id="358" r:id="rId5"/>
    <p:sldId id="359" r:id="rId6"/>
    <p:sldId id="360" r:id="rId7"/>
    <p:sldId id="362" r:id="rId8"/>
    <p:sldId id="364" r:id="rId9"/>
    <p:sldId id="366" r:id="rId10"/>
    <p:sldId id="365" r:id="rId11"/>
    <p:sldId id="283" r:id="rId12"/>
    <p:sldId id="324" r:id="rId13"/>
    <p:sldId id="325" r:id="rId14"/>
    <p:sldId id="369" r:id="rId15"/>
    <p:sldId id="287" r:id="rId16"/>
    <p:sldId id="288" r:id="rId17"/>
    <p:sldId id="296" r:id="rId18"/>
    <p:sldId id="385" r:id="rId19"/>
    <p:sldId id="368" r:id="rId20"/>
    <p:sldId id="384" r:id="rId21"/>
    <p:sldId id="367" r:id="rId22"/>
    <p:sldId id="372" r:id="rId23"/>
    <p:sldId id="328" r:id="rId24"/>
    <p:sldId id="438" r:id="rId25"/>
    <p:sldId id="390" r:id="rId26"/>
    <p:sldId id="389" r:id="rId27"/>
    <p:sldId id="388" r:id="rId28"/>
    <p:sldId id="437" r:id="rId29"/>
    <p:sldId id="282" r:id="rId30"/>
    <p:sldId id="332" r:id="rId31"/>
    <p:sldId id="330" r:id="rId32"/>
    <p:sldId id="374" r:id="rId33"/>
    <p:sldId id="407" r:id="rId34"/>
    <p:sldId id="396" r:id="rId35"/>
    <p:sldId id="397" r:id="rId36"/>
    <p:sldId id="425" r:id="rId37"/>
    <p:sldId id="400" r:id="rId38"/>
    <p:sldId id="402" r:id="rId39"/>
    <p:sldId id="392" r:id="rId40"/>
    <p:sldId id="297" r:id="rId41"/>
    <p:sldId id="393" r:id="rId42"/>
    <p:sldId id="394" r:id="rId43"/>
    <p:sldId id="395" r:id="rId44"/>
    <p:sldId id="507" r:id="rId45"/>
    <p:sldId id="524" r:id="rId46"/>
    <p:sldId id="376" r:id="rId47"/>
    <p:sldId id="269" r:id="rId48"/>
    <p:sldId id="339" r:id="rId49"/>
    <p:sldId id="428" r:id="rId50"/>
    <p:sldId id="429" r:id="rId51"/>
    <p:sldId id="514" r:id="rId52"/>
    <p:sldId id="515" r:id="rId53"/>
    <p:sldId id="271" r:id="rId54"/>
    <p:sldId id="406" r:id="rId55"/>
    <p:sldId id="583" r:id="rId56"/>
    <p:sldId id="584" r:id="rId57"/>
    <p:sldId id="354" r:id="rId58"/>
    <p:sldId id="443" r:id="rId59"/>
    <p:sldId id="275" r:id="rId60"/>
    <p:sldId id="510" r:id="rId61"/>
    <p:sldId id="454" r:id="rId62"/>
    <p:sldId id="410" r:id="rId63"/>
    <p:sldId id="513" r:id="rId64"/>
    <p:sldId id="516" r:id="rId65"/>
    <p:sldId id="273" r:id="rId66"/>
    <p:sldId id="512" r:id="rId67"/>
    <p:sldId id="345" r:id="rId68"/>
    <p:sldId id="526" r:id="rId69"/>
    <p:sldId id="527" r:id="rId70"/>
    <p:sldId id="528" r:id="rId71"/>
    <p:sldId id="529" r:id="rId72"/>
    <p:sldId id="531" r:id="rId73"/>
    <p:sldId id="579" r:id="rId74"/>
    <p:sldId id="580" r:id="rId75"/>
    <p:sldId id="581" r:id="rId76"/>
    <p:sldId id="582" r:id="rId77"/>
    <p:sldId id="517" r:id="rId78"/>
    <p:sldId id="518" r:id="rId79"/>
    <p:sldId id="519" r:id="rId80"/>
    <p:sldId id="520" r:id="rId81"/>
    <p:sldId id="521" r:id="rId82"/>
    <p:sldId id="522" r:id="rId83"/>
    <p:sldId id="523" r:id="rId84"/>
    <p:sldId id="509" r:id="rId85"/>
    <p:sldId id="427" r:id="rId86"/>
    <p:sldId id="430" r:id="rId87"/>
    <p:sldId id="508" r:id="rId88"/>
    <p:sldId id="419" r:id="rId89"/>
    <p:sldId id="416" r:id="rId90"/>
    <p:sldId id="417" r:id="rId91"/>
    <p:sldId id="418" r:id="rId92"/>
    <p:sldId id="446" r:id="rId93"/>
    <p:sldId id="449" r:id="rId94"/>
    <p:sldId id="450" r:id="rId95"/>
    <p:sldId id="357" r:id="rId96"/>
    <p:sldId id="444" r:id="rId97"/>
    <p:sldId id="452" r:id="rId98"/>
    <p:sldId id="451" r:id="rId99"/>
    <p:sldId id="502" r:id="rId1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E6F5F0"/>
    <a:srgbClr val="FFFBD6"/>
    <a:srgbClr val="0000FF"/>
    <a:srgbClr val="F9E6E6"/>
    <a:srgbClr val="DB965C"/>
    <a:srgbClr val="F5F9E2"/>
    <a:srgbClr val="F3F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48" autoAdjust="0"/>
    <p:restoredTop sz="79228" autoAdjust="0"/>
  </p:normalViewPr>
  <p:slideViewPr>
    <p:cSldViewPr snapToGrid="0">
      <p:cViewPr varScale="1">
        <p:scale>
          <a:sx n="148" d="100"/>
          <a:sy n="148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02BBD-70DB-462A-AFFE-757EE5565E96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F3AD4-3AF9-45C6-A444-F10C73317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14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614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ABBBEA-779C-4A43-8C5E-169DC560054F}" type="slidenum">
              <a:rPr lang="en-US"/>
              <a:pPr/>
              <a:t>67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is a sequential procedure that builds a complex classifier out of simpler ones by combining them additively. </a:t>
            </a:r>
          </a:p>
        </p:txBody>
      </p:sp>
    </p:spTree>
    <p:extLst>
      <p:ext uri="{BB962C8B-B14F-4D97-AF65-F5344CB8AC3E}">
        <p14:creationId xmlns:p14="http://schemas.microsoft.com/office/powerpoint/2010/main" val="955746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ABBBEA-779C-4A43-8C5E-169DC560054F}" type="slidenum">
              <a:rPr lang="en-US"/>
              <a:pPr/>
              <a:t>68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is a sequential procedure that builds a complex classifier out of simpler ones by combining them additively. </a:t>
            </a:r>
          </a:p>
        </p:txBody>
      </p:sp>
    </p:spTree>
    <p:extLst>
      <p:ext uri="{BB962C8B-B14F-4D97-AF65-F5344CB8AC3E}">
        <p14:creationId xmlns:p14="http://schemas.microsoft.com/office/powerpoint/2010/main" val="3079523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ABBBEA-779C-4A43-8C5E-169DC560054F}" type="slidenum">
              <a:rPr lang="en-US"/>
              <a:pPr/>
              <a:t>69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is a sequential procedure that builds a complex classifier out of simpler ones by combining them additively. </a:t>
            </a:r>
          </a:p>
        </p:txBody>
      </p:sp>
    </p:spTree>
    <p:extLst>
      <p:ext uri="{BB962C8B-B14F-4D97-AF65-F5344CB8AC3E}">
        <p14:creationId xmlns:p14="http://schemas.microsoft.com/office/powerpoint/2010/main" val="1118284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ABBBEA-779C-4A43-8C5E-169DC560054F}" type="slidenum">
              <a:rPr lang="en-US"/>
              <a:pPr/>
              <a:t>70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is a sequential procedure that builds a complex classifier out of simpler ones by combining them additively. </a:t>
            </a:r>
          </a:p>
        </p:txBody>
      </p:sp>
    </p:spTree>
    <p:extLst>
      <p:ext uri="{BB962C8B-B14F-4D97-AF65-F5344CB8AC3E}">
        <p14:creationId xmlns:p14="http://schemas.microsoft.com/office/powerpoint/2010/main" val="241511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ABBBEA-779C-4A43-8C5E-169DC560054F}" type="slidenum">
              <a:rPr lang="en-US"/>
              <a:pPr/>
              <a:t>71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is a sequential procedure that builds a complex classifier out of simpler ones by combining them additively. </a:t>
            </a:r>
          </a:p>
        </p:txBody>
      </p:sp>
    </p:spTree>
    <p:extLst>
      <p:ext uri="{BB962C8B-B14F-4D97-AF65-F5344CB8AC3E}">
        <p14:creationId xmlns:p14="http://schemas.microsoft.com/office/powerpoint/2010/main" val="1045576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614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425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347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842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674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681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744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269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449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32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7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51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97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74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71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18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7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66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047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19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36FD4-A2CB-42B1-8E32-22ABDD215E71}" type="datetimeFigureOut">
              <a:rPr lang="zh-CN" altLang="en-US" smtClean="0"/>
              <a:t>2022/12/20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34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tm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tmp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39.tmp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56.png"/><Relationship Id="rId4" Type="http://schemas.openxmlformats.org/officeDocument/2006/relationships/image" Target="../media/image108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113.png"/><Relationship Id="rId7" Type="http://schemas.openxmlformats.org/officeDocument/2006/relationships/image" Target="../media/image10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Relationship Id="rId9" Type="http://schemas.openxmlformats.org/officeDocument/2006/relationships/image" Target="../media/image11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7" Type="http://schemas.openxmlformats.org/officeDocument/2006/relationships/image" Target="../media/image125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93.png"/><Relationship Id="rId4" Type="http://schemas.openxmlformats.org/officeDocument/2006/relationships/image" Target="../media/image12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35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0.png"/><Relationship Id="rId13" Type="http://schemas.openxmlformats.org/officeDocument/2006/relationships/image" Target="../media/image131.png"/><Relationship Id="rId12" Type="http://schemas.openxmlformats.org/officeDocument/2006/relationships/image" Target="../media/image130.png"/><Relationship Id="rId17" Type="http://schemas.openxmlformats.org/officeDocument/2006/relationships/image" Target="../media/image47.png"/><Relationship Id="rId16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29.png"/><Relationship Id="rId15" Type="http://schemas.openxmlformats.org/officeDocument/2006/relationships/image" Target="../media/image133.png"/><Relationship Id="rId10" Type="http://schemas.openxmlformats.org/officeDocument/2006/relationships/image" Target="../media/image128.png"/><Relationship Id="rId9" Type="http://schemas.openxmlformats.org/officeDocument/2006/relationships/image" Target="../media/image127.png"/><Relationship Id="rId14" Type="http://schemas.openxmlformats.org/officeDocument/2006/relationships/image" Target="../media/image109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49.tmp"/><Relationship Id="rId7" Type="http://schemas.openxmlformats.org/officeDocument/2006/relationships/image" Target="../media/image138.png"/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5" Type="http://schemas.openxmlformats.org/officeDocument/2006/relationships/image" Target="../media/image752.png"/><Relationship Id="rId10" Type="http://schemas.openxmlformats.org/officeDocument/2006/relationships/image" Target="../media/image141.png"/><Relationship Id="rId4" Type="http://schemas.openxmlformats.org/officeDocument/2006/relationships/image" Target="../media/image761.png"/><Relationship Id="rId9" Type="http://schemas.openxmlformats.org/officeDocument/2006/relationships/image" Target="../media/image14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0.png"/><Relationship Id="rId5" Type="http://schemas.openxmlformats.org/officeDocument/2006/relationships/image" Target="../media/image40.png"/><Relationship Id="rId10" Type="http://schemas.openxmlformats.org/officeDocument/2006/relationships/image" Target="../media/image126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0.png"/><Relationship Id="rId13" Type="http://schemas.openxmlformats.org/officeDocument/2006/relationships/image" Target="../media/image142.png"/><Relationship Id="rId3" Type="http://schemas.openxmlformats.org/officeDocument/2006/relationships/image" Target="../media/image135.png"/><Relationship Id="rId7" Type="http://schemas.openxmlformats.org/officeDocument/2006/relationships/image" Target="../media/image1310.png"/><Relationship Id="rId12" Type="http://schemas.openxmlformats.org/officeDocument/2006/relationships/image" Target="../media/image1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0.png"/><Relationship Id="rId11" Type="http://schemas.openxmlformats.org/officeDocument/2006/relationships/image" Target="../media/image1710.png"/><Relationship Id="rId5" Type="http://schemas.openxmlformats.org/officeDocument/2006/relationships/image" Target="../media/image1110.png"/><Relationship Id="rId10" Type="http://schemas.openxmlformats.org/officeDocument/2006/relationships/image" Target="../media/image1610.png"/><Relationship Id="rId4" Type="http://schemas.openxmlformats.org/officeDocument/2006/relationships/image" Target="../media/image1010.png"/><Relationship Id="rId9" Type="http://schemas.openxmlformats.org/officeDocument/2006/relationships/image" Target="../media/image151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47.png"/><Relationship Id="rId3" Type="http://schemas.openxmlformats.org/officeDocument/2006/relationships/image" Target="../media/image144.png"/><Relationship Id="rId7" Type="http://schemas.openxmlformats.org/officeDocument/2006/relationships/image" Target="../media/image220.png"/><Relationship Id="rId12" Type="http://schemas.openxmlformats.org/officeDocument/2006/relationships/image" Target="../media/image1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11" Type="http://schemas.openxmlformats.org/officeDocument/2006/relationships/image" Target="../media/image145.png"/><Relationship Id="rId5" Type="http://schemas.openxmlformats.org/officeDocument/2006/relationships/image" Target="../media/image200.png"/><Relationship Id="rId10" Type="http://schemas.openxmlformats.org/officeDocument/2006/relationships/image" Target="../media/image25.png"/><Relationship Id="rId4" Type="http://schemas.openxmlformats.org/officeDocument/2006/relationships/image" Target="../media/image190.png"/><Relationship Id="rId9" Type="http://schemas.openxmlformats.org/officeDocument/2006/relationships/image" Target="../media/image240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260.png"/><Relationship Id="rId7" Type="http://schemas.openxmlformats.org/officeDocument/2006/relationships/image" Target="../media/image14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0.png"/><Relationship Id="rId5" Type="http://schemas.openxmlformats.org/officeDocument/2006/relationships/image" Target="../media/image1351.png"/><Relationship Id="rId4" Type="http://schemas.openxmlformats.org/officeDocument/2006/relationships/image" Target="../media/image270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54.png"/><Relationship Id="rId7" Type="http://schemas.openxmlformats.org/officeDocument/2006/relationships/image" Target="../media/image149.png"/><Relationship Id="rId2" Type="http://schemas.openxmlformats.org/officeDocument/2006/relationships/image" Target="../media/image14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80.png"/><Relationship Id="rId5" Type="http://schemas.openxmlformats.org/officeDocument/2006/relationships/image" Target="../media/image1470.png"/><Relationship Id="rId4" Type="http://schemas.openxmlformats.org/officeDocument/2006/relationships/image" Target="../media/image1460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58.png"/><Relationship Id="rId7" Type="http://schemas.openxmlformats.org/officeDocument/2006/relationships/image" Target="../media/image163.png"/><Relationship Id="rId2" Type="http://schemas.openxmlformats.org/officeDocument/2006/relationships/image" Target="../media/image15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0.png"/><Relationship Id="rId10" Type="http://schemas.openxmlformats.org/officeDocument/2006/relationships/image" Target="../media/image166.png"/><Relationship Id="rId4" Type="http://schemas.openxmlformats.org/officeDocument/2006/relationships/image" Target="../media/image159.png"/><Relationship Id="rId9" Type="http://schemas.openxmlformats.org/officeDocument/2006/relationships/image" Target="../media/image165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2" Type="http://schemas.openxmlformats.org/officeDocument/2006/relationships/image" Target="../media/image16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mp"/><Relationship Id="rId2" Type="http://schemas.openxmlformats.org/officeDocument/2006/relationships/image" Target="../media/image129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0.png"/><Relationship Id="rId7" Type="http://schemas.openxmlformats.org/officeDocument/2006/relationships/image" Target="../media/image560.png"/><Relationship Id="rId12" Type="http://schemas.openxmlformats.org/officeDocument/2006/relationships/image" Target="../media/image6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00.png"/><Relationship Id="rId5" Type="http://schemas.openxmlformats.org/officeDocument/2006/relationships/image" Target="../media/image61.png"/><Relationship Id="rId10" Type="http://schemas.openxmlformats.org/officeDocument/2006/relationships/image" Target="../media/image64.png"/><Relationship Id="rId4" Type="http://schemas.openxmlformats.org/officeDocument/2006/relationships/image" Target="../media/image60.png"/><Relationship Id="rId9" Type="http://schemas.openxmlformats.org/officeDocument/2006/relationships/image" Target="../media/image58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40.png"/><Relationship Id="rId4" Type="http://schemas.openxmlformats.org/officeDocument/2006/relationships/image" Target="../media/image66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8.png"/><Relationship Id="rId3" Type="http://schemas.openxmlformats.org/officeDocument/2006/relationships/image" Target="../media/image70.png"/><Relationship Id="rId7" Type="http://schemas.openxmlformats.org/officeDocument/2006/relationships/image" Target="../media/image73.png"/><Relationship Id="rId12" Type="http://schemas.openxmlformats.org/officeDocument/2006/relationships/image" Target="../media/image77.png"/><Relationship Id="rId17" Type="http://schemas.openxmlformats.org/officeDocument/2006/relationships/image" Target="../media/image52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80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53.png"/><Relationship Id="rId5" Type="http://schemas.openxmlformats.org/officeDocument/2006/relationships/image" Target="../media/image85.png"/><Relationship Id="rId10" Type="http://schemas.openxmlformats.org/officeDocument/2006/relationships/image" Target="../media/image460.png"/><Relationship Id="rId4" Type="http://schemas.openxmlformats.org/officeDocument/2006/relationships/image" Target="../media/image84.png"/><Relationship Id="rId9" Type="http://schemas.openxmlformats.org/officeDocument/2006/relationships/image" Target="../media/image670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89.png"/><Relationship Id="rId7" Type="http://schemas.openxmlformats.org/officeDocument/2006/relationships/image" Target="../media/image95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55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.png"/><Relationship Id="rId3" Type="http://schemas.openxmlformats.org/officeDocument/2006/relationships/image" Target="../media/image97.png"/><Relationship Id="rId7" Type="http://schemas.openxmlformats.org/officeDocument/2006/relationships/image" Target="../media/image57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9" Type="http://schemas.openxmlformats.org/officeDocument/2006/relationships/image" Target="../media/image100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102.png"/><Relationship Id="rId7" Type="http://schemas.openxmlformats.org/officeDocument/2006/relationships/image" Target="../media/image95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0" Type="http://schemas.openxmlformats.org/officeDocument/2006/relationships/image" Target="../media/image103.png"/><Relationship Id="rId4" Type="http://schemas.openxmlformats.org/officeDocument/2006/relationships/image" Target="../media/image91.png"/><Relationship Id="rId9" Type="http://schemas.openxmlformats.org/officeDocument/2006/relationships/image" Target="../media/image5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7858" y="2252008"/>
            <a:ext cx="119599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Machine Learning &amp; Pattern Recognition</a:t>
            </a:r>
            <a:endParaRPr lang="zh-CN" altLang="en-US" sz="54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172DA918-A30F-884B-A42C-04FECA329C61}"/>
              </a:ext>
            </a:extLst>
          </p:cNvPr>
          <p:cNvSpPr/>
          <p:nvPr/>
        </p:nvSpPr>
        <p:spPr>
          <a:xfrm>
            <a:off x="4247748" y="3880339"/>
            <a:ext cx="3821239" cy="1495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 Xin(</a:t>
            </a:r>
            <a:r>
              <a:rPr lang="zh-CN" altLang="en-US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辛鑫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xinxin@sdu.edu.cn</a:t>
            </a:r>
            <a:endParaRPr lang="en-US" altLang="zh-CN" sz="2400" b="1" dirty="0">
              <a:solidFill>
                <a:prstClr val="black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https://</a:t>
            </a: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xinxin-me.github.io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51825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7">
            <a:extLst>
              <a:ext uri="{FF2B5EF4-FFF2-40B4-BE49-F238E27FC236}">
                <a16:creationId xmlns:a16="http://schemas.microsoft.com/office/drawing/2014/main" id="{3B7EE0B9-5D54-4A59-9289-A157D6E04E0D}"/>
              </a:ext>
            </a:extLst>
          </p:cNvPr>
          <p:cNvSpPr/>
          <p:nvPr/>
        </p:nvSpPr>
        <p:spPr>
          <a:xfrm>
            <a:off x="410681" y="1065835"/>
            <a:ext cx="10807216" cy="175277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10682" y="1136460"/>
                <a:ext cx="1101394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Aggregation of predictions of multiple (</a:t>
                </a:r>
                <a:r>
                  <a:rPr lang="en-US" altLang="zh-CN" sz="2400" i="1" dirty="0" err="1">
                    <a:solidFill>
                      <a:srgbClr val="FF0000"/>
                    </a:solidFill>
                  </a:rPr>
                  <a:t>Heterogenous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/Homogeneous</a:t>
                </a:r>
                <a:r>
                  <a:rPr lang="en-US" altLang="zh-CN" sz="2400" dirty="0"/>
                  <a:t>) classifiers with the goal of improving accuracy.</a:t>
                </a:r>
              </a:p>
              <a:p>
                <a:r>
                  <a:rPr lang="en-US" altLang="zh-CN" sz="2400" b="1" dirty="0">
                    <a:solidFill>
                      <a:srgbClr val="FF0000"/>
                    </a:solidFill>
                  </a:rPr>
                  <a:t>IDEA</a:t>
                </a:r>
                <a:r>
                  <a:rPr lang="en-US" altLang="zh-CN" sz="2400" dirty="0"/>
                  <a:t>: Consider a set of predictors,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zh-CN" sz="2400" dirty="0"/>
                  <a:t>. Construct a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(</a:t>
                </a:r>
                <a:r>
                  <a:rPr lang="en-US" altLang="zh-CN" sz="2400" i="1" dirty="0"/>
                  <a:t>called 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committee</a:t>
                </a:r>
                <a:r>
                  <a:rPr lang="en-US" altLang="zh-CN" sz="2400" dirty="0"/>
                  <a:t>) that combines the individual decisions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zh-CN" sz="2400" dirty="0"/>
                  <a:t>. 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2" y="1136460"/>
                <a:ext cx="1101394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30" t="-3101" b="-7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10681" y="253477"/>
            <a:ext cx="4198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Ensemble Learning</a:t>
            </a:r>
            <a:endParaRPr lang="zh-CN" altLang="en-US" sz="4000" dirty="0"/>
          </a:p>
        </p:txBody>
      </p:sp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646" y="3249666"/>
            <a:ext cx="7411484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73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7">
            <a:extLst>
              <a:ext uri="{FF2B5EF4-FFF2-40B4-BE49-F238E27FC236}">
                <a16:creationId xmlns:a16="http://schemas.microsoft.com/office/drawing/2014/main" id="{687077AF-F0C2-45DA-AC7D-03048F167E54}"/>
              </a:ext>
            </a:extLst>
          </p:cNvPr>
          <p:cNvSpPr/>
          <p:nvPr/>
        </p:nvSpPr>
        <p:spPr>
          <a:xfrm>
            <a:off x="410681" y="3753379"/>
            <a:ext cx="10807216" cy="2363164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矩形: 圆角 7">
            <a:extLst>
              <a:ext uri="{FF2B5EF4-FFF2-40B4-BE49-F238E27FC236}">
                <a16:creationId xmlns:a16="http://schemas.microsoft.com/office/drawing/2014/main" id="{D8971DB4-4590-40D3-8D6C-8EDF045FE5AB}"/>
              </a:ext>
            </a:extLst>
          </p:cNvPr>
          <p:cNvSpPr/>
          <p:nvPr/>
        </p:nvSpPr>
        <p:spPr>
          <a:xfrm>
            <a:off x="410681" y="1065836"/>
            <a:ext cx="10807216" cy="236316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3400BB-E76B-4861-83FE-39FDD6E4F77C}"/>
              </a:ext>
            </a:extLst>
          </p:cNvPr>
          <p:cNvSpPr/>
          <p:nvPr/>
        </p:nvSpPr>
        <p:spPr>
          <a:xfrm>
            <a:off x="410680" y="1247144"/>
            <a:ext cx="10778935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800" b="1" dirty="0"/>
              <a:t>Heterogenous (Hybrid) Ensemble: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 heterogeneous ensemble is an ensemble with a set of base classifiers that consist of models created using </a:t>
            </a:r>
            <a:r>
              <a:rPr lang="en-US" altLang="zh-CN" sz="2400" dirty="0">
                <a:solidFill>
                  <a:srgbClr val="FF0000"/>
                </a:solidFill>
              </a:rPr>
              <a:t>different</a:t>
            </a:r>
            <a:r>
              <a:rPr lang="en-US" altLang="zh-CN" sz="2400" dirty="0"/>
              <a:t> algorithms.</a:t>
            </a:r>
          </a:p>
          <a:p>
            <a:pPr marL="800100" lvl="1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E.g. The outputs of decision tree classifiers could be combined with the outputs of SVM.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0CE072-9142-4DDA-AEFB-7F282F7E9C38}"/>
              </a:ext>
            </a:extLst>
          </p:cNvPr>
          <p:cNvSpPr txBox="1"/>
          <p:nvPr/>
        </p:nvSpPr>
        <p:spPr>
          <a:xfrm>
            <a:off x="410681" y="253477"/>
            <a:ext cx="4198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Ensemble Learning</a:t>
            </a:r>
            <a:endParaRPr lang="zh-CN" altLang="en-US" sz="4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98B393-5F7C-4E08-8E58-929A3A675EFA}"/>
              </a:ext>
            </a:extLst>
          </p:cNvPr>
          <p:cNvSpPr/>
          <p:nvPr/>
        </p:nvSpPr>
        <p:spPr>
          <a:xfrm>
            <a:off x="410680" y="3934687"/>
            <a:ext cx="10694096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800" b="1" dirty="0"/>
              <a:t>Homogeneous  Ensemble: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Homogeneous ensemble refers to the fact that all of the base classifiers are of a </a:t>
            </a:r>
            <a:r>
              <a:rPr lang="en-US" altLang="zh-CN" sz="2400" dirty="0">
                <a:solidFill>
                  <a:srgbClr val="FF0000"/>
                </a:solidFill>
              </a:rPr>
              <a:t>single type </a:t>
            </a:r>
            <a:r>
              <a:rPr lang="en-US" altLang="zh-CN" sz="2400" dirty="0"/>
              <a:t>(e.g., decision trees), differing by model parameters, the data used for training, or a combination of the two.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E.g., bagging and boosting.</a:t>
            </a:r>
          </a:p>
        </p:txBody>
      </p:sp>
    </p:spTree>
    <p:extLst>
      <p:ext uri="{BB962C8B-B14F-4D97-AF65-F5344CB8AC3E}">
        <p14:creationId xmlns:p14="http://schemas.microsoft.com/office/powerpoint/2010/main" val="270812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5D802A-0B43-42F8-BFC3-3205783CB2C2}"/>
              </a:ext>
            </a:extLst>
          </p:cNvPr>
          <p:cNvSpPr txBox="1"/>
          <p:nvPr/>
        </p:nvSpPr>
        <p:spPr>
          <a:xfrm>
            <a:off x="410681" y="253477"/>
            <a:ext cx="71073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Combining Predictors: Averaging</a:t>
            </a:r>
            <a:endParaRPr lang="zh-CN" altLang="en-US" sz="4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0067B9-3F65-497D-A4B9-E82DA3CAB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775" y="1123740"/>
            <a:ext cx="8017943" cy="35780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A0B6DD6-E0AA-47B4-89D0-FCF1D8043EDB}"/>
                  </a:ext>
                </a:extLst>
              </p:cNvPr>
              <p:cNvSpPr txBox="1"/>
              <p:nvPr/>
            </p:nvSpPr>
            <p:spPr>
              <a:xfrm>
                <a:off x="7843101" y="4233851"/>
                <a:ext cx="2843086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A0B6DD6-E0AA-47B4-89D0-FCF1D8043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101" y="4233851"/>
                <a:ext cx="2843086" cy="12115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0331AE5A-81DB-4355-B606-0F521141559B}"/>
              </a:ext>
            </a:extLst>
          </p:cNvPr>
          <p:cNvSpPr/>
          <p:nvPr/>
        </p:nvSpPr>
        <p:spPr>
          <a:xfrm>
            <a:off x="410681" y="5887366"/>
            <a:ext cx="97064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Calibri" panose="020F0502020204030204" pitchFamily="34" charset="0"/>
              </a:rPr>
              <a:t>Averaging for regression; voting for classification.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12324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5D802A-0B43-42F8-BFC3-3205783CB2C2}"/>
              </a:ext>
            </a:extLst>
          </p:cNvPr>
          <p:cNvSpPr txBox="1"/>
          <p:nvPr/>
        </p:nvSpPr>
        <p:spPr>
          <a:xfrm>
            <a:off x="410681" y="253477"/>
            <a:ext cx="92741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Combining Predictors: Weighted Averaging</a:t>
            </a:r>
            <a:endParaRPr lang="zh-CN" altLang="en-US" sz="4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3EC112-A3C8-4734-9526-5DE0604B5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168" y="1145372"/>
            <a:ext cx="7826508" cy="34879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A0B6DD6-E0AA-47B4-89D0-FCF1D8043EDB}"/>
                  </a:ext>
                </a:extLst>
              </p:cNvPr>
              <p:cNvSpPr txBox="1"/>
              <p:nvPr/>
            </p:nvSpPr>
            <p:spPr>
              <a:xfrm>
                <a:off x="7763348" y="4293687"/>
                <a:ext cx="2952218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A0B6DD6-E0AA-47B4-89D0-FCF1D8043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348" y="4293687"/>
                <a:ext cx="2952218" cy="1211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41F1E72A-7A7F-4190-948D-6A928596EB2A}"/>
              </a:ext>
            </a:extLst>
          </p:cNvPr>
          <p:cNvSpPr/>
          <p:nvPr/>
        </p:nvSpPr>
        <p:spPr>
          <a:xfrm>
            <a:off x="410681" y="5887366"/>
            <a:ext cx="97064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Calibri" panose="020F0502020204030204" pitchFamily="34" charset="0"/>
              </a:rPr>
              <a:t>Just like linear regression or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Note: single model will not be updated when training ensemble model</a:t>
            </a:r>
          </a:p>
        </p:txBody>
      </p:sp>
    </p:spTree>
    <p:extLst>
      <p:ext uri="{BB962C8B-B14F-4D97-AF65-F5344CB8AC3E}">
        <p14:creationId xmlns:p14="http://schemas.microsoft.com/office/powerpoint/2010/main" val="3753089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5D802A-0B43-42F8-BFC3-3205783CB2C2}"/>
              </a:ext>
            </a:extLst>
          </p:cNvPr>
          <p:cNvSpPr txBox="1"/>
          <p:nvPr/>
        </p:nvSpPr>
        <p:spPr>
          <a:xfrm>
            <a:off x="410681" y="253477"/>
            <a:ext cx="63985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Combining Predictors: Gating</a:t>
            </a:r>
            <a:endParaRPr lang="zh-CN" altLang="en-US" sz="4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0328D1-0FB7-4DC4-89E3-5805D1036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537" y="987503"/>
            <a:ext cx="7905610" cy="443383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9D1C346-D369-4EDD-8264-10F08A7002FA}"/>
              </a:ext>
            </a:extLst>
          </p:cNvPr>
          <p:cNvSpPr/>
          <p:nvPr/>
        </p:nvSpPr>
        <p:spPr>
          <a:xfrm>
            <a:off x="410681" y="5887366"/>
            <a:ext cx="97064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Calibri" panose="020F0502020204030204" pitchFamily="34" charset="0"/>
              </a:rPr>
              <a:t>Just like linear regression or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Note: single model will not be updated when training ensemble model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F80309-2FB9-44BC-B35B-882B4094170D}"/>
              </a:ext>
            </a:extLst>
          </p:cNvPr>
          <p:cNvSpPr/>
          <p:nvPr/>
        </p:nvSpPr>
        <p:spPr>
          <a:xfrm>
            <a:off x="1392458" y="4590341"/>
            <a:ext cx="23325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latin typeface="Calibri" panose="020F0502020204030204" pitchFamily="34" charset="0"/>
              </a:rPr>
              <a:t>Learnable gating functions</a:t>
            </a:r>
            <a:r>
              <a:rPr lang="en-US" altLang="zh-CN" sz="2400" b="1" dirty="0"/>
              <a:t> 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C1476F-7A93-415E-924F-FF5C5EE27A5B}"/>
                  </a:ext>
                </a:extLst>
              </p:cNvPr>
              <p:cNvSpPr txBox="1"/>
              <p:nvPr/>
            </p:nvSpPr>
            <p:spPr>
              <a:xfrm>
                <a:off x="7391335" y="5421338"/>
                <a:ext cx="3956850" cy="854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/>
                  <a:t>or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p>
                          <m:sSup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sSup>
                              <m:sSup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C1476F-7A93-415E-924F-FF5C5EE27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35" y="5421338"/>
                <a:ext cx="3956850" cy="854273"/>
              </a:xfrm>
              <a:prstGeom prst="rect">
                <a:avLst/>
              </a:prstGeom>
              <a:blipFill>
                <a:blip r:embed="rId3"/>
                <a:stretch>
                  <a:fillRect l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976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5D802A-0B43-42F8-BFC3-3205783CB2C2}"/>
              </a:ext>
            </a:extLst>
          </p:cNvPr>
          <p:cNvSpPr txBox="1"/>
          <p:nvPr/>
        </p:nvSpPr>
        <p:spPr>
          <a:xfrm>
            <a:off x="410681" y="253477"/>
            <a:ext cx="70228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Combining Predictors: Stacking</a:t>
            </a:r>
            <a:endParaRPr lang="zh-CN" altLang="en-US" sz="4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FE5A00-7503-402C-9B17-64446AC79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960" y="1296752"/>
            <a:ext cx="8451640" cy="487136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BB3C7B7-90D4-469F-B1FA-9183492AF81F}"/>
              </a:ext>
            </a:extLst>
          </p:cNvPr>
          <p:cNvSpPr/>
          <p:nvPr/>
        </p:nvSpPr>
        <p:spPr>
          <a:xfrm>
            <a:off x="410681" y="6073237"/>
            <a:ext cx="7956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Calibri" panose="020F0502020204030204" pitchFamily="34" charset="0"/>
              </a:rPr>
              <a:t>This is the general formulation of an ensemble.</a:t>
            </a:r>
            <a:endParaRPr lang="zh-CN" altLang="en-US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535243-D2B5-4FF6-B9E7-3EBA5CAB35BB}"/>
              </a:ext>
            </a:extLst>
          </p:cNvPr>
          <p:cNvSpPr/>
          <p:nvPr/>
        </p:nvSpPr>
        <p:spPr>
          <a:xfrm>
            <a:off x="2705494" y="5526963"/>
            <a:ext cx="5948312" cy="609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11B7FDE-9F64-440E-9010-59ECF7BE9AF2}"/>
                  </a:ext>
                </a:extLst>
              </p:cNvPr>
              <p:cNvSpPr txBox="1"/>
              <p:nvPr/>
            </p:nvSpPr>
            <p:spPr>
              <a:xfrm>
                <a:off x="2995526" y="5315026"/>
                <a:ext cx="565828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…,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i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11B7FDE-9F64-440E-9010-59ECF7BE9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526" y="5315026"/>
                <a:ext cx="565828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161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5D802A-0B43-42F8-BFC3-3205783CB2C2}"/>
              </a:ext>
            </a:extLst>
          </p:cNvPr>
          <p:cNvSpPr txBox="1"/>
          <p:nvPr/>
        </p:nvSpPr>
        <p:spPr>
          <a:xfrm>
            <a:off x="410681" y="253477"/>
            <a:ext cx="7451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Combining Predictors: Multi-Layer</a:t>
            </a:r>
            <a:endParaRPr lang="zh-CN" altLang="en-US" sz="4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C494E9-9EF1-4209-B557-BD139465B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68" y="1359487"/>
            <a:ext cx="8988064" cy="431245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4AC2576-B514-4A96-BC0D-B3C4775FC776}"/>
              </a:ext>
            </a:extLst>
          </p:cNvPr>
          <p:cNvSpPr/>
          <p:nvPr/>
        </p:nvSpPr>
        <p:spPr>
          <a:xfrm>
            <a:off x="6221690" y="4374038"/>
            <a:ext cx="4713403" cy="1574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282FE2F-AC94-4444-9804-E1B58C9AEE1E}"/>
                  </a:ext>
                </a:extLst>
              </p:cNvPr>
              <p:cNvSpPr txBox="1"/>
              <p:nvPr/>
            </p:nvSpPr>
            <p:spPr>
              <a:xfrm>
                <a:off x="6756976" y="4525303"/>
                <a:ext cx="358226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282FE2F-AC94-4444-9804-E1B58C9AE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976" y="4525303"/>
                <a:ext cx="358226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4AA6B7F-BD1E-49FB-8C36-A312C021D6ED}"/>
                  </a:ext>
                </a:extLst>
              </p:cNvPr>
              <p:cNvSpPr txBox="1"/>
              <p:nvPr/>
            </p:nvSpPr>
            <p:spPr>
              <a:xfrm>
                <a:off x="6756976" y="5169015"/>
                <a:ext cx="396878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32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b="1" dirty="0"/>
                  <a:t>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4AA6B7F-BD1E-49FB-8C36-A312C021D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976" y="5169015"/>
                <a:ext cx="396878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5310F0D0-0BBA-4DBE-84F4-E2E34C057019}"/>
              </a:ext>
            </a:extLst>
          </p:cNvPr>
          <p:cNvSpPr/>
          <p:nvPr/>
        </p:nvSpPr>
        <p:spPr>
          <a:xfrm>
            <a:off x="490194" y="6159553"/>
            <a:ext cx="7956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Calibri" panose="020F0502020204030204" pitchFamily="34" charset="0"/>
              </a:rPr>
              <a:t>Use the neural network as the ensemble model.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90925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B4FADED-C1BF-494A-92E3-D5AE5A383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628" y="1202440"/>
            <a:ext cx="8406744" cy="445311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75D802A-0B43-42F8-BFC3-3205783CB2C2}"/>
              </a:ext>
            </a:extLst>
          </p:cNvPr>
          <p:cNvSpPr txBox="1"/>
          <p:nvPr/>
        </p:nvSpPr>
        <p:spPr>
          <a:xfrm>
            <a:off x="410681" y="253477"/>
            <a:ext cx="7451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Combining Predictors: Multi-Layer</a:t>
            </a:r>
            <a:endParaRPr lang="zh-CN" altLang="en-US" sz="40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AC2576-B514-4A96-BC0D-B3C4775FC776}"/>
              </a:ext>
            </a:extLst>
          </p:cNvPr>
          <p:cNvSpPr/>
          <p:nvPr/>
        </p:nvSpPr>
        <p:spPr>
          <a:xfrm>
            <a:off x="5721741" y="4440025"/>
            <a:ext cx="4617497" cy="1401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282FE2F-AC94-4444-9804-E1B58C9AEE1E}"/>
                  </a:ext>
                </a:extLst>
              </p:cNvPr>
              <p:cNvSpPr txBox="1"/>
              <p:nvPr/>
            </p:nvSpPr>
            <p:spPr>
              <a:xfrm>
                <a:off x="6523909" y="4298490"/>
                <a:ext cx="461749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282FE2F-AC94-4444-9804-E1B58C9AE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909" y="4298490"/>
                <a:ext cx="461749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310F0D0-0BBA-4DBE-84F4-E2E34C057019}"/>
                  </a:ext>
                </a:extLst>
              </p:cNvPr>
              <p:cNvSpPr/>
              <p:nvPr/>
            </p:nvSpPr>
            <p:spPr>
              <a:xfrm>
                <a:off x="410681" y="5878275"/>
                <a:ext cx="79562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Use the neural network as the ensemble model.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Incorporate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i="1" dirty="0"/>
                  <a:t> </a:t>
                </a:r>
                <a:r>
                  <a:rPr lang="en-US" altLang="zh-CN" sz="2400" dirty="0"/>
                  <a:t>into the first hidden layer (as gating).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310F0D0-0BBA-4DBE-84F4-E2E34C0570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5878275"/>
                <a:ext cx="7956223" cy="830997"/>
              </a:xfrm>
              <a:prstGeom prst="rect">
                <a:avLst/>
              </a:prstGeom>
              <a:blipFill>
                <a:blip r:embed="rId4"/>
                <a:stretch>
                  <a:fillRect l="-995" t="-5839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A9FF839-B25F-416E-9890-C91DF9EF1E04}"/>
                  </a:ext>
                </a:extLst>
              </p:cNvPr>
              <p:cNvSpPr txBox="1"/>
              <p:nvPr/>
            </p:nvSpPr>
            <p:spPr>
              <a:xfrm>
                <a:off x="6756976" y="4980479"/>
                <a:ext cx="396878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32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b="1" dirty="0"/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A9FF839-B25F-416E-9890-C91DF9EF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976" y="4980479"/>
                <a:ext cx="396878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23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5D802A-0B43-42F8-BFC3-3205783CB2C2}"/>
              </a:ext>
            </a:extLst>
          </p:cNvPr>
          <p:cNvSpPr txBox="1"/>
          <p:nvPr/>
        </p:nvSpPr>
        <p:spPr>
          <a:xfrm>
            <a:off x="410681" y="253477"/>
            <a:ext cx="7624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Combining Predictors: Tree Models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FAF477B-6CFB-46B7-BAF9-CC4C4FE00592}"/>
                  </a:ext>
                </a:extLst>
              </p:cNvPr>
              <p:cNvSpPr/>
              <p:nvPr/>
            </p:nvSpPr>
            <p:spPr>
              <a:xfrm>
                <a:off x="410681" y="5773526"/>
                <a:ext cx="79562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Use the </a:t>
                </a:r>
                <a:r>
                  <a:rPr lang="en-US" altLang="zh-CN" sz="2400" dirty="0"/>
                  <a:t>decision trees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as the ensemble model.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Splitting according to the value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dirty="0"/>
                  <a:t>’s and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b="1" dirty="0"/>
                  <a:t>.</a:t>
                </a:r>
                <a:endParaRPr lang="zh-CN" altLang="en-US" sz="2400" b="1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FAF477B-6CFB-46B7-BAF9-CC4C4FE005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5773526"/>
                <a:ext cx="7956223" cy="830997"/>
              </a:xfrm>
              <a:prstGeom prst="rect">
                <a:avLst/>
              </a:prstGeom>
              <a:blipFill>
                <a:blip r:embed="rId2"/>
                <a:stretch>
                  <a:fillRect l="-995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2AD43217-4156-4D75-9152-20D913B67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52" y="1164563"/>
            <a:ext cx="9115719" cy="439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0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9752" y="3105834"/>
            <a:ext cx="107924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Some Intuitions on Why Ensemble Methods Work…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54092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8C7D11-FF65-4BAA-B130-FF3EA3A93CF2}"/>
              </a:ext>
            </a:extLst>
          </p:cNvPr>
          <p:cNvSpPr/>
          <p:nvPr/>
        </p:nvSpPr>
        <p:spPr>
          <a:xfrm>
            <a:off x="403319" y="2244077"/>
            <a:ext cx="11540442" cy="3652560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矩形: 圆角 7">
            <a:extLst>
              <a:ext uri="{FF2B5EF4-FFF2-40B4-BE49-F238E27FC236}">
                <a16:creationId xmlns:a16="http://schemas.microsoft.com/office/drawing/2014/main" id="{5A92C99F-1394-4939-9865-AE1C7DD82711}"/>
              </a:ext>
            </a:extLst>
          </p:cNvPr>
          <p:cNvSpPr/>
          <p:nvPr/>
        </p:nvSpPr>
        <p:spPr>
          <a:xfrm>
            <a:off x="403319" y="961363"/>
            <a:ext cx="11540442" cy="91457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0680" y="2288592"/>
            <a:ext cx="10792496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800" b="1" dirty="0">
                <a:solidFill>
                  <a:srgbClr val="FF0000"/>
                </a:solidFill>
              </a:rPr>
              <a:t>Majority Vote </a:t>
            </a:r>
            <a:br>
              <a:rPr lang="en-US" altLang="zh-CN" sz="2800" dirty="0"/>
            </a:br>
            <a:r>
              <a:rPr lang="en-US" altLang="zh-CN" sz="2800" dirty="0"/>
              <a:t>Suppose we have 5 completely independent classifiers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800" dirty="0"/>
              <a:t>If accuracy is 70% for each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zh-CN" sz="2800" dirty="0"/>
              <a:t>How about the majority vote accuracy?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1" y="253477"/>
            <a:ext cx="23391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Intuitions </a:t>
            </a:r>
            <a:endParaRPr lang="zh-CN" altLang="en-US" sz="4000" b="1" dirty="0"/>
          </a:p>
        </p:txBody>
      </p:sp>
      <p:sp>
        <p:nvSpPr>
          <p:cNvPr id="4" name="矩形 3"/>
          <p:cNvSpPr/>
          <p:nvPr/>
        </p:nvSpPr>
        <p:spPr>
          <a:xfrm>
            <a:off x="410680" y="1150220"/>
            <a:ext cx="114106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Utility of combining diverse, independent opinions in human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626677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8C7D11-FF65-4BAA-B130-FF3EA3A93CF2}"/>
              </a:ext>
            </a:extLst>
          </p:cNvPr>
          <p:cNvSpPr/>
          <p:nvPr/>
        </p:nvSpPr>
        <p:spPr>
          <a:xfrm>
            <a:off x="403319" y="2244077"/>
            <a:ext cx="11540442" cy="3652560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矩形: 圆角 7">
            <a:extLst>
              <a:ext uri="{FF2B5EF4-FFF2-40B4-BE49-F238E27FC236}">
                <a16:creationId xmlns:a16="http://schemas.microsoft.com/office/drawing/2014/main" id="{5A92C99F-1394-4939-9865-AE1C7DD82711}"/>
              </a:ext>
            </a:extLst>
          </p:cNvPr>
          <p:cNvSpPr/>
          <p:nvPr/>
        </p:nvSpPr>
        <p:spPr>
          <a:xfrm>
            <a:off x="403319" y="961363"/>
            <a:ext cx="11540442" cy="91457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10680" y="2288592"/>
                <a:ext cx="10792496" cy="36981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sz="2800" b="1" dirty="0">
                    <a:solidFill>
                      <a:srgbClr val="FF0000"/>
                    </a:solidFill>
                  </a:rPr>
                  <a:t>Majority Vote </a:t>
                </a:r>
                <a:br>
                  <a:rPr lang="en-US" altLang="zh-CN" sz="2800" dirty="0"/>
                </a:br>
                <a:r>
                  <a:rPr lang="en-US" altLang="zh-CN" sz="2800" dirty="0"/>
                  <a:t>Suppose we have 5 completely independent classifiers</a:t>
                </a:r>
              </a:p>
              <a:p>
                <a:pPr marL="457200" indent="-457200">
                  <a:buFont typeface="Wingdings" panose="05000000000000000000" pitchFamily="2" charset="2"/>
                  <a:buChar char="p"/>
                </a:pPr>
                <a:r>
                  <a:rPr lang="en-US" altLang="zh-CN" sz="2800" dirty="0"/>
                  <a:t>If accuracy is 70% for each</a:t>
                </a:r>
              </a:p>
              <a:p>
                <a:pPr marL="914400" lvl="1" indent="-4572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0.7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 (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0.7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(0.3)+ (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0.7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/>
              </a:p>
              <a:p>
                <a:pPr marL="914400" lvl="1" indent="-457200">
                  <a:buFont typeface="Wingdings" panose="05000000000000000000" pitchFamily="2" charset="2"/>
                  <a:buChar char="ü"/>
                </a:pPr>
                <a:r>
                  <a:rPr lang="en-US" altLang="zh-CN" sz="2800" dirty="0"/>
                  <a:t> </a:t>
                </a:r>
                <a:r>
                  <a:rPr lang="en-US" altLang="zh-CN" sz="2800" b="1" dirty="0"/>
                  <a:t>83.7% majority vote accuracy</a:t>
                </a:r>
              </a:p>
              <a:p>
                <a:pPr marL="457200" indent="-457200">
                  <a:buFont typeface="Wingdings" panose="05000000000000000000" pitchFamily="2" charset="2"/>
                  <a:buChar char="p"/>
                </a:pPr>
                <a:r>
                  <a:rPr lang="en-US" altLang="zh-CN" sz="2800" dirty="0"/>
                  <a:t>101 such classifiers </a:t>
                </a:r>
              </a:p>
              <a:p>
                <a:pPr marL="914400" lvl="1" indent="-457200">
                  <a:buFont typeface="Wingdings" panose="05000000000000000000" pitchFamily="2" charset="2"/>
                  <a:buChar char="ü"/>
                </a:pPr>
                <a:r>
                  <a:rPr lang="en-US" altLang="zh-CN" sz="2800" b="1" dirty="0"/>
                  <a:t>99.9% majority vote accuracy</a:t>
                </a:r>
                <a:r>
                  <a:rPr lang="en-US" altLang="zh-CN" sz="2800" dirty="0"/>
                  <a:t> </a:t>
                </a:r>
                <a:br>
                  <a:rPr lang="en-US" altLang="zh-CN" sz="2800" dirty="0"/>
                </a:br>
                <a:endParaRPr lang="zh-CN" altLang="en-US" sz="28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0" y="2288592"/>
                <a:ext cx="10792496" cy="3698192"/>
              </a:xfrm>
              <a:prstGeom prst="rect">
                <a:avLst/>
              </a:prstGeom>
              <a:blipFill>
                <a:blip r:embed="rId2"/>
                <a:stretch>
                  <a:fillRect l="-1129" t="-1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10681" y="253477"/>
            <a:ext cx="23391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Intuitions </a:t>
            </a:r>
            <a:endParaRPr lang="zh-CN" altLang="en-US" sz="4000" b="1" dirty="0"/>
          </a:p>
        </p:txBody>
      </p:sp>
      <p:sp>
        <p:nvSpPr>
          <p:cNvPr id="4" name="矩形 3"/>
          <p:cNvSpPr/>
          <p:nvPr/>
        </p:nvSpPr>
        <p:spPr>
          <a:xfrm>
            <a:off x="410680" y="1150220"/>
            <a:ext cx="114106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Utility of combining diverse, independent opinions in human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257219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7425" y="2090947"/>
            <a:ext cx="101142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000000"/>
                </a:solidFill>
              </a:rPr>
              <a:t>How good are ensemble methods?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B7D7D3-0C8E-4919-877F-E5E32C5D6FC1}"/>
              </a:ext>
            </a:extLst>
          </p:cNvPr>
          <p:cNvSpPr/>
          <p:nvPr/>
        </p:nvSpPr>
        <p:spPr>
          <a:xfrm>
            <a:off x="1210702" y="4059168"/>
            <a:ext cx="97705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4000" i="1" dirty="0">
                <a:solidFill>
                  <a:srgbClr val="000000"/>
                </a:solidFill>
              </a:rPr>
              <a:t>Let’s look at some Competitions… </a:t>
            </a:r>
            <a:r>
              <a:rPr lang="en-US" altLang="zh-CN" sz="4000" dirty="0"/>
              <a:t> 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083918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63852" y="1364796"/>
            <a:ext cx="641080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/>
              <a:t>Supervised Learning Task: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Training data is a set of </a:t>
            </a:r>
            <a:r>
              <a:rPr lang="en-US" altLang="zh-CN" sz="2400" dirty="0">
                <a:solidFill>
                  <a:srgbClr val="FF0000"/>
                </a:solidFill>
              </a:rPr>
              <a:t>users</a:t>
            </a:r>
            <a:r>
              <a:rPr lang="en-US" altLang="zh-CN" sz="2400" dirty="0"/>
              <a:t> and </a:t>
            </a:r>
            <a:r>
              <a:rPr lang="en-US" altLang="zh-CN" sz="2400" dirty="0">
                <a:solidFill>
                  <a:srgbClr val="FF0000"/>
                </a:solidFill>
              </a:rPr>
              <a:t>ratings</a:t>
            </a:r>
            <a:r>
              <a:rPr lang="en-US" altLang="zh-CN" sz="2400" dirty="0"/>
              <a:t> 1, 2, 3, 4, 5 stars) those users have given to movies.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Construct a classifier that given a </a:t>
            </a:r>
            <a:r>
              <a:rPr lang="en-US" altLang="zh-CN" sz="2400" dirty="0">
                <a:solidFill>
                  <a:srgbClr val="FF0000"/>
                </a:solidFill>
              </a:rPr>
              <a:t>user</a:t>
            </a:r>
            <a:r>
              <a:rPr lang="en-US" altLang="zh-CN" sz="2400" dirty="0"/>
              <a:t> and an </a:t>
            </a:r>
            <a:r>
              <a:rPr lang="en-US" altLang="zh-CN" sz="2400" dirty="0">
                <a:solidFill>
                  <a:srgbClr val="FF0000"/>
                </a:solidFill>
              </a:rPr>
              <a:t>unrated</a:t>
            </a:r>
            <a:r>
              <a:rPr lang="en-US" altLang="zh-CN" sz="2400" dirty="0"/>
              <a:t> movie, correctly classifies that movie as either 1, 2, 3, 4, or 5 stars </a:t>
            </a:r>
          </a:p>
          <a:p>
            <a:pPr algn="just"/>
            <a:endParaRPr lang="en-US" altLang="zh-CN" sz="2400" dirty="0"/>
          </a:p>
          <a:p>
            <a:pPr algn="just"/>
            <a:r>
              <a:rPr lang="en-US" altLang="zh-CN" sz="2400" dirty="0"/>
              <a:t>$1 million prize for a 10% improvement over Netflix’s current movie recommender/classifier   (MSE = 0.9514) 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410681" y="253477"/>
            <a:ext cx="55253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Netflix Prize Competition</a:t>
            </a:r>
          </a:p>
        </p:txBody>
      </p:sp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64" y="1075130"/>
            <a:ext cx="4704549" cy="529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53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191" y="377045"/>
            <a:ext cx="6515511" cy="630578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10681" y="253477"/>
            <a:ext cx="55253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Netflix Prize Competition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955985" y="776697"/>
            <a:ext cx="4096571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An ensemble of more than 800 predictors</a:t>
            </a:r>
            <a:endParaRPr lang="zh-CN" altLang="en-US" dirty="0"/>
          </a:p>
        </p:txBody>
      </p:sp>
      <p:pic>
        <p:nvPicPr>
          <p:cNvPr id="6" name="图片 5" descr="屏幕剪辑">
            <a:extLst>
              <a:ext uri="{FF2B5EF4-FFF2-40B4-BE49-F238E27FC236}">
                <a16:creationId xmlns:a16="http://schemas.microsoft.com/office/drawing/2014/main" id="{62553C20-ED6F-4085-9F5D-529329C53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64" y="1075130"/>
            <a:ext cx="4704549" cy="529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06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253477"/>
            <a:ext cx="100013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KDD-Cup 2011 </a:t>
            </a:r>
            <a:r>
              <a:rPr lang="en-US" altLang="zh-CN" sz="4000" b="1" dirty="0" err="1"/>
              <a:t>Yahoo!Music</a:t>
            </a:r>
            <a:r>
              <a:rPr lang="en-US" altLang="zh-CN" sz="4000" b="1" dirty="0"/>
              <a:t> Recommendation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087" y="1542921"/>
            <a:ext cx="4657983" cy="18787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10681" y="1419353"/>
            <a:ext cx="59995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Supervised Learning Task: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Training data is the Yahoo! Music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Predict the user’s rating on a music, given some users’ ratings on some music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With music information (e.g., album, artist, genre IDs)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410681" y="4470792"/>
            <a:ext cx="63843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Winner</a:t>
            </a:r>
          </a:p>
          <a:p>
            <a:r>
              <a:rPr lang="en-US" altLang="zh-CN" sz="2400" dirty="0"/>
              <a:t>From a graduate course of National Taiwan University—an ensemble of 221 predictors.</a:t>
            </a:r>
            <a:endParaRPr lang="zh-CN" altLang="en-US" sz="2400" dirty="0"/>
          </a:p>
        </p:txBody>
      </p:sp>
      <p:pic>
        <p:nvPicPr>
          <p:cNvPr id="9" name="图片 8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741" y="4140900"/>
            <a:ext cx="5018674" cy="230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14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791C6B-A654-4E16-9340-8DB08FB5F7F9}"/>
              </a:ext>
            </a:extLst>
          </p:cNvPr>
          <p:cNvSpPr/>
          <p:nvPr/>
        </p:nvSpPr>
        <p:spPr>
          <a:xfrm>
            <a:off x="685014" y="2380028"/>
            <a:ext cx="108219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600" b="1" dirty="0"/>
              <a:t>Machine learning contests are usually </a:t>
            </a:r>
            <a:r>
              <a:rPr lang="en-US" altLang="zh-CN" sz="3600" b="1" dirty="0">
                <a:solidFill>
                  <a:srgbClr val="FF0000"/>
                </a:solidFill>
              </a:rPr>
              <a:t>won</a:t>
            </a:r>
            <a:r>
              <a:rPr lang="en-US" altLang="zh-CN" sz="3600" b="1" dirty="0"/>
              <a:t> by methods using model averaging over dozens of models. 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599257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C650423-6EB3-4AAA-9AE3-B9233DF34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515" y="2393085"/>
            <a:ext cx="5498626" cy="412687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4A7934C-3970-4002-9EE5-CA40A4590D01}"/>
              </a:ext>
            </a:extLst>
          </p:cNvPr>
          <p:cNvSpPr txBox="1"/>
          <p:nvPr/>
        </p:nvSpPr>
        <p:spPr>
          <a:xfrm>
            <a:off x="504949" y="1080850"/>
            <a:ext cx="93499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Can Any Ensemble Boost the Performance?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729761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7B17CEF5-C1E7-46D4-9637-3AA413A7157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98134" y="1182590"/>
              <a:ext cx="4779392" cy="2286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4299">
                      <a:extLst>
                        <a:ext uri="{9D8B030D-6E8A-4147-A177-3AD203B41FA5}">
                          <a16:colId xmlns:a16="http://schemas.microsoft.com/office/drawing/2014/main" val="329609533"/>
                        </a:ext>
                      </a:extLst>
                    </a:gridCol>
                    <a:gridCol w="1131217">
                      <a:extLst>
                        <a:ext uri="{9D8B030D-6E8A-4147-A177-3AD203B41FA5}">
                          <a16:colId xmlns:a16="http://schemas.microsoft.com/office/drawing/2014/main" val="222129239"/>
                        </a:ext>
                      </a:extLst>
                    </a:gridCol>
                    <a:gridCol w="1008668">
                      <a:extLst>
                        <a:ext uri="{9D8B030D-6E8A-4147-A177-3AD203B41FA5}">
                          <a16:colId xmlns:a16="http://schemas.microsoft.com/office/drawing/2014/main" val="3919511802"/>
                        </a:ext>
                      </a:extLst>
                    </a:gridCol>
                    <a:gridCol w="1175208">
                      <a:extLst>
                        <a:ext uri="{9D8B030D-6E8A-4147-A177-3AD203B41FA5}">
                          <a16:colId xmlns:a16="http://schemas.microsoft.com/office/drawing/2014/main" val="5865524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1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2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3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4003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98367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2441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8310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Ensemble 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366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7B17CEF5-C1E7-46D4-9637-3AA413A715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4861421"/>
                  </p:ext>
                </p:extLst>
              </p:nvPr>
            </p:nvGraphicFramePr>
            <p:xfrm>
              <a:off x="798134" y="1182590"/>
              <a:ext cx="4779392" cy="2286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4299">
                      <a:extLst>
                        <a:ext uri="{9D8B030D-6E8A-4147-A177-3AD203B41FA5}">
                          <a16:colId xmlns:a16="http://schemas.microsoft.com/office/drawing/2014/main" val="329609533"/>
                        </a:ext>
                      </a:extLst>
                    </a:gridCol>
                    <a:gridCol w="1131217">
                      <a:extLst>
                        <a:ext uri="{9D8B030D-6E8A-4147-A177-3AD203B41FA5}">
                          <a16:colId xmlns:a16="http://schemas.microsoft.com/office/drawing/2014/main" val="222129239"/>
                        </a:ext>
                      </a:extLst>
                    </a:gridCol>
                    <a:gridCol w="1008668">
                      <a:extLst>
                        <a:ext uri="{9D8B030D-6E8A-4147-A177-3AD203B41FA5}">
                          <a16:colId xmlns:a16="http://schemas.microsoft.com/office/drawing/2014/main" val="3919511802"/>
                        </a:ext>
                      </a:extLst>
                    </a:gridCol>
                    <a:gridCol w="1175208">
                      <a:extLst>
                        <a:ext uri="{9D8B030D-6E8A-4147-A177-3AD203B41FA5}">
                          <a16:colId xmlns:a16="http://schemas.microsoft.com/office/drawing/2014/main" val="58655241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1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2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3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4003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t="-109333" r="-225726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98367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t="-206579" r="-225726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2441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t="-310667" r="-225726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831038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Ensemble 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3663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1CBC7A1-F6D5-428D-BA27-AA1EDDCD783B}"/>
              </a:ext>
            </a:extLst>
          </p:cNvPr>
          <p:cNvCxnSpPr/>
          <p:nvPr/>
        </p:nvCxnSpPr>
        <p:spPr>
          <a:xfrm>
            <a:off x="798134" y="1630836"/>
            <a:ext cx="47793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7354509-D46D-48CD-B087-91CDF46FD6FF}"/>
              </a:ext>
            </a:extLst>
          </p:cNvPr>
          <p:cNvCxnSpPr/>
          <p:nvPr/>
        </p:nvCxnSpPr>
        <p:spPr>
          <a:xfrm>
            <a:off x="798134" y="3008721"/>
            <a:ext cx="47793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A37FDEEF-B58B-4FCC-B2A3-90571CB6DEE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74641" y="1182590"/>
              <a:ext cx="4779392" cy="2286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4299">
                      <a:extLst>
                        <a:ext uri="{9D8B030D-6E8A-4147-A177-3AD203B41FA5}">
                          <a16:colId xmlns:a16="http://schemas.microsoft.com/office/drawing/2014/main" val="329609533"/>
                        </a:ext>
                      </a:extLst>
                    </a:gridCol>
                    <a:gridCol w="1131217">
                      <a:extLst>
                        <a:ext uri="{9D8B030D-6E8A-4147-A177-3AD203B41FA5}">
                          <a16:colId xmlns:a16="http://schemas.microsoft.com/office/drawing/2014/main" val="222129239"/>
                        </a:ext>
                      </a:extLst>
                    </a:gridCol>
                    <a:gridCol w="1008668">
                      <a:extLst>
                        <a:ext uri="{9D8B030D-6E8A-4147-A177-3AD203B41FA5}">
                          <a16:colId xmlns:a16="http://schemas.microsoft.com/office/drawing/2014/main" val="3919511802"/>
                        </a:ext>
                      </a:extLst>
                    </a:gridCol>
                    <a:gridCol w="1175208">
                      <a:extLst>
                        <a:ext uri="{9D8B030D-6E8A-4147-A177-3AD203B41FA5}">
                          <a16:colId xmlns:a16="http://schemas.microsoft.com/office/drawing/2014/main" val="5865524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1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2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3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4003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98367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2441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8310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Ensemble 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366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A37FDEEF-B58B-4FCC-B2A3-90571CB6DE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364702"/>
                  </p:ext>
                </p:extLst>
              </p:nvPr>
            </p:nvGraphicFramePr>
            <p:xfrm>
              <a:off x="6474641" y="1182590"/>
              <a:ext cx="4779392" cy="2286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4299">
                      <a:extLst>
                        <a:ext uri="{9D8B030D-6E8A-4147-A177-3AD203B41FA5}">
                          <a16:colId xmlns:a16="http://schemas.microsoft.com/office/drawing/2014/main" val="329609533"/>
                        </a:ext>
                      </a:extLst>
                    </a:gridCol>
                    <a:gridCol w="1131217">
                      <a:extLst>
                        <a:ext uri="{9D8B030D-6E8A-4147-A177-3AD203B41FA5}">
                          <a16:colId xmlns:a16="http://schemas.microsoft.com/office/drawing/2014/main" val="222129239"/>
                        </a:ext>
                      </a:extLst>
                    </a:gridCol>
                    <a:gridCol w="1008668">
                      <a:extLst>
                        <a:ext uri="{9D8B030D-6E8A-4147-A177-3AD203B41FA5}">
                          <a16:colId xmlns:a16="http://schemas.microsoft.com/office/drawing/2014/main" val="3919511802"/>
                        </a:ext>
                      </a:extLst>
                    </a:gridCol>
                    <a:gridCol w="1175208">
                      <a:extLst>
                        <a:ext uri="{9D8B030D-6E8A-4147-A177-3AD203B41FA5}">
                          <a16:colId xmlns:a16="http://schemas.microsoft.com/office/drawing/2014/main" val="58655241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1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2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3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4003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t="-109333" r="-225726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98367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t="-206579" r="-225726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2441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t="-310667" r="-225726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831038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Ensemble 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3663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CD903E4-96F3-4AB7-80D7-B4AD4BE0381E}"/>
              </a:ext>
            </a:extLst>
          </p:cNvPr>
          <p:cNvCxnSpPr/>
          <p:nvPr/>
        </p:nvCxnSpPr>
        <p:spPr>
          <a:xfrm>
            <a:off x="6474641" y="1630836"/>
            <a:ext cx="47793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58E2995-7178-4B4D-8E23-1AC9B484C8C4}"/>
              </a:ext>
            </a:extLst>
          </p:cNvPr>
          <p:cNvCxnSpPr/>
          <p:nvPr/>
        </p:nvCxnSpPr>
        <p:spPr>
          <a:xfrm>
            <a:off x="6474641" y="3008721"/>
            <a:ext cx="47793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1753F465-E5B3-44B8-B248-E415B22A133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06304" y="4077092"/>
              <a:ext cx="4779392" cy="2286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4299">
                      <a:extLst>
                        <a:ext uri="{9D8B030D-6E8A-4147-A177-3AD203B41FA5}">
                          <a16:colId xmlns:a16="http://schemas.microsoft.com/office/drawing/2014/main" val="329609533"/>
                        </a:ext>
                      </a:extLst>
                    </a:gridCol>
                    <a:gridCol w="1131217">
                      <a:extLst>
                        <a:ext uri="{9D8B030D-6E8A-4147-A177-3AD203B41FA5}">
                          <a16:colId xmlns:a16="http://schemas.microsoft.com/office/drawing/2014/main" val="222129239"/>
                        </a:ext>
                      </a:extLst>
                    </a:gridCol>
                    <a:gridCol w="1008668">
                      <a:extLst>
                        <a:ext uri="{9D8B030D-6E8A-4147-A177-3AD203B41FA5}">
                          <a16:colId xmlns:a16="http://schemas.microsoft.com/office/drawing/2014/main" val="3919511802"/>
                        </a:ext>
                      </a:extLst>
                    </a:gridCol>
                    <a:gridCol w="1175208">
                      <a:extLst>
                        <a:ext uri="{9D8B030D-6E8A-4147-A177-3AD203B41FA5}">
                          <a16:colId xmlns:a16="http://schemas.microsoft.com/office/drawing/2014/main" val="5865524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1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2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3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4003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98367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2441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b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8310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Ensemble 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366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1753F465-E5B3-44B8-B248-E415B22A13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8229530"/>
                  </p:ext>
                </p:extLst>
              </p:nvPr>
            </p:nvGraphicFramePr>
            <p:xfrm>
              <a:off x="3706304" y="4077092"/>
              <a:ext cx="4779392" cy="2286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4299">
                      <a:extLst>
                        <a:ext uri="{9D8B030D-6E8A-4147-A177-3AD203B41FA5}">
                          <a16:colId xmlns:a16="http://schemas.microsoft.com/office/drawing/2014/main" val="329609533"/>
                        </a:ext>
                      </a:extLst>
                    </a:gridCol>
                    <a:gridCol w="1131217">
                      <a:extLst>
                        <a:ext uri="{9D8B030D-6E8A-4147-A177-3AD203B41FA5}">
                          <a16:colId xmlns:a16="http://schemas.microsoft.com/office/drawing/2014/main" val="222129239"/>
                        </a:ext>
                      </a:extLst>
                    </a:gridCol>
                    <a:gridCol w="1008668">
                      <a:extLst>
                        <a:ext uri="{9D8B030D-6E8A-4147-A177-3AD203B41FA5}">
                          <a16:colId xmlns:a16="http://schemas.microsoft.com/office/drawing/2014/main" val="3919511802"/>
                        </a:ext>
                      </a:extLst>
                    </a:gridCol>
                    <a:gridCol w="1175208">
                      <a:extLst>
                        <a:ext uri="{9D8B030D-6E8A-4147-A177-3AD203B41FA5}">
                          <a16:colId xmlns:a16="http://schemas.microsoft.com/office/drawing/2014/main" val="58655241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1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2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Test 3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4003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t="-109333" r="-226141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98367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t="-206579" r="-226141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82441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t="-310667" r="-226141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831038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0" dirty="0"/>
                            <a:t>Ensemble 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dirty="0"/>
                            <a:t>×</a:t>
                          </a:r>
                          <a:endParaRPr lang="zh-CN" alt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3663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C0A381-2722-4797-8C63-F352D101E65D}"/>
              </a:ext>
            </a:extLst>
          </p:cNvPr>
          <p:cNvCxnSpPr/>
          <p:nvPr/>
        </p:nvCxnSpPr>
        <p:spPr>
          <a:xfrm>
            <a:off x="3706304" y="4525338"/>
            <a:ext cx="47793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9F329D9-6CCB-4B47-82D1-0C5C520726A5}"/>
              </a:ext>
            </a:extLst>
          </p:cNvPr>
          <p:cNvCxnSpPr/>
          <p:nvPr/>
        </p:nvCxnSpPr>
        <p:spPr>
          <a:xfrm>
            <a:off x="3706304" y="5903223"/>
            <a:ext cx="47793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AA3A0B0-C627-43DE-B551-D084DEADBBD8}"/>
              </a:ext>
            </a:extLst>
          </p:cNvPr>
          <p:cNvSpPr txBox="1"/>
          <p:nvPr/>
        </p:nvSpPr>
        <p:spPr>
          <a:xfrm>
            <a:off x="410681" y="253477"/>
            <a:ext cx="42736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Different Ensemble</a:t>
            </a:r>
            <a:endParaRPr lang="zh-CN" altLang="en-US" sz="4000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F965EC-09B7-4C92-957E-A1D52086C1D8}"/>
              </a:ext>
            </a:extLst>
          </p:cNvPr>
          <p:cNvSpPr/>
          <p:nvPr/>
        </p:nvSpPr>
        <p:spPr>
          <a:xfrm>
            <a:off x="7597164" y="3567658"/>
            <a:ext cx="27381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(b) Ensemble: </a:t>
            </a:r>
            <a:r>
              <a:rPr lang="en-US" altLang="zh-CN" sz="2000" b="1" dirty="0">
                <a:solidFill>
                  <a:srgbClr val="FF0000"/>
                </a:solidFill>
              </a:rPr>
              <a:t>No</a:t>
            </a:r>
            <a:r>
              <a:rPr lang="en-US" altLang="zh-CN" sz="2000" b="1" dirty="0"/>
              <a:t> Effect.</a:t>
            </a:r>
            <a:endParaRPr lang="zh-CN" altLang="en-US" sz="2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469D3C-FCAA-4299-8C23-A6A02D827BDA}"/>
              </a:ext>
            </a:extLst>
          </p:cNvPr>
          <p:cNvSpPr/>
          <p:nvPr/>
        </p:nvSpPr>
        <p:spPr>
          <a:xfrm>
            <a:off x="1585563" y="3577914"/>
            <a:ext cx="32558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(a) Ensemble: </a:t>
            </a:r>
            <a:r>
              <a:rPr lang="en-US" altLang="zh-CN" sz="2000" b="1" dirty="0">
                <a:solidFill>
                  <a:srgbClr val="FF0000"/>
                </a:solidFill>
              </a:rPr>
              <a:t>Positive</a:t>
            </a:r>
            <a:r>
              <a:rPr lang="en-US" altLang="zh-CN" sz="2000" b="1" dirty="0"/>
              <a:t> Effect.</a:t>
            </a:r>
            <a:endParaRPr lang="zh-CN" altLang="en-US" sz="20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2CB48F-756D-49F1-B02E-9BBD8D525604}"/>
              </a:ext>
            </a:extLst>
          </p:cNvPr>
          <p:cNvSpPr/>
          <p:nvPr/>
        </p:nvSpPr>
        <p:spPr>
          <a:xfrm>
            <a:off x="4676426" y="6430387"/>
            <a:ext cx="34647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(c) Ensemble: </a:t>
            </a:r>
            <a:r>
              <a:rPr lang="en-US" altLang="zh-CN" sz="2000" b="1" dirty="0">
                <a:solidFill>
                  <a:srgbClr val="FF0000"/>
                </a:solidFill>
              </a:rPr>
              <a:t>Negative</a:t>
            </a:r>
            <a:r>
              <a:rPr lang="en-US" altLang="zh-CN" sz="2000" b="1" dirty="0"/>
              <a:t> Effect.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10892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1D29948-7F1A-4DB4-8C1F-916ED3C94862}"/>
              </a:ext>
            </a:extLst>
          </p:cNvPr>
          <p:cNvSpPr txBox="1"/>
          <p:nvPr/>
        </p:nvSpPr>
        <p:spPr>
          <a:xfrm>
            <a:off x="410681" y="253477"/>
            <a:ext cx="6226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Diversity for Ensemble Input</a:t>
            </a:r>
            <a:endParaRPr lang="zh-CN" altLang="en-US" sz="4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A0A408-0734-4E59-B9E3-222358658E7C}"/>
              </a:ext>
            </a:extLst>
          </p:cNvPr>
          <p:cNvSpPr/>
          <p:nvPr/>
        </p:nvSpPr>
        <p:spPr>
          <a:xfrm>
            <a:off x="410681" y="1104293"/>
            <a:ext cx="99942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b="1" dirty="0"/>
              <a:t>Successful ensembles require diversity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Predictors may make different mistakes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Encourage to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Involve different types of predictors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Vary the training sets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Vary the feature sets</a:t>
            </a:r>
            <a:endParaRPr lang="zh-CN" altLang="en-US" sz="28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F0B9ACF-0BF6-4675-8871-EC851579E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416967"/>
              </p:ext>
            </p:extLst>
          </p:nvPr>
        </p:nvGraphicFramePr>
        <p:xfrm>
          <a:off x="1848051" y="4059633"/>
          <a:ext cx="807131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7317">
                  <a:extLst>
                    <a:ext uri="{9D8B030D-6E8A-4147-A177-3AD203B41FA5}">
                      <a16:colId xmlns:a16="http://schemas.microsoft.com/office/drawing/2014/main" val="408987986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41905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Cause of the Mistake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Diversification Strategy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687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Pattern was difficult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Try different models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352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Overfitting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Vary the training sets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935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Some features are noisy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Vary the set of input features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35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110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253477"/>
            <a:ext cx="42800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Ensemble Methods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410681" y="1294262"/>
            <a:ext cx="11240849" cy="4992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Parallel Methods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>
                <a:solidFill>
                  <a:srgbClr val="FF0000"/>
                </a:solidFill>
              </a:rPr>
              <a:t>Bagging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Random Forest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Sequential Methods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Boosting (</a:t>
            </a:r>
            <a:r>
              <a:rPr lang="en-US" altLang="zh-CN" sz="3600" dirty="0" err="1"/>
              <a:t>Adaboost</a:t>
            </a:r>
            <a:r>
              <a:rPr lang="en-US" altLang="zh-CN" sz="3600" dirty="0"/>
              <a:t>)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Gradient Boosting Decision Trees </a:t>
            </a:r>
          </a:p>
        </p:txBody>
      </p:sp>
    </p:spTree>
    <p:extLst>
      <p:ext uri="{BB962C8B-B14F-4D97-AF65-F5344CB8AC3E}">
        <p14:creationId xmlns:p14="http://schemas.microsoft.com/office/powerpoint/2010/main" val="1985368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7">
            <a:extLst>
              <a:ext uri="{FF2B5EF4-FFF2-40B4-BE49-F238E27FC236}">
                <a16:creationId xmlns:a16="http://schemas.microsoft.com/office/drawing/2014/main" id="{62806762-69FF-4368-BCAC-CE1CC33B0778}"/>
              </a:ext>
            </a:extLst>
          </p:cNvPr>
          <p:cNvSpPr/>
          <p:nvPr/>
        </p:nvSpPr>
        <p:spPr>
          <a:xfrm>
            <a:off x="403319" y="1187608"/>
            <a:ext cx="11540442" cy="4251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0681" y="253477"/>
            <a:ext cx="69887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Bagging: </a:t>
            </a:r>
            <a:r>
              <a:rPr lang="en-US" altLang="zh-CN" sz="4000" b="1" dirty="0">
                <a:solidFill>
                  <a:srgbClr val="FF0000"/>
                </a:solidFill>
              </a:rPr>
              <a:t>B</a:t>
            </a:r>
            <a:r>
              <a:rPr lang="en-US" altLang="zh-CN" sz="4000" b="1" dirty="0"/>
              <a:t>ootstrap </a:t>
            </a:r>
            <a:r>
              <a:rPr lang="en-US" altLang="zh-CN" sz="4000" b="1" dirty="0">
                <a:solidFill>
                  <a:srgbClr val="FF0000"/>
                </a:solidFill>
              </a:rPr>
              <a:t>Agg</a:t>
            </a:r>
            <a:r>
              <a:rPr lang="en-US" altLang="zh-CN" sz="4000" b="1" dirty="0"/>
              <a:t>regat</a:t>
            </a:r>
            <a:r>
              <a:rPr lang="en-US" altLang="zh-CN" sz="4000" b="1" dirty="0">
                <a:solidFill>
                  <a:srgbClr val="FF0000"/>
                </a:solidFill>
              </a:rPr>
              <a:t>ing</a:t>
            </a:r>
            <a:r>
              <a:rPr lang="en-US" altLang="zh-CN" sz="4000" b="1" dirty="0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0681" y="1294262"/>
            <a:ext cx="1124084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dirty="0"/>
              <a:t>A technique to reduce generalization error by combining several models.</a:t>
            </a:r>
          </a:p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</a:rPr>
              <a:t>Idea</a:t>
            </a:r>
            <a:r>
              <a:rPr lang="en-US" altLang="zh-CN" sz="2800" dirty="0"/>
              <a:t>: train several different models separately, then have all of the models vote on the output for test examples.  </a:t>
            </a:r>
          </a:p>
          <a:p>
            <a:pPr marL="571500" indent="-571500" algn="just">
              <a:buFont typeface="Wingdings" panose="05000000000000000000" pitchFamily="2" charset="2"/>
              <a:buChar char="n"/>
            </a:pPr>
            <a:endParaRPr lang="en-US" altLang="zh-CN" sz="2800" dirty="0"/>
          </a:p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FF0000"/>
                </a:solidFill>
              </a:rPr>
              <a:t>Underlying philosophy: </a:t>
            </a:r>
            <a:r>
              <a:rPr lang="en-US" altLang="zh-CN" sz="2800" dirty="0"/>
              <a:t>different models will usually not make all the same errors on the test set.</a:t>
            </a:r>
          </a:p>
          <a:p>
            <a:pPr marL="571500" indent="-571500" algn="just">
              <a:buFont typeface="Wingdings" panose="05000000000000000000" pitchFamily="2" charset="2"/>
              <a:buChar char="n"/>
            </a:pPr>
            <a:endParaRPr lang="en-US" altLang="zh-CN" sz="2800" dirty="0"/>
          </a:p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dirty="0"/>
              <a:t>Allows the </a:t>
            </a:r>
            <a:r>
              <a:rPr lang="en-US" altLang="zh-CN" sz="2800" b="1" dirty="0">
                <a:solidFill>
                  <a:srgbClr val="FF0000"/>
                </a:solidFill>
              </a:rPr>
              <a:t>same</a:t>
            </a:r>
            <a:r>
              <a:rPr lang="en-US" altLang="zh-CN" sz="2800" dirty="0"/>
              <a:t> kind of model/training algorithm/objective function to be reused several times.</a:t>
            </a:r>
          </a:p>
          <a:p>
            <a:pPr marL="571500" indent="-571500" algn="just">
              <a:buFont typeface="Wingdings" panose="05000000000000000000" pitchFamily="2" charset="2"/>
              <a:buChar char="n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8845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2222D6-6C85-4782-AB51-40021DF3A206}"/>
              </a:ext>
            </a:extLst>
          </p:cNvPr>
          <p:cNvSpPr/>
          <p:nvPr/>
        </p:nvSpPr>
        <p:spPr>
          <a:xfrm>
            <a:off x="403319" y="1102765"/>
            <a:ext cx="6770479" cy="489364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3A8768-925E-4448-A59F-45633FFB25F7}"/>
              </a:ext>
            </a:extLst>
          </p:cNvPr>
          <p:cNvSpPr/>
          <p:nvPr/>
        </p:nvSpPr>
        <p:spPr>
          <a:xfrm>
            <a:off x="410681" y="1078353"/>
            <a:ext cx="626568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</a:rPr>
              <a:t>Born</a:t>
            </a:r>
            <a:r>
              <a:rPr lang="en-US" altLang="zh-CN" sz="2400" dirty="0"/>
              <a:t> in New York City, 1928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Graduated from </a:t>
            </a:r>
            <a:r>
              <a:rPr lang="en-US" altLang="zh-CN" sz="2400" i="1" dirty="0">
                <a:solidFill>
                  <a:srgbClr val="FF0000"/>
                </a:solidFill>
              </a:rPr>
              <a:t>Roosevelt High School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1945.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Degree in physics from the </a:t>
            </a:r>
            <a:r>
              <a:rPr lang="en-US" altLang="zh-CN" sz="2400" i="1" dirty="0">
                <a:solidFill>
                  <a:srgbClr val="FF0000"/>
                </a:solidFill>
              </a:rPr>
              <a:t>California Institute of Technology (</a:t>
            </a:r>
            <a:r>
              <a:rPr lang="en-US" sz="2400" i="1" dirty="0">
                <a:solidFill>
                  <a:srgbClr val="FF0000"/>
                </a:solidFill>
              </a:rPr>
              <a:t>Caltech</a:t>
            </a:r>
            <a:r>
              <a:rPr lang="en-US" altLang="zh-CN" sz="2400" i="1" dirty="0">
                <a:solidFill>
                  <a:srgbClr val="FF0000"/>
                </a:solidFill>
              </a:rPr>
              <a:t>)</a:t>
            </a:r>
            <a:r>
              <a:rPr lang="en-US" altLang="zh-CN" sz="2400" dirty="0"/>
              <a:t>, 1949.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Master degree in mathematics from </a:t>
            </a:r>
            <a:r>
              <a:rPr lang="en-US" altLang="zh-CN" sz="2400" i="1" dirty="0">
                <a:solidFill>
                  <a:srgbClr val="FF0000"/>
                </a:solidFill>
              </a:rPr>
              <a:t>Columbia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University</a:t>
            </a:r>
            <a:r>
              <a:rPr lang="en-US" altLang="zh-CN" sz="2400" dirty="0"/>
              <a:t>, 1950.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In fact, he wants to learn philosophy..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Ph.D. from </a:t>
            </a:r>
            <a:r>
              <a:rPr lang="en-US" altLang="zh-CN" sz="2400" i="1" dirty="0">
                <a:solidFill>
                  <a:srgbClr val="FF0000"/>
                </a:solidFill>
              </a:rPr>
              <a:t>UC Berkeley</a:t>
            </a:r>
            <a:r>
              <a:rPr lang="en-US" altLang="zh-CN" sz="2400" dirty="0"/>
              <a:t>, 1954.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Then hired to teach </a:t>
            </a:r>
            <a:r>
              <a:rPr lang="en-US" altLang="zh-CN" sz="2400" i="1" dirty="0"/>
              <a:t>probability theory </a:t>
            </a:r>
            <a:r>
              <a:rPr lang="en-US" altLang="zh-CN" sz="2400" dirty="0"/>
              <a:t>at </a:t>
            </a:r>
            <a:r>
              <a:rPr lang="en-US" altLang="zh-CN" sz="2400" i="1" dirty="0">
                <a:solidFill>
                  <a:srgbClr val="FF0000"/>
                </a:solidFill>
              </a:rPr>
              <a:t>UCLA</a:t>
            </a:r>
            <a:r>
              <a:rPr lang="en-US" altLang="zh-CN" sz="2400" dirty="0"/>
              <a:t> (earned tenure 1960-1967)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Writing </a:t>
            </a:r>
            <a:r>
              <a:rPr lang="en-US" altLang="zh-CN" sz="2400" dirty="0">
                <a:solidFill>
                  <a:srgbClr val="FF0000"/>
                </a:solidFill>
              </a:rPr>
              <a:t>books</a:t>
            </a:r>
            <a:r>
              <a:rPr lang="en-US" altLang="zh-CN" sz="2400" dirty="0"/>
              <a:t> (Probability Theory)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Spend the next 13 years as a </a:t>
            </a:r>
            <a:r>
              <a:rPr lang="en-US" altLang="zh-CN" sz="2400" dirty="0">
                <a:solidFill>
                  <a:srgbClr val="FF0000"/>
                </a:solidFill>
              </a:rPr>
              <a:t>consultant </a:t>
            </a:r>
            <a:r>
              <a:rPr lang="en-US" altLang="zh-CN" sz="2400" dirty="0"/>
              <a:t>(1969-1982).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7251D9-9832-4819-9ADE-D228A5F26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70" y="1102765"/>
            <a:ext cx="2982405" cy="398151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0C133D9-F5E3-4152-B604-E313004CE1BD}"/>
              </a:ext>
            </a:extLst>
          </p:cNvPr>
          <p:cNvSpPr txBox="1"/>
          <p:nvPr/>
        </p:nvSpPr>
        <p:spPr>
          <a:xfrm>
            <a:off x="410681" y="253477"/>
            <a:ext cx="56130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Leo </a:t>
            </a:r>
            <a:r>
              <a:rPr lang="en-US" altLang="zh-CN" sz="4000" b="1" dirty="0" err="1"/>
              <a:t>Breiman</a:t>
            </a:r>
            <a:r>
              <a:rPr lang="en-US" altLang="zh-CN" sz="4000" b="1" dirty="0"/>
              <a:t> (1928–2005)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BC4B3B-5EBC-474C-BD18-C8600EBF1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343" y="5207527"/>
            <a:ext cx="1344911" cy="15255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F890B7A-980A-40D3-A481-D9B74D8095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512" t="2133"/>
          <a:stretch/>
        </p:blipFill>
        <p:spPr>
          <a:xfrm>
            <a:off x="7958393" y="5207528"/>
            <a:ext cx="1970965" cy="152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47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0C133D9-F5E3-4152-B604-E313004CE1BD}"/>
              </a:ext>
            </a:extLst>
          </p:cNvPr>
          <p:cNvSpPr txBox="1"/>
          <p:nvPr/>
        </p:nvSpPr>
        <p:spPr>
          <a:xfrm>
            <a:off x="410681" y="253477"/>
            <a:ext cx="56130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Leo </a:t>
            </a:r>
            <a:r>
              <a:rPr lang="en-US" altLang="zh-CN" sz="4000" b="1" dirty="0" err="1"/>
              <a:t>Breiman</a:t>
            </a:r>
            <a:r>
              <a:rPr lang="en-US" altLang="zh-CN" sz="4000" b="1" dirty="0"/>
              <a:t> (1928–2005)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7DFE1E-9593-4638-B49C-FCB8D485F830}"/>
              </a:ext>
            </a:extLst>
          </p:cNvPr>
          <p:cNvSpPr/>
          <p:nvPr/>
        </p:nvSpPr>
        <p:spPr>
          <a:xfrm>
            <a:off x="502762" y="5033491"/>
            <a:ext cx="100364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52525"/>
                </a:solidFill>
              </a:rPr>
              <a:t>Some of </a:t>
            </a:r>
            <a:r>
              <a:rPr lang="en-US" sz="2400" dirty="0" err="1">
                <a:solidFill>
                  <a:srgbClr val="252525"/>
                </a:solidFill>
              </a:rPr>
              <a:t>Breiman's</a:t>
            </a:r>
            <a:r>
              <a:rPr lang="en-US" sz="2400" dirty="0">
                <a:solidFill>
                  <a:srgbClr val="252525"/>
                </a:solidFill>
              </a:rPr>
              <a:t> best work was done after retirement...</a:t>
            </a:r>
            <a:endParaRPr lang="en-US" sz="2400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C03AE37-CD17-4B6F-B11E-4F9CFCE1688D}"/>
              </a:ext>
            </a:extLst>
          </p:cNvPr>
          <p:cNvSpPr/>
          <p:nvPr/>
        </p:nvSpPr>
        <p:spPr>
          <a:xfrm>
            <a:off x="403320" y="1102766"/>
            <a:ext cx="6242578" cy="345980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E252D0-5469-4DB4-B43E-DA9685662430}"/>
              </a:ext>
            </a:extLst>
          </p:cNvPr>
          <p:cNvSpPr/>
          <p:nvPr/>
        </p:nvSpPr>
        <p:spPr>
          <a:xfrm>
            <a:off x="502762" y="1257462"/>
            <a:ext cx="591689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</a:rPr>
              <a:t>Statistician</a:t>
            </a:r>
            <a:r>
              <a:rPr lang="en-US" altLang="zh-CN" sz="2400" dirty="0"/>
              <a:t> at the University of California, Berkeley (1980-1993)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 member of the </a:t>
            </a:r>
            <a:r>
              <a:rPr lang="en-US" altLang="zh-CN" sz="2400" i="1" dirty="0">
                <a:solidFill>
                  <a:srgbClr val="FF0000"/>
                </a:solidFill>
              </a:rPr>
              <a:t>United States National Academy of Science</a:t>
            </a:r>
            <a:r>
              <a:rPr lang="en-US" altLang="zh-CN" sz="2400" dirty="0"/>
              <a:t>.</a:t>
            </a:r>
            <a:endParaRPr lang="zh-CN" alt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Important Contributions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CART [1984]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Bagging [1994]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Random Forest [2001]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22073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0C133D9-F5E3-4152-B604-E313004CE1BD}"/>
              </a:ext>
            </a:extLst>
          </p:cNvPr>
          <p:cNvSpPr txBox="1"/>
          <p:nvPr/>
        </p:nvSpPr>
        <p:spPr>
          <a:xfrm>
            <a:off x="410681" y="253477"/>
            <a:ext cx="56130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Leo </a:t>
            </a:r>
            <a:r>
              <a:rPr lang="en-US" altLang="zh-CN" sz="4000" b="1" dirty="0" err="1"/>
              <a:t>Breiman</a:t>
            </a:r>
            <a:r>
              <a:rPr lang="en-US" altLang="zh-CN" sz="4000" b="1" dirty="0"/>
              <a:t> (1928–2005)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1EAC38-1D57-404A-9024-CC21FA0350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"/>
          <a:stretch/>
        </p:blipFill>
        <p:spPr>
          <a:xfrm>
            <a:off x="283086" y="1524785"/>
            <a:ext cx="11625827" cy="38084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A2E1ACB-6159-4B92-B69B-3338B1B7F996}"/>
              </a:ext>
            </a:extLst>
          </p:cNvPr>
          <p:cNvSpPr/>
          <p:nvPr/>
        </p:nvSpPr>
        <p:spPr>
          <a:xfrm>
            <a:off x="535131" y="6015815"/>
            <a:ext cx="4994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http://statistics.berkeley.edu/memory/leo-breiman</a:t>
            </a:r>
          </a:p>
        </p:txBody>
      </p:sp>
    </p:spTree>
    <p:extLst>
      <p:ext uri="{BB962C8B-B14F-4D97-AF65-F5344CB8AC3E}">
        <p14:creationId xmlns:p14="http://schemas.microsoft.com/office/powerpoint/2010/main" val="3474491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FDC3E3D-E9C0-4ABC-B657-E5BAE59DD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57" y="163603"/>
            <a:ext cx="8694084" cy="5933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135EED-7F0F-42B9-9D1E-F6199152A4C8}"/>
              </a:ext>
            </a:extLst>
          </p:cNvPr>
          <p:cNvSpPr/>
          <p:nvPr/>
        </p:nvSpPr>
        <p:spPr>
          <a:xfrm>
            <a:off x="389640" y="6338364"/>
            <a:ext cx="11412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https://www.researchgate.net/publication/48178196_Remembering_Leo_Breiman#pfb</a:t>
            </a:r>
          </a:p>
        </p:txBody>
      </p:sp>
    </p:spTree>
    <p:extLst>
      <p:ext uri="{BB962C8B-B14F-4D97-AF65-F5344CB8AC3E}">
        <p14:creationId xmlns:p14="http://schemas.microsoft.com/office/powerpoint/2010/main" val="1426102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044381-8B23-48AF-A01D-454F022F0847}"/>
              </a:ext>
            </a:extLst>
          </p:cNvPr>
          <p:cNvSpPr/>
          <p:nvPr/>
        </p:nvSpPr>
        <p:spPr>
          <a:xfrm>
            <a:off x="422864" y="4204356"/>
            <a:ext cx="5692681" cy="1915210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0189F9F-F83A-4A8E-9A45-74E671655793}"/>
              </a:ext>
            </a:extLst>
          </p:cNvPr>
          <p:cNvSpPr/>
          <p:nvPr/>
        </p:nvSpPr>
        <p:spPr>
          <a:xfrm>
            <a:off x="403319" y="1187608"/>
            <a:ext cx="5692681" cy="279050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10681" y="1200336"/>
                <a:ext cx="5487843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Leo </a:t>
                </a:r>
                <a:r>
                  <a:rPr lang="en-US" altLang="zh-CN" sz="2400" dirty="0" err="1">
                    <a:solidFill>
                      <a:srgbClr val="000000"/>
                    </a:solidFill>
                  </a:rPr>
                  <a:t>Breiman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  (1994)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Take repeated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bootstrap samples 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from training set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sz="2400" i="1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b="1" i="1" dirty="0">
                    <a:solidFill>
                      <a:srgbClr val="FF0000"/>
                    </a:solidFill>
                  </a:rPr>
                  <a:t>Bootstrap sampling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: 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Given set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containing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i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training examples, create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by drawing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examples at random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with replacement 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1200336"/>
                <a:ext cx="5487843" cy="2677656"/>
              </a:xfrm>
              <a:prstGeom prst="rect">
                <a:avLst/>
              </a:prstGeom>
              <a:blipFill>
                <a:blip r:embed="rId2"/>
                <a:stretch>
                  <a:fillRect l="-1443" t="-1822" r="-1665" b="-4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410681" y="253477"/>
            <a:ext cx="18624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Bagging</a:t>
            </a:r>
          </a:p>
        </p:txBody>
      </p:sp>
      <p:pic>
        <p:nvPicPr>
          <p:cNvPr id="7" name="图片 6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581" y="1813756"/>
            <a:ext cx="5895165" cy="39420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926B479-64BA-40CF-9F2C-69E793092885}"/>
                  </a:ext>
                </a:extLst>
              </p:cNvPr>
              <p:cNvSpPr/>
              <p:nvPr/>
            </p:nvSpPr>
            <p:spPr>
              <a:xfrm>
                <a:off x="410681" y="4307158"/>
                <a:ext cx="6096000" cy="156966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Bagging: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Create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i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bootstrap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Train distinct classifier on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Classify new instance by majority vote.</a:t>
                </a:r>
                <a:r>
                  <a:rPr lang="en-US" altLang="zh-CN" sz="2400" dirty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926B479-64BA-40CF-9F2C-69E793092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4307158"/>
                <a:ext cx="6096000" cy="1569660"/>
              </a:xfrm>
              <a:prstGeom prst="rect">
                <a:avLst/>
              </a:prstGeom>
              <a:blipFill>
                <a:blip r:embed="rId4"/>
                <a:stretch>
                  <a:fillRect l="-1300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534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ABD99BE-84E5-43A8-88E4-142F40D25371}"/>
              </a:ext>
            </a:extLst>
          </p:cNvPr>
          <p:cNvSpPr/>
          <p:nvPr/>
        </p:nvSpPr>
        <p:spPr>
          <a:xfrm>
            <a:off x="410678" y="3995526"/>
            <a:ext cx="11090153" cy="212247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10678" y="4067631"/>
                <a:ext cx="11090153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A particular training data has a probability of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1 – 1/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not being picked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Thus its probability of ending up in the test data  (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not selected</a:t>
                </a:r>
                <a:r>
                  <a:rPr lang="en-US" altLang="zh-CN" sz="2400" dirty="0"/>
                  <a:t>) 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 This means the training data will contain approximately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63.2%</m:t>
                    </m:r>
                  </m:oMath>
                </a14:m>
                <a:r>
                  <a:rPr lang="en-US" altLang="zh-CN" sz="2400" dirty="0"/>
                  <a:t> of the instances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78" y="4067631"/>
                <a:ext cx="11090153" cy="1938992"/>
              </a:xfrm>
              <a:prstGeom prst="rect">
                <a:avLst/>
              </a:prstGeom>
              <a:blipFill rotWithShape="0">
                <a:blip r:embed="rId2"/>
                <a:stretch>
                  <a:fillRect l="-714" t="-2516" b="-6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410681" y="253477"/>
            <a:ext cx="2093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Bagging  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695377" y="4929112"/>
                <a:ext cx="37579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 – 1/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=0.368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377" y="4929112"/>
                <a:ext cx="3757952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410678" y="1230063"/>
            <a:ext cx="45175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/>
              <a:t>Sampling with replacement</a:t>
            </a:r>
            <a:endParaRPr lang="zh-CN" altLang="en-US" sz="2800" dirty="0"/>
          </a:p>
        </p:txBody>
      </p:sp>
      <p:sp>
        <p:nvSpPr>
          <p:cNvPr id="10" name="矩形 9"/>
          <p:cNvSpPr/>
          <p:nvPr/>
        </p:nvSpPr>
        <p:spPr>
          <a:xfrm>
            <a:off x="2384680" y="2021983"/>
            <a:ext cx="3156010" cy="206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81" y="1960398"/>
            <a:ext cx="10114421" cy="174295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738184" y="1908882"/>
            <a:ext cx="3509319" cy="103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99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58A759F3-C98C-4D16-94B7-A8743F0556BD}"/>
              </a:ext>
            </a:extLst>
          </p:cNvPr>
          <p:cNvSpPr/>
          <p:nvPr/>
        </p:nvSpPr>
        <p:spPr>
          <a:xfrm>
            <a:off x="381244" y="4762836"/>
            <a:ext cx="11370637" cy="94777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0681" y="253477"/>
            <a:ext cx="19666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Bagging </a:t>
            </a:r>
            <a:endParaRPr lang="zh-CN" altLang="en-US" sz="4000" b="1" dirty="0"/>
          </a:p>
        </p:txBody>
      </p:sp>
      <p:sp>
        <p:nvSpPr>
          <p:cNvPr id="3" name="矩形 2"/>
          <p:cNvSpPr/>
          <p:nvPr/>
        </p:nvSpPr>
        <p:spPr>
          <a:xfrm>
            <a:off x="794195" y="4821222"/>
            <a:ext cx="106036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Calibri" panose="020F0502020204030204" pitchFamily="34" charset="0"/>
              </a:rPr>
              <a:t>This works best when perturbing the training set can cause significant changes in </a:t>
            </a:r>
            <a:br>
              <a:rPr lang="en-US" altLang="zh-CN" sz="24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altLang="zh-CN" sz="2400" dirty="0">
                <a:solidFill>
                  <a:srgbClr val="000000"/>
                </a:solidFill>
                <a:latin typeface="Calibri" panose="020F0502020204030204" pitchFamily="34" charset="0"/>
              </a:rPr>
              <a:t>the estimated model.</a:t>
            </a:r>
            <a:endParaRPr lang="zh-CN" altLang="en-US" sz="2400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55C1D5F-47F5-4943-8FCD-63D1941F0073}"/>
              </a:ext>
            </a:extLst>
          </p:cNvPr>
          <p:cNvSpPr/>
          <p:nvPr/>
        </p:nvSpPr>
        <p:spPr>
          <a:xfrm>
            <a:off x="410680" y="1196452"/>
            <a:ext cx="11370637" cy="3290707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10682" y="1294262"/>
                <a:ext cx="1131176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Bagging involves constructing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/>
                  <a:t> different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datasets</a:t>
                </a:r>
                <a:r>
                  <a:rPr lang="en-US" altLang="zh-CN" sz="2400" dirty="0"/>
                  <a:t>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Each dataset has the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same</a:t>
                </a:r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number</a:t>
                </a:r>
                <a:r>
                  <a:rPr lang="en-US" altLang="zh-CN" sz="2400" dirty="0"/>
                  <a:t> of examples as the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original dataset.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Each dataset is constructed by sampling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with replacement </a:t>
                </a:r>
                <a:r>
                  <a:rPr lang="en-US" altLang="zh-CN" sz="2400" dirty="0"/>
                  <a:t>from the original dataset. 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With high probability, each dataset is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missing</a:t>
                </a:r>
                <a:r>
                  <a:rPr lang="en-US" altLang="zh-CN" sz="2400" dirty="0"/>
                  <a:t> some of the examples from the original dataset. 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Each dataset also contains several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duplicate</a:t>
                </a:r>
                <a:r>
                  <a:rPr lang="en-US" altLang="zh-CN" sz="2400" dirty="0"/>
                  <a:t> examples. 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On average around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2/3</a:t>
                </a:r>
                <a:r>
                  <a:rPr lang="en-US" altLang="zh-CN" sz="2400" dirty="0"/>
                  <a:t> of the examples from the original dataset can be found in the resulting training set.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2" y="1294262"/>
                <a:ext cx="11311762" cy="3046988"/>
              </a:xfrm>
              <a:prstGeom prst="rect">
                <a:avLst/>
              </a:prstGeom>
              <a:blipFill>
                <a:blip r:embed="rId2"/>
                <a:stretch>
                  <a:fillRect l="-700" t="-1600" r="-862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292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8B2B9C7-D5AC-4582-806A-9408FA41437F}"/>
              </a:ext>
            </a:extLst>
          </p:cNvPr>
          <p:cNvGrpSpPr/>
          <p:nvPr/>
        </p:nvGrpSpPr>
        <p:grpSpPr>
          <a:xfrm>
            <a:off x="-57844" y="3543727"/>
            <a:ext cx="4832926" cy="2790503"/>
            <a:chOff x="-57844" y="3543727"/>
            <a:chExt cx="4832926" cy="2790503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B008EB67-A85A-45BE-88BF-77281199F5D8}"/>
                </a:ext>
              </a:extLst>
            </p:cNvPr>
            <p:cNvSpPr/>
            <p:nvPr/>
          </p:nvSpPr>
          <p:spPr>
            <a:xfrm>
              <a:off x="435268" y="3543727"/>
              <a:ext cx="4339814" cy="2790503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57844" y="3600151"/>
              <a:ext cx="4770105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28700" lvl="1" indent="-571500" algn="just">
                <a:buFont typeface="Wingdings" panose="05000000000000000000" pitchFamily="2" charset="2"/>
                <a:buChar char="n"/>
              </a:pPr>
              <a:r>
                <a:rPr lang="en-US" altLang="zh-CN" sz="2400" dirty="0"/>
                <a:t>Each of these individual classification rules is brittle.</a:t>
              </a:r>
            </a:p>
            <a:p>
              <a:pPr marL="1028700" lvl="1" indent="-571500" algn="just">
                <a:buFont typeface="Wingdings" panose="05000000000000000000" pitchFamily="2" charset="2"/>
                <a:buChar char="n"/>
              </a:pPr>
              <a:r>
                <a:rPr lang="en-US" altLang="zh-CN" sz="2400" dirty="0"/>
                <a:t>But if we average their outputs then the detector is robust, achieving maximal confidence only when both loops of the ‘8’ are present.  </a:t>
              </a:r>
            </a:p>
          </p:txBody>
        </p:sp>
      </p:grp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320" y="3393465"/>
            <a:ext cx="6658860" cy="340576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052561" y="4534063"/>
            <a:ext cx="18473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070502" y="4610322"/>
            <a:ext cx="1985757" cy="2273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070502" y="4521394"/>
            <a:ext cx="2374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First resampled dataset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199583" y="5707510"/>
            <a:ext cx="2004957" cy="229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26092" y="5637621"/>
            <a:ext cx="2642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Second resampled dataset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8794211" y="4476039"/>
            <a:ext cx="2004957" cy="229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648053" y="4406150"/>
            <a:ext cx="2407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First ensemble member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8794211" y="5625685"/>
            <a:ext cx="2261745" cy="229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648053" y="5572272"/>
            <a:ext cx="2675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Second ensemble member</a:t>
            </a:r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9F7E54E-C5C4-464E-B54E-FCCC8D0345E0}"/>
              </a:ext>
            </a:extLst>
          </p:cNvPr>
          <p:cNvSpPr/>
          <p:nvPr/>
        </p:nvSpPr>
        <p:spPr>
          <a:xfrm>
            <a:off x="454121" y="902396"/>
            <a:ext cx="11266183" cy="2393162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8336AC-A2C6-4C6D-8FA6-047C881CCB11}"/>
              </a:ext>
            </a:extLst>
          </p:cNvPr>
          <p:cNvSpPr txBox="1"/>
          <p:nvPr/>
        </p:nvSpPr>
        <p:spPr>
          <a:xfrm>
            <a:off x="401427" y="961180"/>
            <a:ext cx="115661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400" dirty="0"/>
              <a:t>Suppose we train an ‘8’ detector on the dataset, containing an ‘</a:t>
            </a:r>
            <a:r>
              <a:rPr lang="en-US" altLang="zh-CN" sz="2400" dirty="0">
                <a:solidFill>
                  <a:srgbClr val="FF0000"/>
                </a:solidFill>
              </a:rPr>
              <a:t>8</a:t>
            </a:r>
            <a:r>
              <a:rPr lang="en-US" altLang="zh-CN" sz="2400" dirty="0"/>
              <a:t>’, a ‘</a:t>
            </a:r>
            <a:r>
              <a:rPr lang="en-US" altLang="zh-CN" sz="2400" dirty="0">
                <a:solidFill>
                  <a:srgbClr val="FF0000"/>
                </a:solidFill>
              </a:rPr>
              <a:t>6</a:t>
            </a:r>
            <a:r>
              <a:rPr lang="en-US" altLang="zh-CN" sz="2400" dirty="0"/>
              <a:t>’ and a ‘</a:t>
            </a:r>
            <a:r>
              <a:rPr lang="en-US" altLang="zh-CN" sz="2400" dirty="0">
                <a:solidFill>
                  <a:srgbClr val="FF0000"/>
                </a:solidFill>
              </a:rPr>
              <a:t>9</a:t>
            </a:r>
            <a:r>
              <a:rPr lang="en-US" altLang="zh-CN" sz="2400" dirty="0"/>
              <a:t>’.</a:t>
            </a:r>
          </a:p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400" dirty="0"/>
              <a:t>Suppose we make two different resampled datasets by sampling with replacement. </a:t>
            </a:r>
          </a:p>
          <a:p>
            <a:pPr marL="1028700" lvl="1" indent="-571500" algn="just">
              <a:buFont typeface="Wingdings" panose="05000000000000000000" pitchFamily="2" charset="2"/>
              <a:buChar char="Ø"/>
            </a:pPr>
            <a:r>
              <a:rPr lang="en-US" altLang="zh-CN" sz="2400" dirty="0"/>
              <a:t>The first dataset </a:t>
            </a:r>
            <a:r>
              <a:rPr lang="en-US" altLang="zh-CN" sz="2400" dirty="0">
                <a:solidFill>
                  <a:srgbClr val="FF0000"/>
                </a:solidFill>
              </a:rPr>
              <a:t>omits</a:t>
            </a:r>
            <a:r>
              <a:rPr lang="en-US" altLang="zh-CN" sz="2400" dirty="0"/>
              <a:t> the ‘</a:t>
            </a:r>
            <a:r>
              <a:rPr lang="en-US" altLang="zh-CN" sz="2400" dirty="0">
                <a:solidFill>
                  <a:srgbClr val="FF0000"/>
                </a:solidFill>
              </a:rPr>
              <a:t>9</a:t>
            </a:r>
            <a:r>
              <a:rPr lang="en-US" altLang="zh-CN" sz="2400" dirty="0"/>
              <a:t>’ and </a:t>
            </a:r>
            <a:r>
              <a:rPr lang="en-US" altLang="zh-CN" sz="2400" dirty="0">
                <a:solidFill>
                  <a:srgbClr val="FF0000"/>
                </a:solidFill>
              </a:rPr>
              <a:t>repeats</a:t>
            </a:r>
            <a:r>
              <a:rPr lang="en-US" altLang="zh-CN" sz="2400" dirty="0"/>
              <a:t> the ‘</a:t>
            </a:r>
            <a:r>
              <a:rPr lang="en-US" altLang="zh-CN" sz="2400" dirty="0">
                <a:solidFill>
                  <a:srgbClr val="FF0000"/>
                </a:solidFill>
              </a:rPr>
              <a:t>8</a:t>
            </a:r>
            <a:r>
              <a:rPr lang="en-US" altLang="zh-CN" sz="2400" dirty="0"/>
              <a:t>’.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 detector learns that </a:t>
            </a:r>
            <a:r>
              <a:rPr lang="en-US" altLang="zh-CN" sz="2400" b="1" dirty="0">
                <a:solidFill>
                  <a:srgbClr val="FF0000"/>
                </a:solidFill>
              </a:rPr>
              <a:t>a loop on top </a:t>
            </a:r>
            <a:r>
              <a:rPr lang="en-US" altLang="zh-CN" sz="2400" dirty="0"/>
              <a:t>of the digit corresponds to an ‘8’. </a:t>
            </a:r>
          </a:p>
          <a:p>
            <a:pPr marL="1028700" lvl="1" indent="-571500" algn="just">
              <a:buFont typeface="Wingdings" panose="05000000000000000000" pitchFamily="2" charset="2"/>
              <a:buChar char="Ø"/>
            </a:pPr>
            <a:r>
              <a:rPr lang="en-US" altLang="zh-CN" sz="2400" dirty="0"/>
              <a:t>The second dataset </a:t>
            </a:r>
            <a:r>
              <a:rPr lang="en-US" altLang="zh-CN" sz="2400" dirty="0">
                <a:solidFill>
                  <a:srgbClr val="FF0000"/>
                </a:solidFill>
              </a:rPr>
              <a:t>omits</a:t>
            </a:r>
            <a:r>
              <a:rPr lang="en-US" altLang="zh-CN" sz="2400" dirty="0"/>
              <a:t> the ‘</a:t>
            </a:r>
            <a:r>
              <a:rPr lang="en-US" altLang="zh-CN" sz="2400" dirty="0">
                <a:solidFill>
                  <a:srgbClr val="FF0000"/>
                </a:solidFill>
              </a:rPr>
              <a:t>6</a:t>
            </a:r>
            <a:r>
              <a:rPr lang="en-US" altLang="zh-CN" sz="2400" dirty="0"/>
              <a:t>’ and </a:t>
            </a:r>
            <a:r>
              <a:rPr lang="en-US" altLang="zh-CN" sz="2400" dirty="0">
                <a:solidFill>
                  <a:srgbClr val="FF0000"/>
                </a:solidFill>
              </a:rPr>
              <a:t>repeats</a:t>
            </a:r>
            <a:r>
              <a:rPr lang="en-US" altLang="zh-CN" sz="2400" dirty="0"/>
              <a:t> the ‘</a:t>
            </a:r>
            <a:r>
              <a:rPr lang="en-US" altLang="zh-CN" sz="2400" dirty="0">
                <a:solidFill>
                  <a:srgbClr val="FF0000"/>
                </a:solidFill>
              </a:rPr>
              <a:t>9</a:t>
            </a:r>
            <a:r>
              <a:rPr lang="en-US" altLang="zh-CN" sz="2400" dirty="0"/>
              <a:t>’. 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 detector learns that </a:t>
            </a:r>
            <a:r>
              <a:rPr lang="en-US" altLang="zh-CN" sz="2400" b="1" dirty="0">
                <a:solidFill>
                  <a:srgbClr val="FF0000"/>
                </a:solidFill>
              </a:rPr>
              <a:t>a loop on the bottom </a:t>
            </a:r>
            <a:r>
              <a:rPr lang="en-US" altLang="zh-CN" sz="2400" dirty="0"/>
              <a:t>of the digit corresponds to an ‘8’.</a:t>
            </a:r>
          </a:p>
          <a:p>
            <a:pPr marL="1485900" lvl="2" indent="-571500" algn="just">
              <a:buFont typeface="Wingdings" panose="05000000000000000000" pitchFamily="2" charset="2"/>
              <a:buChar char="n"/>
            </a:pPr>
            <a:endParaRPr lang="en-US" altLang="zh-CN" sz="2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20FECD-7CEE-48A2-92E0-DD8EBE254E4E}"/>
              </a:ext>
            </a:extLst>
          </p:cNvPr>
          <p:cNvSpPr/>
          <p:nvPr/>
        </p:nvSpPr>
        <p:spPr>
          <a:xfrm>
            <a:off x="5166585" y="3494095"/>
            <a:ext cx="1654858" cy="189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CC966FD-D141-4899-BD52-20978692FE7B}"/>
              </a:ext>
            </a:extLst>
          </p:cNvPr>
          <p:cNvSpPr/>
          <p:nvPr/>
        </p:nvSpPr>
        <p:spPr>
          <a:xfrm>
            <a:off x="5166585" y="3393465"/>
            <a:ext cx="16660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Original dataset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10B9BF-0100-48CE-A227-1152958947C2}"/>
              </a:ext>
            </a:extLst>
          </p:cNvPr>
          <p:cNvSpPr txBox="1"/>
          <p:nvPr/>
        </p:nvSpPr>
        <p:spPr>
          <a:xfrm>
            <a:off x="410681" y="253477"/>
            <a:ext cx="5633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Why Does Bagging Work?</a:t>
            </a:r>
          </a:p>
        </p:txBody>
      </p:sp>
    </p:spTree>
    <p:extLst>
      <p:ext uri="{BB962C8B-B14F-4D97-AF65-F5344CB8AC3E}">
        <p14:creationId xmlns:p14="http://schemas.microsoft.com/office/powerpoint/2010/main" val="3027356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253477"/>
            <a:ext cx="42800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Ensemble Methods</a:t>
            </a:r>
            <a:endParaRPr lang="zh-CN" altLang="en-US" sz="4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CF5CFE-CE0C-413B-9A2F-792D0CB1FE13}"/>
              </a:ext>
            </a:extLst>
          </p:cNvPr>
          <p:cNvSpPr txBox="1"/>
          <p:nvPr/>
        </p:nvSpPr>
        <p:spPr>
          <a:xfrm>
            <a:off x="410681" y="1294262"/>
            <a:ext cx="11240849" cy="4992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Parallel Methods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Bagging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>
                <a:solidFill>
                  <a:srgbClr val="FF0000"/>
                </a:solidFill>
              </a:rPr>
              <a:t>Random Forest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Sequential Methods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Boosting (</a:t>
            </a:r>
            <a:r>
              <a:rPr lang="en-US" altLang="zh-CN" sz="3600" dirty="0" err="1"/>
              <a:t>Adaboost</a:t>
            </a:r>
            <a:r>
              <a:rPr lang="en-US" altLang="zh-CN" sz="3600" dirty="0"/>
              <a:t>)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Gradient Boosting Decision Trees </a:t>
            </a:r>
          </a:p>
        </p:txBody>
      </p:sp>
    </p:spTree>
    <p:extLst>
      <p:ext uri="{BB962C8B-B14F-4D97-AF65-F5344CB8AC3E}">
        <p14:creationId xmlns:p14="http://schemas.microsoft.com/office/powerpoint/2010/main" val="732520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253477"/>
            <a:ext cx="3256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CART (1984)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A6FAA2-8977-4B97-B2E6-D555AA59F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597" y="1350499"/>
            <a:ext cx="9696805" cy="34000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4B75FA9-711A-468B-995B-93211327CA22}"/>
              </a:ext>
            </a:extLst>
          </p:cNvPr>
          <p:cNvSpPr/>
          <p:nvPr/>
        </p:nvSpPr>
        <p:spPr>
          <a:xfrm>
            <a:off x="1888501" y="4955212"/>
            <a:ext cx="96968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solidFill>
                  <a:srgbClr val="000000"/>
                </a:solidFill>
              </a:rPr>
              <a:t>Breiman</a:t>
            </a:r>
            <a:r>
              <a:rPr lang="en-US" altLang="zh-CN" sz="2400" b="1" dirty="0">
                <a:solidFill>
                  <a:srgbClr val="000000"/>
                </a:solidFill>
              </a:rPr>
              <a:t>                 Friedman                    </a:t>
            </a:r>
            <a:r>
              <a:rPr lang="en-US" altLang="zh-CN" sz="2400" b="1" dirty="0" err="1">
                <a:solidFill>
                  <a:srgbClr val="000000"/>
                </a:solidFill>
              </a:rPr>
              <a:t>Olshen</a:t>
            </a:r>
            <a:r>
              <a:rPr lang="en-US" altLang="zh-CN" sz="2400" b="1" dirty="0">
                <a:solidFill>
                  <a:srgbClr val="000000"/>
                </a:solidFill>
              </a:rPr>
              <a:t>                         Stone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98F1D2-1CBB-4E93-87A4-156213C3C086}"/>
              </a:ext>
            </a:extLst>
          </p:cNvPr>
          <p:cNvSpPr/>
          <p:nvPr/>
        </p:nvSpPr>
        <p:spPr>
          <a:xfrm>
            <a:off x="3756421" y="5526448"/>
            <a:ext cx="21776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Stanford University</a:t>
            </a:r>
            <a:endParaRPr lang="zh-CN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9E7447-12D1-4FBF-8DF9-B35407A4E483}"/>
              </a:ext>
            </a:extLst>
          </p:cNvPr>
          <p:cNvSpPr/>
          <p:nvPr/>
        </p:nvSpPr>
        <p:spPr>
          <a:xfrm>
            <a:off x="9108005" y="5526448"/>
            <a:ext cx="14395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UC Berkeley</a:t>
            </a:r>
            <a:endParaRPr lang="zh-CN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E85460-332A-4013-A75F-AFF45D729E87}"/>
              </a:ext>
            </a:extLst>
          </p:cNvPr>
          <p:cNvSpPr/>
          <p:nvPr/>
        </p:nvSpPr>
        <p:spPr>
          <a:xfrm>
            <a:off x="1813085" y="5526448"/>
            <a:ext cx="14395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UC Berkeley</a:t>
            </a:r>
            <a:endParaRPr lang="zh-CN" altLang="en-US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20319C-5098-4EFB-8CEA-B909053CF675}"/>
              </a:ext>
            </a:extLst>
          </p:cNvPr>
          <p:cNvSpPr/>
          <p:nvPr/>
        </p:nvSpPr>
        <p:spPr>
          <a:xfrm>
            <a:off x="6235671" y="5526448"/>
            <a:ext cx="21776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Stanford University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43079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253477"/>
            <a:ext cx="13033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CART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0681" y="1079934"/>
            <a:ext cx="11240849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sz="2800" dirty="0"/>
              <a:t>Grow a </a:t>
            </a:r>
            <a:r>
              <a:rPr lang="en-US" sz="2800" dirty="0">
                <a:solidFill>
                  <a:srgbClr val="FF0000"/>
                </a:solidFill>
              </a:rPr>
              <a:t>binary</a:t>
            </a:r>
            <a:r>
              <a:rPr lang="en-US" sz="2800" dirty="0"/>
              <a:t> tree.</a:t>
            </a:r>
          </a:p>
          <a:p>
            <a:pPr marL="1028700" lvl="1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sz="2800" dirty="0"/>
              <a:t>At each node, split the data into </a:t>
            </a:r>
            <a:r>
              <a:rPr lang="en-US" sz="2800" dirty="0">
                <a:solidFill>
                  <a:srgbClr val="FF0000"/>
                </a:solidFill>
              </a:rPr>
              <a:t>two</a:t>
            </a:r>
            <a:r>
              <a:rPr lang="en-US" sz="2800" dirty="0"/>
              <a:t> child nodes.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FF0000"/>
                </a:solidFill>
              </a:rPr>
              <a:t>regression,</a:t>
            </a:r>
            <a:r>
              <a:rPr lang="en-US" sz="2800" dirty="0"/>
              <a:t> the predicted value at a node is the </a:t>
            </a:r>
            <a:r>
              <a:rPr lang="en-US" sz="2800" i="1" dirty="0">
                <a:solidFill>
                  <a:srgbClr val="FF0000"/>
                </a:solidFill>
              </a:rPr>
              <a:t>average</a:t>
            </a:r>
            <a:r>
              <a:rPr lang="en-US" sz="2800" i="1" dirty="0"/>
              <a:t> </a:t>
            </a:r>
            <a:r>
              <a:rPr lang="en-US" sz="2800" dirty="0"/>
              <a:t>response variable for all observations in the node.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FF0000"/>
                </a:solidFill>
              </a:rPr>
              <a:t>classification,</a:t>
            </a:r>
            <a:r>
              <a:rPr lang="en-US" sz="2800" dirty="0"/>
              <a:t> the predicted class is the </a:t>
            </a:r>
            <a:r>
              <a:rPr lang="en-US" sz="2800" i="1" dirty="0">
                <a:solidFill>
                  <a:srgbClr val="FF0000"/>
                </a:solidFill>
              </a:rPr>
              <a:t>most common class </a:t>
            </a:r>
            <a:r>
              <a:rPr lang="en-US" sz="2800" dirty="0"/>
              <a:t>in the node (</a:t>
            </a:r>
            <a:r>
              <a:rPr lang="en-US" sz="2800" dirty="0">
                <a:solidFill>
                  <a:srgbClr val="FF0000"/>
                </a:solidFill>
              </a:rPr>
              <a:t>majority vot</a:t>
            </a:r>
            <a:r>
              <a:rPr lang="en-US" altLang="zh-CN" sz="2800" dirty="0">
                <a:solidFill>
                  <a:srgbClr val="FF0000"/>
                </a:solidFill>
              </a:rPr>
              <a:t>ing</a:t>
            </a:r>
            <a:r>
              <a:rPr lang="en-US" sz="2800" dirty="0"/>
              <a:t>).</a:t>
            </a:r>
            <a:endParaRPr lang="en-US" altLang="zh-CN" sz="2800" strike="sngStrik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793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B256730-440E-4784-AB5D-8D25503C3C39}"/>
              </a:ext>
            </a:extLst>
          </p:cNvPr>
          <p:cNvSpPr/>
          <p:nvPr/>
        </p:nvSpPr>
        <p:spPr>
          <a:xfrm>
            <a:off x="410682" y="1121790"/>
            <a:ext cx="5584766" cy="2149312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0681" y="253477"/>
            <a:ext cx="44392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 Classification Tree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9048D7-AB01-4A03-9DE2-050D5EF163D6}"/>
              </a:ext>
            </a:extLst>
          </p:cNvPr>
          <p:cNvSpPr txBox="1"/>
          <p:nvPr/>
        </p:nvSpPr>
        <p:spPr>
          <a:xfrm>
            <a:off x="410681" y="1079934"/>
            <a:ext cx="1124084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Predict hepatitis (0=absent, 1=present)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Using </a:t>
            </a:r>
            <a:r>
              <a:rPr lang="en-US" altLang="zh-CN" sz="2400" i="1" dirty="0">
                <a:solidFill>
                  <a:srgbClr val="FF0000"/>
                </a:solidFill>
              </a:rPr>
              <a:t>protein</a:t>
            </a:r>
            <a:r>
              <a:rPr lang="en-US" altLang="zh-CN" sz="2400" dirty="0"/>
              <a:t> and </a:t>
            </a:r>
            <a:r>
              <a:rPr lang="en-US" altLang="zh-CN" sz="2400" i="1" dirty="0">
                <a:solidFill>
                  <a:srgbClr val="FF0000"/>
                </a:solidFill>
              </a:rPr>
              <a:t>alkaline phosphate.</a:t>
            </a:r>
          </a:p>
          <a:p>
            <a:pPr algn="just">
              <a:spcAft>
                <a:spcPts val="600"/>
              </a:spcAft>
            </a:pPr>
            <a:endParaRPr lang="en-US" altLang="zh-CN" sz="2400" dirty="0"/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“Yes” goes left.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CDFE64-1CB5-4224-867E-582828A44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13659"/>
            <a:ext cx="5352611" cy="543527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42E7B7C-3519-46A1-919B-CCB1CB36181E}"/>
              </a:ext>
            </a:extLst>
          </p:cNvPr>
          <p:cNvSpPr/>
          <p:nvPr/>
        </p:nvSpPr>
        <p:spPr>
          <a:xfrm>
            <a:off x="6085666" y="932230"/>
            <a:ext cx="2686639" cy="13545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710AE2D-8F34-423E-86C1-ED60EB893C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156" b="16027"/>
          <a:stretch/>
        </p:blipFill>
        <p:spPr>
          <a:xfrm>
            <a:off x="2129229" y="3930309"/>
            <a:ext cx="2147671" cy="184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69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C74A991D-5869-416A-BE13-81CAC05C9BBC}"/>
              </a:ext>
            </a:extLst>
          </p:cNvPr>
          <p:cNvSpPr/>
          <p:nvPr/>
        </p:nvSpPr>
        <p:spPr>
          <a:xfrm>
            <a:off x="410681" y="1093509"/>
            <a:ext cx="11014606" cy="316737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0681" y="253477"/>
            <a:ext cx="45811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Advantages of CART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0681" y="1079934"/>
            <a:ext cx="11240849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Applicable to both regression and classification problems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Handle categorical predictors naturally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Computationally simple and quick to fit, even for large problems.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Non-parametric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Can handle highly non-linear interactions and classification boundaries.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Very easy to interpret if the tree is small. 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602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EDC14601-01F7-406F-9D56-87C5B731A431}"/>
              </a:ext>
            </a:extLst>
          </p:cNvPr>
          <p:cNvSpPr/>
          <p:nvPr/>
        </p:nvSpPr>
        <p:spPr>
          <a:xfrm>
            <a:off x="410681" y="1121789"/>
            <a:ext cx="6489740" cy="255431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82" y="1079934"/>
            <a:ext cx="6301204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spcAft>
                <a:spcPts val="18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The picture of the tree can give valuable insights into which variables are important and where.</a:t>
            </a:r>
          </a:p>
          <a:p>
            <a:pPr marL="571500" indent="-571500" algn="just">
              <a:spcAft>
                <a:spcPts val="18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The leaf nodes suggest a natural clustering of data.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16F9B1-D55C-41FA-9F1B-120A58930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736" y="1079934"/>
            <a:ext cx="4512358" cy="45382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9A7E387-62EE-4413-B0AB-B1EA009550A2}"/>
              </a:ext>
            </a:extLst>
          </p:cNvPr>
          <p:cNvSpPr txBox="1"/>
          <p:nvPr/>
        </p:nvSpPr>
        <p:spPr>
          <a:xfrm>
            <a:off x="410681" y="253477"/>
            <a:ext cx="60127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Advantages of CART (Cont.)</a:t>
            </a:r>
          </a:p>
        </p:txBody>
      </p:sp>
    </p:spTree>
    <p:extLst>
      <p:ext uri="{BB962C8B-B14F-4D97-AF65-F5344CB8AC3E}">
        <p14:creationId xmlns:p14="http://schemas.microsoft.com/office/powerpoint/2010/main" val="3502569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55E50F3-75B4-4E6C-BD80-3F1A86EA5820}"/>
              </a:ext>
            </a:extLst>
          </p:cNvPr>
          <p:cNvSpPr txBox="1"/>
          <p:nvPr/>
        </p:nvSpPr>
        <p:spPr>
          <a:xfrm>
            <a:off x="410681" y="253477"/>
            <a:ext cx="50428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Disadvantages of CART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197ED3A-9589-4739-B3D2-F21CF4CA13DA}"/>
              </a:ext>
            </a:extLst>
          </p:cNvPr>
          <p:cNvGrpSpPr/>
          <p:nvPr/>
        </p:nvGrpSpPr>
        <p:grpSpPr>
          <a:xfrm>
            <a:off x="410679" y="3737729"/>
            <a:ext cx="11033459" cy="1657292"/>
            <a:chOff x="410679" y="3737729"/>
            <a:chExt cx="11033459" cy="165729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BC07C292-867F-4401-A1C9-54613158A2B2}"/>
                </a:ext>
              </a:extLst>
            </p:cNvPr>
            <p:cNvSpPr/>
            <p:nvPr/>
          </p:nvSpPr>
          <p:spPr>
            <a:xfrm>
              <a:off x="410679" y="3737729"/>
              <a:ext cx="11033459" cy="1657292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24F671F-0F51-4796-A601-65D568CFCE50}"/>
                </a:ext>
              </a:extLst>
            </p:cNvPr>
            <p:cNvSpPr/>
            <p:nvPr/>
          </p:nvSpPr>
          <p:spPr>
            <a:xfrm>
              <a:off x="553655" y="3952445"/>
              <a:ext cx="1020390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3200" dirty="0"/>
                <a:t>Today, we can do better! 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23A5E0A-F64A-4223-958B-BB92101B0480}"/>
                </a:ext>
              </a:extLst>
            </p:cNvPr>
            <p:cNvSpPr/>
            <p:nvPr/>
          </p:nvSpPr>
          <p:spPr>
            <a:xfrm>
              <a:off x="4275964" y="4620648"/>
              <a:ext cx="275928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b="1" dirty="0"/>
                <a:t>Random Forest</a:t>
              </a:r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4FE3278-A3BE-448C-AC9F-3FB1E8F03EE2}"/>
              </a:ext>
            </a:extLst>
          </p:cNvPr>
          <p:cNvSpPr/>
          <p:nvPr/>
        </p:nvSpPr>
        <p:spPr>
          <a:xfrm>
            <a:off x="410680" y="1121789"/>
            <a:ext cx="11033459" cy="230721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AAFE34-8A27-4AAB-9684-ADE4F09C4E33}"/>
              </a:ext>
            </a:extLst>
          </p:cNvPr>
          <p:cNvSpPr/>
          <p:nvPr/>
        </p:nvSpPr>
        <p:spPr>
          <a:xfrm>
            <a:off x="410681" y="1226528"/>
            <a:ext cx="10908108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FF0000"/>
                </a:solidFill>
              </a:rPr>
              <a:t>Accuracy</a:t>
            </a:r>
            <a:r>
              <a:rPr lang="en-US" sz="2800" i="1" dirty="0">
                <a:solidFill>
                  <a:srgbClr val="000000"/>
                </a:solidFill>
              </a:rPr>
              <a:t>: </a:t>
            </a:r>
            <a:r>
              <a:rPr lang="en-US" sz="2800" dirty="0">
                <a:solidFill>
                  <a:srgbClr val="000000"/>
                </a:solidFill>
              </a:rPr>
              <a:t>current methods, such as SVM and ensemble classifiers often have 30% lower error rates than CART.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FF0000"/>
                </a:solidFill>
              </a:rPr>
              <a:t>Instability</a:t>
            </a:r>
            <a:r>
              <a:rPr lang="en-US" sz="2800" i="1" dirty="0">
                <a:solidFill>
                  <a:srgbClr val="000000"/>
                </a:solidFill>
              </a:rPr>
              <a:t>:</a:t>
            </a:r>
            <a:r>
              <a:rPr lang="en-US" sz="2800" dirty="0">
                <a:solidFill>
                  <a:srgbClr val="000000"/>
                </a:solidFill>
              </a:rPr>
              <a:t> if we change the data a little, the tree picture can change a lot. So the interpretation is not as straightforward as it appears.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5040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C0FE0C5-538F-4DF6-BBB7-9EFF6BA63171}"/>
              </a:ext>
            </a:extLst>
          </p:cNvPr>
          <p:cNvSpPr/>
          <p:nvPr/>
        </p:nvSpPr>
        <p:spPr>
          <a:xfrm>
            <a:off x="410681" y="1121789"/>
            <a:ext cx="11014606" cy="1302945"/>
          </a:xfrm>
          <a:prstGeom prst="roundRect">
            <a:avLst>
              <a:gd name="adj" fmla="val 3573"/>
            </a:avLst>
          </a:prstGeom>
          <a:solidFill>
            <a:srgbClr val="F5F9E2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34033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Random Forest</a:t>
            </a:r>
          </a:p>
        </p:txBody>
      </p:sp>
      <p:sp>
        <p:nvSpPr>
          <p:cNvPr id="4" name="矩形 3"/>
          <p:cNvSpPr/>
          <p:nvPr/>
        </p:nvSpPr>
        <p:spPr>
          <a:xfrm>
            <a:off x="410681" y="1150853"/>
            <a:ext cx="110146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Ensemble method specifically designed for decision tree classifiers.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Random forest is a substantial modification of bagging </a:t>
            </a:r>
            <a:r>
              <a:rPr lang="en-US" altLang="zh-CN" sz="2400" dirty="0">
                <a:solidFill>
                  <a:srgbClr val="FF0000"/>
                </a:solidFill>
              </a:rPr>
              <a:t>that</a:t>
            </a:r>
            <a:r>
              <a:rPr lang="en-US" altLang="zh-CN" sz="2400" dirty="0"/>
              <a:t> builds a large collection of </a:t>
            </a:r>
            <a:r>
              <a:rPr lang="en-US" altLang="zh-CN" sz="2400" dirty="0">
                <a:solidFill>
                  <a:srgbClr val="FF0000"/>
                </a:solidFill>
              </a:rPr>
              <a:t>de-correlated</a:t>
            </a:r>
            <a:r>
              <a:rPr lang="en-US" altLang="zh-CN" sz="2400" dirty="0"/>
              <a:t> trees, and then average them.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57FFCB-E918-4134-9341-976EBFE04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291" y="2544456"/>
            <a:ext cx="4032944" cy="413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250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C0FE0C5-538F-4DF6-BBB7-9EFF6BA63171}"/>
              </a:ext>
            </a:extLst>
          </p:cNvPr>
          <p:cNvSpPr/>
          <p:nvPr/>
        </p:nvSpPr>
        <p:spPr>
          <a:xfrm>
            <a:off x="410681" y="1046373"/>
            <a:ext cx="11014606" cy="1598724"/>
          </a:xfrm>
          <a:prstGeom prst="roundRect">
            <a:avLst>
              <a:gd name="adj" fmla="val 3573"/>
            </a:avLst>
          </a:prstGeom>
          <a:solidFill>
            <a:srgbClr val="F5F9E2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34033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Random Forest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10681" y="1046373"/>
                <a:ext cx="11014606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Two sources of randomness: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FF"/>
                    </a:solidFill>
                  </a:rPr>
                  <a:t>Bagging method</a:t>
                </a:r>
                <a:r>
                  <a:rPr lang="en-US" altLang="zh-CN" sz="2400" dirty="0"/>
                  <a:t>: each tree is grown using a </a:t>
                </a:r>
                <a:r>
                  <a:rPr lang="en-US" altLang="zh-CN" sz="2400" dirty="0">
                    <a:solidFill>
                      <a:srgbClr val="0000FF"/>
                    </a:solidFill>
                  </a:rPr>
                  <a:t>bootstrap</a:t>
                </a:r>
                <a:r>
                  <a:rPr lang="en-US" altLang="zh-CN" sz="2400" dirty="0"/>
                  <a:t> sample of training data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FF"/>
                    </a:solidFill>
                  </a:rPr>
                  <a:t>Random vector method</a:t>
                </a:r>
                <a:r>
                  <a:rPr lang="en-US" altLang="zh-CN" sz="2400" dirty="0"/>
                  <a:t>: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at each node</a:t>
                </a:r>
                <a:r>
                  <a:rPr lang="en-US" altLang="zh-CN" sz="2400" dirty="0"/>
                  <a:t>, best split is chosen from a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random</a:t>
                </a:r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sample</a:t>
                </a:r>
                <a:r>
                  <a:rPr lang="en-US" altLang="zh-CN" sz="2400" dirty="0"/>
                  <a:t> of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attributes</a:t>
                </a:r>
                <a:r>
                  <a:rPr lang="en-US" altLang="zh-CN" sz="2400" dirty="0"/>
                  <a:t> instead of all attributes.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1046373"/>
                <a:ext cx="11014606" cy="1569660"/>
              </a:xfrm>
              <a:prstGeom prst="rect">
                <a:avLst/>
              </a:prstGeom>
              <a:blipFill>
                <a:blip r:embed="rId2"/>
                <a:stretch>
                  <a:fillRect l="-719" t="-3113" r="-885" b="-8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BE72A352-D271-4C8A-8449-CACAAD7402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7255"/>
          <a:stretch/>
        </p:blipFill>
        <p:spPr>
          <a:xfrm>
            <a:off x="2575088" y="2765291"/>
            <a:ext cx="7041824" cy="367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924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0681" y="253477"/>
            <a:ext cx="56505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Random Forest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10680" y="1059711"/>
                <a:ext cx="11370638" cy="3421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US" altLang="zh-CN" sz="2400" dirty="0"/>
                  <a:t>For b=1 to B: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Draw a bootstrap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/>
                  <a:t> of size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/>
                  <a:t> from the training data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Grow a 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400" dirty="0"/>
                  <a:t>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/>
                  <a:t>, by recursively repeating the following steps </a:t>
                </a:r>
              </a:p>
              <a:p>
                <a:pPr lvl="2" algn="just"/>
                <a:r>
                  <a:rPr lang="en-US" altLang="zh-CN" sz="2400" dirty="0"/>
                  <a:t>For each terminal node of the tree, until the minimum node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altLang="zh-CN" sz="2400" dirty="0"/>
                  <a:t> is reached.</a:t>
                </a:r>
              </a:p>
              <a:p>
                <a:pPr marL="1257300" lvl="2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Select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400" dirty="0"/>
                  <a:t> variables at random from the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2400" dirty="0"/>
                  <a:t> variables.</a:t>
                </a:r>
              </a:p>
              <a:p>
                <a:pPr marL="1714500" lvl="3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Typically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2400" dirty="0"/>
              </a:p>
              <a:p>
                <a:pPr marL="1257300" lvl="2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Pick the best variable/split-point among the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400" dirty="0"/>
                  <a:t>.</a:t>
                </a:r>
              </a:p>
              <a:p>
                <a:pPr marL="1257300" lvl="2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Split the node into two daughter nodes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altLang="zh-CN" sz="2400" dirty="0"/>
                  <a:t>Output the ensemble of trees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US" altLang="zh-CN" sz="2400" dirty="0"/>
                  <a:t>.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0" y="1059711"/>
                <a:ext cx="11370638" cy="3421321"/>
              </a:xfrm>
              <a:prstGeom prst="rect">
                <a:avLst/>
              </a:prstGeom>
              <a:blipFill rotWithShape="0">
                <a:blip r:embed="rId2"/>
                <a:stretch>
                  <a:fillRect l="-857" t="-1604" b="-3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410682" y="1054441"/>
            <a:ext cx="11484756" cy="3421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668000" y="1291101"/>
            <a:ext cx="930876" cy="5047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CB1DD12-F530-412D-ABCD-CE62BBA0877D}"/>
              </a:ext>
            </a:extLst>
          </p:cNvPr>
          <p:cNvGrpSpPr/>
          <p:nvPr/>
        </p:nvGrpSpPr>
        <p:grpSpPr>
          <a:xfrm>
            <a:off x="410681" y="4793860"/>
            <a:ext cx="11484757" cy="1644647"/>
            <a:chOff x="410681" y="4793860"/>
            <a:chExt cx="11484757" cy="1644647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D004397A-33E7-49B7-B8A5-FC604397095A}"/>
                </a:ext>
              </a:extLst>
            </p:cNvPr>
            <p:cNvSpPr/>
            <p:nvPr/>
          </p:nvSpPr>
          <p:spPr>
            <a:xfrm>
              <a:off x="410681" y="4793860"/>
              <a:ext cx="11476519" cy="1644647"/>
            </a:xfrm>
            <a:prstGeom prst="roundRect">
              <a:avLst>
                <a:gd name="adj" fmla="val 3573"/>
              </a:avLst>
            </a:prstGeom>
            <a:solidFill>
              <a:srgbClr val="FFFBD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A6D86025-D644-41BE-9596-DF790CB48CD7}"/>
                    </a:ext>
                  </a:extLst>
                </p:cNvPr>
                <p:cNvSpPr/>
                <p:nvPr/>
              </p:nvSpPr>
              <p:spPr>
                <a:xfrm>
                  <a:off x="410681" y="4808006"/>
                  <a:ext cx="11484757" cy="141468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/>
                  <a:r>
                    <a:rPr lang="en-US" altLang="zh-CN" sz="2400" dirty="0"/>
                    <a:t>To make a prediction at a new points, </a:t>
                  </a:r>
                </a:p>
                <a:p>
                  <a:pPr marL="342900" indent="-342900" algn="just">
                    <a:buFont typeface="Arial" panose="020B0604020202020204" pitchFamily="34" charset="0"/>
                    <a:buChar char="•"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</a:rPr>
                    <a:t>Regression</a:t>
                  </a:r>
                  <a:r>
                    <a:rPr lang="en-US" altLang="zh-CN" sz="2400" dirty="0"/>
                    <a:t>:  prediction average        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𝑟𝑓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a14:m>
                  <a:endParaRPr lang="en-US" altLang="zh-CN" sz="2400" dirty="0"/>
                </a:p>
                <a:p>
                  <a:pPr marL="342900" indent="-342900" algn="just">
                    <a:buFont typeface="Arial" panose="020B0604020202020204" pitchFamily="34" charset="0"/>
                    <a:buChar char="•"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</a:rPr>
                    <a:t>Classification</a:t>
                  </a:r>
                  <a:r>
                    <a:rPr lang="en-US" altLang="zh-CN" sz="2400" dirty="0"/>
                    <a:t>: majority voting	  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𝑟𝑓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</a:rPr>
                        <m:t>majority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</a:rPr>
                        <m:t>vote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</m:oMath>
                  </a14:m>
                  <a:r>
                    <a:rPr lang="en-US" altLang="zh-CN" sz="2400" dirty="0"/>
                    <a:t>.</a:t>
                  </a:r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A6D86025-D644-41BE-9596-DF790CB48C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681" y="4808006"/>
                  <a:ext cx="11484757" cy="1414683"/>
                </a:xfrm>
                <a:prstGeom prst="rect">
                  <a:avLst/>
                </a:prstGeom>
                <a:blipFill>
                  <a:blip r:embed="rId3"/>
                  <a:stretch>
                    <a:fillRect l="-796" t="-3448" b="-646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8071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253477"/>
            <a:ext cx="7321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Inherit Many Advantages of CART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0681" y="1079934"/>
            <a:ext cx="11240849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Applicable to both regression and classification problems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Handle categorical predictors naturally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Computationally simple and quick to fit, even for large problems.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Non-parametric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Can handle highly non-linear interactions and classification boundaries.</a:t>
            </a:r>
          </a:p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strike="sngStrike" dirty="0"/>
              <a:t>Very easy to interpret if the tree is small. </a:t>
            </a:r>
            <a:r>
              <a:rPr lang="en-US" altLang="zh-CN" sz="2800" dirty="0">
                <a:solidFill>
                  <a:srgbClr val="FF0000"/>
                </a:solidFill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4225879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253477"/>
            <a:ext cx="4504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But Do Not Inherit…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0682" y="1079934"/>
            <a:ext cx="59712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The picture of the tree can give valuable insights into which variables are important and where.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B7E55C-57EA-4559-83F4-76970ECE4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09" y="961363"/>
            <a:ext cx="5384123" cy="4609878"/>
          </a:xfrm>
          <a:prstGeom prst="rect">
            <a:avLst/>
          </a:prstGeom>
        </p:spPr>
      </p:pic>
      <p:sp>
        <p:nvSpPr>
          <p:cNvPr id="6" name="乘号 5">
            <a:extLst>
              <a:ext uri="{FF2B5EF4-FFF2-40B4-BE49-F238E27FC236}">
                <a16:creationId xmlns:a16="http://schemas.microsoft.com/office/drawing/2014/main" id="{C816C2C6-9325-40F2-9FEE-2E9910A14854}"/>
              </a:ext>
            </a:extLst>
          </p:cNvPr>
          <p:cNvSpPr/>
          <p:nvPr/>
        </p:nvSpPr>
        <p:spPr>
          <a:xfrm>
            <a:off x="-315186" y="641023"/>
            <a:ext cx="7960321" cy="2280240"/>
          </a:xfrm>
          <a:prstGeom prst="mathMultiply">
            <a:avLst>
              <a:gd name="adj1" fmla="val 26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乘号 6">
            <a:extLst>
              <a:ext uri="{FF2B5EF4-FFF2-40B4-BE49-F238E27FC236}">
                <a16:creationId xmlns:a16="http://schemas.microsoft.com/office/drawing/2014/main" id="{9ECD7BF7-0C3E-4BD3-AD39-55AF86540B92}"/>
              </a:ext>
            </a:extLst>
          </p:cNvPr>
          <p:cNvSpPr/>
          <p:nvPr/>
        </p:nvSpPr>
        <p:spPr>
          <a:xfrm>
            <a:off x="-315186" y="2921263"/>
            <a:ext cx="7960321" cy="2280240"/>
          </a:xfrm>
          <a:prstGeom prst="mathMultiply">
            <a:avLst>
              <a:gd name="adj1" fmla="val 26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833DB4-9E5C-4F9A-A664-BAF33764AADF}"/>
              </a:ext>
            </a:extLst>
          </p:cNvPr>
          <p:cNvSpPr/>
          <p:nvPr/>
        </p:nvSpPr>
        <p:spPr>
          <a:xfrm>
            <a:off x="410681" y="3586419"/>
            <a:ext cx="59712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The terminal nodes suggest a natural clustering of data.</a:t>
            </a:r>
          </a:p>
        </p:txBody>
      </p:sp>
    </p:spTree>
    <p:extLst>
      <p:ext uri="{BB962C8B-B14F-4D97-AF65-F5344CB8AC3E}">
        <p14:creationId xmlns:p14="http://schemas.microsoft.com/office/powerpoint/2010/main" val="26408259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253477"/>
            <a:ext cx="61126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Decision Boundary: Bagging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0682" y="1079934"/>
            <a:ext cx="107680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en-US" altLang="zh-CN" sz="2800" dirty="0"/>
              <a:t>Bagging averages many trees, and produces smoother decision boundaries.</a:t>
            </a: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201" y="2347079"/>
            <a:ext cx="4102700" cy="3814228"/>
          </a:xfrm>
          <a:prstGeom prst="rect">
            <a:avLst/>
          </a:prstGeom>
        </p:spPr>
      </p:pic>
      <p:pic>
        <p:nvPicPr>
          <p:cNvPr id="9" name="图片 8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167" y="2347079"/>
            <a:ext cx="4109714" cy="37610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102893" y="6166817"/>
            <a:ext cx="924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Bagging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131999" y="6166817"/>
            <a:ext cx="125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Single Tree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53882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253477"/>
            <a:ext cx="2011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Exercise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678E22-5447-4C8E-A90C-F094E0022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80" y="1105390"/>
            <a:ext cx="11257941" cy="31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253477"/>
            <a:ext cx="42800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Ensemble Methods</a:t>
            </a:r>
            <a:endParaRPr lang="zh-CN" altLang="en-US" sz="4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995B70-C302-4C05-835D-5DB269DA8411}"/>
              </a:ext>
            </a:extLst>
          </p:cNvPr>
          <p:cNvSpPr txBox="1"/>
          <p:nvPr/>
        </p:nvSpPr>
        <p:spPr>
          <a:xfrm>
            <a:off x="410681" y="1294262"/>
            <a:ext cx="11240849" cy="4992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Parallel Methods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Bagging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Random Forest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Sequential Methods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>
                <a:solidFill>
                  <a:srgbClr val="FF0000"/>
                </a:solidFill>
              </a:rPr>
              <a:t>Boosting (</a:t>
            </a:r>
            <a:r>
              <a:rPr lang="en-US" altLang="zh-CN" sz="3600" dirty="0" err="1">
                <a:solidFill>
                  <a:srgbClr val="FF0000"/>
                </a:solidFill>
              </a:rPr>
              <a:t>Adaboost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3600" dirty="0"/>
              <a:t>Gradient Boosting Decision Trees </a:t>
            </a:r>
          </a:p>
        </p:txBody>
      </p:sp>
    </p:spTree>
    <p:extLst>
      <p:ext uri="{BB962C8B-B14F-4D97-AF65-F5344CB8AC3E}">
        <p14:creationId xmlns:p14="http://schemas.microsoft.com/office/powerpoint/2010/main" val="24127282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9">
            <a:extLst>
              <a:ext uri="{FF2B5EF4-FFF2-40B4-BE49-F238E27FC236}">
                <a16:creationId xmlns:a16="http://schemas.microsoft.com/office/drawing/2014/main" id="{8477B9EA-2D84-4B1A-9E4E-93F2CB5BF9AA}"/>
              </a:ext>
            </a:extLst>
          </p:cNvPr>
          <p:cNvSpPr/>
          <p:nvPr/>
        </p:nvSpPr>
        <p:spPr>
          <a:xfrm>
            <a:off x="410681" y="1087394"/>
            <a:ext cx="11476519" cy="5129025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0681" y="1162730"/>
            <a:ext cx="1137063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800" dirty="0"/>
              <a:t>Boosting is a powerful technique for combining multiple ‘base’ classifiers to produce a form of committee whose performance can be significantly better than  that of any of the base classifiers.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800" dirty="0"/>
              <a:t>Boosting can give good results even if the base classifiers have a performance that is only </a:t>
            </a:r>
            <a:r>
              <a:rPr lang="en-US" altLang="zh-CN" sz="2800" dirty="0">
                <a:solidFill>
                  <a:srgbClr val="FF0000"/>
                </a:solidFill>
              </a:rPr>
              <a:t>slightly better than random</a:t>
            </a:r>
            <a:r>
              <a:rPr lang="en-US" altLang="zh-CN" sz="2800" dirty="0"/>
              <a:t>, and hence sometimes the base classifiers are known as </a:t>
            </a:r>
            <a:r>
              <a:rPr lang="en-US" altLang="zh-CN" sz="2800" i="1" dirty="0">
                <a:solidFill>
                  <a:srgbClr val="FF0000"/>
                </a:solidFill>
              </a:rPr>
              <a:t>weak learners</a:t>
            </a:r>
            <a:r>
              <a:rPr lang="en-US" altLang="zh-CN" sz="28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800" i="1" dirty="0"/>
              <a:t>AdaBoost</a:t>
            </a:r>
            <a:r>
              <a:rPr lang="en-US" altLang="zh-CN" sz="2800" dirty="0"/>
              <a:t>, short for ‘adaptive boosting’, developed by Freund and </a:t>
            </a:r>
            <a:r>
              <a:rPr lang="en-US" altLang="zh-CN" sz="2800" dirty="0" err="1"/>
              <a:t>Schapire</a:t>
            </a: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FF0000"/>
                </a:solidFill>
              </a:rPr>
              <a:t>1996</a:t>
            </a:r>
            <a:r>
              <a:rPr lang="en-US" altLang="zh-CN" sz="2800" dirty="0"/>
              <a:t>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1" y="253477"/>
            <a:ext cx="21618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Boosting 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17234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9">
            <a:extLst>
              <a:ext uri="{FF2B5EF4-FFF2-40B4-BE49-F238E27FC236}">
                <a16:creationId xmlns:a16="http://schemas.microsoft.com/office/drawing/2014/main" id="{8477B9EA-2D84-4B1A-9E4E-93F2CB5BF9AA}"/>
              </a:ext>
            </a:extLst>
          </p:cNvPr>
          <p:cNvSpPr/>
          <p:nvPr/>
        </p:nvSpPr>
        <p:spPr>
          <a:xfrm>
            <a:off x="410681" y="3742439"/>
            <a:ext cx="5677082" cy="1826340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矩形: 圆角 9">
            <a:extLst>
              <a:ext uri="{FF2B5EF4-FFF2-40B4-BE49-F238E27FC236}">
                <a16:creationId xmlns:a16="http://schemas.microsoft.com/office/drawing/2014/main" id="{8477B9EA-2D84-4B1A-9E4E-93F2CB5BF9AA}"/>
              </a:ext>
            </a:extLst>
          </p:cNvPr>
          <p:cNvSpPr/>
          <p:nvPr/>
        </p:nvSpPr>
        <p:spPr>
          <a:xfrm>
            <a:off x="410681" y="1145055"/>
            <a:ext cx="11476519" cy="241369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0680" y="1162730"/>
            <a:ext cx="1133485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 base classifiers are trained </a:t>
            </a:r>
            <a:r>
              <a:rPr lang="en-US" altLang="zh-CN" sz="2400" dirty="0">
                <a:solidFill>
                  <a:srgbClr val="FF0000"/>
                </a:solidFill>
              </a:rPr>
              <a:t>in sequence</a:t>
            </a:r>
            <a:r>
              <a:rPr lang="en-US" altLang="zh-CN" sz="2400" dirty="0"/>
              <a:t>,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Each base classifier is trained using 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weighted form of the data set,</a:t>
            </a:r>
            <a:endParaRPr lang="en-US" altLang="zh-C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The weighting coefficient associated with each data point depends on the performance of the previous classifiers.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Points that are </a:t>
            </a:r>
            <a:r>
              <a:rPr lang="en-US" altLang="zh-CN" sz="2400" dirty="0">
                <a:solidFill>
                  <a:srgbClr val="FF0000"/>
                </a:solidFill>
              </a:rPr>
              <a:t>misclassified</a:t>
            </a:r>
            <a:r>
              <a:rPr lang="en-US" altLang="zh-CN" sz="2400" dirty="0"/>
              <a:t> by one of the base classifiers </a:t>
            </a:r>
            <a:r>
              <a:rPr lang="en-US" altLang="zh-CN" sz="2400" dirty="0">
                <a:solidFill>
                  <a:srgbClr val="FF0000"/>
                </a:solidFill>
              </a:rPr>
              <a:t>are given greater weight </a:t>
            </a:r>
            <a:r>
              <a:rPr lang="en-US" altLang="zh-CN" sz="2400" dirty="0"/>
              <a:t>when used to train the next classifier in the sequence. 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1" y="253477"/>
            <a:ext cx="21618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Boosting </a:t>
            </a:r>
            <a:endParaRPr lang="zh-CN" altLang="en-US" sz="4000" b="1" dirty="0"/>
          </a:p>
        </p:txBody>
      </p:sp>
      <p:sp>
        <p:nvSpPr>
          <p:cNvPr id="5" name="矩形 4"/>
          <p:cNvSpPr/>
          <p:nvPr/>
        </p:nvSpPr>
        <p:spPr>
          <a:xfrm>
            <a:off x="410680" y="3840386"/>
            <a:ext cx="53722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Once all the classifiers have been trained, their predictions are then combined through </a:t>
            </a:r>
            <a:r>
              <a:rPr lang="en-US" altLang="zh-CN" sz="2400" dirty="0">
                <a:solidFill>
                  <a:srgbClr val="FF0000"/>
                </a:solidFill>
              </a:rPr>
              <a:t>a weighted majority voting scheme</a:t>
            </a:r>
            <a:r>
              <a:rPr lang="en-US" altLang="zh-CN" sz="2400" dirty="0"/>
              <a:t>. </a:t>
            </a:r>
            <a:endParaRPr lang="zh-CN" altLang="en-US" sz="2400" dirty="0"/>
          </a:p>
        </p:txBody>
      </p:sp>
      <p:pic>
        <p:nvPicPr>
          <p:cNvPr id="6" name="图片 5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506" y="3742438"/>
            <a:ext cx="4141328" cy="291545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7C11160-1BDE-4055-817A-C79BF57C6CFE}"/>
              </a:ext>
            </a:extLst>
          </p:cNvPr>
          <p:cNvSpPr/>
          <p:nvPr/>
        </p:nvSpPr>
        <p:spPr>
          <a:xfrm>
            <a:off x="5944887" y="6151086"/>
            <a:ext cx="1663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Additive model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38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0681" y="253477"/>
            <a:ext cx="48324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The Born of </a:t>
            </a:r>
            <a:r>
              <a:rPr lang="en-US" altLang="zh-CN" sz="4000" b="1" dirty="0" err="1"/>
              <a:t>AdaBoost</a:t>
            </a:r>
            <a:endParaRPr lang="zh-CN" altLang="en-US" sz="4000" b="1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757" y="961363"/>
            <a:ext cx="9455012" cy="560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818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0681" y="253477"/>
            <a:ext cx="48324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The Born of </a:t>
            </a:r>
            <a:r>
              <a:rPr lang="en-US" altLang="zh-CN" sz="4000" b="1" dirty="0" err="1"/>
              <a:t>AdaBoost</a:t>
            </a:r>
            <a:endParaRPr lang="zh-CN" altLang="en-US" sz="4000" b="1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81" y="961363"/>
            <a:ext cx="10984892" cy="576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555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E4C6CA-B2AE-43D3-88BC-4D2C9EDDC4F9}"/>
              </a:ext>
            </a:extLst>
          </p:cNvPr>
          <p:cNvSpPr/>
          <p:nvPr/>
        </p:nvSpPr>
        <p:spPr>
          <a:xfrm>
            <a:off x="3580596" y="797510"/>
            <a:ext cx="820072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 Principal Researcher at Microsoft Research in New York City.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He received his PhD from MIT in 1991.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After a short post-doc at Harvard, he joined the technical staff at AT&amp;T Labs (formerly AT&amp;T Bell Laboratories) in 1991.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In 2002, he became a Professor of Computer Science at Princeton University.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He joined Microsoft Research in 2014.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His awards include the 1991 ACM Doctoral Dissertation Award, the </a:t>
            </a:r>
            <a:r>
              <a:rPr lang="en-US" altLang="zh-CN" sz="2400" dirty="0">
                <a:solidFill>
                  <a:srgbClr val="FF0000"/>
                </a:solidFill>
              </a:rPr>
              <a:t>2003 Gödel Prize</a:t>
            </a:r>
            <a:r>
              <a:rPr lang="en-US" altLang="zh-CN" sz="2400" dirty="0"/>
              <a:t>, and the 2004 </a:t>
            </a:r>
            <a:r>
              <a:rPr lang="en-US" altLang="zh-CN" sz="2400" dirty="0" err="1"/>
              <a:t>Kanelakkis</a:t>
            </a:r>
            <a:r>
              <a:rPr lang="en-US" altLang="zh-CN" sz="2400" dirty="0"/>
              <a:t> Theory and Practice Award (both of the last two with </a:t>
            </a:r>
            <a:r>
              <a:rPr lang="en-US" altLang="zh-CN" sz="2400" b="1" dirty="0"/>
              <a:t>Yoav Freund</a:t>
            </a:r>
            <a:r>
              <a:rPr lang="en-US" altLang="zh-CN" sz="2400" dirty="0"/>
              <a:t>).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He is a fellow of the AAAI, and a member of both the National Academy of Engineering and the National Academy of Sciences.  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664635-3760-47C2-95E0-580959F6C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83" y="1647170"/>
            <a:ext cx="2733675" cy="23717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06D2E76-934D-4BE8-8AC4-17B17A9EF4D2}"/>
              </a:ext>
            </a:extLst>
          </p:cNvPr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/>
              <a:t>AdaBoost</a:t>
            </a:r>
            <a:endParaRPr lang="en-US" altLang="zh-CN" sz="40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3828CE-0118-4D46-87E4-55866575C5AD}"/>
              </a:ext>
            </a:extLst>
          </p:cNvPr>
          <p:cNvSpPr/>
          <p:nvPr/>
        </p:nvSpPr>
        <p:spPr>
          <a:xfrm>
            <a:off x="732199" y="4149109"/>
            <a:ext cx="22164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Robert </a:t>
            </a:r>
            <a:r>
              <a:rPr lang="en-US" altLang="zh-CN" sz="2400" b="1" dirty="0" err="1"/>
              <a:t>Schapire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2197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1D72244-C42D-4EA0-A7E4-57094C619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526" y="1178746"/>
            <a:ext cx="2092693" cy="290361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2B338BC-D7F7-48C2-B547-3EB855AC2CF9}"/>
              </a:ext>
            </a:extLst>
          </p:cNvPr>
          <p:cNvSpPr/>
          <p:nvPr/>
        </p:nvSpPr>
        <p:spPr>
          <a:xfrm>
            <a:off x="3846897" y="1102441"/>
            <a:ext cx="7741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 professor of Computer Science and Engineering at UC San Diego.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An internationally known researcher in the field of machine learning, a field which bridges computer science and statistics.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Best known for his joint work with </a:t>
            </a:r>
            <a:r>
              <a:rPr lang="en-US" altLang="zh-CN" sz="2400" b="1" dirty="0"/>
              <a:t>Dr. Robert </a:t>
            </a:r>
            <a:r>
              <a:rPr lang="en-US" altLang="zh-CN" sz="2400" b="1" dirty="0" err="1"/>
              <a:t>Schapire</a:t>
            </a:r>
            <a:r>
              <a:rPr lang="en-US" altLang="zh-CN" sz="2400" dirty="0"/>
              <a:t> on the </a:t>
            </a:r>
            <a:r>
              <a:rPr lang="en-US" altLang="zh-CN" sz="2400" b="1" dirty="0" err="1"/>
              <a:t>Adaboost</a:t>
            </a:r>
            <a:r>
              <a:rPr lang="en-US" altLang="zh-CN" sz="2400" dirty="0"/>
              <a:t> algorithm.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Awarded the 2003 Gödel prize in Theoretical Computer Science, as well as the </a:t>
            </a:r>
            <a:r>
              <a:rPr lang="en-US" altLang="zh-CN" sz="2400" dirty="0" err="1"/>
              <a:t>Kanellakis</a:t>
            </a:r>
            <a:r>
              <a:rPr lang="en-US" altLang="zh-CN" sz="2400" dirty="0"/>
              <a:t> Prize in 2004.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6D2E76-934D-4BE8-8AC4-17B17A9EF4D2}"/>
              </a:ext>
            </a:extLst>
          </p:cNvPr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/>
              <a:t>AdaBoost</a:t>
            </a:r>
            <a:endParaRPr lang="en-US" altLang="zh-CN" sz="4000" b="1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9AAF7C-86DF-4135-AEF9-9315233B0FF5}"/>
              </a:ext>
            </a:extLst>
          </p:cNvPr>
          <p:cNvSpPr/>
          <p:nvPr/>
        </p:nvSpPr>
        <p:spPr>
          <a:xfrm>
            <a:off x="1067526" y="4168359"/>
            <a:ext cx="18143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Yoav Freund 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743467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9">
            <a:extLst>
              <a:ext uri="{FF2B5EF4-FFF2-40B4-BE49-F238E27FC236}">
                <a16:creationId xmlns:a16="http://schemas.microsoft.com/office/drawing/2014/main" id="{8477B9EA-2D84-4B1A-9E4E-93F2CB5BF9AA}"/>
              </a:ext>
            </a:extLst>
          </p:cNvPr>
          <p:cNvSpPr/>
          <p:nvPr/>
        </p:nvSpPr>
        <p:spPr>
          <a:xfrm>
            <a:off x="410681" y="3742439"/>
            <a:ext cx="5677082" cy="1826340"/>
          </a:xfrm>
          <a:prstGeom prst="roundRect">
            <a:avLst>
              <a:gd name="adj" fmla="val 3573"/>
            </a:avLst>
          </a:prstGeom>
          <a:solidFill>
            <a:srgbClr val="F5F9E2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矩形: 圆角 9">
            <a:extLst>
              <a:ext uri="{FF2B5EF4-FFF2-40B4-BE49-F238E27FC236}">
                <a16:creationId xmlns:a16="http://schemas.microsoft.com/office/drawing/2014/main" id="{8477B9EA-2D84-4B1A-9E4E-93F2CB5BF9AA}"/>
              </a:ext>
            </a:extLst>
          </p:cNvPr>
          <p:cNvSpPr/>
          <p:nvPr/>
        </p:nvSpPr>
        <p:spPr>
          <a:xfrm>
            <a:off x="410681" y="1145055"/>
            <a:ext cx="11476519" cy="2026513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10681" y="1162730"/>
                <a:ext cx="1145327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Consider a two-class classification problem.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training data: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CN" sz="2400" b="1" dirty="0"/>
                  <a:t> </a:t>
                </a:r>
                <a:r>
                  <a:rPr lang="en-US" altLang="zh-CN" sz="2400" dirty="0"/>
                  <a:t>along with corresponding binary target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CN" sz="2400" i="1" dirty="0"/>
                  <a:t> </a:t>
                </a:r>
                <a:r>
                  <a:rPr lang="en-US" altLang="zh-CN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∈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−1, 1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altLang="zh-CN" sz="24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Each data point is given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an associated weighting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/>
                  <a:t>, which is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initially</a:t>
                </a:r>
                <a:r>
                  <a:rPr lang="en-US" altLang="zh-CN" sz="2400" dirty="0"/>
                  <a:t> set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i="1" dirty="0"/>
                  <a:t> </a:t>
                </a:r>
                <a:r>
                  <a:rPr lang="en-US" altLang="zh-CN" sz="2400" dirty="0"/>
                  <a:t>for all data points. 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1162730"/>
                <a:ext cx="11453278" cy="1938992"/>
              </a:xfrm>
              <a:prstGeom prst="rect">
                <a:avLst/>
              </a:prstGeom>
              <a:blipFill>
                <a:blip r:embed="rId2"/>
                <a:stretch>
                  <a:fillRect l="-692" t="-2516" r="-160" b="-6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/>
              <a:t>AdaBoost</a:t>
            </a:r>
            <a:endParaRPr lang="en-US" altLang="zh-CN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10681" y="3840386"/>
                <a:ext cx="5372281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We shall suppose that we have a procedure available for training a base classifier using weighted data to give a function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∈{−1, 1}. 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3840386"/>
                <a:ext cx="5372281" cy="1569660"/>
              </a:xfrm>
              <a:prstGeom prst="rect">
                <a:avLst/>
              </a:prstGeom>
              <a:blipFill>
                <a:blip r:embed="rId3"/>
                <a:stretch>
                  <a:fillRect l="-1474" t="-3113" r="-1701" b="-8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506" y="3742438"/>
            <a:ext cx="4141328" cy="291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9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9">
            <a:extLst>
              <a:ext uri="{FF2B5EF4-FFF2-40B4-BE49-F238E27FC236}">
                <a16:creationId xmlns:a16="http://schemas.microsoft.com/office/drawing/2014/main" id="{089B4A27-6FEF-499B-822F-C51F65C1197B}"/>
              </a:ext>
            </a:extLst>
          </p:cNvPr>
          <p:cNvSpPr/>
          <p:nvPr/>
        </p:nvSpPr>
        <p:spPr>
          <a:xfrm>
            <a:off x="410681" y="1145055"/>
            <a:ext cx="11476519" cy="269533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0681" y="1162730"/>
            <a:ext cx="1054443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At each stage, </a:t>
            </a:r>
            <a:r>
              <a:rPr lang="en-US" altLang="zh-CN" sz="2400" dirty="0" err="1"/>
              <a:t>AdaBoost</a:t>
            </a:r>
            <a:r>
              <a:rPr lang="en-US" altLang="zh-CN" sz="2400" dirty="0"/>
              <a:t> trains a new classifier using a data set in which the </a:t>
            </a:r>
            <a:r>
              <a:rPr lang="en-US" altLang="zh-CN" sz="2400" dirty="0">
                <a:solidFill>
                  <a:srgbClr val="FF0000"/>
                </a:solidFill>
              </a:rPr>
              <a:t>weighting coefficients are adjusted </a:t>
            </a:r>
            <a:r>
              <a:rPr lang="en-US" altLang="zh-CN" sz="2400" dirty="0"/>
              <a:t>according to the performance of the </a:t>
            </a:r>
            <a:r>
              <a:rPr lang="en-US" altLang="zh-CN" sz="2400" dirty="0">
                <a:solidFill>
                  <a:srgbClr val="FF0000"/>
                </a:solidFill>
              </a:rPr>
              <a:t>previously</a:t>
            </a:r>
            <a:r>
              <a:rPr lang="en-US" altLang="zh-CN" sz="2400" dirty="0"/>
              <a:t> trained classifier.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Give greater weight to the misclassified data points.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 dirty="0"/>
              <a:t>When the desired number of base classifiers have been trained, they are combined to form a committee using </a:t>
            </a:r>
            <a:r>
              <a:rPr lang="en-US" altLang="zh-CN" sz="2400" dirty="0">
                <a:solidFill>
                  <a:srgbClr val="0000FF"/>
                </a:solidFill>
              </a:rPr>
              <a:t>coefficients</a:t>
            </a:r>
            <a:r>
              <a:rPr lang="en-US" altLang="zh-CN" sz="2400" dirty="0"/>
              <a:t> that give </a:t>
            </a:r>
            <a:r>
              <a:rPr lang="en-US" altLang="zh-CN" sz="2400" dirty="0">
                <a:solidFill>
                  <a:srgbClr val="0000FF"/>
                </a:solidFill>
              </a:rPr>
              <a:t>different weight to different base classifiers.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/>
              <a:t>AdaBoost</a:t>
            </a:r>
            <a:endParaRPr lang="en-US" altLang="zh-CN" sz="4000" b="1" dirty="0"/>
          </a:p>
        </p:txBody>
      </p:sp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872" y="3942542"/>
            <a:ext cx="4141328" cy="291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357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BF76538-272F-4B3D-93C4-49130FD3C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760" y="1359119"/>
            <a:ext cx="8020235" cy="299606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61BC48F-F3C8-4AC9-A800-057D9655B90F}"/>
              </a:ext>
            </a:extLst>
          </p:cNvPr>
          <p:cNvSpPr/>
          <p:nvPr/>
        </p:nvSpPr>
        <p:spPr>
          <a:xfrm>
            <a:off x="204248" y="5498881"/>
            <a:ext cx="11783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Solomatine</a:t>
            </a:r>
            <a:r>
              <a:rPr lang="en-US" altLang="zh-CN" dirty="0"/>
              <a:t>, Dimitri P., and Durga L. Shrestha. "AdaBoost. RT: a boosting algorithm for regression problems." </a:t>
            </a:r>
            <a:r>
              <a:rPr lang="en-US" altLang="zh-CN" i="1" dirty="0"/>
              <a:t>2004 IEEE International Joint Conference on Neural Networks (IEEE Cat. No. 04CH37541)</a:t>
            </a:r>
            <a:r>
              <a:rPr lang="en-US" altLang="zh-CN" dirty="0"/>
              <a:t>. Vol. 2. IEEE, 2004.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06683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5B9DD8-6488-43ED-941F-B351D8700AC8}"/>
              </a:ext>
            </a:extLst>
          </p:cNvPr>
          <p:cNvSpPr/>
          <p:nvPr/>
        </p:nvSpPr>
        <p:spPr>
          <a:xfrm>
            <a:off x="1049516" y="2197240"/>
            <a:ext cx="10441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Friedman et al. (2000) gave a very simple interpretation of boosting in terms of the sequential minimization of an exponential error function.</a:t>
            </a:r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995732-C795-4073-A57D-B189C26D35C7}"/>
              </a:ext>
            </a:extLst>
          </p:cNvPr>
          <p:cNvSpPr/>
          <p:nvPr/>
        </p:nvSpPr>
        <p:spPr>
          <a:xfrm>
            <a:off x="1049516" y="992295"/>
            <a:ext cx="95744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Originally designed for solving classification problems, boosting can also be extended to regression (Friedman, 2001).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031400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28" name="Text Box 72"/>
          <p:cNvSpPr txBox="1">
            <a:spLocks noChangeArrowheads="1"/>
          </p:cNvSpPr>
          <p:nvPr/>
        </p:nvSpPr>
        <p:spPr bwMode="auto">
          <a:xfrm>
            <a:off x="6962775" y="2084388"/>
            <a:ext cx="19519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10101"/>
                </a:solidFill>
              </a:rPr>
              <a:t>Squared error</a:t>
            </a:r>
          </a:p>
        </p:txBody>
      </p:sp>
      <p:sp>
        <p:nvSpPr>
          <p:cNvPr id="224334" name="Text Box 78"/>
          <p:cNvSpPr txBox="1">
            <a:spLocks noChangeArrowheads="1"/>
          </p:cNvSpPr>
          <p:nvPr/>
        </p:nvSpPr>
        <p:spPr bwMode="auto">
          <a:xfrm>
            <a:off x="6970713" y="3903663"/>
            <a:ext cx="22560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33CC33"/>
                </a:solidFill>
              </a:rPr>
              <a:t>Exponential loss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2A2F900-B61F-4A0C-B75D-2F8087BDC559}"/>
              </a:ext>
            </a:extLst>
          </p:cNvPr>
          <p:cNvGrpSpPr/>
          <p:nvPr/>
        </p:nvGrpSpPr>
        <p:grpSpPr>
          <a:xfrm>
            <a:off x="698365" y="1798158"/>
            <a:ext cx="5562187" cy="4810673"/>
            <a:chOff x="1686310" y="1957041"/>
            <a:chExt cx="4195622" cy="3570333"/>
          </a:xfrm>
        </p:grpSpPr>
        <p:sp>
          <p:nvSpPr>
            <p:cNvPr id="224259" name="Rectangle 3"/>
            <p:cNvSpPr>
              <a:spLocks noChangeArrowheads="1"/>
            </p:cNvSpPr>
            <p:nvPr/>
          </p:nvSpPr>
          <p:spPr bwMode="auto">
            <a:xfrm>
              <a:off x="2059727" y="2299632"/>
              <a:ext cx="3571875" cy="281463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0" name="Line 4"/>
            <p:cNvSpPr>
              <a:spLocks noChangeShapeType="1"/>
            </p:cNvSpPr>
            <p:nvPr/>
          </p:nvSpPr>
          <p:spPr bwMode="auto">
            <a:xfrm>
              <a:off x="2059727" y="2299632"/>
              <a:ext cx="35718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1" name="Freeform 5"/>
            <p:cNvSpPr>
              <a:spLocks/>
            </p:cNvSpPr>
            <p:nvPr/>
          </p:nvSpPr>
          <p:spPr bwMode="auto">
            <a:xfrm>
              <a:off x="2059727" y="2299632"/>
              <a:ext cx="3571875" cy="2814638"/>
            </a:xfrm>
            <a:custGeom>
              <a:avLst/>
              <a:gdLst/>
              <a:ahLst/>
              <a:cxnLst>
                <a:cxn ang="0">
                  <a:pos x="0" y="342"/>
                </a:cxn>
                <a:cxn ang="0">
                  <a:pos x="434" y="342"/>
                </a:cxn>
                <a:cxn ang="0">
                  <a:pos x="434" y="0"/>
                </a:cxn>
              </a:cxnLst>
              <a:rect l="0" t="0" r="r" b="b"/>
              <a:pathLst>
                <a:path w="434" h="342">
                  <a:moveTo>
                    <a:pt x="0" y="342"/>
                  </a:moveTo>
                  <a:lnTo>
                    <a:pt x="434" y="342"/>
                  </a:ln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2" name="Line 6"/>
            <p:cNvSpPr>
              <a:spLocks noChangeShapeType="1"/>
            </p:cNvSpPr>
            <p:nvPr/>
          </p:nvSpPr>
          <p:spPr bwMode="auto">
            <a:xfrm flipV="1">
              <a:off x="2059726" y="2299632"/>
              <a:ext cx="1588" cy="28146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3" name="Line 7"/>
            <p:cNvSpPr>
              <a:spLocks noChangeShapeType="1"/>
            </p:cNvSpPr>
            <p:nvPr/>
          </p:nvSpPr>
          <p:spPr bwMode="auto">
            <a:xfrm>
              <a:off x="2059727" y="5114271"/>
              <a:ext cx="35718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64" name="Line 8"/>
            <p:cNvSpPr>
              <a:spLocks noChangeShapeType="1"/>
            </p:cNvSpPr>
            <p:nvPr/>
          </p:nvSpPr>
          <p:spPr bwMode="auto">
            <a:xfrm flipV="1">
              <a:off x="2059726" y="2299632"/>
              <a:ext cx="1588" cy="28146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5" name="Line 9"/>
            <p:cNvSpPr>
              <a:spLocks noChangeShapeType="1"/>
            </p:cNvSpPr>
            <p:nvPr/>
          </p:nvSpPr>
          <p:spPr bwMode="auto">
            <a:xfrm flipV="1">
              <a:off x="2059726" y="5072996"/>
              <a:ext cx="1588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66" name="Line 10"/>
            <p:cNvSpPr>
              <a:spLocks noChangeShapeType="1"/>
            </p:cNvSpPr>
            <p:nvPr/>
          </p:nvSpPr>
          <p:spPr bwMode="auto">
            <a:xfrm>
              <a:off x="2059726" y="2299632"/>
              <a:ext cx="1588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7" name="Rectangle 11"/>
            <p:cNvSpPr>
              <a:spLocks noChangeArrowheads="1"/>
            </p:cNvSpPr>
            <p:nvPr/>
          </p:nvSpPr>
          <p:spPr bwMode="auto">
            <a:xfrm>
              <a:off x="1953364" y="5138083"/>
              <a:ext cx="307777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Helvetica" pitchFamily="34" charset="0"/>
                </a:rPr>
                <a:t>-1.5</a:t>
              </a:r>
              <a:endParaRPr lang="en-US" sz="4000" dirty="0"/>
            </a:p>
          </p:txBody>
        </p:sp>
        <p:sp>
          <p:nvSpPr>
            <p:cNvPr id="224268" name="Line 12"/>
            <p:cNvSpPr>
              <a:spLocks noChangeShapeType="1"/>
            </p:cNvSpPr>
            <p:nvPr/>
          </p:nvSpPr>
          <p:spPr bwMode="auto">
            <a:xfrm flipV="1">
              <a:off x="2570901" y="5072996"/>
              <a:ext cx="1588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69" name="Line 13"/>
            <p:cNvSpPr>
              <a:spLocks noChangeShapeType="1"/>
            </p:cNvSpPr>
            <p:nvPr/>
          </p:nvSpPr>
          <p:spPr bwMode="auto">
            <a:xfrm>
              <a:off x="2570901" y="2299632"/>
              <a:ext cx="1588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70" name="Rectangle 14"/>
            <p:cNvSpPr>
              <a:spLocks noChangeArrowheads="1"/>
            </p:cNvSpPr>
            <p:nvPr/>
          </p:nvSpPr>
          <p:spPr bwMode="auto">
            <a:xfrm>
              <a:off x="2513751" y="5138082"/>
              <a:ext cx="158698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-1</a:t>
              </a:r>
              <a:endParaRPr lang="en-US" sz="4000"/>
            </a:p>
          </p:txBody>
        </p:sp>
        <p:sp>
          <p:nvSpPr>
            <p:cNvPr id="224271" name="Line 15"/>
            <p:cNvSpPr>
              <a:spLocks noChangeShapeType="1"/>
            </p:cNvSpPr>
            <p:nvPr/>
          </p:nvSpPr>
          <p:spPr bwMode="auto">
            <a:xfrm flipV="1">
              <a:off x="3080490" y="5072996"/>
              <a:ext cx="1587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72" name="Line 16"/>
            <p:cNvSpPr>
              <a:spLocks noChangeShapeType="1"/>
            </p:cNvSpPr>
            <p:nvPr/>
          </p:nvSpPr>
          <p:spPr bwMode="auto">
            <a:xfrm>
              <a:off x="3080490" y="2299632"/>
              <a:ext cx="1587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73" name="Rectangle 17"/>
            <p:cNvSpPr>
              <a:spLocks noChangeArrowheads="1"/>
            </p:cNvSpPr>
            <p:nvPr/>
          </p:nvSpPr>
          <p:spPr bwMode="auto">
            <a:xfrm>
              <a:off x="2974127" y="5138082"/>
              <a:ext cx="307777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-0.5</a:t>
              </a:r>
              <a:endParaRPr lang="en-US" sz="4000"/>
            </a:p>
          </p:txBody>
        </p:sp>
        <p:sp>
          <p:nvSpPr>
            <p:cNvPr id="224274" name="Line 18"/>
            <p:cNvSpPr>
              <a:spLocks noChangeShapeType="1"/>
            </p:cNvSpPr>
            <p:nvPr/>
          </p:nvSpPr>
          <p:spPr bwMode="auto">
            <a:xfrm flipV="1">
              <a:off x="3591665" y="5072996"/>
              <a:ext cx="1587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75" name="Line 19"/>
            <p:cNvSpPr>
              <a:spLocks noChangeShapeType="1"/>
            </p:cNvSpPr>
            <p:nvPr/>
          </p:nvSpPr>
          <p:spPr bwMode="auto">
            <a:xfrm>
              <a:off x="3591665" y="2299632"/>
              <a:ext cx="1587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76" name="Rectangle 20"/>
            <p:cNvSpPr>
              <a:spLocks noChangeArrowheads="1"/>
            </p:cNvSpPr>
            <p:nvPr/>
          </p:nvSpPr>
          <p:spPr bwMode="auto">
            <a:xfrm>
              <a:off x="3566264" y="5138082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sz="4000"/>
            </a:p>
          </p:txBody>
        </p:sp>
        <p:sp>
          <p:nvSpPr>
            <p:cNvPr id="224277" name="Line 21"/>
            <p:cNvSpPr>
              <a:spLocks noChangeShapeType="1"/>
            </p:cNvSpPr>
            <p:nvPr/>
          </p:nvSpPr>
          <p:spPr bwMode="auto">
            <a:xfrm flipV="1">
              <a:off x="4101251" y="5072996"/>
              <a:ext cx="1588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78" name="Line 22"/>
            <p:cNvSpPr>
              <a:spLocks noChangeShapeType="1"/>
            </p:cNvSpPr>
            <p:nvPr/>
          </p:nvSpPr>
          <p:spPr bwMode="auto">
            <a:xfrm>
              <a:off x="4101251" y="2299632"/>
              <a:ext cx="1588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79" name="Rectangle 23"/>
            <p:cNvSpPr>
              <a:spLocks noChangeArrowheads="1"/>
            </p:cNvSpPr>
            <p:nvPr/>
          </p:nvSpPr>
          <p:spPr bwMode="auto">
            <a:xfrm>
              <a:off x="4026640" y="5138082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0.5</a:t>
              </a:r>
              <a:endParaRPr lang="en-US" sz="4000"/>
            </a:p>
          </p:txBody>
        </p:sp>
        <p:sp>
          <p:nvSpPr>
            <p:cNvPr id="224280" name="Line 24"/>
            <p:cNvSpPr>
              <a:spLocks noChangeShapeType="1"/>
            </p:cNvSpPr>
            <p:nvPr/>
          </p:nvSpPr>
          <p:spPr bwMode="auto">
            <a:xfrm flipV="1">
              <a:off x="4610840" y="5072996"/>
              <a:ext cx="1587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81" name="Line 25"/>
            <p:cNvSpPr>
              <a:spLocks noChangeShapeType="1"/>
            </p:cNvSpPr>
            <p:nvPr/>
          </p:nvSpPr>
          <p:spPr bwMode="auto">
            <a:xfrm>
              <a:off x="4610840" y="2299632"/>
              <a:ext cx="1587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82" name="Rectangle 26"/>
            <p:cNvSpPr>
              <a:spLocks noChangeArrowheads="1"/>
            </p:cNvSpPr>
            <p:nvPr/>
          </p:nvSpPr>
          <p:spPr bwMode="auto">
            <a:xfrm>
              <a:off x="4587026" y="5138082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sz="4000"/>
            </a:p>
          </p:txBody>
        </p:sp>
        <p:sp>
          <p:nvSpPr>
            <p:cNvPr id="224283" name="Line 27"/>
            <p:cNvSpPr>
              <a:spLocks noChangeShapeType="1"/>
            </p:cNvSpPr>
            <p:nvPr/>
          </p:nvSpPr>
          <p:spPr bwMode="auto">
            <a:xfrm flipV="1">
              <a:off x="5122015" y="5072996"/>
              <a:ext cx="1587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84" name="Line 28"/>
            <p:cNvSpPr>
              <a:spLocks noChangeShapeType="1"/>
            </p:cNvSpPr>
            <p:nvPr/>
          </p:nvSpPr>
          <p:spPr bwMode="auto">
            <a:xfrm>
              <a:off x="5122015" y="2299632"/>
              <a:ext cx="1587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85" name="Rectangle 29"/>
            <p:cNvSpPr>
              <a:spLocks noChangeArrowheads="1"/>
            </p:cNvSpPr>
            <p:nvPr/>
          </p:nvSpPr>
          <p:spPr bwMode="auto">
            <a:xfrm>
              <a:off x="5047402" y="5138082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1.5</a:t>
              </a:r>
              <a:endParaRPr lang="en-US" sz="4000"/>
            </a:p>
          </p:txBody>
        </p:sp>
        <p:sp>
          <p:nvSpPr>
            <p:cNvPr id="224286" name="Line 30"/>
            <p:cNvSpPr>
              <a:spLocks noChangeShapeType="1"/>
            </p:cNvSpPr>
            <p:nvPr/>
          </p:nvSpPr>
          <p:spPr bwMode="auto">
            <a:xfrm flipV="1">
              <a:off x="5631601" y="5072996"/>
              <a:ext cx="1588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87" name="Line 31"/>
            <p:cNvSpPr>
              <a:spLocks noChangeShapeType="1"/>
            </p:cNvSpPr>
            <p:nvPr/>
          </p:nvSpPr>
          <p:spPr bwMode="auto">
            <a:xfrm>
              <a:off x="5631601" y="2299632"/>
              <a:ext cx="1588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88" name="Rectangle 32"/>
            <p:cNvSpPr>
              <a:spLocks noChangeArrowheads="1"/>
            </p:cNvSpPr>
            <p:nvPr/>
          </p:nvSpPr>
          <p:spPr bwMode="auto">
            <a:xfrm>
              <a:off x="5607789" y="5138082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sz="4000"/>
            </a:p>
          </p:txBody>
        </p:sp>
        <p:sp>
          <p:nvSpPr>
            <p:cNvPr id="224289" name="Line 33"/>
            <p:cNvSpPr>
              <a:spLocks noChangeShapeType="1"/>
            </p:cNvSpPr>
            <p:nvPr/>
          </p:nvSpPr>
          <p:spPr bwMode="auto">
            <a:xfrm>
              <a:off x="2059726" y="5114271"/>
              <a:ext cx="3333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90" name="Line 34"/>
            <p:cNvSpPr>
              <a:spLocks noChangeShapeType="1"/>
            </p:cNvSpPr>
            <p:nvPr/>
          </p:nvSpPr>
          <p:spPr bwMode="auto">
            <a:xfrm flipH="1">
              <a:off x="5590327" y="5114271"/>
              <a:ext cx="412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91" name="Rectangle 35"/>
            <p:cNvSpPr>
              <a:spLocks noChangeArrowheads="1"/>
            </p:cNvSpPr>
            <p:nvPr/>
          </p:nvSpPr>
          <p:spPr bwMode="auto">
            <a:xfrm>
              <a:off x="1846688" y="5047596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sz="4000"/>
            </a:p>
          </p:txBody>
        </p:sp>
        <p:sp>
          <p:nvSpPr>
            <p:cNvPr id="224292" name="Line 36"/>
            <p:cNvSpPr>
              <a:spLocks noChangeShapeType="1"/>
            </p:cNvSpPr>
            <p:nvPr/>
          </p:nvSpPr>
          <p:spPr bwMode="auto">
            <a:xfrm>
              <a:off x="2059726" y="4760257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93" name="Line 37"/>
            <p:cNvSpPr>
              <a:spLocks noChangeShapeType="1"/>
            </p:cNvSpPr>
            <p:nvPr/>
          </p:nvSpPr>
          <p:spPr bwMode="auto">
            <a:xfrm flipH="1">
              <a:off x="5590327" y="4760257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94" name="Rectangle 38"/>
            <p:cNvSpPr>
              <a:spLocks noChangeArrowheads="1"/>
            </p:cNvSpPr>
            <p:nvPr/>
          </p:nvSpPr>
          <p:spPr bwMode="auto">
            <a:xfrm>
              <a:off x="1756201" y="4693582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Helvetica" pitchFamily="34" charset="0"/>
                </a:rPr>
                <a:t>0.5</a:t>
              </a:r>
              <a:endParaRPr lang="en-US" sz="4000" dirty="0"/>
            </a:p>
          </p:txBody>
        </p:sp>
        <p:sp>
          <p:nvSpPr>
            <p:cNvPr id="224295" name="Line 39"/>
            <p:cNvSpPr>
              <a:spLocks noChangeShapeType="1"/>
            </p:cNvSpPr>
            <p:nvPr/>
          </p:nvSpPr>
          <p:spPr bwMode="auto">
            <a:xfrm>
              <a:off x="2059726" y="4406246"/>
              <a:ext cx="3333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96" name="Line 40"/>
            <p:cNvSpPr>
              <a:spLocks noChangeShapeType="1"/>
            </p:cNvSpPr>
            <p:nvPr/>
          </p:nvSpPr>
          <p:spPr bwMode="auto">
            <a:xfrm flipH="1">
              <a:off x="5590327" y="4406246"/>
              <a:ext cx="412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97" name="Rectangle 41"/>
            <p:cNvSpPr>
              <a:spLocks noChangeArrowheads="1"/>
            </p:cNvSpPr>
            <p:nvPr/>
          </p:nvSpPr>
          <p:spPr bwMode="auto">
            <a:xfrm>
              <a:off x="1846688" y="4339571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sz="4000"/>
            </a:p>
          </p:txBody>
        </p:sp>
        <p:sp>
          <p:nvSpPr>
            <p:cNvPr id="224298" name="Line 42"/>
            <p:cNvSpPr>
              <a:spLocks noChangeShapeType="1"/>
            </p:cNvSpPr>
            <p:nvPr/>
          </p:nvSpPr>
          <p:spPr bwMode="auto">
            <a:xfrm>
              <a:off x="2059726" y="4052232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99" name="Line 43"/>
            <p:cNvSpPr>
              <a:spLocks noChangeShapeType="1"/>
            </p:cNvSpPr>
            <p:nvPr/>
          </p:nvSpPr>
          <p:spPr bwMode="auto">
            <a:xfrm flipH="1">
              <a:off x="5590327" y="4052232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0" name="Rectangle 44"/>
            <p:cNvSpPr>
              <a:spLocks noChangeArrowheads="1"/>
            </p:cNvSpPr>
            <p:nvPr/>
          </p:nvSpPr>
          <p:spPr bwMode="auto">
            <a:xfrm>
              <a:off x="1756201" y="3985557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Helvetica" pitchFamily="34" charset="0"/>
                </a:rPr>
                <a:t>1.5</a:t>
              </a:r>
              <a:endParaRPr lang="en-US" sz="4000" dirty="0"/>
            </a:p>
          </p:txBody>
        </p:sp>
        <p:sp>
          <p:nvSpPr>
            <p:cNvPr id="224301" name="Line 45"/>
            <p:cNvSpPr>
              <a:spLocks noChangeShapeType="1"/>
            </p:cNvSpPr>
            <p:nvPr/>
          </p:nvSpPr>
          <p:spPr bwMode="auto">
            <a:xfrm>
              <a:off x="2059726" y="3706157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2" name="Line 46"/>
            <p:cNvSpPr>
              <a:spLocks noChangeShapeType="1"/>
            </p:cNvSpPr>
            <p:nvPr/>
          </p:nvSpPr>
          <p:spPr bwMode="auto">
            <a:xfrm flipH="1">
              <a:off x="5590327" y="3706157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3" name="Rectangle 47"/>
            <p:cNvSpPr>
              <a:spLocks noChangeArrowheads="1"/>
            </p:cNvSpPr>
            <p:nvPr/>
          </p:nvSpPr>
          <p:spPr bwMode="auto">
            <a:xfrm>
              <a:off x="1846688" y="3641071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sz="4000"/>
            </a:p>
          </p:txBody>
        </p:sp>
        <p:sp>
          <p:nvSpPr>
            <p:cNvPr id="224304" name="Line 48"/>
            <p:cNvSpPr>
              <a:spLocks noChangeShapeType="1"/>
            </p:cNvSpPr>
            <p:nvPr/>
          </p:nvSpPr>
          <p:spPr bwMode="auto">
            <a:xfrm>
              <a:off x="2059726" y="3352146"/>
              <a:ext cx="3333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5" name="Line 49"/>
            <p:cNvSpPr>
              <a:spLocks noChangeShapeType="1"/>
            </p:cNvSpPr>
            <p:nvPr/>
          </p:nvSpPr>
          <p:spPr bwMode="auto">
            <a:xfrm flipH="1">
              <a:off x="5590327" y="3352146"/>
              <a:ext cx="412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6" name="Rectangle 50"/>
            <p:cNvSpPr>
              <a:spLocks noChangeArrowheads="1"/>
            </p:cNvSpPr>
            <p:nvPr/>
          </p:nvSpPr>
          <p:spPr bwMode="auto">
            <a:xfrm>
              <a:off x="1756201" y="3287057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Helvetica" pitchFamily="34" charset="0"/>
                </a:rPr>
                <a:t>2.5</a:t>
              </a:r>
              <a:endParaRPr lang="en-US" sz="4000" dirty="0"/>
            </a:p>
          </p:txBody>
        </p:sp>
        <p:sp>
          <p:nvSpPr>
            <p:cNvPr id="224307" name="Line 51"/>
            <p:cNvSpPr>
              <a:spLocks noChangeShapeType="1"/>
            </p:cNvSpPr>
            <p:nvPr/>
          </p:nvSpPr>
          <p:spPr bwMode="auto">
            <a:xfrm>
              <a:off x="2059726" y="2998132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8" name="Line 52"/>
            <p:cNvSpPr>
              <a:spLocks noChangeShapeType="1"/>
            </p:cNvSpPr>
            <p:nvPr/>
          </p:nvSpPr>
          <p:spPr bwMode="auto">
            <a:xfrm flipH="1">
              <a:off x="5590327" y="2998132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9" name="Rectangle 53"/>
            <p:cNvSpPr>
              <a:spLocks noChangeArrowheads="1"/>
            </p:cNvSpPr>
            <p:nvPr/>
          </p:nvSpPr>
          <p:spPr bwMode="auto">
            <a:xfrm>
              <a:off x="1846688" y="2933046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sz="4000"/>
            </a:p>
          </p:txBody>
        </p:sp>
        <p:sp>
          <p:nvSpPr>
            <p:cNvPr id="224310" name="Line 54"/>
            <p:cNvSpPr>
              <a:spLocks noChangeShapeType="1"/>
            </p:cNvSpPr>
            <p:nvPr/>
          </p:nvSpPr>
          <p:spPr bwMode="auto">
            <a:xfrm>
              <a:off x="2059726" y="2645707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1" name="Line 55"/>
            <p:cNvSpPr>
              <a:spLocks noChangeShapeType="1"/>
            </p:cNvSpPr>
            <p:nvPr/>
          </p:nvSpPr>
          <p:spPr bwMode="auto">
            <a:xfrm flipH="1">
              <a:off x="5590327" y="2645707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2" name="Rectangle 56"/>
            <p:cNvSpPr>
              <a:spLocks noChangeArrowheads="1"/>
            </p:cNvSpPr>
            <p:nvPr/>
          </p:nvSpPr>
          <p:spPr bwMode="auto">
            <a:xfrm>
              <a:off x="1756201" y="2579032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3.5</a:t>
              </a:r>
              <a:endParaRPr lang="en-US" sz="4000"/>
            </a:p>
          </p:txBody>
        </p:sp>
        <p:sp>
          <p:nvSpPr>
            <p:cNvPr id="224313" name="Line 57"/>
            <p:cNvSpPr>
              <a:spLocks noChangeShapeType="1"/>
            </p:cNvSpPr>
            <p:nvPr/>
          </p:nvSpPr>
          <p:spPr bwMode="auto">
            <a:xfrm>
              <a:off x="2059726" y="2299632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4" name="Line 58"/>
            <p:cNvSpPr>
              <a:spLocks noChangeShapeType="1"/>
            </p:cNvSpPr>
            <p:nvPr/>
          </p:nvSpPr>
          <p:spPr bwMode="auto">
            <a:xfrm flipH="1">
              <a:off x="5590327" y="2299632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5" name="Rectangle 59"/>
            <p:cNvSpPr>
              <a:spLocks noChangeArrowheads="1"/>
            </p:cNvSpPr>
            <p:nvPr/>
          </p:nvSpPr>
          <p:spPr bwMode="auto">
            <a:xfrm>
              <a:off x="1846688" y="2232957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 sz="4000"/>
            </a:p>
          </p:txBody>
        </p:sp>
        <p:sp>
          <p:nvSpPr>
            <p:cNvPr id="224316" name="Line 60"/>
            <p:cNvSpPr>
              <a:spLocks noChangeShapeType="1"/>
            </p:cNvSpPr>
            <p:nvPr/>
          </p:nvSpPr>
          <p:spPr bwMode="auto">
            <a:xfrm>
              <a:off x="2059727" y="2299632"/>
              <a:ext cx="35718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7" name="Freeform 61"/>
            <p:cNvSpPr>
              <a:spLocks/>
            </p:cNvSpPr>
            <p:nvPr/>
          </p:nvSpPr>
          <p:spPr bwMode="auto">
            <a:xfrm>
              <a:off x="2059727" y="2299632"/>
              <a:ext cx="3571875" cy="2814638"/>
            </a:xfrm>
            <a:custGeom>
              <a:avLst/>
              <a:gdLst/>
              <a:ahLst/>
              <a:cxnLst>
                <a:cxn ang="0">
                  <a:pos x="0" y="342"/>
                </a:cxn>
                <a:cxn ang="0">
                  <a:pos x="434" y="342"/>
                </a:cxn>
                <a:cxn ang="0">
                  <a:pos x="434" y="0"/>
                </a:cxn>
              </a:cxnLst>
              <a:rect l="0" t="0" r="r" b="b"/>
              <a:pathLst>
                <a:path w="434" h="342">
                  <a:moveTo>
                    <a:pt x="0" y="342"/>
                  </a:moveTo>
                  <a:lnTo>
                    <a:pt x="434" y="342"/>
                  </a:ln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8" name="Line 62"/>
            <p:cNvSpPr>
              <a:spLocks noChangeShapeType="1"/>
            </p:cNvSpPr>
            <p:nvPr/>
          </p:nvSpPr>
          <p:spPr bwMode="auto">
            <a:xfrm flipV="1">
              <a:off x="2059726" y="2299632"/>
              <a:ext cx="1588" cy="28146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2" name="Group 63"/>
            <p:cNvGrpSpPr>
              <a:grpSpLocks/>
            </p:cNvGrpSpPr>
            <p:nvPr/>
          </p:nvGrpSpPr>
          <p:grpSpPr bwMode="auto">
            <a:xfrm>
              <a:off x="2059727" y="4406245"/>
              <a:ext cx="3571875" cy="709612"/>
              <a:chOff x="963" y="3282"/>
              <a:chExt cx="2250" cy="447"/>
            </a:xfrm>
          </p:grpSpPr>
          <p:grpSp>
            <p:nvGrpSpPr>
              <p:cNvPr id="3" name="Group 64"/>
              <p:cNvGrpSpPr>
                <a:grpSpLocks/>
              </p:cNvGrpSpPr>
              <p:nvPr/>
            </p:nvGrpSpPr>
            <p:grpSpPr bwMode="auto">
              <a:xfrm>
                <a:off x="963" y="3282"/>
                <a:ext cx="1628" cy="446"/>
                <a:chOff x="1806" y="2566"/>
                <a:chExt cx="1628" cy="446"/>
              </a:xfrm>
            </p:grpSpPr>
            <p:sp>
              <p:nvSpPr>
                <p:cNvPr id="224321" name="Freeform 65"/>
                <p:cNvSpPr>
                  <a:spLocks/>
                </p:cNvSpPr>
                <p:nvPr/>
              </p:nvSpPr>
              <p:spPr bwMode="auto">
                <a:xfrm>
                  <a:off x="1806" y="2566"/>
                  <a:ext cx="814" cy="1"/>
                </a:xfrm>
                <a:custGeom>
                  <a:avLst/>
                  <a:gdLst/>
                  <a:ahLst/>
                  <a:cxnLst>
                    <a:cxn ang="0">
                      <a:pos x="11" y="0"/>
                    </a:cxn>
                    <a:cxn ang="0">
                      <a:pos x="32" y="0"/>
                    </a:cxn>
                    <a:cxn ang="0">
                      <a:pos x="47" y="0"/>
                    </a:cxn>
                    <a:cxn ang="0">
                      <a:pos x="68" y="0"/>
                    </a:cxn>
                    <a:cxn ang="0">
                      <a:pos x="89" y="0"/>
                    </a:cxn>
                    <a:cxn ang="0">
                      <a:pos x="109" y="0"/>
                    </a:cxn>
                    <a:cxn ang="0">
                      <a:pos x="125" y="0"/>
                    </a:cxn>
                    <a:cxn ang="0">
                      <a:pos x="146" y="0"/>
                    </a:cxn>
                    <a:cxn ang="0">
                      <a:pos x="166" y="0"/>
                    </a:cxn>
                    <a:cxn ang="0">
                      <a:pos x="182" y="0"/>
                    </a:cxn>
                    <a:cxn ang="0">
                      <a:pos x="203" y="0"/>
                    </a:cxn>
                    <a:cxn ang="0">
                      <a:pos x="223" y="0"/>
                    </a:cxn>
                    <a:cxn ang="0">
                      <a:pos x="244" y="0"/>
                    </a:cxn>
                    <a:cxn ang="0">
                      <a:pos x="260" y="0"/>
                    </a:cxn>
                    <a:cxn ang="0">
                      <a:pos x="280" y="0"/>
                    </a:cxn>
                    <a:cxn ang="0">
                      <a:pos x="301" y="0"/>
                    </a:cxn>
                    <a:cxn ang="0">
                      <a:pos x="322" y="0"/>
                    </a:cxn>
                    <a:cxn ang="0">
                      <a:pos x="337" y="0"/>
                    </a:cxn>
                    <a:cxn ang="0">
                      <a:pos x="358" y="0"/>
                    </a:cxn>
                    <a:cxn ang="0">
                      <a:pos x="379" y="0"/>
                    </a:cxn>
                    <a:cxn ang="0">
                      <a:pos x="394" y="0"/>
                    </a:cxn>
                    <a:cxn ang="0">
                      <a:pos x="415" y="0"/>
                    </a:cxn>
                    <a:cxn ang="0">
                      <a:pos x="436" y="0"/>
                    </a:cxn>
                    <a:cxn ang="0">
                      <a:pos x="457" y="0"/>
                    </a:cxn>
                    <a:cxn ang="0">
                      <a:pos x="472" y="0"/>
                    </a:cxn>
                    <a:cxn ang="0">
                      <a:pos x="493" y="0"/>
                    </a:cxn>
                    <a:cxn ang="0">
                      <a:pos x="514" y="0"/>
                    </a:cxn>
                    <a:cxn ang="0">
                      <a:pos x="529" y="0"/>
                    </a:cxn>
                    <a:cxn ang="0">
                      <a:pos x="550" y="0"/>
                    </a:cxn>
                    <a:cxn ang="0">
                      <a:pos x="571" y="0"/>
                    </a:cxn>
                    <a:cxn ang="0">
                      <a:pos x="591" y="0"/>
                    </a:cxn>
                    <a:cxn ang="0">
                      <a:pos x="607" y="0"/>
                    </a:cxn>
                    <a:cxn ang="0">
                      <a:pos x="628" y="0"/>
                    </a:cxn>
                    <a:cxn ang="0">
                      <a:pos x="648" y="0"/>
                    </a:cxn>
                    <a:cxn ang="0">
                      <a:pos x="664" y="0"/>
                    </a:cxn>
                    <a:cxn ang="0">
                      <a:pos x="685" y="0"/>
                    </a:cxn>
                    <a:cxn ang="0">
                      <a:pos x="705" y="0"/>
                    </a:cxn>
                    <a:cxn ang="0">
                      <a:pos x="726" y="0"/>
                    </a:cxn>
                    <a:cxn ang="0">
                      <a:pos x="742" y="0"/>
                    </a:cxn>
                    <a:cxn ang="0">
                      <a:pos x="762" y="0"/>
                    </a:cxn>
                    <a:cxn ang="0">
                      <a:pos x="783" y="0"/>
                    </a:cxn>
                    <a:cxn ang="0">
                      <a:pos x="804" y="0"/>
                    </a:cxn>
                  </a:cxnLst>
                  <a:rect l="0" t="0" r="r" b="b"/>
                  <a:pathLst>
                    <a:path w="814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6" y="0"/>
                      </a:lnTo>
                      <a:lnTo>
                        <a:pt x="21" y="0"/>
                      </a:lnTo>
                      <a:lnTo>
                        <a:pt x="32" y="0"/>
                      </a:lnTo>
                      <a:lnTo>
                        <a:pt x="37" y="0"/>
                      </a:lnTo>
                      <a:lnTo>
                        <a:pt x="42" y="0"/>
                      </a:lnTo>
                      <a:lnTo>
                        <a:pt x="47" y="0"/>
                      </a:lnTo>
                      <a:lnTo>
                        <a:pt x="57" y="0"/>
                      </a:lnTo>
                      <a:lnTo>
                        <a:pt x="63" y="0"/>
                      </a:lnTo>
                      <a:lnTo>
                        <a:pt x="68" y="0"/>
                      </a:lnTo>
                      <a:lnTo>
                        <a:pt x="73" y="0"/>
                      </a:lnTo>
                      <a:lnTo>
                        <a:pt x="83" y="0"/>
                      </a:lnTo>
                      <a:lnTo>
                        <a:pt x="89" y="0"/>
                      </a:lnTo>
                      <a:lnTo>
                        <a:pt x="94" y="0"/>
                      </a:lnTo>
                      <a:lnTo>
                        <a:pt x="99" y="0"/>
                      </a:lnTo>
                      <a:lnTo>
                        <a:pt x="109" y="0"/>
                      </a:lnTo>
                      <a:lnTo>
                        <a:pt x="114" y="0"/>
                      </a:lnTo>
                      <a:lnTo>
                        <a:pt x="120" y="0"/>
                      </a:lnTo>
                      <a:lnTo>
                        <a:pt x="125" y="0"/>
                      </a:lnTo>
                      <a:lnTo>
                        <a:pt x="135" y="0"/>
                      </a:lnTo>
                      <a:lnTo>
                        <a:pt x="140" y="0"/>
                      </a:lnTo>
                      <a:lnTo>
                        <a:pt x="146" y="0"/>
                      </a:lnTo>
                      <a:lnTo>
                        <a:pt x="151" y="0"/>
                      </a:lnTo>
                      <a:lnTo>
                        <a:pt x="161" y="0"/>
                      </a:lnTo>
                      <a:lnTo>
                        <a:pt x="166" y="0"/>
                      </a:lnTo>
                      <a:lnTo>
                        <a:pt x="171" y="0"/>
                      </a:lnTo>
                      <a:lnTo>
                        <a:pt x="177" y="0"/>
                      </a:lnTo>
                      <a:lnTo>
                        <a:pt x="182" y="0"/>
                      </a:lnTo>
                      <a:lnTo>
                        <a:pt x="192" y="0"/>
                      </a:lnTo>
                      <a:lnTo>
                        <a:pt x="197" y="0"/>
                      </a:lnTo>
                      <a:lnTo>
                        <a:pt x="203" y="0"/>
                      </a:lnTo>
                      <a:lnTo>
                        <a:pt x="208" y="0"/>
                      </a:lnTo>
                      <a:lnTo>
                        <a:pt x="218" y="0"/>
                      </a:lnTo>
                      <a:lnTo>
                        <a:pt x="223" y="0"/>
                      </a:lnTo>
                      <a:lnTo>
                        <a:pt x="229" y="0"/>
                      </a:lnTo>
                      <a:lnTo>
                        <a:pt x="234" y="0"/>
                      </a:lnTo>
                      <a:lnTo>
                        <a:pt x="244" y="0"/>
                      </a:lnTo>
                      <a:lnTo>
                        <a:pt x="249" y="0"/>
                      </a:lnTo>
                      <a:lnTo>
                        <a:pt x="254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75" y="0"/>
                      </a:lnTo>
                      <a:lnTo>
                        <a:pt x="280" y="0"/>
                      </a:lnTo>
                      <a:lnTo>
                        <a:pt x="286" y="0"/>
                      </a:lnTo>
                      <a:lnTo>
                        <a:pt x="296" y="0"/>
                      </a:lnTo>
                      <a:lnTo>
                        <a:pt x="301" y="0"/>
                      </a:lnTo>
                      <a:lnTo>
                        <a:pt x="306" y="0"/>
                      </a:lnTo>
                      <a:lnTo>
                        <a:pt x="311" y="0"/>
                      </a:lnTo>
                      <a:lnTo>
                        <a:pt x="322" y="0"/>
                      </a:lnTo>
                      <a:lnTo>
                        <a:pt x="327" y="0"/>
                      </a:lnTo>
                      <a:lnTo>
                        <a:pt x="332" y="0"/>
                      </a:lnTo>
                      <a:lnTo>
                        <a:pt x="337" y="0"/>
                      </a:lnTo>
                      <a:lnTo>
                        <a:pt x="343" y="0"/>
                      </a:lnTo>
                      <a:lnTo>
                        <a:pt x="353" y="0"/>
                      </a:lnTo>
                      <a:lnTo>
                        <a:pt x="358" y="0"/>
                      </a:lnTo>
                      <a:lnTo>
                        <a:pt x="363" y="0"/>
                      </a:lnTo>
                      <a:lnTo>
                        <a:pt x="368" y="0"/>
                      </a:lnTo>
                      <a:lnTo>
                        <a:pt x="379" y="0"/>
                      </a:lnTo>
                      <a:lnTo>
                        <a:pt x="384" y="0"/>
                      </a:lnTo>
                      <a:lnTo>
                        <a:pt x="389" y="0"/>
                      </a:lnTo>
                      <a:lnTo>
                        <a:pt x="394" y="0"/>
                      </a:lnTo>
                      <a:lnTo>
                        <a:pt x="405" y="0"/>
                      </a:lnTo>
                      <a:lnTo>
                        <a:pt x="410" y="0"/>
                      </a:lnTo>
                      <a:lnTo>
                        <a:pt x="415" y="0"/>
                      </a:lnTo>
                      <a:lnTo>
                        <a:pt x="420" y="0"/>
                      </a:lnTo>
                      <a:lnTo>
                        <a:pt x="431" y="0"/>
                      </a:lnTo>
                      <a:lnTo>
                        <a:pt x="436" y="0"/>
                      </a:lnTo>
                      <a:lnTo>
                        <a:pt x="441" y="0"/>
                      </a:lnTo>
                      <a:lnTo>
                        <a:pt x="446" y="0"/>
                      </a:lnTo>
                      <a:lnTo>
                        <a:pt x="457" y="0"/>
                      </a:lnTo>
                      <a:lnTo>
                        <a:pt x="462" y="0"/>
                      </a:lnTo>
                      <a:lnTo>
                        <a:pt x="467" y="0"/>
                      </a:lnTo>
                      <a:lnTo>
                        <a:pt x="472" y="0"/>
                      </a:lnTo>
                      <a:lnTo>
                        <a:pt x="483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8" y="0"/>
                      </a:lnTo>
                      <a:lnTo>
                        <a:pt x="503" y="0"/>
                      </a:lnTo>
                      <a:lnTo>
                        <a:pt x="514" y="0"/>
                      </a:lnTo>
                      <a:lnTo>
                        <a:pt x="519" y="0"/>
                      </a:lnTo>
                      <a:lnTo>
                        <a:pt x="524" y="0"/>
                      </a:lnTo>
                      <a:lnTo>
                        <a:pt x="529" y="0"/>
                      </a:lnTo>
                      <a:lnTo>
                        <a:pt x="540" y="0"/>
                      </a:lnTo>
                      <a:lnTo>
                        <a:pt x="545" y="0"/>
                      </a:lnTo>
                      <a:lnTo>
                        <a:pt x="550" y="0"/>
                      </a:lnTo>
                      <a:lnTo>
                        <a:pt x="555" y="0"/>
                      </a:lnTo>
                      <a:lnTo>
                        <a:pt x="565" y="0"/>
                      </a:lnTo>
                      <a:lnTo>
                        <a:pt x="571" y="0"/>
                      </a:lnTo>
                      <a:lnTo>
                        <a:pt x="576" y="0"/>
                      </a:lnTo>
                      <a:lnTo>
                        <a:pt x="581" y="0"/>
                      </a:lnTo>
                      <a:lnTo>
                        <a:pt x="591" y="0"/>
                      </a:lnTo>
                      <a:lnTo>
                        <a:pt x="597" y="0"/>
                      </a:lnTo>
                      <a:lnTo>
                        <a:pt x="602" y="0"/>
                      </a:lnTo>
                      <a:lnTo>
                        <a:pt x="607" y="0"/>
                      </a:lnTo>
                      <a:lnTo>
                        <a:pt x="617" y="0"/>
                      </a:lnTo>
                      <a:lnTo>
                        <a:pt x="622" y="0"/>
                      </a:lnTo>
                      <a:lnTo>
                        <a:pt x="628" y="0"/>
                      </a:lnTo>
                      <a:lnTo>
                        <a:pt x="633" y="0"/>
                      </a:lnTo>
                      <a:lnTo>
                        <a:pt x="643" y="0"/>
                      </a:lnTo>
                      <a:lnTo>
                        <a:pt x="648" y="0"/>
                      </a:lnTo>
                      <a:lnTo>
                        <a:pt x="654" y="0"/>
                      </a:lnTo>
                      <a:lnTo>
                        <a:pt x="659" y="0"/>
                      </a:lnTo>
                      <a:lnTo>
                        <a:pt x="664" y="0"/>
                      </a:lnTo>
                      <a:lnTo>
                        <a:pt x="674" y="0"/>
                      </a:lnTo>
                      <a:lnTo>
                        <a:pt x="680" y="0"/>
                      </a:lnTo>
                      <a:lnTo>
                        <a:pt x="685" y="0"/>
                      </a:lnTo>
                      <a:lnTo>
                        <a:pt x="690" y="0"/>
                      </a:lnTo>
                      <a:lnTo>
                        <a:pt x="700" y="0"/>
                      </a:lnTo>
                      <a:lnTo>
                        <a:pt x="705" y="0"/>
                      </a:lnTo>
                      <a:lnTo>
                        <a:pt x="711" y="0"/>
                      </a:lnTo>
                      <a:lnTo>
                        <a:pt x="716" y="0"/>
                      </a:lnTo>
                      <a:lnTo>
                        <a:pt x="726" y="0"/>
                      </a:lnTo>
                      <a:lnTo>
                        <a:pt x="731" y="0"/>
                      </a:lnTo>
                      <a:lnTo>
                        <a:pt x="737" y="0"/>
                      </a:lnTo>
                      <a:lnTo>
                        <a:pt x="742" y="0"/>
                      </a:lnTo>
                      <a:lnTo>
                        <a:pt x="752" y="0"/>
                      </a:lnTo>
                      <a:lnTo>
                        <a:pt x="757" y="0"/>
                      </a:lnTo>
                      <a:lnTo>
                        <a:pt x="762" y="0"/>
                      </a:lnTo>
                      <a:lnTo>
                        <a:pt x="768" y="0"/>
                      </a:lnTo>
                      <a:lnTo>
                        <a:pt x="778" y="0"/>
                      </a:lnTo>
                      <a:lnTo>
                        <a:pt x="783" y="0"/>
                      </a:lnTo>
                      <a:lnTo>
                        <a:pt x="788" y="0"/>
                      </a:lnTo>
                      <a:lnTo>
                        <a:pt x="794" y="0"/>
                      </a:lnTo>
                      <a:lnTo>
                        <a:pt x="804" y="0"/>
                      </a:lnTo>
                      <a:lnTo>
                        <a:pt x="809" y="0"/>
                      </a:lnTo>
                      <a:lnTo>
                        <a:pt x="814" y="0"/>
                      </a:lnTo>
                    </a:path>
                  </a:pathLst>
                </a:custGeom>
                <a:noFill/>
                <a:ln w="28575" cmpd="sng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  <p:sp>
              <p:nvSpPr>
                <p:cNvPr id="224322" name="Freeform 66"/>
                <p:cNvSpPr>
                  <a:spLocks/>
                </p:cNvSpPr>
                <p:nvPr/>
              </p:nvSpPr>
              <p:spPr bwMode="auto">
                <a:xfrm>
                  <a:off x="2620" y="2566"/>
                  <a:ext cx="814" cy="446"/>
                </a:xfrm>
                <a:custGeom>
                  <a:avLst/>
                  <a:gdLst/>
                  <a:ahLst/>
                  <a:cxnLst>
                    <a:cxn ang="0">
                      <a:pos x="11" y="0"/>
                    </a:cxn>
                    <a:cxn ang="0">
                      <a:pos x="31" y="0"/>
                    </a:cxn>
                    <a:cxn ang="0">
                      <a:pos x="52" y="0"/>
                    </a:cxn>
                    <a:cxn ang="0">
                      <a:pos x="73" y="0"/>
                    </a:cxn>
                    <a:cxn ang="0">
                      <a:pos x="88" y="0"/>
                    </a:cxn>
                    <a:cxn ang="0">
                      <a:pos x="109" y="0"/>
                    </a:cxn>
                    <a:cxn ang="0">
                      <a:pos x="130" y="0"/>
                    </a:cxn>
                    <a:cxn ang="0">
                      <a:pos x="151" y="223"/>
                    </a:cxn>
                    <a:cxn ang="0">
                      <a:pos x="166" y="446"/>
                    </a:cxn>
                    <a:cxn ang="0">
                      <a:pos x="187" y="446"/>
                    </a:cxn>
                    <a:cxn ang="0">
                      <a:pos x="208" y="446"/>
                    </a:cxn>
                    <a:cxn ang="0">
                      <a:pos x="223" y="446"/>
                    </a:cxn>
                    <a:cxn ang="0">
                      <a:pos x="244" y="446"/>
                    </a:cxn>
                    <a:cxn ang="0">
                      <a:pos x="265" y="446"/>
                    </a:cxn>
                    <a:cxn ang="0">
                      <a:pos x="285" y="446"/>
                    </a:cxn>
                    <a:cxn ang="0">
                      <a:pos x="301" y="446"/>
                    </a:cxn>
                    <a:cxn ang="0">
                      <a:pos x="322" y="446"/>
                    </a:cxn>
                    <a:cxn ang="0">
                      <a:pos x="342" y="446"/>
                    </a:cxn>
                    <a:cxn ang="0">
                      <a:pos x="358" y="446"/>
                    </a:cxn>
                    <a:cxn ang="0">
                      <a:pos x="379" y="446"/>
                    </a:cxn>
                    <a:cxn ang="0">
                      <a:pos x="399" y="446"/>
                    </a:cxn>
                    <a:cxn ang="0">
                      <a:pos x="420" y="446"/>
                    </a:cxn>
                    <a:cxn ang="0">
                      <a:pos x="436" y="446"/>
                    </a:cxn>
                    <a:cxn ang="0">
                      <a:pos x="456" y="446"/>
                    </a:cxn>
                    <a:cxn ang="0">
                      <a:pos x="477" y="446"/>
                    </a:cxn>
                    <a:cxn ang="0">
                      <a:pos x="493" y="446"/>
                    </a:cxn>
                    <a:cxn ang="0">
                      <a:pos x="514" y="446"/>
                    </a:cxn>
                    <a:cxn ang="0">
                      <a:pos x="534" y="446"/>
                    </a:cxn>
                    <a:cxn ang="0">
                      <a:pos x="555" y="446"/>
                    </a:cxn>
                    <a:cxn ang="0">
                      <a:pos x="571" y="446"/>
                    </a:cxn>
                    <a:cxn ang="0">
                      <a:pos x="591" y="446"/>
                    </a:cxn>
                    <a:cxn ang="0">
                      <a:pos x="612" y="446"/>
                    </a:cxn>
                    <a:cxn ang="0">
                      <a:pos x="633" y="446"/>
                    </a:cxn>
                    <a:cxn ang="0">
                      <a:pos x="648" y="446"/>
                    </a:cxn>
                    <a:cxn ang="0">
                      <a:pos x="669" y="446"/>
                    </a:cxn>
                    <a:cxn ang="0">
                      <a:pos x="690" y="446"/>
                    </a:cxn>
                    <a:cxn ang="0">
                      <a:pos x="705" y="446"/>
                    </a:cxn>
                    <a:cxn ang="0">
                      <a:pos x="726" y="446"/>
                    </a:cxn>
                    <a:cxn ang="0">
                      <a:pos x="747" y="446"/>
                    </a:cxn>
                    <a:cxn ang="0">
                      <a:pos x="768" y="446"/>
                    </a:cxn>
                    <a:cxn ang="0">
                      <a:pos x="783" y="446"/>
                    </a:cxn>
                    <a:cxn ang="0">
                      <a:pos x="804" y="446"/>
                    </a:cxn>
                  </a:cxnLst>
                  <a:rect l="0" t="0" r="r" b="b"/>
                  <a:pathLst>
                    <a:path w="814" h="44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11" y="0"/>
                      </a:lnTo>
                      <a:lnTo>
                        <a:pt x="21" y="0"/>
                      </a:lnTo>
                      <a:lnTo>
                        <a:pt x="26" y="0"/>
                      </a:lnTo>
                      <a:lnTo>
                        <a:pt x="31" y="0"/>
                      </a:lnTo>
                      <a:lnTo>
                        <a:pt x="37" y="0"/>
                      </a:lnTo>
                      <a:lnTo>
                        <a:pt x="47" y="0"/>
                      </a:lnTo>
                      <a:lnTo>
                        <a:pt x="52" y="0"/>
                      </a:lnTo>
                      <a:lnTo>
                        <a:pt x="57" y="0"/>
                      </a:lnTo>
                      <a:lnTo>
                        <a:pt x="63" y="0"/>
                      </a:lnTo>
                      <a:lnTo>
                        <a:pt x="73" y="0"/>
                      </a:lnTo>
                      <a:lnTo>
                        <a:pt x="78" y="0"/>
                      </a:lnTo>
                      <a:lnTo>
                        <a:pt x="83" y="0"/>
                      </a:lnTo>
                      <a:lnTo>
                        <a:pt x="88" y="0"/>
                      </a:lnTo>
                      <a:lnTo>
                        <a:pt x="99" y="0"/>
                      </a:lnTo>
                      <a:lnTo>
                        <a:pt x="104" y="0"/>
                      </a:lnTo>
                      <a:lnTo>
                        <a:pt x="109" y="0"/>
                      </a:lnTo>
                      <a:lnTo>
                        <a:pt x="114" y="0"/>
                      </a:lnTo>
                      <a:lnTo>
                        <a:pt x="125" y="0"/>
                      </a:lnTo>
                      <a:lnTo>
                        <a:pt x="130" y="0"/>
                      </a:lnTo>
                      <a:lnTo>
                        <a:pt x="135" y="0"/>
                      </a:lnTo>
                      <a:lnTo>
                        <a:pt x="140" y="0"/>
                      </a:lnTo>
                      <a:lnTo>
                        <a:pt x="151" y="223"/>
                      </a:lnTo>
                      <a:lnTo>
                        <a:pt x="156" y="446"/>
                      </a:lnTo>
                      <a:lnTo>
                        <a:pt x="161" y="446"/>
                      </a:lnTo>
                      <a:lnTo>
                        <a:pt x="166" y="446"/>
                      </a:lnTo>
                      <a:lnTo>
                        <a:pt x="171" y="446"/>
                      </a:lnTo>
                      <a:lnTo>
                        <a:pt x="182" y="446"/>
                      </a:lnTo>
                      <a:lnTo>
                        <a:pt x="187" y="446"/>
                      </a:lnTo>
                      <a:lnTo>
                        <a:pt x="192" y="446"/>
                      </a:lnTo>
                      <a:lnTo>
                        <a:pt x="197" y="446"/>
                      </a:lnTo>
                      <a:lnTo>
                        <a:pt x="208" y="446"/>
                      </a:lnTo>
                      <a:lnTo>
                        <a:pt x="213" y="446"/>
                      </a:lnTo>
                      <a:lnTo>
                        <a:pt x="218" y="446"/>
                      </a:lnTo>
                      <a:lnTo>
                        <a:pt x="223" y="446"/>
                      </a:lnTo>
                      <a:lnTo>
                        <a:pt x="234" y="446"/>
                      </a:lnTo>
                      <a:lnTo>
                        <a:pt x="239" y="446"/>
                      </a:lnTo>
                      <a:lnTo>
                        <a:pt x="244" y="446"/>
                      </a:lnTo>
                      <a:lnTo>
                        <a:pt x="249" y="446"/>
                      </a:lnTo>
                      <a:lnTo>
                        <a:pt x="260" y="446"/>
                      </a:lnTo>
                      <a:lnTo>
                        <a:pt x="265" y="446"/>
                      </a:lnTo>
                      <a:lnTo>
                        <a:pt x="270" y="446"/>
                      </a:lnTo>
                      <a:lnTo>
                        <a:pt x="275" y="446"/>
                      </a:lnTo>
                      <a:lnTo>
                        <a:pt x="285" y="446"/>
                      </a:lnTo>
                      <a:lnTo>
                        <a:pt x="291" y="446"/>
                      </a:lnTo>
                      <a:lnTo>
                        <a:pt x="296" y="446"/>
                      </a:lnTo>
                      <a:lnTo>
                        <a:pt x="301" y="446"/>
                      </a:lnTo>
                      <a:lnTo>
                        <a:pt x="311" y="446"/>
                      </a:lnTo>
                      <a:lnTo>
                        <a:pt x="317" y="446"/>
                      </a:lnTo>
                      <a:lnTo>
                        <a:pt x="322" y="446"/>
                      </a:lnTo>
                      <a:lnTo>
                        <a:pt x="327" y="446"/>
                      </a:lnTo>
                      <a:lnTo>
                        <a:pt x="332" y="446"/>
                      </a:lnTo>
                      <a:lnTo>
                        <a:pt x="342" y="446"/>
                      </a:lnTo>
                      <a:lnTo>
                        <a:pt x="348" y="446"/>
                      </a:lnTo>
                      <a:lnTo>
                        <a:pt x="353" y="446"/>
                      </a:lnTo>
                      <a:lnTo>
                        <a:pt x="358" y="446"/>
                      </a:lnTo>
                      <a:lnTo>
                        <a:pt x="368" y="446"/>
                      </a:lnTo>
                      <a:lnTo>
                        <a:pt x="374" y="446"/>
                      </a:lnTo>
                      <a:lnTo>
                        <a:pt x="379" y="446"/>
                      </a:lnTo>
                      <a:lnTo>
                        <a:pt x="384" y="446"/>
                      </a:lnTo>
                      <a:lnTo>
                        <a:pt x="394" y="446"/>
                      </a:lnTo>
                      <a:lnTo>
                        <a:pt x="399" y="446"/>
                      </a:lnTo>
                      <a:lnTo>
                        <a:pt x="405" y="446"/>
                      </a:lnTo>
                      <a:lnTo>
                        <a:pt x="410" y="446"/>
                      </a:lnTo>
                      <a:lnTo>
                        <a:pt x="420" y="446"/>
                      </a:lnTo>
                      <a:lnTo>
                        <a:pt x="425" y="446"/>
                      </a:lnTo>
                      <a:lnTo>
                        <a:pt x="431" y="446"/>
                      </a:lnTo>
                      <a:lnTo>
                        <a:pt x="436" y="446"/>
                      </a:lnTo>
                      <a:lnTo>
                        <a:pt x="446" y="446"/>
                      </a:lnTo>
                      <a:lnTo>
                        <a:pt x="451" y="446"/>
                      </a:lnTo>
                      <a:lnTo>
                        <a:pt x="456" y="446"/>
                      </a:lnTo>
                      <a:lnTo>
                        <a:pt x="462" y="446"/>
                      </a:lnTo>
                      <a:lnTo>
                        <a:pt x="472" y="446"/>
                      </a:lnTo>
                      <a:lnTo>
                        <a:pt x="477" y="446"/>
                      </a:lnTo>
                      <a:lnTo>
                        <a:pt x="482" y="446"/>
                      </a:lnTo>
                      <a:lnTo>
                        <a:pt x="488" y="446"/>
                      </a:lnTo>
                      <a:lnTo>
                        <a:pt x="493" y="446"/>
                      </a:lnTo>
                      <a:lnTo>
                        <a:pt x="503" y="446"/>
                      </a:lnTo>
                      <a:lnTo>
                        <a:pt x="508" y="446"/>
                      </a:lnTo>
                      <a:lnTo>
                        <a:pt x="514" y="446"/>
                      </a:lnTo>
                      <a:lnTo>
                        <a:pt x="519" y="446"/>
                      </a:lnTo>
                      <a:lnTo>
                        <a:pt x="529" y="446"/>
                      </a:lnTo>
                      <a:lnTo>
                        <a:pt x="534" y="446"/>
                      </a:lnTo>
                      <a:lnTo>
                        <a:pt x="539" y="446"/>
                      </a:lnTo>
                      <a:lnTo>
                        <a:pt x="545" y="446"/>
                      </a:lnTo>
                      <a:lnTo>
                        <a:pt x="555" y="446"/>
                      </a:lnTo>
                      <a:lnTo>
                        <a:pt x="560" y="446"/>
                      </a:lnTo>
                      <a:lnTo>
                        <a:pt x="565" y="446"/>
                      </a:lnTo>
                      <a:lnTo>
                        <a:pt x="571" y="446"/>
                      </a:lnTo>
                      <a:lnTo>
                        <a:pt x="581" y="446"/>
                      </a:lnTo>
                      <a:lnTo>
                        <a:pt x="586" y="446"/>
                      </a:lnTo>
                      <a:lnTo>
                        <a:pt x="591" y="446"/>
                      </a:lnTo>
                      <a:lnTo>
                        <a:pt x="596" y="446"/>
                      </a:lnTo>
                      <a:lnTo>
                        <a:pt x="607" y="446"/>
                      </a:lnTo>
                      <a:lnTo>
                        <a:pt x="612" y="446"/>
                      </a:lnTo>
                      <a:lnTo>
                        <a:pt x="617" y="446"/>
                      </a:lnTo>
                      <a:lnTo>
                        <a:pt x="622" y="446"/>
                      </a:lnTo>
                      <a:lnTo>
                        <a:pt x="633" y="446"/>
                      </a:lnTo>
                      <a:lnTo>
                        <a:pt x="638" y="446"/>
                      </a:lnTo>
                      <a:lnTo>
                        <a:pt x="643" y="446"/>
                      </a:lnTo>
                      <a:lnTo>
                        <a:pt x="648" y="446"/>
                      </a:lnTo>
                      <a:lnTo>
                        <a:pt x="653" y="446"/>
                      </a:lnTo>
                      <a:lnTo>
                        <a:pt x="664" y="446"/>
                      </a:lnTo>
                      <a:lnTo>
                        <a:pt x="669" y="446"/>
                      </a:lnTo>
                      <a:lnTo>
                        <a:pt x="674" y="446"/>
                      </a:lnTo>
                      <a:lnTo>
                        <a:pt x="679" y="446"/>
                      </a:lnTo>
                      <a:lnTo>
                        <a:pt x="690" y="446"/>
                      </a:lnTo>
                      <a:lnTo>
                        <a:pt x="695" y="446"/>
                      </a:lnTo>
                      <a:lnTo>
                        <a:pt x="700" y="446"/>
                      </a:lnTo>
                      <a:lnTo>
                        <a:pt x="705" y="446"/>
                      </a:lnTo>
                      <a:lnTo>
                        <a:pt x="716" y="446"/>
                      </a:lnTo>
                      <a:lnTo>
                        <a:pt x="721" y="446"/>
                      </a:lnTo>
                      <a:lnTo>
                        <a:pt x="726" y="446"/>
                      </a:lnTo>
                      <a:lnTo>
                        <a:pt x="731" y="446"/>
                      </a:lnTo>
                      <a:lnTo>
                        <a:pt x="742" y="446"/>
                      </a:lnTo>
                      <a:lnTo>
                        <a:pt x="747" y="446"/>
                      </a:lnTo>
                      <a:lnTo>
                        <a:pt x="752" y="446"/>
                      </a:lnTo>
                      <a:lnTo>
                        <a:pt x="757" y="446"/>
                      </a:lnTo>
                      <a:lnTo>
                        <a:pt x="768" y="446"/>
                      </a:lnTo>
                      <a:lnTo>
                        <a:pt x="773" y="446"/>
                      </a:lnTo>
                      <a:lnTo>
                        <a:pt x="778" y="446"/>
                      </a:lnTo>
                      <a:lnTo>
                        <a:pt x="783" y="446"/>
                      </a:lnTo>
                      <a:lnTo>
                        <a:pt x="793" y="446"/>
                      </a:lnTo>
                      <a:lnTo>
                        <a:pt x="799" y="446"/>
                      </a:lnTo>
                      <a:lnTo>
                        <a:pt x="804" y="446"/>
                      </a:lnTo>
                      <a:lnTo>
                        <a:pt x="809" y="446"/>
                      </a:lnTo>
                      <a:lnTo>
                        <a:pt x="814" y="446"/>
                      </a:lnTo>
                    </a:path>
                  </a:pathLst>
                </a:custGeom>
                <a:noFill/>
                <a:ln w="28575" cmpd="sng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sp>
            <p:nvSpPr>
              <p:cNvPr id="224323" name="Freeform 67"/>
              <p:cNvSpPr>
                <a:spLocks/>
              </p:cNvSpPr>
              <p:nvPr/>
            </p:nvSpPr>
            <p:spPr bwMode="auto">
              <a:xfrm>
                <a:off x="2591" y="3728"/>
                <a:ext cx="622" cy="1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21" y="0"/>
                  </a:cxn>
                  <a:cxn ang="0">
                    <a:pos x="36" y="0"/>
                  </a:cxn>
                  <a:cxn ang="0">
                    <a:pos x="47" y="0"/>
                  </a:cxn>
                  <a:cxn ang="0">
                    <a:pos x="62" y="0"/>
                  </a:cxn>
                  <a:cxn ang="0">
                    <a:pos x="73" y="0"/>
                  </a:cxn>
                  <a:cxn ang="0">
                    <a:pos x="88" y="0"/>
                  </a:cxn>
                  <a:cxn ang="0">
                    <a:pos x="99" y="0"/>
                  </a:cxn>
                  <a:cxn ang="0">
                    <a:pos x="114" y="0"/>
                  </a:cxn>
                  <a:cxn ang="0">
                    <a:pos x="125" y="0"/>
                  </a:cxn>
                  <a:cxn ang="0">
                    <a:pos x="140" y="0"/>
                  </a:cxn>
                  <a:cxn ang="0">
                    <a:pos x="151" y="0"/>
                  </a:cxn>
                  <a:cxn ang="0">
                    <a:pos x="161" y="0"/>
                  </a:cxn>
                  <a:cxn ang="0">
                    <a:pos x="176" y="0"/>
                  </a:cxn>
                  <a:cxn ang="0">
                    <a:pos x="187" y="0"/>
                  </a:cxn>
                  <a:cxn ang="0">
                    <a:pos x="202" y="0"/>
                  </a:cxn>
                  <a:cxn ang="0">
                    <a:pos x="213" y="0"/>
                  </a:cxn>
                  <a:cxn ang="0">
                    <a:pos x="228" y="0"/>
                  </a:cxn>
                  <a:cxn ang="0">
                    <a:pos x="239" y="0"/>
                  </a:cxn>
                  <a:cxn ang="0">
                    <a:pos x="254" y="0"/>
                  </a:cxn>
                  <a:cxn ang="0">
                    <a:pos x="265" y="0"/>
                  </a:cxn>
                  <a:cxn ang="0">
                    <a:pos x="280" y="0"/>
                  </a:cxn>
                  <a:cxn ang="0">
                    <a:pos x="290" y="0"/>
                  </a:cxn>
                  <a:cxn ang="0">
                    <a:pos x="306" y="0"/>
                  </a:cxn>
                  <a:cxn ang="0">
                    <a:pos x="316" y="0"/>
                  </a:cxn>
                  <a:cxn ang="0">
                    <a:pos x="332" y="0"/>
                  </a:cxn>
                  <a:cxn ang="0">
                    <a:pos x="342" y="0"/>
                  </a:cxn>
                  <a:cxn ang="0">
                    <a:pos x="358" y="0"/>
                  </a:cxn>
                  <a:cxn ang="0">
                    <a:pos x="368" y="0"/>
                  </a:cxn>
                  <a:cxn ang="0">
                    <a:pos x="384" y="0"/>
                  </a:cxn>
                  <a:cxn ang="0">
                    <a:pos x="394" y="0"/>
                  </a:cxn>
                  <a:cxn ang="0">
                    <a:pos x="410" y="0"/>
                  </a:cxn>
                  <a:cxn ang="0">
                    <a:pos x="420" y="0"/>
                  </a:cxn>
                  <a:cxn ang="0">
                    <a:pos x="436" y="0"/>
                  </a:cxn>
                  <a:cxn ang="0">
                    <a:pos x="446" y="0"/>
                  </a:cxn>
                  <a:cxn ang="0">
                    <a:pos x="462" y="0"/>
                  </a:cxn>
                  <a:cxn ang="0">
                    <a:pos x="472" y="0"/>
                  </a:cxn>
                  <a:cxn ang="0">
                    <a:pos x="482" y="0"/>
                  </a:cxn>
                  <a:cxn ang="0">
                    <a:pos x="498" y="0"/>
                  </a:cxn>
                  <a:cxn ang="0">
                    <a:pos x="508" y="0"/>
                  </a:cxn>
                  <a:cxn ang="0">
                    <a:pos x="524" y="0"/>
                  </a:cxn>
                  <a:cxn ang="0">
                    <a:pos x="534" y="0"/>
                  </a:cxn>
                  <a:cxn ang="0">
                    <a:pos x="550" y="0"/>
                  </a:cxn>
                  <a:cxn ang="0">
                    <a:pos x="560" y="0"/>
                  </a:cxn>
                  <a:cxn ang="0">
                    <a:pos x="576" y="0"/>
                  </a:cxn>
                  <a:cxn ang="0">
                    <a:pos x="586" y="0"/>
                  </a:cxn>
                  <a:cxn ang="0">
                    <a:pos x="602" y="0"/>
                  </a:cxn>
                  <a:cxn ang="0">
                    <a:pos x="612" y="0"/>
                  </a:cxn>
                </a:cxnLst>
                <a:rect l="0" t="0" r="r" b="b"/>
                <a:pathLst>
                  <a:path w="622">
                    <a:moveTo>
                      <a:pt x="0" y="0"/>
                    </a:moveTo>
                    <a:lnTo>
                      <a:pt x="11" y="0"/>
                    </a:lnTo>
                    <a:lnTo>
                      <a:pt x="16" y="0"/>
                    </a:lnTo>
                    <a:lnTo>
                      <a:pt x="21" y="0"/>
                    </a:lnTo>
                    <a:lnTo>
                      <a:pt x="26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7" y="0"/>
                    </a:lnTo>
                    <a:lnTo>
                      <a:pt x="52" y="0"/>
                    </a:lnTo>
                    <a:lnTo>
                      <a:pt x="62" y="0"/>
                    </a:lnTo>
                    <a:lnTo>
                      <a:pt x="68" y="0"/>
                    </a:lnTo>
                    <a:lnTo>
                      <a:pt x="73" y="0"/>
                    </a:lnTo>
                    <a:lnTo>
                      <a:pt x="78" y="0"/>
                    </a:lnTo>
                    <a:lnTo>
                      <a:pt x="88" y="0"/>
                    </a:lnTo>
                    <a:lnTo>
                      <a:pt x="93" y="0"/>
                    </a:lnTo>
                    <a:lnTo>
                      <a:pt x="99" y="0"/>
                    </a:lnTo>
                    <a:lnTo>
                      <a:pt x="104" y="0"/>
                    </a:lnTo>
                    <a:lnTo>
                      <a:pt x="114" y="0"/>
                    </a:lnTo>
                    <a:lnTo>
                      <a:pt x="119" y="0"/>
                    </a:lnTo>
                    <a:lnTo>
                      <a:pt x="125" y="0"/>
                    </a:lnTo>
                    <a:lnTo>
                      <a:pt x="130" y="0"/>
                    </a:lnTo>
                    <a:lnTo>
                      <a:pt x="140" y="0"/>
                    </a:lnTo>
                    <a:lnTo>
                      <a:pt x="145" y="0"/>
                    </a:lnTo>
                    <a:lnTo>
                      <a:pt x="151" y="0"/>
                    </a:lnTo>
                    <a:lnTo>
                      <a:pt x="156" y="0"/>
                    </a:lnTo>
                    <a:lnTo>
                      <a:pt x="161" y="0"/>
                    </a:lnTo>
                    <a:lnTo>
                      <a:pt x="171" y="0"/>
                    </a:lnTo>
                    <a:lnTo>
                      <a:pt x="176" y="0"/>
                    </a:lnTo>
                    <a:lnTo>
                      <a:pt x="182" y="0"/>
                    </a:lnTo>
                    <a:lnTo>
                      <a:pt x="187" y="0"/>
                    </a:lnTo>
                    <a:lnTo>
                      <a:pt x="197" y="0"/>
                    </a:lnTo>
                    <a:lnTo>
                      <a:pt x="202" y="0"/>
                    </a:lnTo>
                    <a:lnTo>
                      <a:pt x="208" y="0"/>
                    </a:lnTo>
                    <a:lnTo>
                      <a:pt x="213" y="0"/>
                    </a:lnTo>
                    <a:lnTo>
                      <a:pt x="223" y="0"/>
                    </a:lnTo>
                    <a:lnTo>
                      <a:pt x="228" y="0"/>
                    </a:lnTo>
                    <a:lnTo>
                      <a:pt x="233" y="0"/>
                    </a:lnTo>
                    <a:lnTo>
                      <a:pt x="239" y="0"/>
                    </a:lnTo>
                    <a:lnTo>
                      <a:pt x="249" y="0"/>
                    </a:lnTo>
                    <a:lnTo>
                      <a:pt x="254" y="0"/>
                    </a:lnTo>
                    <a:lnTo>
                      <a:pt x="259" y="0"/>
                    </a:lnTo>
                    <a:lnTo>
                      <a:pt x="265" y="0"/>
                    </a:lnTo>
                    <a:lnTo>
                      <a:pt x="275" y="0"/>
                    </a:lnTo>
                    <a:lnTo>
                      <a:pt x="280" y="0"/>
                    </a:lnTo>
                    <a:lnTo>
                      <a:pt x="285" y="0"/>
                    </a:lnTo>
                    <a:lnTo>
                      <a:pt x="290" y="0"/>
                    </a:lnTo>
                    <a:lnTo>
                      <a:pt x="301" y="0"/>
                    </a:lnTo>
                    <a:lnTo>
                      <a:pt x="306" y="0"/>
                    </a:lnTo>
                    <a:lnTo>
                      <a:pt x="311" y="0"/>
                    </a:lnTo>
                    <a:lnTo>
                      <a:pt x="316" y="0"/>
                    </a:lnTo>
                    <a:lnTo>
                      <a:pt x="322" y="0"/>
                    </a:lnTo>
                    <a:lnTo>
                      <a:pt x="332" y="0"/>
                    </a:lnTo>
                    <a:lnTo>
                      <a:pt x="337" y="0"/>
                    </a:lnTo>
                    <a:lnTo>
                      <a:pt x="342" y="0"/>
                    </a:lnTo>
                    <a:lnTo>
                      <a:pt x="348" y="0"/>
                    </a:lnTo>
                    <a:lnTo>
                      <a:pt x="358" y="0"/>
                    </a:lnTo>
                    <a:lnTo>
                      <a:pt x="363" y="0"/>
                    </a:lnTo>
                    <a:lnTo>
                      <a:pt x="368" y="0"/>
                    </a:lnTo>
                    <a:lnTo>
                      <a:pt x="373" y="0"/>
                    </a:lnTo>
                    <a:lnTo>
                      <a:pt x="384" y="0"/>
                    </a:lnTo>
                    <a:lnTo>
                      <a:pt x="389" y="0"/>
                    </a:lnTo>
                    <a:lnTo>
                      <a:pt x="394" y="0"/>
                    </a:lnTo>
                    <a:lnTo>
                      <a:pt x="399" y="0"/>
                    </a:lnTo>
                    <a:lnTo>
                      <a:pt x="410" y="0"/>
                    </a:lnTo>
                    <a:lnTo>
                      <a:pt x="415" y="0"/>
                    </a:lnTo>
                    <a:lnTo>
                      <a:pt x="420" y="0"/>
                    </a:lnTo>
                    <a:lnTo>
                      <a:pt x="425" y="0"/>
                    </a:lnTo>
                    <a:lnTo>
                      <a:pt x="436" y="0"/>
                    </a:lnTo>
                    <a:lnTo>
                      <a:pt x="441" y="0"/>
                    </a:lnTo>
                    <a:lnTo>
                      <a:pt x="446" y="0"/>
                    </a:lnTo>
                    <a:lnTo>
                      <a:pt x="451" y="0"/>
                    </a:lnTo>
                    <a:lnTo>
                      <a:pt x="462" y="0"/>
                    </a:lnTo>
                    <a:lnTo>
                      <a:pt x="467" y="0"/>
                    </a:lnTo>
                    <a:lnTo>
                      <a:pt x="472" y="0"/>
                    </a:lnTo>
                    <a:lnTo>
                      <a:pt x="477" y="0"/>
                    </a:lnTo>
                    <a:lnTo>
                      <a:pt x="482" y="0"/>
                    </a:lnTo>
                    <a:lnTo>
                      <a:pt x="493" y="0"/>
                    </a:lnTo>
                    <a:lnTo>
                      <a:pt x="498" y="0"/>
                    </a:lnTo>
                    <a:lnTo>
                      <a:pt x="503" y="0"/>
                    </a:lnTo>
                    <a:lnTo>
                      <a:pt x="508" y="0"/>
                    </a:lnTo>
                    <a:lnTo>
                      <a:pt x="519" y="0"/>
                    </a:lnTo>
                    <a:lnTo>
                      <a:pt x="524" y="0"/>
                    </a:lnTo>
                    <a:lnTo>
                      <a:pt x="529" y="0"/>
                    </a:lnTo>
                    <a:lnTo>
                      <a:pt x="534" y="0"/>
                    </a:lnTo>
                    <a:lnTo>
                      <a:pt x="544" y="0"/>
                    </a:lnTo>
                    <a:lnTo>
                      <a:pt x="550" y="0"/>
                    </a:lnTo>
                    <a:lnTo>
                      <a:pt x="555" y="0"/>
                    </a:lnTo>
                    <a:lnTo>
                      <a:pt x="560" y="0"/>
                    </a:lnTo>
                    <a:lnTo>
                      <a:pt x="570" y="0"/>
                    </a:lnTo>
                    <a:lnTo>
                      <a:pt x="576" y="0"/>
                    </a:lnTo>
                    <a:lnTo>
                      <a:pt x="581" y="0"/>
                    </a:lnTo>
                    <a:lnTo>
                      <a:pt x="586" y="0"/>
                    </a:lnTo>
                    <a:lnTo>
                      <a:pt x="596" y="0"/>
                    </a:lnTo>
                    <a:lnTo>
                      <a:pt x="602" y="0"/>
                    </a:lnTo>
                    <a:lnTo>
                      <a:pt x="607" y="0"/>
                    </a:lnTo>
                    <a:lnTo>
                      <a:pt x="612" y="0"/>
                    </a:lnTo>
                    <a:lnTo>
                      <a:pt x="622" y="0"/>
                    </a:lnTo>
                  </a:path>
                </a:pathLst>
              </a:custGeom>
              <a:noFill/>
              <a:ln w="28575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4" name="Group 68"/>
            <p:cNvGrpSpPr>
              <a:grpSpLocks/>
            </p:cNvGrpSpPr>
            <p:nvPr/>
          </p:nvGrpSpPr>
          <p:grpSpPr bwMode="auto">
            <a:xfrm>
              <a:off x="2570901" y="2299632"/>
              <a:ext cx="3060700" cy="2814638"/>
              <a:chOff x="2128" y="1239"/>
              <a:chExt cx="1928" cy="1773"/>
            </a:xfrm>
          </p:grpSpPr>
          <p:sp>
            <p:nvSpPr>
              <p:cNvPr id="224325" name="Freeform 69"/>
              <p:cNvSpPr>
                <a:spLocks/>
              </p:cNvSpPr>
              <p:nvPr/>
            </p:nvSpPr>
            <p:spPr bwMode="auto">
              <a:xfrm>
                <a:off x="2128" y="1239"/>
                <a:ext cx="814" cy="1534"/>
              </a:xfrm>
              <a:custGeom>
                <a:avLst/>
                <a:gdLst/>
                <a:ahLst/>
                <a:cxnLst>
                  <a:cxn ang="0">
                    <a:pos x="10" y="31"/>
                  </a:cxn>
                  <a:cxn ang="0">
                    <a:pos x="31" y="83"/>
                  </a:cxn>
                  <a:cxn ang="0">
                    <a:pos x="46" y="135"/>
                  </a:cxn>
                  <a:cxn ang="0">
                    <a:pos x="67" y="186"/>
                  </a:cxn>
                  <a:cxn ang="0">
                    <a:pos x="88" y="238"/>
                  </a:cxn>
                  <a:cxn ang="0">
                    <a:pos x="109" y="285"/>
                  </a:cxn>
                  <a:cxn ang="0">
                    <a:pos x="124" y="332"/>
                  </a:cxn>
                  <a:cxn ang="0">
                    <a:pos x="145" y="383"/>
                  </a:cxn>
                  <a:cxn ang="0">
                    <a:pos x="166" y="430"/>
                  </a:cxn>
                  <a:cxn ang="0">
                    <a:pos x="181" y="472"/>
                  </a:cxn>
                  <a:cxn ang="0">
                    <a:pos x="202" y="518"/>
                  </a:cxn>
                  <a:cxn ang="0">
                    <a:pos x="223" y="565"/>
                  </a:cxn>
                  <a:cxn ang="0">
                    <a:pos x="243" y="606"/>
                  </a:cxn>
                  <a:cxn ang="0">
                    <a:pos x="259" y="648"/>
                  </a:cxn>
                  <a:cxn ang="0">
                    <a:pos x="280" y="689"/>
                  </a:cxn>
                  <a:cxn ang="0">
                    <a:pos x="300" y="731"/>
                  </a:cxn>
                  <a:cxn ang="0">
                    <a:pos x="321" y="772"/>
                  </a:cxn>
                  <a:cxn ang="0">
                    <a:pos x="337" y="814"/>
                  </a:cxn>
                  <a:cxn ang="0">
                    <a:pos x="358" y="850"/>
                  </a:cxn>
                  <a:cxn ang="0">
                    <a:pos x="378" y="891"/>
                  </a:cxn>
                  <a:cxn ang="0">
                    <a:pos x="394" y="928"/>
                  </a:cxn>
                  <a:cxn ang="0">
                    <a:pos x="415" y="964"/>
                  </a:cxn>
                  <a:cxn ang="0">
                    <a:pos x="435" y="1000"/>
                  </a:cxn>
                  <a:cxn ang="0">
                    <a:pos x="456" y="1031"/>
                  </a:cxn>
                  <a:cxn ang="0">
                    <a:pos x="472" y="1068"/>
                  </a:cxn>
                  <a:cxn ang="0">
                    <a:pos x="492" y="1099"/>
                  </a:cxn>
                  <a:cxn ang="0">
                    <a:pos x="513" y="1130"/>
                  </a:cxn>
                  <a:cxn ang="0">
                    <a:pos x="529" y="1161"/>
                  </a:cxn>
                  <a:cxn ang="0">
                    <a:pos x="549" y="1192"/>
                  </a:cxn>
                  <a:cxn ang="0">
                    <a:pos x="570" y="1223"/>
                  </a:cxn>
                  <a:cxn ang="0">
                    <a:pos x="591" y="1254"/>
                  </a:cxn>
                  <a:cxn ang="0">
                    <a:pos x="606" y="1280"/>
                  </a:cxn>
                  <a:cxn ang="0">
                    <a:pos x="627" y="1311"/>
                  </a:cxn>
                  <a:cxn ang="0">
                    <a:pos x="648" y="1337"/>
                  </a:cxn>
                  <a:cxn ang="0">
                    <a:pos x="663" y="1363"/>
                  </a:cxn>
                  <a:cxn ang="0">
                    <a:pos x="684" y="1389"/>
                  </a:cxn>
                  <a:cxn ang="0">
                    <a:pos x="705" y="1410"/>
                  </a:cxn>
                  <a:cxn ang="0">
                    <a:pos x="726" y="1436"/>
                  </a:cxn>
                  <a:cxn ang="0">
                    <a:pos x="741" y="1456"/>
                  </a:cxn>
                  <a:cxn ang="0">
                    <a:pos x="762" y="1477"/>
                  </a:cxn>
                  <a:cxn ang="0">
                    <a:pos x="783" y="1498"/>
                  </a:cxn>
                  <a:cxn ang="0">
                    <a:pos x="803" y="1519"/>
                  </a:cxn>
                </a:cxnLst>
                <a:rect l="0" t="0" r="r" b="b"/>
                <a:pathLst>
                  <a:path w="814" h="1534">
                    <a:moveTo>
                      <a:pt x="0" y="0"/>
                    </a:moveTo>
                    <a:lnTo>
                      <a:pt x="5" y="15"/>
                    </a:lnTo>
                    <a:lnTo>
                      <a:pt x="10" y="31"/>
                    </a:lnTo>
                    <a:lnTo>
                      <a:pt x="15" y="52"/>
                    </a:lnTo>
                    <a:lnTo>
                      <a:pt x="21" y="67"/>
                    </a:lnTo>
                    <a:lnTo>
                      <a:pt x="31" y="83"/>
                    </a:lnTo>
                    <a:lnTo>
                      <a:pt x="36" y="104"/>
                    </a:lnTo>
                    <a:lnTo>
                      <a:pt x="41" y="119"/>
                    </a:lnTo>
                    <a:lnTo>
                      <a:pt x="46" y="135"/>
                    </a:lnTo>
                    <a:lnTo>
                      <a:pt x="57" y="155"/>
                    </a:lnTo>
                    <a:lnTo>
                      <a:pt x="62" y="171"/>
                    </a:lnTo>
                    <a:lnTo>
                      <a:pt x="67" y="186"/>
                    </a:lnTo>
                    <a:lnTo>
                      <a:pt x="72" y="202"/>
                    </a:lnTo>
                    <a:lnTo>
                      <a:pt x="83" y="223"/>
                    </a:lnTo>
                    <a:lnTo>
                      <a:pt x="88" y="238"/>
                    </a:lnTo>
                    <a:lnTo>
                      <a:pt x="93" y="254"/>
                    </a:lnTo>
                    <a:lnTo>
                      <a:pt x="98" y="269"/>
                    </a:lnTo>
                    <a:lnTo>
                      <a:pt x="109" y="285"/>
                    </a:lnTo>
                    <a:lnTo>
                      <a:pt x="114" y="301"/>
                    </a:lnTo>
                    <a:lnTo>
                      <a:pt x="119" y="316"/>
                    </a:lnTo>
                    <a:lnTo>
                      <a:pt x="124" y="332"/>
                    </a:lnTo>
                    <a:lnTo>
                      <a:pt x="135" y="352"/>
                    </a:lnTo>
                    <a:lnTo>
                      <a:pt x="140" y="368"/>
                    </a:lnTo>
                    <a:lnTo>
                      <a:pt x="145" y="383"/>
                    </a:lnTo>
                    <a:lnTo>
                      <a:pt x="150" y="399"/>
                    </a:lnTo>
                    <a:lnTo>
                      <a:pt x="161" y="415"/>
                    </a:lnTo>
                    <a:lnTo>
                      <a:pt x="166" y="430"/>
                    </a:lnTo>
                    <a:lnTo>
                      <a:pt x="171" y="446"/>
                    </a:lnTo>
                    <a:lnTo>
                      <a:pt x="176" y="461"/>
                    </a:lnTo>
                    <a:lnTo>
                      <a:pt x="181" y="472"/>
                    </a:lnTo>
                    <a:lnTo>
                      <a:pt x="192" y="487"/>
                    </a:lnTo>
                    <a:lnTo>
                      <a:pt x="197" y="503"/>
                    </a:lnTo>
                    <a:lnTo>
                      <a:pt x="202" y="518"/>
                    </a:lnTo>
                    <a:lnTo>
                      <a:pt x="207" y="534"/>
                    </a:lnTo>
                    <a:lnTo>
                      <a:pt x="218" y="549"/>
                    </a:lnTo>
                    <a:lnTo>
                      <a:pt x="223" y="565"/>
                    </a:lnTo>
                    <a:lnTo>
                      <a:pt x="228" y="580"/>
                    </a:lnTo>
                    <a:lnTo>
                      <a:pt x="233" y="591"/>
                    </a:lnTo>
                    <a:lnTo>
                      <a:pt x="243" y="606"/>
                    </a:lnTo>
                    <a:lnTo>
                      <a:pt x="249" y="622"/>
                    </a:lnTo>
                    <a:lnTo>
                      <a:pt x="254" y="637"/>
                    </a:lnTo>
                    <a:lnTo>
                      <a:pt x="259" y="648"/>
                    </a:lnTo>
                    <a:lnTo>
                      <a:pt x="269" y="663"/>
                    </a:lnTo>
                    <a:lnTo>
                      <a:pt x="275" y="679"/>
                    </a:lnTo>
                    <a:lnTo>
                      <a:pt x="280" y="689"/>
                    </a:lnTo>
                    <a:lnTo>
                      <a:pt x="285" y="705"/>
                    </a:lnTo>
                    <a:lnTo>
                      <a:pt x="295" y="720"/>
                    </a:lnTo>
                    <a:lnTo>
                      <a:pt x="300" y="731"/>
                    </a:lnTo>
                    <a:lnTo>
                      <a:pt x="306" y="746"/>
                    </a:lnTo>
                    <a:lnTo>
                      <a:pt x="311" y="762"/>
                    </a:lnTo>
                    <a:lnTo>
                      <a:pt x="321" y="772"/>
                    </a:lnTo>
                    <a:lnTo>
                      <a:pt x="326" y="788"/>
                    </a:lnTo>
                    <a:lnTo>
                      <a:pt x="332" y="798"/>
                    </a:lnTo>
                    <a:lnTo>
                      <a:pt x="337" y="814"/>
                    </a:lnTo>
                    <a:lnTo>
                      <a:pt x="342" y="824"/>
                    </a:lnTo>
                    <a:lnTo>
                      <a:pt x="352" y="840"/>
                    </a:lnTo>
                    <a:lnTo>
                      <a:pt x="358" y="850"/>
                    </a:lnTo>
                    <a:lnTo>
                      <a:pt x="363" y="865"/>
                    </a:lnTo>
                    <a:lnTo>
                      <a:pt x="368" y="876"/>
                    </a:lnTo>
                    <a:lnTo>
                      <a:pt x="378" y="891"/>
                    </a:lnTo>
                    <a:lnTo>
                      <a:pt x="383" y="902"/>
                    </a:lnTo>
                    <a:lnTo>
                      <a:pt x="389" y="912"/>
                    </a:lnTo>
                    <a:lnTo>
                      <a:pt x="394" y="928"/>
                    </a:lnTo>
                    <a:lnTo>
                      <a:pt x="404" y="938"/>
                    </a:lnTo>
                    <a:lnTo>
                      <a:pt x="409" y="948"/>
                    </a:lnTo>
                    <a:lnTo>
                      <a:pt x="415" y="964"/>
                    </a:lnTo>
                    <a:lnTo>
                      <a:pt x="420" y="974"/>
                    </a:lnTo>
                    <a:lnTo>
                      <a:pt x="430" y="985"/>
                    </a:lnTo>
                    <a:lnTo>
                      <a:pt x="435" y="1000"/>
                    </a:lnTo>
                    <a:lnTo>
                      <a:pt x="440" y="1011"/>
                    </a:lnTo>
                    <a:lnTo>
                      <a:pt x="446" y="1021"/>
                    </a:lnTo>
                    <a:lnTo>
                      <a:pt x="456" y="1031"/>
                    </a:lnTo>
                    <a:lnTo>
                      <a:pt x="461" y="1042"/>
                    </a:lnTo>
                    <a:lnTo>
                      <a:pt x="466" y="1057"/>
                    </a:lnTo>
                    <a:lnTo>
                      <a:pt x="472" y="1068"/>
                    </a:lnTo>
                    <a:lnTo>
                      <a:pt x="482" y="1078"/>
                    </a:lnTo>
                    <a:lnTo>
                      <a:pt x="487" y="1088"/>
                    </a:lnTo>
                    <a:lnTo>
                      <a:pt x="492" y="1099"/>
                    </a:lnTo>
                    <a:lnTo>
                      <a:pt x="497" y="1109"/>
                    </a:lnTo>
                    <a:lnTo>
                      <a:pt x="503" y="1119"/>
                    </a:lnTo>
                    <a:lnTo>
                      <a:pt x="513" y="1130"/>
                    </a:lnTo>
                    <a:lnTo>
                      <a:pt x="518" y="1140"/>
                    </a:lnTo>
                    <a:lnTo>
                      <a:pt x="523" y="1151"/>
                    </a:lnTo>
                    <a:lnTo>
                      <a:pt x="529" y="1161"/>
                    </a:lnTo>
                    <a:lnTo>
                      <a:pt x="539" y="1171"/>
                    </a:lnTo>
                    <a:lnTo>
                      <a:pt x="544" y="1182"/>
                    </a:lnTo>
                    <a:lnTo>
                      <a:pt x="549" y="1192"/>
                    </a:lnTo>
                    <a:lnTo>
                      <a:pt x="555" y="1202"/>
                    </a:lnTo>
                    <a:lnTo>
                      <a:pt x="565" y="1213"/>
                    </a:lnTo>
                    <a:lnTo>
                      <a:pt x="570" y="1223"/>
                    </a:lnTo>
                    <a:lnTo>
                      <a:pt x="575" y="1234"/>
                    </a:lnTo>
                    <a:lnTo>
                      <a:pt x="580" y="1244"/>
                    </a:lnTo>
                    <a:lnTo>
                      <a:pt x="591" y="1254"/>
                    </a:lnTo>
                    <a:lnTo>
                      <a:pt x="596" y="1265"/>
                    </a:lnTo>
                    <a:lnTo>
                      <a:pt x="601" y="1270"/>
                    </a:lnTo>
                    <a:lnTo>
                      <a:pt x="606" y="1280"/>
                    </a:lnTo>
                    <a:lnTo>
                      <a:pt x="617" y="1291"/>
                    </a:lnTo>
                    <a:lnTo>
                      <a:pt x="622" y="1301"/>
                    </a:lnTo>
                    <a:lnTo>
                      <a:pt x="627" y="1311"/>
                    </a:lnTo>
                    <a:lnTo>
                      <a:pt x="632" y="1316"/>
                    </a:lnTo>
                    <a:lnTo>
                      <a:pt x="643" y="1327"/>
                    </a:lnTo>
                    <a:lnTo>
                      <a:pt x="648" y="1337"/>
                    </a:lnTo>
                    <a:lnTo>
                      <a:pt x="653" y="1342"/>
                    </a:lnTo>
                    <a:lnTo>
                      <a:pt x="658" y="1353"/>
                    </a:lnTo>
                    <a:lnTo>
                      <a:pt x="663" y="1363"/>
                    </a:lnTo>
                    <a:lnTo>
                      <a:pt x="674" y="1368"/>
                    </a:lnTo>
                    <a:lnTo>
                      <a:pt x="679" y="1379"/>
                    </a:lnTo>
                    <a:lnTo>
                      <a:pt x="684" y="1389"/>
                    </a:lnTo>
                    <a:lnTo>
                      <a:pt x="689" y="1394"/>
                    </a:lnTo>
                    <a:lnTo>
                      <a:pt x="700" y="1405"/>
                    </a:lnTo>
                    <a:lnTo>
                      <a:pt x="705" y="1410"/>
                    </a:lnTo>
                    <a:lnTo>
                      <a:pt x="710" y="1420"/>
                    </a:lnTo>
                    <a:lnTo>
                      <a:pt x="715" y="1425"/>
                    </a:lnTo>
                    <a:lnTo>
                      <a:pt x="726" y="1436"/>
                    </a:lnTo>
                    <a:lnTo>
                      <a:pt x="731" y="1441"/>
                    </a:lnTo>
                    <a:lnTo>
                      <a:pt x="736" y="1451"/>
                    </a:lnTo>
                    <a:lnTo>
                      <a:pt x="741" y="1456"/>
                    </a:lnTo>
                    <a:lnTo>
                      <a:pt x="752" y="1467"/>
                    </a:lnTo>
                    <a:lnTo>
                      <a:pt x="757" y="1472"/>
                    </a:lnTo>
                    <a:lnTo>
                      <a:pt x="762" y="1477"/>
                    </a:lnTo>
                    <a:lnTo>
                      <a:pt x="767" y="1487"/>
                    </a:lnTo>
                    <a:lnTo>
                      <a:pt x="777" y="1493"/>
                    </a:lnTo>
                    <a:lnTo>
                      <a:pt x="783" y="1498"/>
                    </a:lnTo>
                    <a:lnTo>
                      <a:pt x="788" y="1508"/>
                    </a:lnTo>
                    <a:lnTo>
                      <a:pt x="793" y="1513"/>
                    </a:lnTo>
                    <a:lnTo>
                      <a:pt x="803" y="1519"/>
                    </a:lnTo>
                    <a:lnTo>
                      <a:pt x="809" y="1529"/>
                    </a:lnTo>
                    <a:lnTo>
                      <a:pt x="814" y="1534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4326" name="Freeform 70"/>
              <p:cNvSpPr>
                <a:spLocks/>
              </p:cNvSpPr>
              <p:nvPr/>
            </p:nvSpPr>
            <p:spPr bwMode="auto">
              <a:xfrm>
                <a:off x="2942" y="2773"/>
                <a:ext cx="814" cy="239"/>
              </a:xfrm>
              <a:custGeom>
                <a:avLst/>
                <a:gdLst/>
                <a:ahLst/>
                <a:cxnLst>
                  <a:cxn ang="0">
                    <a:pos x="10" y="11"/>
                  </a:cxn>
                  <a:cxn ang="0">
                    <a:pos x="31" y="31"/>
                  </a:cxn>
                  <a:cxn ang="0">
                    <a:pos x="52" y="47"/>
                  </a:cxn>
                  <a:cxn ang="0">
                    <a:pos x="72" y="68"/>
                  </a:cxn>
                  <a:cxn ang="0">
                    <a:pos x="88" y="83"/>
                  </a:cxn>
                  <a:cxn ang="0">
                    <a:pos x="109" y="99"/>
                  </a:cxn>
                  <a:cxn ang="0">
                    <a:pos x="129" y="109"/>
                  </a:cxn>
                  <a:cxn ang="0">
                    <a:pos x="150" y="125"/>
                  </a:cxn>
                  <a:cxn ang="0">
                    <a:pos x="166" y="140"/>
                  </a:cxn>
                  <a:cxn ang="0">
                    <a:pos x="186" y="150"/>
                  </a:cxn>
                  <a:cxn ang="0">
                    <a:pos x="207" y="161"/>
                  </a:cxn>
                  <a:cxn ang="0">
                    <a:pos x="223" y="171"/>
                  </a:cxn>
                  <a:cxn ang="0">
                    <a:pos x="243" y="182"/>
                  </a:cxn>
                  <a:cxn ang="0">
                    <a:pos x="264" y="192"/>
                  </a:cxn>
                  <a:cxn ang="0">
                    <a:pos x="285" y="197"/>
                  </a:cxn>
                  <a:cxn ang="0">
                    <a:pos x="300" y="207"/>
                  </a:cxn>
                  <a:cxn ang="0">
                    <a:pos x="321" y="213"/>
                  </a:cxn>
                  <a:cxn ang="0">
                    <a:pos x="342" y="218"/>
                  </a:cxn>
                  <a:cxn ang="0">
                    <a:pos x="357" y="223"/>
                  </a:cxn>
                  <a:cxn ang="0">
                    <a:pos x="378" y="228"/>
                  </a:cxn>
                  <a:cxn ang="0">
                    <a:pos x="399" y="228"/>
                  </a:cxn>
                  <a:cxn ang="0">
                    <a:pos x="420" y="233"/>
                  </a:cxn>
                  <a:cxn ang="0">
                    <a:pos x="435" y="233"/>
                  </a:cxn>
                  <a:cxn ang="0">
                    <a:pos x="456" y="233"/>
                  </a:cxn>
                  <a:cxn ang="0">
                    <a:pos x="477" y="233"/>
                  </a:cxn>
                  <a:cxn ang="0">
                    <a:pos x="492" y="233"/>
                  </a:cxn>
                  <a:cxn ang="0">
                    <a:pos x="513" y="233"/>
                  </a:cxn>
                  <a:cxn ang="0">
                    <a:pos x="534" y="233"/>
                  </a:cxn>
                  <a:cxn ang="0">
                    <a:pos x="554" y="228"/>
                  </a:cxn>
                  <a:cxn ang="0">
                    <a:pos x="570" y="223"/>
                  </a:cxn>
                  <a:cxn ang="0">
                    <a:pos x="591" y="218"/>
                  </a:cxn>
                  <a:cxn ang="0">
                    <a:pos x="611" y="213"/>
                  </a:cxn>
                  <a:cxn ang="0">
                    <a:pos x="632" y="207"/>
                  </a:cxn>
                  <a:cxn ang="0">
                    <a:pos x="648" y="202"/>
                  </a:cxn>
                  <a:cxn ang="0">
                    <a:pos x="668" y="192"/>
                  </a:cxn>
                  <a:cxn ang="0">
                    <a:pos x="689" y="187"/>
                  </a:cxn>
                  <a:cxn ang="0">
                    <a:pos x="705" y="176"/>
                  </a:cxn>
                  <a:cxn ang="0">
                    <a:pos x="725" y="166"/>
                  </a:cxn>
                  <a:cxn ang="0">
                    <a:pos x="746" y="156"/>
                  </a:cxn>
                  <a:cxn ang="0">
                    <a:pos x="767" y="140"/>
                  </a:cxn>
                  <a:cxn ang="0">
                    <a:pos x="782" y="130"/>
                  </a:cxn>
                  <a:cxn ang="0">
                    <a:pos x="803" y="114"/>
                  </a:cxn>
                </a:cxnLst>
                <a:rect l="0" t="0" r="r" b="b"/>
                <a:pathLst>
                  <a:path w="814" h="239">
                    <a:moveTo>
                      <a:pt x="0" y="0"/>
                    </a:moveTo>
                    <a:lnTo>
                      <a:pt x="5" y="5"/>
                    </a:lnTo>
                    <a:lnTo>
                      <a:pt x="10" y="11"/>
                    </a:lnTo>
                    <a:lnTo>
                      <a:pt x="20" y="21"/>
                    </a:lnTo>
                    <a:lnTo>
                      <a:pt x="26" y="26"/>
                    </a:lnTo>
                    <a:lnTo>
                      <a:pt x="31" y="31"/>
                    </a:lnTo>
                    <a:lnTo>
                      <a:pt x="36" y="36"/>
                    </a:lnTo>
                    <a:lnTo>
                      <a:pt x="46" y="42"/>
                    </a:lnTo>
                    <a:lnTo>
                      <a:pt x="52" y="47"/>
                    </a:lnTo>
                    <a:lnTo>
                      <a:pt x="57" y="52"/>
                    </a:lnTo>
                    <a:lnTo>
                      <a:pt x="62" y="62"/>
                    </a:lnTo>
                    <a:lnTo>
                      <a:pt x="72" y="68"/>
                    </a:lnTo>
                    <a:lnTo>
                      <a:pt x="77" y="73"/>
                    </a:lnTo>
                    <a:lnTo>
                      <a:pt x="83" y="78"/>
                    </a:lnTo>
                    <a:lnTo>
                      <a:pt x="88" y="83"/>
                    </a:lnTo>
                    <a:lnTo>
                      <a:pt x="98" y="88"/>
                    </a:lnTo>
                    <a:lnTo>
                      <a:pt x="103" y="93"/>
                    </a:lnTo>
                    <a:lnTo>
                      <a:pt x="109" y="99"/>
                    </a:lnTo>
                    <a:lnTo>
                      <a:pt x="114" y="104"/>
                    </a:lnTo>
                    <a:lnTo>
                      <a:pt x="124" y="109"/>
                    </a:lnTo>
                    <a:lnTo>
                      <a:pt x="129" y="109"/>
                    </a:lnTo>
                    <a:lnTo>
                      <a:pt x="134" y="114"/>
                    </a:lnTo>
                    <a:lnTo>
                      <a:pt x="140" y="119"/>
                    </a:lnTo>
                    <a:lnTo>
                      <a:pt x="150" y="125"/>
                    </a:lnTo>
                    <a:lnTo>
                      <a:pt x="155" y="130"/>
                    </a:lnTo>
                    <a:lnTo>
                      <a:pt x="160" y="135"/>
                    </a:lnTo>
                    <a:lnTo>
                      <a:pt x="166" y="140"/>
                    </a:lnTo>
                    <a:lnTo>
                      <a:pt x="171" y="140"/>
                    </a:lnTo>
                    <a:lnTo>
                      <a:pt x="181" y="145"/>
                    </a:lnTo>
                    <a:lnTo>
                      <a:pt x="186" y="150"/>
                    </a:lnTo>
                    <a:lnTo>
                      <a:pt x="192" y="156"/>
                    </a:lnTo>
                    <a:lnTo>
                      <a:pt x="197" y="156"/>
                    </a:lnTo>
                    <a:lnTo>
                      <a:pt x="207" y="161"/>
                    </a:lnTo>
                    <a:lnTo>
                      <a:pt x="212" y="166"/>
                    </a:lnTo>
                    <a:lnTo>
                      <a:pt x="217" y="166"/>
                    </a:lnTo>
                    <a:lnTo>
                      <a:pt x="223" y="171"/>
                    </a:lnTo>
                    <a:lnTo>
                      <a:pt x="233" y="176"/>
                    </a:lnTo>
                    <a:lnTo>
                      <a:pt x="238" y="176"/>
                    </a:lnTo>
                    <a:lnTo>
                      <a:pt x="243" y="182"/>
                    </a:lnTo>
                    <a:lnTo>
                      <a:pt x="249" y="187"/>
                    </a:lnTo>
                    <a:lnTo>
                      <a:pt x="259" y="187"/>
                    </a:lnTo>
                    <a:lnTo>
                      <a:pt x="264" y="192"/>
                    </a:lnTo>
                    <a:lnTo>
                      <a:pt x="269" y="192"/>
                    </a:lnTo>
                    <a:lnTo>
                      <a:pt x="274" y="197"/>
                    </a:lnTo>
                    <a:lnTo>
                      <a:pt x="285" y="197"/>
                    </a:lnTo>
                    <a:lnTo>
                      <a:pt x="290" y="202"/>
                    </a:lnTo>
                    <a:lnTo>
                      <a:pt x="295" y="202"/>
                    </a:lnTo>
                    <a:lnTo>
                      <a:pt x="300" y="207"/>
                    </a:lnTo>
                    <a:lnTo>
                      <a:pt x="311" y="207"/>
                    </a:lnTo>
                    <a:lnTo>
                      <a:pt x="316" y="213"/>
                    </a:lnTo>
                    <a:lnTo>
                      <a:pt x="321" y="213"/>
                    </a:lnTo>
                    <a:lnTo>
                      <a:pt x="326" y="213"/>
                    </a:lnTo>
                    <a:lnTo>
                      <a:pt x="331" y="218"/>
                    </a:lnTo>
                    <a:lnTo>
                      <a:pt x="342" y="218"/>
                    </a:lnTo>
                    <a:lnTo>
                      <a:pt x="347" y="218"/>
                    </a:lnTo>
                    <a:lnTo>
                      <a:pt x="352" y="223"/>
                    </a:lnTo>
                    <a:lnTo>
                      <a:pt x="357" y="223"/>
                    </a:lnTo>
                    <a:lnTo>
                      <a:pt x="368" y="223"/>
                    </a:lnTo>
                    <a:lnTo>
                      <a:pt x="373" y="228"/>
                    </a:lnTo>
                    <a:lnTo>
                      <a:pt x="378" y="228"/>
                    </a:lnTo>
                    <a:lnTo>
                      <a:pt x="383" y="228"/>
                    </a:lnTo>
                    <a:lnTo>
                      <a:pt x="394" y="228"/>
                    </a:lnTo>
                    <a:lnTo>
                      <a:pt x="399" y="228"/>
                    </a:lnTo>
                    <a:lnTo>
                      <a:pt x="404" y="233"/>
                    </a:lnTo>
                    <a:lnTo>
                      <a:pt x="409" y="233"/>
                    </a:lnTo>
                    <a:lnTo>
                      <a:pt x="420" y="233"/>
                    </a:lnTo>
                    <a:lnTo>
                      <a:pt x="425" y="233"/>
                    </a:lnTo>
                    <a:lnTo>
                      <a:pt x="430" y="233"/>
                    </a:lnTo>
                    <a:lnTo>
                      <a:pt x="435" y="233"/>
                    </a:lnTo>
                    <a:lnTo>
                      <a:pt x="446" y="233"/>
                    </a:lnTo>
                    <a:lnTo>
                      <a:pt x="451" y="233"/>
                    </a:lnTo>
                    <a:lnTo>
                      <a:pt x="456" y="233"/>
                    </a:lnTo>
                    <a:lnTo>
                      <a:pt x="461" y="233"/>
                    </a:lnTo>
                    <a:lnTo>
                      <a:pt x="471" y="239"/>
                    </a:lnTo>
                    <a:lnTo>
                      <a:pt x="477" y="233"/>
                    </a:lnTo>
                    <a:lnTo>
                      <a:pt x="482" y="233"/>
                    </a:lnTo>
                    <a:lnTo>
                      <a:pt x="487" y="233"/>
                    </a:lnTo>
                    <a:lnTo>
                      <a:pt x="492" y="233"/>
                    </a:lnTo>
                    <a:lnTo>
                      <a:pt x="503" y="233"/>
                    </a:lnTo>
                    <a:lnTo>
                      <a:pt x="508" y="233"/>
                    </a:lnTo>
                    <a:lnTo>
                      <a:pt x="513" y="233"/>
                    </a:lnTo>
                    <a:lnTo>
                      <a:pt x="518" y="233"/>
                    </a:lnTo>
                    <a:lnTo>
                      <a:pt x="528" y="233"/>
                    </a:lnTo>
                    <a:lnTo>
                      <a:pt x="534" y="233"/>
                    </a:lnTo>
                    <a:lnTo>
                      <a:pt x="539" y="228"/>
                    </a:lnTo>
                    <a:lnTo>
                      <a:pt x="544" y="228"/>
                    </a:lnTo>
                    <a:lnTo>
                      <a:pt x="554" y="228"/>
                    </a:lnTo>
                    <a:lnTo>
                      <a:pt x="560" y="228"/>
                    </a:lnTo>
                    <a:lnTo>
                      <a:pt x="565" y="228"/>
                    </a:lnTo>
                    <a:lnTo>
                      <a:pt x="570" y="223"/>
                    </a:lnTo>
                    <a:lnTo>
                      <a:pt x="580" y="223"/>
                    </a:lnTo>
                    <a:lnTo>
                      <a:pt x="585" y="223"/>
                    </a:lnTo>
                    <a:lnTo>
                      <a:pt x="591" y="218"/>
                    </a:lnTo>
                    <a:lnTo>
                      <a:pt x="596" y="218"/>
                    </a:lnTo>
                    <a:lnTo>
                      <a:pt x="606" y="218"/>
                    </a:lnTo>
                    <a:lnTo>
                      <a:pt x="611" y="213"/>
                    </a:lnTo>
                    <a:lnTo>
                      <a:pt x="617" y="213"/>
                    </a:lnTo>
                    <a:lnTo>
                      <a:pt x="622" y="213"/>
                    </a:lnTo>
                    <a:lnTo>
                      <a:pt x="632" y="207"/>
                    </a:lnTo>
                    <a:lnTo>
                      <a:pt x="637" y="207"/>
                    </a:lnTo>
                    <a:lnTo>
                      <a:pt x="643" y="202"/>
                    </a:lnTo>
                    <a:lnTo>
                      <a:pt x="648" y="202"/>
                    </a:lnTo>
                    <a:lnTo>
                      <a:pt x="653" y="197"/>
                    </a:lnTo>
                    <a:lnTo>
                      <a:pt x="663" y="197"/>
                    </a:lnTo>
                    <a:lnTo>
                      <a:pt x="668" y="192"/>
                    </a:lnTo>
                    <a:lnTo>
                      <a:pt x="674" y="192"/>
                    </a:lnTo>
                    <a:lnTo>
                      <a:pt x="679" y="187"/>
                    </a:lnTo>
                    <a:lnTo>
                      <a:pt x="689" y="187"/>
                    </a:lnTo>
                    <a:lnTo>
                      <a:pt x="694" y="182"/>
                    </a:lnTo>
                    <a:lnTo>
                      <a:pt x="700" y="176"/>
                    </a:lnTo>
                    <a:lnTo>
                      <a:pt x="705" y="176"/>
                    </a:lnTo>
                    <a:lnTo>
                      <a:pt x="715" y="171"/>
                    </a:lnTo>
                    <a:lnTo>
                      <a:pt x="720" y="166"/>
                    </a:lnTo>
                    <a:lnTo>
                      <a:pt x="725" y="166"/>
                    </a:lnTo>
                    <a:lnTo>
                      <a:pt x="731" y="161"/>
                    </a:lnTo>
                    <a:lnTo>
                      <a:pt x="741" y="156"/>
                    </a:lnTo>
                    <a:lnTo>
                      <a:pt x="746" y="156"/>
                    </a:lnTo>
                    <a:lnTo>
                      <a:pt x="751" y="150"/>
                    </a:lnTo>
                    <a:lnTo>
                      <a:pt x="757" y="145"/>
                    </a:lnTo>
                    <a:lnTo>
                      <a:pt x="767" y="140"/>
                    </a:lnTo>
                    <a:lnTo>
                      <a:pt x="772" y="140"/>
                    </a:lnTo>
                    <a:lnTo>
                      <a:pt x="777" y="135"/>
                    </a:lnTo>
                    <a:lnTo>
                      <a:pt x="782" y="130"/>
                    </a:lnTo>
                    <a:lnTo>
                      <a:pt x="793" y="125"/>
                    </a:lnTo>
                    <a:lnTo>
                      <a:pt x="798" y="119"/>
                    </a:lnTo>
                    <a:lnTo>
                      <a:pt x="803" y="114"/>
                    </a:lnTo>
                    <a:lnTo>
                      <a:pt x="808" y="109"/>
                    </a:lnTo>
                    <a:lnTo>
                      <a:pt x="814" y="109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4327" name="Freeform 71"/>
              <p:cNvSpPr>
                <a:spLocks/>
              </p:cNvSpPr>
              <p:nvPr/>
            </p:nvSpPr>
            <p:spPr bwMode="auto">
              <a:xfrm>
                <a:off x="3756" y="2566"/>
                <a:ext cx="300" cy="316"/>
              </a:xfrm>
              <a:custGeom>
                <a:avLst/>
                <a:gdLst/>
                <a:ahLst/>
                <a:cxnLst>
                  <a:cxn ang="0">
                    <a:pos x="0" y="316"/>
                  </a:cxn>
                  <a:cxn ang="0">
                    <a:pos x="10" y="311"/>
                  </a:cxn>
                  <a:cxn ang="0">
                    <a:pos x="15" y="306"/>
                  </a:cxn>
                  <a:cxn ang="0">
                    <a:pos x="20" y="300"/>
                  </a:cxn>
                  <a:cxn ang="0">
                    <a:pos x="26" y="295"/>
                  </a:cxn>
                  <a:cxn ang="0">
                    <a:pos x="36" y="290"/>
                  </a:cxn>
                  <a:cxn ang="0">
                    <a:pos x="41" y="285"/>
                  </a:cxn>
                  <a:cxn ang="0">
                    <a:pos x="46" y="280"/>
                  </a:cxn>
                  <a:cxn ang="0">
                    <a:pos x="51" y="275"/>
                  </a:cxn>
                  <a:cxn ang="0">
                    <a:pos x="62" y="269"/>
                  </a:cxn>
                  <a:cxn ang="0">
                    <a:pos x="67" y="259"/>
                  </a:cxn>
                  <a:cxn ang="0">
                    <a:pos x="72" y="254"/>
                  </a:cxn>
                  <a:cxn ang="0">
                    <a:pos x="77" y="249"/>
                  </a:cxn>
                  <a:cxn ang="0">
                    <a:pos x="88" y="243"/>
                  </a:cxn>
                  <a:cxn ang="0">
                    <a:pos x="93" y="238"/>
                  </a:cxn>
                  <a:cxn ang="0">
                    <a:pos x="98" y="233"/>
                  </a:cxn>
                  <a:cxn ang="0">
                    <a:pos x="103" y="228"/>
                  </a:cxn>
                  <a:cxn ang="0">
                    <a:pos x="114" y="218"/>
                  </a:cxn>
                  <a:cxn ang="0">
                    <a:pos x="119" y="212"/>
                  </a:cxn>
                  <a:cxn ang="0">
                    <a:pos x="124" y="207"/>
                  </a:cxn>
                  <a:cxn ang="0">
                    <a:pos x="129" y="202"/>
                  </a:cxn>
                  <a:cxn ang="0">
                    <a:pos x="140" y="192"/>
                  </a:cxn>
                  <a:cxn ang="0">
                    <a:pos x="145" y="186"/>
                  </a:cxn>
                  <a:cxn ang="0">
                    <a:pos x="150" y="181"/>
                  </a:cxn>
                  <a:cxn ang="0">
                    <a:pos x="155" y="171"/>
                  </a:cxn>
                  <a:cxn ang="0">
                    <a:pos x="160" y="166"/>
                  </a:cxn>
                  <a:cxn ang="0">
                    <a:pos x="171" y="160"/>
                  </a:cxn>
                  <a:cxn ang="0">
                    <a:pos x="176" y="150"/>
                  </a:cxn>
                  <a:cxn ang="0">
                    <a:pos x="181" y="145"/>
                  </a:cxn>
                  <a:cxn ang="0">
                    <a:pos x="186" y="140"/>
                  </a:cxn>
                  <a:cxn ang="0">
                    <a:pos x="197" y="129"/>
                  </a:cxn>
                  <a:cxn ang="0">
                    <a:pos x="202" y="124"/>
                  </a:cxn>
                  <a:cxn ang="0">
                    <a:pos x="207" y="114"/>
                  </a:cxn>
                  <a:cxn ang="0">
                    <a:pos x="212" y="109"/>
                  </a:cxn>
                  <a:cxn ang="0">
                    <a:pos x="222" y="98"/>
                  </a:cxn>
                  <a:cxn ang="0">
                    <a:pos x="228" y="93"/>
                  </a:cxn>
                  <a:cxn ang="0">
                    <a:pos x="233" y="83"/>
                  </a:cxn>
                  <a:cxn ang="0">
                    <a:pos x="238" y="78"/>
                  </a:cxn>
                  <a:cxn ang="0">
                    <a:pos x="248" y="67"/>
                  </a:cxn>
                  <a:cxn ang="0">
                    <a:pos x="254" y="62"/>
                  </a:cxn>
                  <a:cxn ang="0">
                    <a:pos x="259" y="52"/>
                  </a:cxn>
                  <a:cxn ang="0">
                    <a:pos x="264" y="41"/>
                  </a:cxn>
                  <a:cxn ang="0">
                    <a:pos x="274" y="36"/>
                  </a:cxn>
                  <a:cxn ang="0">
                    <a:pos x="280" y="26"/>
                  </a:cxn>
                  <a:cxn ang="0">
                    <a:pos x="285" y="15"/>
                  </a:cxn>
                  <a:cxn ang="0">
                    <a:pos x="290" y="10"/>
                  </a:cxn>
                  <a:cxn ang="0">
                    <a:pos x="300" y="0"/>
                  </a:cxn>
                </a:cxnLst>
                <a:rect l="0" t="0" r="r" b="b"/>
                <a:pathLst>
                  <a:path w="300" h="316">
                    <a:moveTo>
                      <a:pt x="0" y="316"/>
                    </a:moveTo>
                    <a:lnTo>
                      <a:pt x="10" y="311"/>
                    </a:lnTo>
                    <a:lnTo>
                      <a:pt x="15" y="306"/>
                    </a:lnTo>
                    <a:lnTo>
                      <a:pt x="20" y="300"/>
                    </a:lnTo>
                    <a:lnTo>
                      <a:pt x="26" y="295"/>
                    </a:lnTo>
                    <a:lnTo>
                      <a:pt x="36" y="290"/>
                    </a:lnTo>
                    <a:lnTo>
                      <a:pt x="41" y="285"/>
                    </a:lnTo>
                    <a:lnTo>
                      <a:pt x="46" y="280"/>
                    </a:lnTo>
                    <a:lnTo>
                      <a:pt x="51" y="275"/>
                    </a:lnTo>
                    <a:lnTo>
                      <a:pt x="62" y="269"/>
                    </a:lnTo>
                    <a:lnTo>
                      <a:pt x="67" y="259"/>
                    </a:lnTo>
                    <a:lnTo>
                      <a:pt x="72" y="254"/>
                    </a:lnTo>
                    <a:lnTo>
                      <a:pt x="77" y="249"/>
                    </a:lnTo>
                    <a:lnTo>
                      <a:pt x="88" y="243"/>
                    </a:lnTo>
                    <a:lnTo>
                      <a:pt x="93" y="238"/>
                    </a:lnTo>
                    <a:lnTo>
                      <a:pt x="98" y="233"/>
                    </a:lnTo>
                    <a:lnTo>
                      <a:pt x="103" y="228"/>
                    </a:lnTo>
                    <a:lnTo>
                      <a:pt x="114" y="218"/>
                    </a:lnTo>
                    <a:lnTo>
                      <a:pt x="119" y="212"/>
                    </a:lnTo>
                    <a:lnTo>
                      <a:pt x="124" y="207"/>
                    </a:lnTo>
                    <a:lnTo>
                      <a:pt x="129" y="202"/>
                    </a:lnTo>
                    <a:lnTo>
                      <a:pt x="140" y="192"/>
                    </a:lnTo>
                    <a:lnTo>
                      <a:pt x="145" y="186"/>
                    </a:lnTo>
                    <a:lnTo>
                      <a:pt x="150" y="181"/>
                    </a:lnTo>
                    <a:lnTo>
                      <a:pt x="155" y="171"/>
                    </a:lnTo>
                    <a:lnTo>
                      <a:pt x="160" y="166"/>
                    </a:lnTo>
                    <a:lnTo>
                      <a:pt x="171" y="160"/>
                    </a:lnTo>
                    <a:lnTo>
                      <a:pt x="176" y="150"/>
                    </a:lnTo>
                    <a:lnTo>
                      <a:pt x="181" y="145"/>
                    </a:lnTo>
                    <a:lnTo>
                      <a:pt x="186" y="140"/>
                    </a:lnTo>
                    <a:lnTo>
                      <a:pt x="197" y="129"/>
                    </a:lnTo>
                    <a:lnTo>
                      <a:pt x="202" y="124"/>
                    </a:lnTo>
                    <a:lnTo>
                      <a:pt x="207" y="114"/>
                    </a:lnTo>
                    <a:lnTo>
                      <a:pt x="212" y="109"/>
                    </a:lnTo>
                    <a:lnTo>
                      <a:pt x="222" y="98"/>
                    </a:lnTo>
                    <a:lnTo>
                      <a:pt x="228" y="93"/>
                    </a:lnTo>
                    <a:lnTo>
                      <a:pt x="233" y="83"/>
                    </a:lnTo>
                    <a:lnTo>
                      <a:pt x="238" y="78"/>
                    </a:lnTo>
                    <a:lnTo>
                      <a:pt x="248" y="67"/>
                    </a:lnTo>
                    <a:lnTo>
                      <a:pt x="254" y="62"/>
                    </a:lnTo>
                    <a:lnTo>
                      <a:pt x="259" y="52"/>
                    </a:lnTo>
                    <a:lnTo>
                      <a:pt x="264" y="41"/>
                    </a:lnTo>
                    <a:lnTo>
                      <a:pt x="274" y="36"/>
                    </a:lnTo>
                    <a:lnTo>
                      <a:pt x="280" y="26"/>
                    </a:lnTo>
                    <a:lnTo>
                      <a:pt x="285" y="15"/>
                    </a:lnTo>
                    <a:lnTo>
                      <a:pt x="290" y="10"/>
                    </a:lnTo>
                    <a:lnTo>
                      <a:pt x="300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5" name="Group 74"/>
            <p:cNvGrpSpPr>
              <a:grpSpLocks/>
            </p:cNvGrpSpPr>
            <p:nvPr/>
          </p:nvGrpSpPr>
          <p:grpSpPr bwMode="auto">
            <a:xfrm>
              <a:off x="2175615" y="2299633"/>
              <a:ext cx="3455987" cy="2714625"/>
              <a:chOff x="1879" y="1239"/>
              <a:chExt cx="2177" cy="1710"/>
            </a:xfrm>
          </p:grpSpPr>
          <p:sp>
            <p:nvSpPr>
              <p:cNvPr id="224331" name="Freeform 75"/>
              <p:cNvSpPr>
                <a:spLocks/>
              </p:cNvSpPr>
              <p:nvPr/>
            </p:nvSpPr>
            <p:spPr bwMode="auto">
              <a:xfrm>
                <a:off x="1879" y="1239"/>
                <a:ext cx="814" cy="1270"/>
              </a:xfrm>
              <a:custGeom>
                <a:avLst/>
                <a:gdLst/>
                <a:ahLst/>
                <a:cxnLst>
                  <a:cxn ang="0">
                    <a:pos x="10" y="26"/>
                  </a:cxn>
                  <a:cxn ang="0">
                    <a:pos x="26" y="78"/>
                  </a:cxn>
                  <a:cxn ang="0">
                    <a:pos x="47" y="129"/>
                  </a:cxn>
                  <a:cxn ang="0">
                    <a:pos x="67" y="176"/>
                  </a:cxn>
                  <a:cxn ang="0">
                    <a:pos x="88" y="223"/>
                  </a:cxn>
                  <a:cxn ang="0">
                    <a:pos x="104" y="269"/>
                  </a:cxn>
                  <a:cxn ang="0">
                    <a:pos x="124" y="311"/>
                  </a:cxn>
                  <a:cxn ang="0">
                    <a:pos x="145" y="358"/>
                  </a:cxn>
                  <a:cxn ang="0">
                    <a:pos x="161" y="399"/>
                  </a:cxn>
                  <a:cxn ang="0">
                    <a:pos x="181" y="440"/>
                  </a:cxn>
                  <a:cxn ang="0">
                    <a:pos x="202" y="477"/>
                  </a:cxn>
                  <a:cxn ang="0">
                    <a:pos x="223" y="518"/>
                  </a:cxn>
                  <a:cxn ang="0">
                    <a:pos x="238" y="554"/>
                  </a:cxn>
                  <a:cxn ang="0">
                    <a:pos x="259" y="591"/>
                  </a:cxn>
                  <a:cxn ang="0">
                    <a:pos x="280" y="622"/>
                  </a:cxn>
                  <a:cxn ang="0">
                    <a:pos x="295" y="658"/>
                  </a:cxn>
                  <a:cxn ang="0">
                    <a:pos x="316" y="689"/>
                  </a:cxn>
                  <a:cxn ang="0">
                    <a:pos x="337" y="720"/>
                  </a:cxn>
                  <a:cxn ang="0">
                    <a:pos x="358" y="751"/>
                  </a:cxn>
                  <a:cxn ang="0">
                    <a:pos x="373" y="783"/>
                  </a:cxn>
                  <a:cxn ang="0">
                    <a:pos x="394" y="814"/>
                  </a:cxn>
                  <a:cxn ang="0">
                    <a:pos x="415" y="840"/>
                  </a:cxn>
                  <a:cxn ang="0">
                    <a:pos x="430" y="871"/>
                  </a:cxn>
                  <a:cxn ang="0">
                    <a:pos x="451" y="897"/>
                  </a:cxn>
                  <a:cxn ang="0">
                    <a:pos x="472" y="923"/>
                  </a:cxn>
                  <a:cxn ang="0">
                    <a:pos x="492" y="948"/>
                  </a:cxn>
                  <a:cxn ang="0">
                    <a:pos x="508" y="969"/>
                  </a:cxn>
                  <a:cxn ang="0">
                    <a:pos x="529" y="995"/>
                  </a:cxn>
                  <a:cxn ang="0">
                    <a:pos x="549" y="1016"/>
                  </a:cxn>
                  <a:cxn ang="0">
                    <a:pos x="570" y="1042"/>
                  </a:cxn>
                  <a:cxn ang="0">
                    <a:pos x="586" y="1062"/>
                  </a:cxn>
                  <a:cxn ang="0">
                    <a:pos x="607" y="1083"/>
                  </a:cxn>
                  <a:cxn ang="0">
                    <a:pos x="627" y="1104"/>
                  </a:cxn>
                  <a:cxn ang="0">
                    <a:pos x="643" y="1119"/>
                  </a:cxn>
                  <a:cxn ang="0">
                    <a:pos x="664" y="1140"/>
                  </a:cxn>
                  <a:cxn ang="0">
                    <a:pos x="684" y="1161"/>
                  </a:cxn>
                  <a:cxn ang="0">
                    <a:pos x="705" y="1176"/>
                  </a:cxn>
                  <a:cxn ang="0">
                    <a:pos x="721" y="1197"/>
                  </a:cxn>
                  <a:cxn ang="0">
                    <a:pos x="741" y="1213"/>
                  </a:cxn>
                  <a:cxn ang="0">
                    <a:pos x="762" y="1228"/>
                  </a:cxn>
                  <a:cxn ang="0">
                    <a:pos x="778" y="1244"/>
                  </a:cxn>
                  <a:cxn ang="0">
                    <a:pos x="798" y="1259"/>
                  </a:cxn>
                </a:cxnLst>
                <a:rect l="0" t="0" r="r" b="b"/>
                <a:pathLst>
                  <a:path w="814" h="1270">
                    <a:moveTo>
                      <a:pt x="0" y="0"/>
                    </a:moveTo>
                    <a:lnTo>
                      <a:pt x="0" y="10"/>
                    </a:lnTo>
                    <a:lnTo>
                      <a:pt x="10" y="26"/>
                    </a:lnTo>
                    <a:lnTo>
                      <a:pt x="16" y="41"/>
                    </a:lnTo>
                    <a:lnTo>
                      <a:pt x="21" y="62"/>
                    </a:lnTo>
                    <a:lnTo>
                      <a:pt x="26" y="78"/>
                    </a:lnTo>
                    <a:lnTo>
                      <a:pt x="36" y="93"/>
                    </a:lnTo>
                    <a:lnTo>
                      <a:pt x="41" y="109"/>
                    </a:lnTo>
                    <a:lnTo>
                      <a:pt x="47" y="129"/>
                    </a:lnTo>
                    <a:lnTo>
                      <a:pt x="52" y="145"/>
                    </a:lnTo>
                    <a:lnTo>
                      <a:pt x="62" y="161"/>
                    </a:lnTo>
                    <a:lnTo>
                      <a:pt x="67" y="176"/>
                    </a:lnTo>
                    <a:lnTo>
                      <a:pt x="73" y="192"/>
                    </a:lnTo>
                    <a:lnTo>
                      <a:pt x="78" y="207"/>
                    </a:lnTo>
                    <a:lnTo>
                      <a:pt x="88" y="223"/>
                    </a:lnTo>
                    <a:lnTo>
                      <a:pt x="93" y="238"/>
                    </a:lnTo>
                    <a:lnTo>
                      <a:pt x="98" y="254"/>
                    </a:lnTo>
                    <a:lnTo>
                      <a:pt x="104" y="269"/>
                    </a:lnTo>
                    <a:lnTo>
                      <a:pt x="109" y="285"/>
                    </a:lnTo>
                    <a:lnTo>
                      <a:pt x="119" y="301"/>
                    </a:lnTo>
                    <a:lnTo>
                      <a:pt x="124" y="311"/>
                    </a:lnTo>
                    <a:lnTo>
                      <a:pt x="130" y="326"/>
                    </a:lnTo>
                    <a:lnTo>
                      <a:pt x="135" y="342"/>
                    </a:lnTo>
                    <a:lnTo>
                      <a:pt x="145" y="358"/>
                    </a:lnTo>
                    <a:lnTo>
                      <a:pt x="150" y="368"/>
                    </a:lnTo>
                    <a:lnTo>
                      <a:pt x="156" y="383"/>
                    </a:lnTo>
                    <a:lnTo>
                      <a:pt x="161" y="399"/>
                    </a:lnTo>
                    <a:lnTo>
                      <a:pt x="171" y="409"/>
                    </a:lnTo>
                    <a:lnTo>
                      <a:pt x="176" y="425"/>
                    </a:lnTo>
                    <a:lnTo>
                      <a:pt x="181" y="440"/>
                    </a:lnTo>
                    <a:lnTo>
                      <a:pt x="187" y="451"/>
                    </a:lnTo>
                    <a:lnTo>
                      <a:pt x="197" y="466"/>
                    </a:lnTo>
                    <a:lnTo>
                      <a:pt x="202" y="477"/>
                    </a:lnTo>
                    <a:lnTo>
                      <a:pt x="207" y="492"/>
                    </a:lnTo>
                    <a:lnTo>
                      <a:pt x="213" y="503"/>
                    </a:lnTo>
                    <a:lnTo>
                      <a:pt x="223" y="518"/>
                    </a:lnTo>
                    <a:lnTo>
                      <a:pt x="228" y="529"/>
                    </a:lnTo>
                    <a:lnTo>
                      <a:pt x="233" y="539"/>
                    </a:lnTo>
                    <a:lnTo>
                      <a:pt x="238" y="554"/>
                    </a:lnTo>
                    <a:lnTo>
                      <a:pt x="249" y="565"/>
                    </a:lnTo>
                    <a:lnTo>
                      <a:pt x="254" y="575"/>
                    </a:lnTo>
                    <a:lnTo>
                      <a:pt x="259" y="591"/>
                    </a:lnTo>
                    <a:lnTo>
                      <a:pt x="264" y="601"/>
                    </a:lnTo>
                    <a:lnTo>
                      <a:pt x="270" y="612"/>
                    </a:lnTo>
                    <a:lnTo>
                      <a:pt x="280" y="622"/>
                    </a:lnTo>
                    <a:lnTo>
                      <a:pt x="285" y="637"/>
                    </a:lnTo>
                    <a:lnTo>
                      <a:pt x="290" y="648"/>
                    </a:lnTo>
                    <a:lnTo>
                      <a:pt x="295" y="658"/>
                    </a:lnTo>
                    <a:lnTo>
                      <a:pt x="306" y="669"/>
                    </a:lnTo>
                    <a:lnTo>
                      <a:pt x="311" y="679"/>
                    </a:lnTo>
                    <a:lnTo>
                      <a:pt x="316" y="689"/>
                    </a:lnTo>
                    <a:lnTo>
                      <a:pt x="321" y="700"/>
                    </a:lnTo>
                    <a:lnTo>
                      <a:pt x="332" y="710"/>
                    </a:lnTo>
                    <a:lnTo>
                      <a:pt x="337" y="720"/>
                    </a:lnTo>
                    <a:lnTo>
                      <a:pt x="342" y="731"/>
                    </a:lnTo>
                    <a:lnTo>
                      <a:pt x="347" y="741"/>
                    </a:lnTo>
                    <a:lnTo>
                      <a:pt x="358" y="751"/>
                    </a:lnTo>
                    <a:lnTo>
                      <a:pt x="363" y="762"/>
                    </a:lnTo>
                    <a:lnTo>
                      <a:pt x="368" y="772"/>
                    </a:lnTo>
                    <a:lnTo>
                      <a:pt x="373" y="783"/>
                    </a:lnTo>
                    <a:lnTo>
                      <a:pt x="384" y="793"/>
                    </a:lnTo>
                    <a:lnTo>
                      <a:pt x="389" y="803"/>
                    </a:lnTo>
                    <a:lnTo>
                      <a:pt x="394" y="814"/>
                    </a:lnTo>
                    <a:lnTo>
                      <a:pt x="399" y="824"/>
                    </a:lnTo>
                    <a:lnTo>
                      <a:pt x="410" y="829"/>
                    </a:lnTo>
                    <a:lnTo>
                      <a:pt x="415" y="840"/>
                    </a:lnTo>
                    <a:lnTo>
                      <a:pt x="420" y="850"/>
                    </a:lnTo>
                    <a:lnTo>
                      <a:pt x="425" y="860"/>
                    </a:lnTo>
                    <a:lnTo>
                      <a:pt x="430" y="871"/>
                    </a:lnTo>
                    <a:lnTo>
                      <a:pt x="441" y="876"/>
                    </a:lnTo>
                    <a:lnTo>
                      <a:pt x="446" y="886"/>
                    </a:lnTo>
                    <a:lnTo>
                      <a:pt x="451" y="897"/>
                    </a:lnTo>
                    <a:lnTo>
                      <a:pt x="456" y="902"/>
                    </a:lnTo>
                    <a:lnTo>
                      <a:pt x="467" y="912"/>
                    </a:lnTo>
                    <a:lnTo>
                      <a:pt x="472" y="923"/>
                    </a:lnTo>
                    <a:lnTo>
                      <a:pt x="477" y="928"/>
                    </a:lnTo>
                    <a:lnTo>
                      <a:pt x="482" y="938"/>
                    </a:lnTo>
                    <a:lnTo>
                      <a:pt x="492" y="948"/>
                    </a:lnTo>
                    <a:lnTo>
                      <a:pt x="498" y="954"/>
                    </a:lnTo>
                    <a:lnTo>
                      <a:pt x="503" y="964"/>
                    </a:lnTo>
                    <a:lnTo>
                      <a:pt x="508" y="969"/>
                    </a:lnTo>
                    <a:lnTo>
                      <a:pt x="518" y="980"/>
                    </a:lnTo>
                    <a:lnTo>
                      <a:pt x="524" y="985"/>
                    </a:lnTo>
                    <a:lnTo>
                      <a:pt x="529" y="995"/>
                    </a:lnTo>
                    <a:lnTo>
                      <a:pt x="534" y="1000"/>
                    </a:lnTo>
                    <a:lnTo>
                      <a:pt x="544" y="1011"/>
                    </a:lnTo>
                    <a:lnTo>
                      <a:pt x="549" y="1016"/>
                    </a:lnTo>
                    <a:lnTo>
                      <a:pt x="555" y="1026"/>
                    </a:lnTo>
                    <a:lnTo>
                      <a:pt x="560" y="1031"/>
                    </a:lnTo>
                    <a:lnTo>
                      <a:pt x="570" y="1042"/>
                    </a:lnTo>
                    <a:lnTo>
                      <a:pt x="575" y="1047"/>
                    </a:lnTo>
                    <a:lnTo>
                      <a:pt x="581" y="1052"/>
                    </a:lnTo>
                    <a:lnTo>
                      <a:pt x="586" y="1062"/>
                    </a:lnTo>
                    <a:lnTo>
                      <a:pt x="591" y="1068"/>
                    </a:lnTo>
                    <a:lnTo>
                      <a:pt x="601" y="1073"/>
                    </a:lnTo>
                    <a:lnTo>
                      <a:pt x="607" y="1083"/>
                    </a:lnTo>
                    <a:lnTo>
                      <a:pt x="612" y="1088"/>
                    </a:lnTo>
                    <a:lnTo>
                      <a:pt x="617" y="1094"/>
                    </a:lnTo>
                    <a:lnTo>
                      <a:pt x="627" y="1104"/>
                    </a:lnTo>
                    <a:lnTo>
                      <a:pt x="632" y="1109"/>
                    </a:lnTo>
                    <a:lnTo>
                      <a:pt x="638" y="1114"/>
                    </a:lnTo>
                    <a:lnTo>
                      <a:pt x="643" y="1119"/>
                    </a:lnTo>
                    <a:lnTo>
                      <a:pt x="653" y="1130"/>
                    </a:lnTo>
                    <a:lnTo>
                      <a:pt x="658" y="1135"/>
                    </a:lnTo>
                    <a:lnTo>
                      <a:pt x="664" y="1140"/>
                    </a:lnTo>
                    <a:lnTo>
                      <a:pt x="669" y="1145"/>
                    </a:lnTo>
                    <a:lnTo>
                      <a:pt x="679" y="1156"/>
                    </a:lnTo>
                    <a:lnTo>
                      <a:pt x="684" y="1161"/>
                    </a:lnTo>
                    <a:lnTo>
                      <a:pt x="689" y="1166"/>
                    </a:lnTo>
                    <a:lnTo>
                      <a:pt x="695" y="1171"/>
                    </a:lnTo>
                    <a:lnTo>
                      <a:pt x="705" y="1176"/>
                    </a:lnTo>
                    <a:lnTo>
                      <a:pt x="710" y="1182"/>
                    </a:lnTo>
                    <a:lnTo>
                      <a:pt x="715" y="1187"/>
                    </a:lnTo>
                    <a:lnTo>
                      <a:pt x="721" y="1197"/>
                    </a:lnTo>
                    <a:lnTo>
                      <a:pt x="731" y="1202"/>
                    </a:lnTo>
                    <a:lnTo>
                      <a:pt x="736" y="1208"/>
                    </a:lnTo>
                    <a:lnTo>
                      <a:pt x="741" y="1213"/>
                    </a:lnTo>
                    <a:lnTo>
                      <a:pt x="746" y="1218"/>
                    </a:lnTo>
                    <a:lnTo>
                      <a:pt x="752" y="1223"/>
                    </a:lnTo>
                    <a:lnTo>
                      <a:pt x="762" y="1228"/>
                    </a:lnTo>
                    <a:lnTo>
                      <a:pt x="767" y="1234"/>
                    </a:lnTo>
                    <a:lnTo>
                      <a:pt x="772" y="1239"/>
                    </a:lnTo>
                    <a:lnTo>
                      <a:pt x="778" y="1244"/>
                    </a:lnTo>
                    <a:lnTo>
                      <a:pt x="788" y="1249"/>
                    </a:lnTo>
                    <a:lnTo>
                      <a:pt x="793" y="1254"/>
                    </a:lnTo>
                    <a:lnTo>
                      <a:pt x="798" y="1259"/>
                    </a:lnTo>
                    <a:lnTo>
                      <a:pt x="804" y="1265"/>
                    </a:lnTo>
                    <a:lnTo>
                      <a:pt x="814" y="1270"/>
                    </a:lnTo>
                  </a:path>
                </a:pathLst>
              </a:custGeom>
              <a:noFill/>
              <a:ln w="28575" cmpd="sng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4332" name="Freeform 76"/>
              <p:cNvSpPr>
                <a:spLocks/>
              </p:cNvSpPr>
              <p:nvPr/>
            </p:nvSpPr>
            <p:spPr bwMode="auto">
              <a:xfrm>
                <a:off x="2693" y="2509"/>
                <a:ext cx="814" cy="357"/>
              </a:xfrm>
              <a:custGeom>
                <a:avLst/>
                <a:gdLst/>
                <a:ahLst/>
                <a:cxnLst>
                  <a:cxn ang="0">
                    <a:pos x="10" y="10"/>
                  </a:cxn>
                  <a:cxn ang="0">
                    <a:pos x="31" y="26"/>
                  </a:cxn>
                  <a:cxn ang="0">
                    <a:pos x="52" y="41"/>
                  </a:cxn>
                  <a:cxn ang="0">
                    <a:pos x="67" y="52"/>
                  </a:cxn>
                  <a:cxn ang="0">
                    <a:pos x="88" y="67"/>
                  </a:cxn>
                  <a:cxn ang="0">
                    <a:pos x="109" y="78"/>
                  </a:cxn>
                  <a:cxn ang="0">
                    <a:pos x="124" y="93"/>
                  </a:cxn>
                  <a:cxn ang="0">
                    <a:pos x="145" y="103"/>
                  </a:cxn>
                  <a:cxn ang="0">
                    <a:pos x="166" y="114"/>
                  </a:cxn>
                  <a:cxn ang="0">
                    <a:pos x="187" y="124"/>
                  </a:cxn>
                  <a:cxn ang="0">
                    <a:pos x="202" y="135"/>
                  </a:cxn>
                  <a:cxn ang="0">
                    <a:pos x="223" y="150"/>
                  </a:cxn>
                  <a:cxn ang="0">
                    <a:pos x="244" y="160"/>
                  </a:cxn>
                  <a:cxn ang="0">
                    <a:pos x="259" y="171"/>
                  </a:cxn>
                  <a:cxn ang="0">
                    <a:pos x="280" y="176"/>
                  </a:cxn>
                  <a:cxn ang="0">
                    <a:pos x="301" y="186"/>
                  </a:cxn>
                  <a:cxn ang="0">
                    <a:pos x="321" y="197"/>
                  </a:cxn>
                  <a:cxn ang="0">
                    <a:pos x="337" y="207"/>
                  </a:cxn>
                  <a:cxn ang="0">
                    <a:pos x="358" y="212"/>
                  </a:cxn>
                  <a:cxn ang="0">
                    <a:pos x="378" y="223"/>
                  </a:cxn>
                  <a:cxn ang="0">
                    <a:pos x="399" y="233"/>
                  </a:cxn>
                  <a:cxn ang="0">
                    <a:pos x="415" y="238"/>
                  </a:cxn>
                  <a:cxn ang="0">
                    <a:pos x="435" y="249"/>
                  </a:cxn>
                  <a:cxn ang="0">
                    <a:pos x="456" y="254"/>
                  </a:cxn>
                  <a:cxn ang="0">
                    <a:pos x="472" y="264"/>
                  </a:cxn>
                  <a:cxn ang="0">
                    <a:pos x="492" y="269"/>
                  </a:cxn>
                  <a:cxn ang="0">
                    <a:pos x="513" y="275"/>
                  </a:cxn>
                  <a:cxn ang="0">
                    <a:pos x="534" y="280"/>
                  </a:cxn>
                  <a:cxn ang="0">
                    <a:pos x="549" y="290"/>
                  </a:cxn>
                  <a:cxn ang="0">
                    <a:pos x="570" y="295"/>
                  </a:cxn>
                  <a:cxn ang="0">
                    <a:pos x="591" y="300"/>
                  </a:cxn>
                  <a:cxn ang="0">
                    <a:pos x="606" y="306"/>
                  </a:cxn>
                  <a:cxn ang="0">
                    <a:pos x="627" y="311"/>
                  </a:cxn>
                  <a:cxn ang="0">
                    <a:pos x="648" y="316"/>
                  </a:cxn>
                  <a:cxn ang="0">
                    <a:pos x="669" y="321"/>
                  </a:cxn>
                  <a:cxn ang="0">
                    <a:pos x="684" y="326"/>
                  </a:cxn>
                  <a:cxn ang="0">
                    <a:pos x="705" y="332"/>
                  </a:cxn>
                  <a:cxn ang="0">
                    <a:pos x="726" y="337"/>
                  </a:cxn>
                  <a:cxn ang="0">
                    <a:pos x="741" y="342"/>
                  </a:cxn>
                  <a:cxn ang="0">
                    <a:pos x="762" y="347"/>
                  </a:cxn>
                  <a:cxn ang="0">
                    <a:pos x="783" y="352"/>
                  </a:cxn>
                  <a:cxn ang="0">
                    <a:pos x="803" y="357"/>
                  </a:cxn>
                </a:cxnLst>
                <a:rect l="0" t="0" r="r" b="b"/>
                <a:pathLst>
                  <a:path w="814" h="357">
                    <a:moveTo>
                      <a:pt x="0" y="0"/>
                    </a:moveTo>
                    <a:lnTo>
                      <a:pt x="5" y="5"/>
                    </a:lnTo>
                    <a:lnTo>
                      <a:pt x="10" y="10"/>
                    </a:lnTo>
                    <a:lnTo>
                      <a:pt x="15" y="15"/>
                    </a:lnTo>
                    <a:lnTo>
                      <a:pt x="26" y="21"/>
                    </a:lnTo>
                    <a:lnTo>
                      <a:pt x="31" y="26"/>
                    </a:lnTo>
                    <a:lnTo>
                      <a:pt x="36" y="31"/>
                    </a:lnTo>
                    <a:lnTo>
                      <a:pt x="41" y="36"/>
                    </a:lnTo>
                    <a:lnTo>
                      <a:pt x="52" y="41"/>
                    </a:lnTo>
                    <a:lnTo>
                      <a:pt x="57" y="41"/>
                    </a:lnTo>
                    <a:lnTo>
                      <a:pt x="62" y="46"/>
                    </a:lnTo>
                    <a:lnTo>
                      <a:pt x="67" y="52"/>
                    </a:lnTo>
                    <a:lnTo>
                      <a:pt x="78" y="57"/>
                    </a:lnTo>
                    <a:lnTo>
                      <a:pt x="83" y="62"/>
                    </a:lnTo>
                    <a:lnTo>
                      <a:pt x="88" y="67"/>
                    </a:lnTo>
                    <a:lnTo>
                      <a:pt x="93" y="72"/>
                    </a:lnTo>
                    <a:lnTo>
                      <a:pt x="98" y="72"/>
                    </a:lnTo>
                    <a:lnTo>
                      <a:pt x="109" y="78"/>
                    </a:lnTo>
                    <a:lnTo>
                      <a:pt x="114" y="83"/>
                    </a:lnTo>
                    <a:lnTo>
                      <a:pt x="119" y="88"/>
                    </a:lnTo>
                    <a:lnTo>
                      <a:pt x="124" y="93"/>
                    </a:lnTo>
                    <a:lnTo>
                      <a:pt x="135" y="93"/>
                    </a:lnTo>
                    <a:lnTo>
                      <a:pt x="140" y="98"/>
                    </a:lnTo>
                    <a:lnTo>
                      <a:pt x="145" y="103"/>
                    </a:lnTo>
                    <a:lnTo>
                      <a:pt x="150" y="109"/>
                    </a:lnTo>
                    <a:lnTo>
                      <a:pt x="161" y="109"/>
                    </a:lnTo>
                    <a:lnTo>
                      <a:pt x="166" y="114"/>
                    </a:lnTo>
                    <a:lnTo>
                      <a:pt x="171" y="119"/>
                    </a:lnTo>
                    <a:lnTo>
                      <a:pt x="176" y="124"/>
                    </a:lnTo>
                    <a:lnTo>
                      <a:pt x="187" y="124"/>
                    </a:lnTo>
                    <a:lnTo>
                      <a:pt x="192" y="129"/>
                    </a:lnTo>
                    <a:lnTo>
                      <a:pt x="197" y="135"/>
                    </a:lnTo>
                    <a:lnTo>
                      <a:pt x="202" y="135"/>
                    </a:lnTo>
                    <a:lnTo>
                      <a:pt x="212" y="140"/>
                    </a:lnTo>
                    <a:lnTo>
                      <a:pt x="218" y="145"/>
                    </a:lnTo>
                    <a:lnTo>
                      <a:pt x="223" y="150"/>
                    </a:lnTo>
                    <a:lnTo>
                      <a:pt x="228" y="150"/>
                    </a:lnTo>
                    <a:lnTo>
                      <a:pt x="238" y="155"/>
                    </a:lnTo>
                    <a:lnTo>
                      <a:pt x="244" y="160"/>
                    </a:lnTo>
                    <a:lnTo>
                      <a:pt x="249" y="160"/>
                    </a:lnTo>
                    <a:lnTo>
                      <a:pt x="254" y="166"/>
                    </a:lnTo>
                    <a:lnTo>
                      <a:pt x="259" y="171"/>
                    </a:lnTo>
                    <a:lnTo>
                      <a:pt x="269" y="171"/>
                    </a:lnTo>
                    <a:lnTo>
                      <a:pt x="275" y="176"/>
                    </a:lnTo>
                    <a:lnTo>
                      <a:pt x="280" y="176"/>
                    </a:lnTo>
                    <a:lnTo>
                      <a:pt x="285" y="181"/>
                    </a:lnTo>
                    <a:lnTo>
                      <a:pt x="295" y="186"/>
                    </a:lnTo>
                    <a:lnTo>
                      <a:pt x="301" y="186"/>
                    </a:lnTo>
                    <a:lnTo>
                      <a:pt x="306" y="192"/>
                    </a:lnTo>
                    <a:lnTo>
                      <a:pt x="311" y="192"/>
                    </a:lnTo>
                    <a:lnTo>
                      <a:pt x="321" y="197"/>
                    </a:lnTo>
                    <a:lnTo>
                      <a:pt x="326" y="202"/>
                    </a:lnTo>
                    <a:lnTo>
                      <a:pt x="332" y="202"/>
                    </a:lnTo>
                    <a:lnTo>
                      <a:pt x="337" y="207"/>
                    </a:lnTo>
                    <a:lnTo>
                      <a:pt x="347" y="207"/>
                    </a:lnTo>
                    <a:lnTo>
                      <a:pt x="352" y="212"/>
                    </a:lnTo>
                    <a:lnTo>
                      <a:pt x="358" y="212"/>
                    </a:lnTo>
                    <a:lnTo>
                      <a:pt x="363" y="217"/>
                    </a:lnTo>
                    <a:lnTo>
                      <a:pt x="373" y="223"/>
                    </a:lnTo>
                    <a:lnTo>
                      <a:pt x="378" y="223"/>
                    </a:lnTo>
                    <a:lnTo>
                      <a:pt x="383" y="228"/>
                    </a:lnTo>
                    <a:lnTo>
                      <a:pt x="389" y="228"/>
                    </a:lnTo>
                    <a:lnTo>
                      <a:pt x="399" y="233"/>
                    </a:lnTo>
                    <a:lnTo>
                      <a:pt x="404" y="233"/>
                    </a:lnTo>
                    <a:lnTo>
                      <a:pt x="409" y="238"/>
                    </a:lnTo>
                    <a:lnTo>
                      <a:pt x="415" y="238"/>
                    </a:lnTo>
                    <a:lnTo>
                      <a:pt x="420" y="243"/>
                    </a:lnTo>
                    <a:lnTo>
                      <a:pt x="430" y="243"/>
                    </a:lnTo>
                    <a:lnTo>
                      <a:pt x="435" y="249"/>
                    </a:lnTo>
                    <a:lnTo>
                      <a:pt x="441" y="249"/>
                    </a:lnTo>
                    <a:lnTo>
                      <a:pt x="446" y="254"/>
                    </a:lnTo>
                    <a:lnTo>
                      <a:pt x="456" y="254"/>
                    </a:lnTo>
                    <a:lnTo>
                      <a:pt x="461" y="259"/>
                    </a:lnTo>
                    <a:lnTo>
                      <a:pt x="466" y="259"/>
                    </a:lnTo>
                    <a:lnTo>
                      <a:pt x="472" y="264"/>
                    </a:lnTo>
                    <a:lnTo>
                      <a:pt x="482" y="264"/>
                    </a:lnTo>
                    <a:lnTo>
                      <a:pt x="487" y="264"/>
                    </a:lnTo>
                    <a:lnTo>
                      <a:pt x="492" y="269"/>
                    </a:lnTo>
                    <a:lnTo>
                      <a:pt x="498" y="269"/>
                    </a:lnTo>
                    <a:lnTo>
                      <a:pt x="508" y="275"/>
                    </a:lnTo>
                    <a:lnTo>
                      <a:pt x="513" y="275"/>
                    </a:lnTo>
                    <a:lnTo>
                      <a:pt x="518" y="280"/>
                    </a:lnTo>
                    <a:lnTo>
                      <a:pt x="523" y="280"/>
                    </a:lnTo>
                    <a:lnTo>
                      <a:pt x="534" y="280"/>
                    </a:lnTo>
                    <a:lnTo>
                      <a:pt x="539" y="285"/>
                    </a:lnTo>
                    <a:lnTo>
                      <a:pt x="544" y="285"/>
                    </a:lnTo>
                    <a:lnTo>
                      <a:pt x="549" y="290"/>
                    </a:lnTo>
                    <a:lnTo>
                      <a:pt x="560" y="290"/>
                    </a:lnTo>
                    <a:lnTo>
                      <a:pt x="565" y="295"/>
                    </a:lnTo>
                    <a:lnTo>
                      <a:pt x="570" y="295"/>
                    </a:lnTo>
                    <a:lnTo>
                      <a:pt x="575" y="295"/>
                    </a:lnTo>
                    <a:lnTo>
                      <a:pt x="580" y="300"/>
                    </a:lnTo>
                    <a:lnTo>
                      <a:pt x="591" y="300"/>
                    </a:lnTo>
                    <a:lnTo>
                      <a:pt x="596" y="300"/>
                    </a:lnTo>
                    <a:lnTo>
                      <a:pt x="601" y="306"/>
                    </a:lnTo>
                    <a:lnTo>
                      <a:pt x="606" y="306"/>
                    </a:lnTo>
                    <a:lnTo>
                      <a:pt x="617" y="311"/>
                    </a:lnTo>
                    <a:lnTo>
                      <a:pt x="622" y="311"/>
                    </a:lnTo>
                    <a:lnTo>
                      <a:pt x="627" y="311"/>
                    </a:lnTo>
                    <a:lnTo>
                      <a:pt x="632" y="316"/>
                    </a:lnTo>
                    <a:lnTo>
                      <a:pt x="643" y="316"/>
                    </a:lnTo>
                    <a:lnTo>
                      <a:pt x="648" y="316"/>
                    </a:lnTo>
                    <a:lnTo>
                      <a:pt x="653" y="321"/>
                    </a:lnTo>
                    <a:lnTo>
                      <a:pt x="658" y="321"/>
                    </a:lnTo>
                    <a:lnTo>
                      <a:pt x="669" y="321"/>
                    </a:lnTo>
                    <a:lnTo>
                      <a:pt x="674" y="326"/>
                    </a:lnTo>
                    <a:lnTo>
                      <a:pt x="679" y="326"/>
                    </a:lnTo>
                    <a:lnTo>
                      <a:pt x="684" y="326"/>
                    </a:lnTo>
                    <a:lnTo>
                      <a:pt x="695" y="332"/>
                    </a:lnTo>
                    <a:lnTo>
                      <a:pt x="700" y="332"/>
                    </a:lnTo>
                    <a:lnTo>
                      <a:pt x="705" y="332"/>
                    </a:lnTo>
                    <a:lnTo>
                      <a:pt x="710" y="337"/>
                    </a:lnTo>
                    <a:lnTo>
                      <a:pt x="720" y="337"/>
                    </a:lnTo>
                    <a:lnTo>
                      <a:pt x="726" y="337"/>
                    </a:lnTo>
                    <a:lnTo>
                      <a:pt x="731" y="342"/>
                    </a:lnTo>
                    <a:lnTo>
                      <a:pt x="736" y="342"/>
                    </a:lnTo>
                    <a:lnTo>
                      <a:pt x="741" y="342"/>
                    </a:lnTo>
                    <a:lnTo>
                      <a:pt x="752" y="347"/>
                    </a:lnTo>
                    <a:lnTo>
                      <a:pt x="757" y="347"/>
                    </a:lnTo>
                    <a:lnTo>
                      <a:pt x="762" y="347"/>
                    </a:lnTo>
                    <a:lnTo>
                      <a:pt x="767" y="347"/>
                    </a:lnTo>
                    <a:lnTo>
                      <a:pt x="777" y="352"/>
                    </a:lnTo>
                    <a:lnTo>
                      <a:pt x="783" y="352"/>
                    </a:lnTo>
                    <a:lnTo>
                      <a:pt x="788" y="352"/>
                    </a:lnTo>
                    <a:lnTo>
                      <a:pt x="793" y="357"/>
                    </a:lnTo>
                    <a:lnTo>
                      <a:pt x="803" y="357"/>
                    </a:lnTo>
                    <a:lnTo>
                      <a:pt x="809" y="357"/>
                    </a:lnTo>
                    <a:lnTo>
                      <a:pt x="814" y="357"/>
                    </a:lnTo>
                  </a:path>
                </a:pathLst>
              </a:custGeom>
              <a:noFill/>
              <a:ln w="28575" cmpd="sng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4333" name="Freeform 77"/>
              <p:cNvSpPr>
                <a:spLocks/>
              </p:cNvSpPr>
              <p:nvPr/>
            </p:nvSpPr>
            <p:spPr bwMode="auto">
              <a:xfrm>
                <a:off x="3507" y="2866"/>
                <a:ext cx="549" cy="83"/>
              </a:xfrm>
              <a:custGeom>
                <a:avLst/>
                <a:gdLst/>
                <a:ahLst/>
                <a:cxnLst>
                  <a:cxn ang="0">
                    <a:pos x="5" y="6"/>
                  </a:cxn>
                  <a:cxn ang="0">
                    <a:pos x="20" y="6"/>
                  </a:cxn>
                  <a:cxn ang="0">
                    <a:pos x="31" y="11"/>
                  </a:cxn>
                  <a:cxn ang="0">
                    <a:pos x="46" y="11"/>
                  </a:cxn>
                  <a:cxn ang="0">
                    <a:pos x="57" y="16"/>
                  </a:cxn>
                  <a:cxn ang="0">
                    <a:pos x="72" y="16"/>
                  </a:cxn>
                  <a:cxn ang="0">
                    <a:pos x="83" y="21"/>
                  </a:cxn>
                  <a:cxn ang="0">
                    <a:pos x="98" y="21"/>
                  </a:cxn>
                  <a:cxn ang="0">
                    <a:pos x="109" y="26"/>
                  </a:cxn>
                  <a:cxn ang="0">
                    <a:pos x="124" y="26"/>
                  </a:cxn>
                  <a:cxn ang="0">
                    <a:pos x="135" y="32"/>
                  </a:cxn>
                  <a:cxn ang="0">
                    <a:pos x="150" y="32"/>
                  </a:cxn>
                  <a:cxn ang="0">
                    <a:pos x="160" y="32"/>
                  </a:cxn>
                  <a:cxn ang="0">
                    <a:pos x="176" y="37"/>
                  </a:cxn>
                  <a:cxn ang="0">
                    <a:pos x="186" y="37"/>
                  </a:cxn>
                  <a:cxn ang="0">
                    <a:pos x="202" y="42"/>
                  </a:cxn>
                  <a:cxn ang="0">
                    <a:pos x="212" y="42"/>
                  </a:cxn>
                  <a:cxn ang="0">
                    <a:pos x="228" y="42"/>
                  </a:cxn>
                  <a:cxn ang="0">
                    <a:pos x="238" y="47"/>
                  </a:cxn>
                  <a:cxn ang="0">
                    <a:pos x="249" y="47"/>
                  </a:cxn>
                  <a:cxn ang="0">
                    <a:pos x="264" y="52"/>
                  </a:cxn>
                  <a:cxn ang="0">
                    <a:pos x="275" y="52"/>
                  </a:cxn>
                  <a:cxn ang="0">
                    <a:pos x="290" y="52"/>
                  </a:cxn>
                  <a:cxn ang="0">
                    <a:pos x="300" y="57"/>
                  </a:cxn>
                  <a:cxn ang="0">
                    <a:pos x="316" y="57"/>
                  </a:cxn>
                  <a:cxn ang="0">
                    <a:pos x="326" y="57"/>
                  </a:cxn>
                  <a:cxn ang="0">
                    <a:pos x="342" y="63"/>
                  </a:cxn>
                  <a:cxn ang="0">
                    <a:pos x="352" y="63"/>
                  </a:cxn>
                  <a:cxn ang="0">
                    <a:pos x="368" y="63"/>
                  </a:cxn>
                  <a:cxn ang="0">
                    <a:pos x="378" y="63"/>
                  </a:cxn>
                  <a:cxn ang="0">
                    <a:pos x="394" y="68"/>
                  </a:cxn>
                  <a:cxn ang="0">
                    <a:pos x="404" y="68"/>
                  </a:cxn>
                  <a:cxn ang="0">
                    <a:pos x="420" y="68"/>
                  </a:cxn>
                  <a:cxn ang="0">
                    <a:pos x="430" y="73"/>
                  </a:cxn>
                  <a:cxn ang="0">
                    <a:pos x="446" y="73"/>
                  </a:cxn>
                  <a:cxn ang="0">
                    <a:pos x="456" y="73"/>
                  </a:cxn>
                  <a:cxn ang="0">
                    <a:pos x="471" y="73"/>
                  </a:cxn>
                  <a:cxn ang="0">
                    <a:pos x="482" y="78"/>
                  </a:cxn>
                  <a:cxn ang="0">
                    <a:pos x="497" y="78"/>
                  </a:cxn>
                  <a:cxn ang="0">
                    <a:pos x="508" y="78"/>
                  </a:cxn>
                  <a:cxn ang="0">
                    <a:pos x="523" y="78"/>
                  </a:cxn>
                  <a:cxn ang="0">
                    <a:pos x="534" y="83"/>
                  </a:cxn>
                  <a:cxn ang="0">
                    <a:pos x="549" y="83"/>
                  </a:cxn>
                </a:cxnLst>
                <a:rect l="0" t="0" r="r" b="b"/>
                <a:pathLst>
                  <a:path w="549" h="83">
                    <a:moveTo>
                      <a:pt x="0" y="0"/>
                    </a:moveTo>
                    <a:lnTo>
                      <a:pt x="5" y="6"/>
                    </a:lnTo>
                    <a:lnTo>
                      <a:pt x="15" y="6"/>
                    </a:lnTo>
                    <a:lnTo>
                      <a:pt x="20" y="6"/>
                    </a:lnTo>
                    <a:lnTo>
                      <a:pt x="26" y="6"/>
                    </a:lnTo>
                    <a:lnTo>
                      <a:pt x="31" y="11"/>
                    </a:lnTo>
                    <a:lnTo>
                      <a:pt x="41" y="11"/>
                    </a:lnTo>
                    <a:lnTo>
                      <a:pt x="46" y="11"/>
                    </a:lnTo>
                    <a:lnTo>
                      <a:pt x="52" y="16"/>
                    </a:lnTo>
                    <a:lnTo>
                      <a:pt x="57" y="16"/>
                    </a:lnTo>
                    <a:lnTo>
                      <a:pt x="67" y="16"/>
                    </a:lnTo>
                    <a:lnTo>
                      <a:pt x="72" y="16"/>
                    </a:lnTo>
                    <a:lnTo>
                      <a:pt x="78" y="16"/>
                    </a:lnTo>
                    <a:lnTo>
                      <a:pt x="83" y="21"/>
                    </a:lnTo>
                    <a:lnTo>
                      <a:pt x="88" y="21"/>
                    </a:lnTo>
                    <a:lnTo>
                      <a:pt x="98" y="21"/>
                    </a:lnTo>
                    <a:lnTo>
                      <a:pt x="103" y="21"/>
                    </a:lnTo>
                    <a:lnTo>
                      <a:pt x="109" y="26"/>
                    </a:lnTo>
                    <a:lnTo>
                      <a:pt x="114" y="26"/>
                    </a:lnTo>
                    <a:lnTo>
                      <a:pt x="124" y="26"/>
                    </a:lnTo>
                    <a:lnTo>
                      <a:pt x="129" y="26"/>
                    </a:lnTo>
                    <a:lnTo>
                      <a:pt x="135" y="32"/>
                    </a:lnTo>
                    <a:lnTo>
                      <a:pt x="140" y="32"/>
                    </a:lnTo>
                    <a:lnTo>
                      <a:pt x="150" y="32"/>
                    </a:lnTo>
                    <a:lnTo>
                      <a:pt x="155" y="32"/>
                    </a:lnTo>
                    <a:lnTo>
                      <a:pt x="160" y="32"/>
                    </a:lnTo>
                    <a:lnTo>
                      <a:pt x="166" y="37"/>
                    </a:lnTo>
                    <a:lnTo>
                      <a:pt x="176" y="37"/>
                    </a:lnTo>
                    <a:lnTo>
                      <a:pt x="181" y="37"/>
                    </a:lnTo>
                    <a:lnTo>
                      <a:pt x="186" y="37"/>
                    </a:lnTo>
                    <a:lnTo>
                      <a:pt x="192" y="37"/>
                    </a:lnTo>
                    <a:lnTo>
                      <a:pt x="202" y="42"/>
                    </a:lnTo>
                    <a:lnTo>
                      <a:pt x="207" y="42"/>
                    </a:lnTo>
                    <a:lnTo>
                      <a:pt x="212" y="42"/>
                    </a:lnTo>
                    <a:lnTo>
                      <a:pt x="217" y="42"/>
                    </a:lnTo>
                    <a:lnTo>
                      <a:pt x="228" y="42"/>
                    </a:lnTo>
                    <a:lnTo>
                      <a:pt x="233" y="47"/>
                    </a:lnTo>
                    <a:lnTo>
                      <a:pt x="238" y="47"/>
                    </a:lnTo>
                    <a:lnTo>
                      <a:pt x="243" y="47"/>
                    </a:lnTo>
                    <a:lnTo>
                      <a:pt x="249" y="47"/>
                    </a:lnTo>
                    <a:lnTo>
                      <a:pt x="259" y="47"/>
                    </a:lnTo>
                    <a:lnTo>
                      <a:pt x="264" y="52"/>
                    </a:lnTo>
                    <a:lnTo>
                      <a:pt x="269" y="52"/>
                    </a:lnTo>
                    <a:lnTo>
                      <a:pt x="275" y="52"/>
                    </a:lnTo>
                    <a:lnTo>
                      <a:pt x="285" y="52"/>
                    </a:lnTo>
                    <a:lnTo>
                      <a:pt x="290" y="52"/>
                    </a:lnTo>
                    <a:lnTo>
                      <a:pt x="295" y="52"/>
                    </a:lnTo>
                    <a:lnTo>
                      <a:pt x="300" y="57"/>
                    </a:lnTo>
                    <a:lnTo>
                      <a:pt x="311" y="57"/>
                    </a:lnTo>
                    <a:lnTo>
                      <a:pt x="316" y="57"/>
                    </a:lnTo>
                    <a:lnTo>
                      <a:pt x="321" y="57"/>
                    </a:lnTo>
                    <a:lnTo>
                      <a:pt x="326" y="57"/>
                    </a:lnTo>
                    <a:lnTo>
                      <a:pt x="337" y="57"/>
                    </a:lnTo>
                    <a:lnTo>
                      <a:pt x="342" y="63"/>
                    </a:lnTo>
                    <a:lnTo>
                      <a:pt x="347" y="63"/>
                    </a:lnTo>
                    <a:lnTo>
                      <a:pt x="352" y="63"/>
                    </a:lnTo>
                    <a:lnTo>
                      <a:pt x="363" y="63"/>
                    </a:lnTo>
                    <a:lnTo>
                      <a:pt x="368" y="63"/>
                    </a:lnTo>
                    <a:lnTo>
                      <a:pt x="373" y="63"/>
                    </a:lnTo>
                    <a:lnTo>
                      <a:pt x="378" y="63"/>
                    </a:lnTo>
                    <a:lnTo>
                      <a:pt x="389" y="68"/>
                    </a:lnTo>
                    <a:lnTo>
                      <a:pt x="394" y="68"/>
                    </a:lnTo>
                    <a:lnTo>
                      <a:pt x="399" y="68"/>
                    </a:lnTo>
                    <a:lnTo>
                      <a:pt x="404" y="68"/>
                    </a:lnTo>
                    <a:lnTo>
                      <a:pt x="409" y="68"/>
                    </a:lnTo>
                    <a:lnTo>
                      <a:pt x="420" y="68"/>
                    </a:lnTo>
                    <a:lnTo>
                      <a:pt x="425" y="73"/>
                    </a:lnTo>
                    <a:lnTo>
                      <a:pt x="430" y="73"/>
                    </a:lnTo>
                    <a:lnTo>
                      <a:pt x="435" y="73"/>
                    </a:lnTo>
                    <a:lnTo>
                      <a:pt x="446" y="73"/>
                    </a:lnTo>
                    <a:lnTo>
                      <a:pt x="451" y="73"/>
                    </a:lnTo>
                    <a:lnTo>
                      <a:pt x="456" y="73"/>
                    </a:lnTo>
                    <a:lnTo>
                      <a:pt x="461" y="73"/>
                    </a:lnTo>
                    <a:lnTo>
                      <a:pt x="471" y="73"/>
                    </a:lnTo>
                    <a:lnTo>
                      <a:pt x="477" y="78"/>
                    </a:lnTo>
                    <a:lnTo>
                      <a:pt x="482" y="78"/>
                    </a:lnTo>
                    <a:lnTo>
                      <a:pt x="487" y="78"/>
                    </a:lnTo>
                    <a:lnTo>
                      <a:pt x="497" y="78"/>
                    </a:lnTo>
                    <a:lnTo>
                      <a:pt x="503" y="78"/>
                    </a:lnTo>
                    <a:lnTo>
                      <a:pt x="508" y="78"/>
                    </a:lnTo>
                    <a:lnTo>
                      <a:pt x="513" y="78"/>
                    </a:lnTo>
                    <a:lnTo>
                      <a:pt x="523" y="78"/>
                    </a:lnTo>
                    <a:lnTo>
                      <a:pt x="529" y="83"/>
                    </a:lnTo>
                    <a:lnTo>
                      <a:pt x="534" y="83"/>
                    </a:lnTo>
                    <a:lnTo>
                      <a:pt x="539" y="83"/>
                    </a:lnTo>
                    <a:lnTo>
                      <a:pt x="549" y="83"/>
                    </a:lnTo>
                  </a:path>
                </a:pathLst>
              </a:custGeom>
              <a:noFill/>
              <a:ln w="28575" cmpd="sng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336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5242623" y="5230425"/>
                  <a:ext cx="639309" cy="2969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𝑡𝑓</m:t>
                        </m:r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4336" name="Text 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42623" y="5230425"/>
                  <a:ext cx="639309" cy="296949"/>
                </a:xfrm>
                <a:prstGeom prst="rect">
                  <a:avLst/>
                </a:prstGeom>
                <a:blipFill>
                  <a:blip r:embed="rId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4337" name="Text Box 81"/>
            <p:cNvSpPr txBox="1">
              <a:spLocks noChangeArrowheads="1"/>
            </p:cNvSpPr>
            <p:nvPr/>
          </p:nvSpPr>
          <p:spPr bwMode="auto">
            <a:xfrm>
              <a:off x="3144577" y="2337732"/>
              <a:ext cx="224638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Misclassification error</a:t>
              </a:r>
            </a:p>
          </p:txBody>
        </p:sp>
        <p:sp>
          <p:nvSpPr>
            <p:cNvPr id="224338" name="Text Box 82"/>
            <p:cNvSpPr txBox="1">
              <a:spLocks noChangeArrowheads="1"/>
            </p:cNvSpPr>
            <p:nvPr/>
          </p:nvSpPr>
          <p:spPr bwMode="auto">
            <a:xfrm>
              <a:off x="1686310" y="1957041"/>
              <a:ext cx="63671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 dirty="0"/>
                <a:t>Loss</a:t>
              </a:r>
            </a:p>
          </p:txBody>
        </p:sp>
        <p:sp>
          <p:nvSpPr>
            <p:cNvPr id="224339" name="Text Box 83"/>
            <p:cNvSpPr txBox="1">
              <a:spLocks noChangeArrowheads="1"/>
            </p:cNvSpPr>
            <p:nvPr/>
          </p:nvSpPr>
          <p:spPr bwMode="auto">
            <a:xfrm>
              <a:off x="3907576" y="2680632"/>
              <a:ext cx="148598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10101"/>
                  </a:solidFill>
                </a:rPr>
                <a:t>Squared error</a:t>
              </a:r>
            </a:p>
          </p:txBody>
        </p:sp>
        <p:sp>
          <p:nvSpPr>
            <p:cNvPr id="224340" name="Text Box 84"/>
            <p:cNvSpPr txBox="1">
              <a:spLocks noChangeArrowheads="1"/>
            </p:cNvSpPr>
            <p:nvPr/>
          </p:nvSpPr>
          <p:spPr bwMode="auto">
            <a:xfrm>
              <a:off x="3703690" y="3048932"/>
              <a:ext cx="16973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33CC33"/>
                  </a:solidFill>
                </a:rPr>
                <a:t>Exponential loss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7F6DF94E-5D0B-4357-BCB0-26A167E186F9}"/>
              </a:ext>
            </a:extLst>
          </p:cNvPr>
          <p:cNvSpPr txBox="1"/>
          <p:nvPr/>
        </p:nvSpPr>
        <p:spPr>
          <a:xfrm>
            <a:off x="410681" y="253477"/>
            <a:ext cx="79546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Exponential Error Function  </a:t>
            </a:r>
            <a:r>
              <a:rPr lang="zh-CN" altLang="en-US" sz="2400" b="1" dirty="0"/>
              <a:t>指数损失函数</a:t>
            </a:r>
            <a:endParaRPr lang="en-US" altLang="zh-CN" sz="4000" b="1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ACE96D4-E882-4629-95E4-6E6C2FFCFCB1}"/>
              </a:ext>
            </a:extLst>
          </p:cNvPr>
          <p:cNvSpPr/>
          <p:nvPr/>
        </p:nvSpPr>
        <p:spPr>
          <a:xfrm>
            <a:off x="410681" y="1088184"/>
            <a:ext cx="110035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[proposed by </a:t>
            </a:r>
            <a:r>
              <a:rPr lang="en-US" sz="2400" dirty="0" err="1"/>
              <a:t>Schapire</a:t>
            </a:r>
            <a:r>
              <a:rPr lang="en-US" sz="2400" dirty="0"/>
              <a:t> and Singer 1998 as an upper bound on misclassification error]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F50A797-9101-420A-B63B-81CD736F2088}"/>
                  </a:ext>
                </a:extLst>
              </p:cNvPr>
              <p:cNvSpPr/>
              <p:nvPr/>
            </p:nvSpPr>
            <p:spPr>
              <a:xfrm>
                <a:off x="7089504" y="4442973"/>
                <a:ext cx="3242361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⁡{−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F50A797-9101-420A-B63B-81CD736F20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504" y="4442973"/>
                <a:ext cx="3242361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58200E67-A81B-4A4B-9630-71522EEB2C05}"/>
                  </a:ext>
                </a:extLst>
              </p:cNvPr>
              <p:cNvSpPr/>
              <p:nvPr/>
            </p:nvSpPr>
            <p:spPr>
              <a:xfrm>
                <a:off x="7140179" y="2459402"/>
                <a:ext cx="3023264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58200E67-A81B-4A4B-9630-71522EEB2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179" y="2459402"/>
                <a:ext cx="3023264" cy="1130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8930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22A2F900-B61F-4A0C-B75D-2F8087BDC559}"/>
              </a:ext>
            </a:extLst>
          </p:cNvPr>
          <p:cNvGrpSpPr/>
          <p:nvPr/>
        </p:nvGrpSpPr>
        <p:grpSpPr>
          <a:xfrm>
            <a:off x="698365" y="1798158"/>
            <a:ext cx="5562188" cy="4810673"/>
            <a:chOff x="1686310" y="1957041"/>
            <a:chExt cx="4195623" cy="3570333"/>
          </a:xfrm>
        </p:grpSpPr>
        <p:sp>
          <p:nvSpPr>
            <p:cNvPr id="224259" name="Rectangle 3"/>
            <p:cNvSpPr>
              <a:spLocks noChangeArrowheads="1"/>
            </p:cNvSpPr>
            <p:nvPr/>
          </p:nvSpPr>
          <p:spPr bwMode="auto">
            <a:xfrm>
              <a:off x="2059727" y="2299632"/>
              <a:ext cx="3571875" cy="281463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0" name="Line 4"/>
            <p:cNvSpPr>
              <a:spLocks noChangeShapeType="1"/>
            </p:cNvSpPr>
            <p:nvPr/>
          </p:nvSpPr>
          <p:spPr bwMode="auto">
            <a:xfrm>
              <a:off x="2059727" y="2299632"/>
              <a:ext cx="35718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1" name="Freeform 5"/>
            <p:cNvSpPr>
              <a:spLocks/>
            </p:cNvSpPr>
            <p:nvPr/>
          </p:nvSpPr>
          <p:spPr bwMode="auto">
            <a:xfrm>
              <a:off x="2059727" y="2299632"/>
              <a:ext cx="3571875" cy="2814638"/>
            </a:xfrm>
            <a:custGeom>
              <a:avLst/>
              <a:gdLst/>
              <a:ahLst/>
              <a:cxnLst>
                <a:cxn ang="0">
                  <a:pos x="0" y="342"/>
                </a:cxn>
                <a:cxn ang="0">
                  <a:pos x="434" y="342"/>
                </a:cxn>
                <a:cxn ang="0">
                  <a:pos x="434" y="0"/>
                </a:cxn>
              </a:cxnLst>
              <a:rect l="0" t="0" r="r" b="b"/>
              <a:pathLst>
                <a:path w="434" h="342">
                  <a:moveTo>
                    <a:pt x="0" y="342"/>
                  </a:moveTo>
                  <a:lnTo>
                    <a:pt x="434" y="342"/>
                  </a:ln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2" name="Line 6"/>
            <p:cNvSpPr>
              <a:spLocks noChangeShapeType="1"/>
            </p:cNvSpPr>
            <p:nvPr/>
          </p:nvSpPr>
          <p:spPr bwMode="auto">
            <a:xfrm flipV="1">
              <a:off x="2059726" y="2299632"/>
              <a:ext cx="1588" cy="28146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3" name="Line 7"/>
            <p:cNvSpPr>
              <a:spLocks noChangeShapeType="1"/>
            </p:cNvSpPr>
            <p:nvPr/>
          </p:nvSpPr>
          <p:spPr bwMode="auto">
            <a:xfrm>
              <a:off x="2059727" y="5114271"/>
              <a:ext cx="35718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64" name="Line 8"/>
            <p:cNvSpPr>
              <a:spLocks noChangeShapeType="1"/>
            </p:cNvSpPr>
            <p:nvPr/>
          </p:nvSpPr>
          <p:spPr bwMode="auto">
            <a:xfrm flipV="1">
              <a:off x="2059726" y="2299632"/>
              <a:ext cx="1588" cy="28146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5" name="Line 9"/>
            <p:cNvSpPr>
              <a:spLocks noChangeShapeType="1"/>
            </p:cNvSpPr>
            <p:nvPr/>
          </p:nvSpPr>
          <p:spPr bwMode="auto">
            <a:xfrm flipV="1">
              <a:off x="2059726" y="5072996"/>
              <a:ext cx="1588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66" name="Line 10"/>
            <p:cNvSpPr>
              <a:spLocks noChangeShapeType="1"/>
            </p:cNvSpPr>
            <p:nvPr/>
          </p:nvSpPr>
          <p:spPr bwMode="auto">
            <a:xfrm>
              <a:off x="2059726" y="2299632"/>
              <a:ext cx="1588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67" name="Rectangle 11"/>
            <p:cNvSpPr>
              <a:spLocks noChangeArrowheads="1"/>
            </p:cNvSpPr>
            <p:nvPr/>
          </p:nvSpPr>
          <p:spPr bwMode="auto">
            <a:xfrm>
              <a:off x="1953364" y="5138083"/>
              <a:ext cx="307777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Helvetica" pitchFamily="34" charset="0"/>
                </a:rPr>
                <a:t>-1.5</a:t>
              </a:r>
              <a:endParaRPr lang="en-US" sz="4000" dirty="0"/>
            </a:p>
          </p:txBody>
        </p:sp>
        <p:sp>
          <p:nvSpPr>
            <p:cNvPr id="224268" name="Line 12"/>
            <p:cNvSpPr>
              <a:spLocks noChangeShapeType="1"/>
            </p:cNvSpPr>
            <p:nvPr/>
          </p:nvSpPr>
          <p:spPr bwMode="auto">
            <a:xfrm flipV="1">
              <a:off x="2570901" y="5072996"/>
              <a:ext cx="1588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69" name="Line 13"/>
            <p:cNvSpPr>
              <a:spLocks noChangeShapeType="1"/>
            </p:cNvSpPr>
            <p:nvPr/>
          </p:nvSpPr>
          <p:spPr bwMode="auto">
            <a:xfrm>
              <a:off x="2570901" y="2299632"/>
              <a:ext cx="1588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70" name="Rectangle 14"/>
            <p:cNvSpPr>
              <a:spLocks noChangeArrowheads="1"/>
            </p:cNvSpPr>
            <p:nvPr/>
          </p:nvSpPr>
          <p:spPr bwMode="auto">
            <a:xfrm>
              <a:off x="2513751" y="5138082"/>
              <a:ext cx="158698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-1</a:t>
              </a:r>
              <a:endParaRPr lang="en-US" sz="4000"/>
            </a:p>
          </p:txBody>
        </p:sp>
        <p:sp>
          <p:nvSpPr>
            <p:cNvPr id="224271" name="Line 15"/>
            <p:cNvSpPr>
              <a:spLocks noChangeShapeType="1"/>
            </p:cNvSpPr>
            <p:nvPr/>
          </p:nvSpPr>
          <p:spPr bwMode="auto">
            <a:xfrm flipV="1">
              <a:off x="3080490" y="5072996"/>
              <a:ext cx="1587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72" name="Line 16"/>
            <p:cNvSpPr>
              <a:spLocks noChangeShapeType="1"/>
            </p:cNvSpPr>
            <p:nvPr/>
          </p:nvSpPr>
          <p:spPr bwMode="auto">
            <a:xfrm>
              <a:off x="3080490" y="2299632"/>
              <a:ext cx="1587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73" name="Rectangle 17"/>
            <p:cNvSpPr>
              <a:spLocks noChangeArrowheads="1"/>
            </p:cNvSpPr>
            <p:nvPr/>
          </p:nvSpPr>
          <p:spPr bwMode="auto">
            <a:xfrm>
              <a:off x="2974127" y="5138082"/>
              <a:ext cx="307777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-0.5</a:t>
              </a:r>
              <a:endParaRPr lang="en-US" sz="4000"/>
            </a:p>
          </p:txBody>
        </p:sp>
        <p:sp>
          <p:nvSpPr>
            <p:cNvPr id="224274" name="Line 18"/>
            <p:cNvSpPr>
              <a:spLocks noChangeShapeType="1"/>
            </p:cNvSpPr>
            <p:nvPr/>
          </p:nvSpPr>
          <p:spPr bwMode="auto">
            <a:xfrm flipV="1">
              <a:off x="3591665" y="5072996"/>
              <a:ext cx="1587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75" name="Line 19"/>
            <p:cNvSpPr>
              <a:spLocks noChangeShapeType="1"/>
            </p:cNvSpPr>
            <p:nvPr/>
          </p:nvSpPr>
          <p:spPr bwMode="auto">
            <a:xfrm>
              <a:off x="3591665" y="2299632"/>
              <a:ext cx="1587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76" name="Rectangle 20"/>
            <p:cNvSpPr>
              <a:spLocks noChangeArrowheads="1"/>
            </p:cNvSpPr>
            <p:nvPr/>
          </p:nvSpPr>
          <p:spPr bwMode="auto">
            <a:xfrm>
              <a:off x="3566264" y="5138082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sz="4000"/>
            </a:p>
          </p:txBody>
        </p:sp>
        <p:sp>
          <p:nvSpPr>
            <p:cNvPr id="224277" name="Line 21"/>
            <p:cNvSpPr>
              <a:spLocks noChangeShapeType="1"/>
            </p:cNvSpPr>
            <p:nvPr/>
          </p:nvSpPr>
          <p:spPr bwMode="auto">
            <a:xfrm flipV="1">
              <a:off x="4101251" y="5072996"/>
              <a:ext cx="1588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78" name="Line 22"/>
            <p:cNvSpPr>
              <a:spLocks noChangeShapeType="1"/>
            </p:cNvSpPr>
            <p:nvPr/>
          </p:nvSpPr>
          <p:spPr bwMode="auto">
            <a:xfrm>
              <a:off x="4101251" y="2299632"/>
              <a:ext cx="1588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79" name="Rectangle 23"/>
            <p:cNvSpPr>
              <a:spLocks noChangeArrowheads="1"/>
            </p:cNvSpPr>
            <p:nvPr/>
          </p:nvSpPr>
          <p:spPr bwMode="auto">
            <a:xfrm>
              <a:off x="4026640" y="5138082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0.5</a:t>
              </a:r>
              <a:endParaRPr lang="en-US" sz="4000"/>
            </a:p>
          </p:txBody>
        </p:sp>
        <p:sp>
          <p:nvSpPr>
            <p:cNvPr id="224280" name="Line 24"/>
            <p:cNvSpPr>
              <a:spLocks noChangeShapeType="1"/>
            </p:cNvSpPr>
            <p:nvPr/>
          </p:nvSpPr>
          <p:spPr bwMode="auto">
            <a:xfrm flipV="1">
              <a:off x="4610840" y="5072996"/>
              <a:ext cx="1587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81" name="Line 25"/>
            <p:cNvSpPr>
              <a:spLocks noChangeShapeType="1"/>
            </p:cNvSpPr>
            <p:nvPr/>
          </p:nvSpPr>
          <p:spPr bwMode="auto">
            <a:xfrm>
              <a:off x="4610840" y="2299632"/>
              <a:ext cx="1587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82" name="Rectangle 26"/>
            <p:cNvSpPr>
              <a:spLocks noChangeArrowheads="1"/>
            </p:cNvSpPr>
            <p:nvPr/>
          </p:nvSpPr>
          <p:spPr bwMode="auto">
            <a:xfrm>
              <a:off x="4587026" y="5138082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sz="4000"/>
            </a:p>
          </p:txBody>
        </p:sp>
        <p:sp>
          <p:nvSpPr>
            <p:cNvPr id="224283" name="Line 27"/>
            <p:cNvSpPr>
              <a:spLocks noChangeShapeType="1"/>
            </p:cNvSpPr>
            <p:nvPr/>
          </p:nvSpPr>
          <p:spPr bwMode="auto">
            <a:xfrm flipV="1">
              <a:off x="5122015" y="5072996"/>
              <a:ext cx="1587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84" name="Line 28"/>
            <p:cNvSpPr>
              <a:spLocks noChangeShapeType="1"/>
            </p:cNvSpPr>
            <p:nvPr/>
          </p:nvSpPr>
          <p:spPr bwMode="auto">
            <a:xfrm>
              <a:off x="5122015" y="2299632"/>
              <a:ext cx="1587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85" name="Rectangle 29"/>
            <p:cNvSpPr>
              <a:spLocks noChangeArrowheads="1"/>
            </p:cNvSpPr>
            <p:nvPr/>
          </p:nvSpPr>
          <p:spPr bwMode="auto">
            <a:xfrm>
              <a:off x="5047402" y="5138082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1.5</a:t>
              </a:r>
              <a:endParaRPr lang="en-US" sz="4000"/>
            </a:p>
          </p:txBody>
        </p:sp>
        <p:sp>
          <p:nvSpPr>
            <p:cNvPr id="224286" name="Line 30"/>
            <p:cNvSpPr>
              <a:spLocks noChangeShapeType="1"/>
            </p:cNvSpPr>
            <p:nvPr/>
          </p:nvSpPr>
          <p:spPr bwMode="auto">
            <a:xfrm flipV="1">
              <a:off x="5631601" y="5072996"/>
              <a:ext cx="1588" cy="41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87" name="Line 31"/>
            <p:cNvSpPr>
              <a:spLocks noChangeShapeType="1"/>
            </p:cNvSpPr>
            <p:nvPr/>
          </p:nvSpPr>
          <p:spPr bwMode="auto">
            <a:xfrm>
              <a:off x="5631601" y="2299632"/>
              <a:ext cx="1588" cy="333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88" name="Rectangle 32"/>
            <p:cNvSpPr>
              <a:spLocks noChangeArrowheads="1"/>
            </p:cNvSpPr>
            <p:nvPr/>
          </p:nvSpPr>
          <p:spPr bwMode="auto">
            <a:xfrm>
              <a:off x="5607789" y="5138082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sz="4000"/>
            </a:p>
          </p:txBody>
        </p:sp>
        <p:sp>
          <p:nvSpPr>
            <p:cNvPr id="224289" name="Line 33"/>
            <p:cNvSpPr>
              <a:spLocks noChangeShapeType="1"/>
            </p:cNvSpPr>
            <p:nvPr/>
          </p:nvSpPr>
          <p:spPr bwMode="auto">
            <a:xfrm>
              <a:off x="2059726" y="5114271"/>
              <a:ext cx="3333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90" name="Line 34"/>
            <p:cNvSpPr>
              <a:spLocks noChangeShapeType="1"/>
            </p:cNvSpPr>
            <p:nvPr/>
          </p:nvSpPr>
          <p:spPr bwMode="auto">
            <a:xfrm flipH="1">
              <a:off x="5590327" y="5114271"/>
              <a:ext cx="412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 sz="4000"/>
            </a:p>
          </p:txBody>
        </p:sp>
        <p:sp>
          <p:nvSpPr>
            <p:cNvPr id="224291" name="Rectangle 35"/>
            <p:cNvSpPr>
              <a:spLocks noChangeArrowheads="1"/>
            </p:cNvSpPr>
            <p:nvPr/>
          </p:nvSpPr>
          <p:spPr bwMode="auto">
            <a:xfrm>
              <a:off x="1846688" y="5047596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sz="4000"/>
            </a:p>
          </p:txBody>
        </p:sp>
        <p:sp>
          <p:nvSpPr>
            <p:cNvPr id="224292" name="Line 36"/>
            <p:cNvSpPr>
              <a:spLocks noChangeShapeType="1"/>
            </p:cNvSpPr>
            <p:nvPr/>
          </p:nvSpPr>
          <p:spPr bwMode="auto">
            <a:xfrm>
              <a:off x="2059726" y="4760257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93" name="Line 37"/>
            <p:cNvSpPr>
              <a:spLocks noChangeShapeType="1"/>
            </p:cNvSpPr>
            <p:nvPr/>
          </p:nvSpPr>
          <p:spPr bwMode="auto">
            <a:xfrm flipH="1">
              <a:off x="5590327" y="4760257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94" name="Rectangle 38"/>
            <p:cNvSpPr>
              <a:spLocks noChangeArrowheads="1"/>
            </p:cNvSpPr>
            <p:nvPr/>
          </p:nvSpPr>
          <p:spPr bwMode="auto">
            <a:xfrm>
              <a:off x="1756201" y="4693582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Helvetica" pitchFamily="34" charset="0"/>
                </a:rPr>
                <a:t>0.5</a:t>
              </a:r>
              <a:endParaRPr lang="en-US" sz="4000" dirty="0"/>
            </a:p>
          </p:txBody>
        </p:sp>
        <p:sp>
          <p:nvSpPr>
            <p:cNvPr id="224295" name="Line 39"/>
            <p:cNvSpPr>
              <a:spLocks noChangeShapeType="1"/>
            </p:cNvSpPr>
            <p:nvPr/>
          </p:nvSpPr>
          <p:spPr bwMode="auto">
            <a:xfrm>
              <a:off x="2059726" y="4406246"/>
              <a:ext cx="3333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96" name="Line 40"/>
            <p:cNvSpPr>
              <a:spLocks noChangeShapeType="1"/>
            </p:cNvSpPr>
            <p:nvPr/>
          </p:nvSpPr>
          <p:spPr bwMode="auto">
            <a:xfrm flipH="1">
              <a:off x="5590327" y="4406246"/>
              <a:ext cx="412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97" name="Rectangle 41"/>
            <p:cNvSpPr>
              <a:spLocks noChangeArrowheads="1"/>
            </p:cNvSpPr>
            <p:nvPr/>
          </p:nvSpPr>
          <p:spPr bwMode="auto">
            <a:xfrm>
              <a:off x="1846688" y="4339571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sz="4000"/>
            </a:p>
          </p:txBody>
        </p:sp>
        <p:sp>
          <p:nvSpPr>
            <p:cNvPr id="224298" name="Line 42"/>
            <p:cNvSpPr>
              <a:spLocks noChangeShapeType="1"/>
            </p:cNvSpPr>
            <p:nvPr/>
          </p:nvSpPr>
          <p:spPr bwMode="auto">
            <a:xfrm>
              <a:off x="2059726" y="4052232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299" name="Line 43"/>
            <p:cNvSpPr>
              <a:spLocks noChangeShapeType="1"/>
            </p:cNvSpPr>
            <p:nvPr/>
          </p:nvSpPr>
          <p:spPr bwMode="auto">
            <a:xfrm flipH="1">
              <a:off x="5590327" y="4052232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0" name="Rectangle 44"/>
            <p:cNvSpPr>
              <a:spLocks noChangeArrowheads="1"/>
            </p:cNvSpPr>
            <p:nvPr/>
          </p:nvSpPr>
          <p:spPr bwMode="auto">
            <a:xfrm>
              <a:off x="1756201" y="3985557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Helvetica" pitchFamily="34" charset="0"/>
                </a:rPr>
                <a:t>1.5</a:t>
              </a:r>
              <a:endParaRPr lang="en-US" sz="4000" dirty="0"/>
            </a:p>
          </p:txBody>
        </p:sp>
        <p:sp>
          <p:nvSpPr>
            <p:cNvPr id="224301" name="Line 45"/>
            <p:cNvSpPr>
              <a:spLocks noChangeShapeType="1"/>
            </p:cNvSpPr>
            <p:nvPr/>
          </p:nvSpPr>
          <p:spPr bwMode="auto">
            <a:xfrm>
              <a:off x="2059726" y="3706157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2" name="Line 46"/>
            <p:cNvSpPr>
              <a:spLocks noChangeShapeType="1"/>
            </p:cNvSpPr>
            <p:nvPr/>
          </p:nvSpPr>
          <p:spPr bwMode="auto">
            <a:xfrm flipH="1">
              <a:off x="5590327" y="3706157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3" name="Rectangle 47"/>
            <p:cNvSpPr>
              <a:spLocks noChangeArrowheads="1"/>
            </p:cNvSpPr>
            <p:nvPr/>
          </p:nvSpPr>
          <p:spPr bwMode="auto">
            <a:xfrm>
              <a:off x="1846688" y="3641071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sz="4000"/>
            </a:p>
          </p:txBody>
        </p:sp>
        <p:sp>
          <p:nvSpPr>
            <p:cNvPr id="224304" name="Line 48"/>
            <p:cNvSpPr>
              <a:spLocks noChangeShapeType="1"/>
            </p:cNvSpPr>
            <p:nvPr/>
          </p:nvSpPr>
          <p:spPr bwMode="auto">
            <a:xfrm>
              <a:off x="2059726" y="3352146"/>
              <a:ext cx="3333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5" name="Line 49"/>
            <p:cNvSpPr>
              <a:spLocks noChangeShapeType="1"/>
            </p:cNvSpPr>
            <p:nvPr/>
          </p:nvSpPr>
          <p:spPr bwMode="auto">
            <a:xfrm flipH="1">
              <a:off x="5590327" y="3352146"/>
              <a:ext cx="41275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6" name="Rectangle 50"/>
            <p:cNvSpPr>
              <a:spLocks noChangeArrowheads="1"/>
            </p:cNvSpPr>
            <p:nvPr/>
          </p:nvSpPr>
          <p:spPr bwMode="auto">
            <a:xfrm>
              <a:off x="1756201" y="3287057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Helvetica" pitchFamily="34" charset="0"/>
                </a:rPr>
                <a:t>2.5</a:t>
              </a:r>
              <a:endParaRPr lang="en-US" sz="4000" dirty="0"/>
            </a:p>
          </p:txBody>
        </p:sp>
        <p:sp>
          <p:nvSpPr>
            <p:cNvPr id="224307" name="Line 51"/>
            <p:cNvSpPr>
              <a:spLocks noChangeShapeType="1"/>
            </p:cNvSpPr>
            <p:nvPr/>
          </p:nvSpPr>
          <p:spPr bwMode="auto">
            <a:xfrm>
              <a:off x="2059726" y="2998132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8" name="Line 52"/>
            <p:cNvSpPr>
              <a:spLocks noChangeShapeType="1"/>
            </p:cNvSpPr>
            <p:nvPr/>
          </p:nvSpPr>
          <p:spPr bwMode="auto">
            <a:xfrm flipH="1">
              <a:off x="5590327" y="2998132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09" name="Rectangle 53"/>
            <p:cNvSpPr>
              <a:spLocks noChangeArrowheads="1"/>
            </p:cNvSpPr>
            <p:nvPr/>
          </p:nvSpPr>
          <p:spPr bwMode="auto">
            <a:xfrm>
              <a:off x="1846688" y="2933046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sz="4000"/>
            </a:p>
          </p:txBody>
        </p:sp>
        <p:sp>
          <p:nvSpPr>
            <p:cNvPr id="224310" name="Line 54"/>
            <p:cNvSpPr>
              <a:spLocks noChangeShapeType="1"/>
            </p:cNvSpPr>
            <p:nvPr/>
          </p:nvSpPr>
          <p:spPr bwMode="auto">
            <a:xfrm>
              <a:off x="2059726" y="2645707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1" name="Line 55"/>
            <p:cNvSpPr>
              <a:spLocks noChangeShapeType="1"/>
            </p:cNvSpPr>
            <p:nvPr/>
          </p:nvSpPr>
          <p:spPr bwMode="auto">
            <a:xfrm flipH="1">
              <a:off x="5590327" y="2645707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2" name="Rectangle 56"/>
            <p:cNvSpPr>
              <a:spLocks noChangeArrowheads="1"/>
            </p:cNvSpPr>
            <p:nvPr/>
          </p:nvSpPr>
          <p:spPr bwMode="auto">
            <a:xfrm>
              <a:off x="1756201" y="2579032"/>
              <a:ext cx="24846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3.5</a:t>
              </a:r>
              <a:endParaRPr lang="en-US" sz="4000"/>
            </a:p>
          </p:txBody>
        </p:sp>
        <p:sp>
          <p:nvSpPr>
            <p:cNvPr id="224313" name="Line 57"/>
            <p:cNvSpPr>
              <a:spLocks noChangeShapeType="1"/>
            </p:cNvSpPr>
            <p:nvPr/>
          </p:nvSpPr>
          <p:spPr bwMode="auto">
            <a:xfrm>
              <a:off x="2059726" y="2299632"/>
              <a:ext cx="3333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4" name="Line 58"/>
            <p:cNvSpPr>
              <a:spLocks noChangeShapeType="1"/>
            </p:cNvSpPr>
            <p:nvPr/>
          </p:nvSpPr>
          <p:spPr bwMode="auto">
            <a:xfrm flipH="1">
              <a:off x="5590327" y="2299632"/>
              <a:ext cx="412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5" name="Rectangle 59"/>
            <p:cNvSpPr>
              <a:spLocks noChangeArrowheads="1"/>
            </p:cNvSpPr>
            <p:nvPr/>
          </p:nvSpPr>
          <p:spPr bwMode="auto">
            <a:xfrm>
              <a:off x="1846688" y="2232957"/>
              <a:ext cx="9938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 sz="4000"/>
            </a:p>
          </p:txBody>
        </p:sp>
        <p:sp>
          <p:nvSpPr>
            <p:cNvPr id="224316" name="Line 60"/>
            <p:cNvSpPr>
              <a:spLocks noChangeShapeType="1"/>
            </p:cNvSpPr>
            <p:nvPr/>
          </p:nvSpPr>
          <p:spPr bwMode="auto">
            <a:xfrm>
              <a:off x="2059727" y="2299632"/>
              <a:ext cx="3571875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7" name="Freeform 61"/>
            <p:cNvSpPr>
              <a:spLocks/>
            </p:cNvSpPr>
            <p:nvPr/>
          </p:nvSpPr>
          <p:spPr bwMode="auto">
            <a:xfrm>
              <a:off x="2059727" y="2299632"/>
              <a:ext cx="3571875" cy="2814638"/>
            </a:xfrm>
            <a:custGeom>
              <a:avLst/>
              <a:gdLst/>
              <a:ahLst/>
              <a:cxnLst>
                <a:cxn ang="0">
                  <a:pos x="0" y="342"/>
                </a:cxn>
                <a:cxn ang="0">
                  <a:pos x="434" y="342"/>
                </a:cxn>
                <a:cxn ang="0">
                  <a:pos x="434" y="0"/>
                </a:cxn>
              </a:cxnLst>
              <a:rect l="0" t="0" r="r" b="b"/>
              <a:pathLst>
                <a:path w="434" h="342">
                  <a:moveTo>
                    <a:pt x="0" y="342"/>
                  </a:moveTo>
                  <a:lnTo>
                    <a:pt x="434" y="342"/>
                  </a:ln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4318" name="Line 62"/>
            <p:cNvSpPr>
              <a:spLocks noChangeShapeType="1"/>
            </p:cNvSpPr>
            <p:nvPr/>
          </p:nvSpPr>
          <p:spPr bwMode="auto">
            <a:xfrm flipV="1">
              <a:off x="2059726" y="2299632"/>
              <a:ext cx="1588" cy="28146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2" name="Group 63"/>
            <p:cNvGrpSpPr>
              <a:grpSpLocks/>
            </p:cNvGrpSpPr>
            <p:nvPr/>
          </p:nvGrpSpPr>
          <p:grpSpPr bwMode="auto">
            <a:xfrm>
              <a:off x="2059727" y="4406245"/>
              <a:ext cx="3571875" cy="709612"/>
              <a:chOff x="963" y="3282"/>
              <a:chExt cx="2250" cy="447"/>
            </a:xfrm>
          </p:grpSpPr>
          <p:grpSp>
            <p:nvGrpSpPr>
              <p:cNvPr id="3" name="Group 64"/>
              <p:cNvGrpSpPr>
                <a:grpSpLocks/>
              </p:cNvGrpSpPr>
              <p:nvPr/>
            </p:nvGrpSpPr>
            <p:grpSpPr bwMode="auto">
              <a:xfrm>
                <a:off x="963" y="3282"/>
                <a:ext cx="1628" cy="446"/>
                <a:chOff x="1806" y="2566"/>
                <a:chExt cx="1628" cy="446"/>
              </a:xfrm>
            </p:grpSpPr>
            <p:sp>
              <p:nvSpPr>
                <p:cNvPr id="224321" name="Freeform 65"/>
                <p:cNvSpPr>
                  <a:spLocks/>
                </p:cNvSpPr>
                <p:nvPr/>
              </p:nvSpPr>
              <p:spPr bwMode="auto">
                <a:xfrm>
                  <a:off x="1806" y="2566"/>
                  <a:ext cx="814" cy="1"/>
                </a:xfrm>
                <a:custGeom>
                  <a:avLst/>
                  <a:gdLst/>
                  <a:ahLst/>
                  <a:cxnLst>
                    <a:cxn ang="0">
                      <a:pos x="11" y="0"/>
                    </a:cxn>
                    <a:cxn ang="0">
                      <a:pos x="32" y="0"/>
                    </a:cxn>
                    <a:cxn ang="0">
                      <a:pos x="47" y="0"/>
                    </a:cxn>
                    <a:cxn ang="0">
                      <a:pos x="68" y="0"/>
                    </a:cxn>
                    <a:cxn ang="0">
                      <a:pos x="89" y="0"/>
                    </a:cxn>
                    <a:cxn ang="0">
                      <a:pos x="109" y="0"/>
                    </a:cxn>
                    <a:cxn ang="0">
                      <a:pos x="125" y="0"/>
                    </a:cxn>
                    <a:cxn ang="0">
                      <a:pos x="146" y="0"/>
                    </a:cxn>
                    <a:cxn ang="0">
                      <a:pos x="166" y="0"/>
                    </a:cxn>
                    <a:cxn ang="0">
                      <a:pos x="182" y="0"/>
                    </a:cxn>
                    <a:cxn ang="0">
                      <a:pos x="203" y="0"/>
                    </a:cxn>
                    <a:cxn ang="0">
                      <a:pos x="223" y="0"/>
                    </a:cxn>
                    <a:cxn ang="0">
                      <a:pos x="244" y="0"/>
                    </a:cxn>
                    <a:cxn ang="0">
                      <a:pos x="260" y="0"/>
                    </a:cxn>
                    <a:cxn ang="0">
                      <a:pos x="280" y="0"/>
                    </a:cxn>
                    <a:cxn ang="0">
                      <a:pos x="301" y="0"/>
                    </a:cxn>
                    <a:cxn ang="0">
                      <a:pos x="322" y="0"/>
                    </a:cxn>
                    <a:cxn ang="0">
                      <a:pos x="337" y="0"/>
                    </a:cxn>
                    <a:cxn ang="0">
                      <a:pos x="358" y="0"/>
                    </a:cxn>
                    <a:cxn ang="0">
                      <a:pos x="379" y="0"/>
                    </a:cxn>
                    <a:cxn ang="0">
                      <a:pos x="394" y="0"/>
                    </a:cxn>
                    <a:cxn ang="0">
                      <a:pos x="415" y="0"/>
                    </a:cxn>
                    <a:cxn ang="0">
                      <a:pos x="436" y="0"/>
                    </a:cxn>
                    <a:cxn ang="0">
                      <a:pos x="457" y="0"/>
                    </a:cxn>
                    <a:cxn ang="0">
                      <a:pos x="472" y="0"/>
                    </a:cxn>
                    <a:cxn ang="0">
                      <a:pos x="493" y="0"/>
                    </a:cxn>
                    <a:cxn ang="0">
                      <a:pos x="514" y="0"/>
                    </a:cxn>
                    <a:cxn ang="0">
                      <a:pos x="529" y="0"/>
                    </a:cxn>
                    <a:cxn ang="0">
                      <a:pos x="550" y="0"/>
                    </a:cxn>
                    <a:cxn ang="0">
                      <a:pos x="571" y="0"/>
                    </a:cxn>
                    <a:cxn ang="0">
                      <a:pos x="591" y="0"/>
                    </a:cxn>
                    <a:cxn ang="0">
                      <a:pos x="607" y="0"/>
                    </a:cxn>
                    <a:cxn ang="0">
                      <a:pos x="628" y="0"/>
                    </a:cxn>
                    <a:cxn ang="0">
                      <a:pos x="648" y="0"/>
                    </a:cxn>
                    <a:cxn ang="0">
                      <a:pos x="664" y="0"/>
                    </a:cxn>
                    <a:cxn ang="0">
                      <a:pos x="685" y="0"/>
                    </a:cxn>
                    <a:cxn ang="0">
                      <a:pos x="705" y="0"/>
                    </a:cxn>
                    <a:cxn ang="0">
                      <a:pos x="726" y="0"/>
                    </a:cxn>
                    <a:cxn ang="0">
                      <a:pos x="742" y="0"/>
                    </a:cxn>
                    <a:cxn ang="0">
                      <a:pos x="762" y="0"/>
                    </a:cxn>
                    <a:cxn ang="0">
                      <a:pos x="783" y="0"/>
                    </a:cxn>
                    <a:cxn ang="0">
                      <a:pos x="804" y="0"/>
                    </a:cxn>
                  </a:cxnLst>
                  <a:rect l="0" t="0" r="r" b="b"/>
                  <a:pathLst>
                    <a:path w="814">
                      <a:moveTo>
                        <a:pt x="0" y="0"/>
                      </a:moveTo>
                      <a:lnTo>
                        <a:pt x="6" y="0"/>
                      </a:lnTo>
                      <a:lnTo>
                        <a:pt x="11" y="0"/>
                      </a:lnTo>
                      <a:lnTo>
                        <a:pt x="16" y="0"/>
                      </a:lnTo>
                      <a:lnTo>
                        <a:pt x="21" y="0"/>
                      </a:lnTo>
                      <a:lnTo>
                        <a:pt x="32" y="0"/>
                      </a:lnTo>
                      <a:lnTo>
                        <a:pt x="37" y="0"/>
                      </a:lnTo>
                      <a:lnTo>
                        <a:pt x="42" y="0"/>
                      </a:lnTo>
                      <a:lnTo>
                        <a:pt x="47" y="0"/>
                      </a:lnTo>
                      <a:lnTo>
                        <a:pt x="57" y="0"/>
                      </a:lnTo>
                      <a:lnTo>
                        <a:pt x="63" y="0"/>
                      </a:lnTo>
                      <a:lnTo>
                        <a:pt x="68" y="0"/>
                      </a:lnTo>
                      <a:lnTo>
                        <a:pt x="73" y="0"/>
                      </a:lnTo>
                      <a:lnTo>
                        <a:pt x="83" y="0"/>
                      </a:lnTo>
                      <a:lnTo>
                        <a:pt x="89" y="0"/>
                      </a:lnTo>
                      <a:lnTo>
                        <a:pt x="94" y="0"/>
                      </a:lnTo>
                      <a:lnTo>
                        <a:pt x="99" y="0"/>
                      </a:lnTo>
                      <a:lnTo>
                        <a:pt x="109" y="0"/>
                      </a:lnTo>
                      <a:lnTo>
                        <a:pt x="114" y="0"/>
                      </a:lnTo>
                      <a:lnTo>
                        <a:pt x="120" y="0"/>
                      </a:lnTo>
                      <a:lnTo>
                        <a:pt x="125" y="0"/>
                      </a:lnTo>
                      <a:lnTo>
                        <a:pt x="135" y="0"/>
                      </a:lnTo>
                      <a:lnTo>
                        <a:pt x="140" y="0"/>
                      </a:lnTo>
                      <a:lnTo>
                        <a:pt x="146" y="0"/>
                      </a:lnTo>
                      <a:lnTo>
                        <a:pt x="151" y="0"/>
                      </a:lnTo>
                      <a:lnTo>
                        <a:pt x="161" y="0"/>
                      </a:lnTo>
                      <a:lnTo>
                        <a:pt x="166" y="0"/>
                      </a:lnTo>
                      <a:lnTo>
                        <a:pt x="171" y="0"/>
                      </a:lnTo>
                      <a:lnTo>
                        <a:pt x="177" y="0"/>
                      </a:lnTo>
                      <a:lnTo>
                        <a:pt x="182" y="0"/>
                      </a:lnTo>
                      <a:lnTo>
                        <a:pt x="192" y="0"/>
                      </a:lnTo>
                      <a:lnTo>
                        <a:pt x="197" y="0"/>
                      </a:lnTo>
                      <a:lnTo>
                        <a:pt x="203" y="0"/>
                      </a:lnTo>
                      <a:lnTo>
                        <a:pt x="208" y="0"/>
                      </a:lnTo>
                      <a:lnTo>
                        <a:pt x="218" y="0"/>
                      </a:lnTo>
                      <a:lnTo>
                        <a:pt x="223" y="0"/>
                      </a:lnTo>
                      <a:lnTo>
                        <a:pt x="229" y="0"/>
                      </a:lnTo>
                      <a:lnTo>
                        <a:pt x="234" y="0"/>
                      </a:lnTo>
                      <a:lnTo>
                        <a:pt x="244" y="0"/>
                      </a:lnTo>
                      <a:lnTo>
                        <a:pt x="249" y="0"/>
                      </a:lnTo>
                      <a:lnTo>
                        <a:pt x="254" y="0"/>
                      </a:lnTo>
                      <a:lnTo>
                        <a:pt x="260" y="0"/>
                      </a:lnTo>
                      <a:lnTo>
                        <a:pt x="270" y="0"/>
                      </a:lnTo>
                      <a:lnTo>
                        <a:pt x="275" y="0"/>
                      </a:lnTo>
                      <a:lnTo>
                        <a:pt x="280" y="0"/>
                      </a:lnTo>
                      <a:lnTo>
                        <a:pt x="286" y="0"/>
                      </a:lnTo>
                      <a:lnTo>
                        <a:pt x="296" y="0"/>
                      </a:lnTo>
                      <a:lnTo>
                        <a:pt x="301" y="0"/>
                      </a:lnTo>
                      <a:lnTo>
                        <a:pt x="306" y="0"/>
                      </a:lnTo>
                      <a:lnTo>
                        <a:pt x="311" y="0"/>
                      </a:lnTo>
                      <a:lnTo>
                        <a:pt x="322" y="0"/>
                      </a:lnTo>
                      <a:lnTo>
                        <a:pt x="327" y="0"/>
                      </a:lnTo>
                      <a:lnTo>
                        <a:pt x="332" y="0"/>
                      </a:lnTo>
                      <a:lnTo>
                        <a:pt x="337" y="0"/>
                      </a:lnTo>
                      <a:lnTo>
                        <a:pt x="343" y="0"/>
                      </a:lnTo>
                      <a:lnTo>
                        <a:pt x="353" y="0"/>
                      </a:lnTo>
                      <a:lnTo>
                        <a:pt x="358" y="0"/>
                      </a:lnTo>
                      <a:lnTo>
                        <a:pt x="363" y="0"/>
                      </a:lnTo>
                      <a:lnTo>
                        <a:pt x="368" y="0"/>
                      </a:lnTo>
                      <a:lnTo>
                        <a:pt x="379" y="0"/>
                      </a:lnTo>
                      <a:lnTo>
                        <a:pt x="384" y="0"/>
                      </a:lnTo>
                      <a:lnTo>
                        <a:pt x="389" y="0"/>
                      </a:lnTo>
                      <a:lnTo>
                        <a:pt x="394" y="0"/>
                      </a:lnTo>
                      <a:lnTo>
                        <a:pt x="405" y="0"/>
                      </a:lnTo>
                      <a:lnTo>
                        <a:pt x="410" y="0"/>
                      </a:lnTo>
                      <a:lnTo>
                        <a:pt x="415" y="0"/>
                      </a:lnTo>
                      <a:lnTo>
                        <a:pt x="420" y="0"/>
                      </a:lnTo>
                      <a:lnTo>
                        <a:pt x="431" y="0"/>
                      </a:lnTo>
                      <a:lnTo>
                        <a:pt x="436" y="0"/>
                      </a:lnTo>
                      <a:lnTo>
                        <a:pt x="441" y="0"/>
                      </a:lnTo>
                      <a:lnTo>
                        <a:pt x="446" y="0"/>
                      </a:lnTo>
                      <a:lnTo>
                        <a:pt x="457" y="0"/>
                      </a:lnTo>
                      <a:lnTo>
                        <a:pt x="462" y="0"/>
                      </a:lnTo>
                      <a:lnTo>
                        <a:pt x="467" y="0"/>
                      </a:lnTo>
                      <a:lnTo>
                        <a:pt x="472" y="0"/>
                      </a:lnTo>
                      <a:lnTo>
                        <a:pt x="483" y="0"/>
                      </a:lnTo>
                      <a:lnTo>
                        <a:pt x="488" y="0"/>
                      </a:lnTo>
                      <a:lnTo>
                        <a:pt x="493" y="0"/>
                      </a:lnTo>
                      <a:lnTo>
                        <a:pt x="498" y="0"/>
                      </a:lnTo>
                      <a:lnTo>
                        <a:pt x="503" y="0"/>
                      </a:lnTo>
                      <a:lnTo>
                        <a:pt x="514" y="0"/>
                      </a:lnTo>
                      <a:lnTo>
                        <a:pt x="519" y="0"/>
                      </a:lnTo>
                      <a:lnTo>
                        <a:pt x="524" y="0"/>
                      </a:lnTo>
                      <a:lnTo>
                        <a:pt x="529" y="0"/>
                      </a:lnTo>
                      <a:lnTo>
                        <a:pt x="540" y="0"/>
                      </a:lnTo>
                      <a:lnTo>
                        <a:pt x="545" y="0"/>
                      </a:lnTo>
                      <a:lnTo>
                        <a:pt x="550" y="0"/>
                      </a:lnTo>
                      <a:lnTo>
                        <a:pt x="555" y="0"/>
                      </a:lnTo>
                      <a:lnTo>
                        <a:pt x="565" y="0"/>
                      </a:lnTo>
                      <a:lnTo>
                        <a:pt x="571" y="0"/>
                      </a:lnTo>
                      <a:lnTo>
                        <a:pt x="576" y="0"/>
                      </a:lnTo>
                      <a:lnTo>
                        <a:pt x="581" y="0"/>
                      </a:lnTo>
                      <a:lnTo>
                        <a:pt x="591" y="0"/>
                      </a:lnTo>
                      <a:lnTo>
                        <a:pt x="597" y="0"/>
                      </a:lnTo>
                      <a:lnTo>
                        <a:pt x="602" y="0"/>
                      </a:lnTo>
                      <a:lnTo>
                        <a:pt x="607" y="0"/>
                      </a:lnTo>
                      <a:lnTo>
                        <a:pt x="617" y="0"/>
                      </a:lnTo>
                      <a:lnTo>
                        <a:pt x="622" y="0"/>
                      </a:lnTo>
                      <a:lnTo>
                        <a:pt x="628" y="0"/>
                      </a:lnTo>
                      <a:lnTo>
                        <a:pt x="633" y="0"/>
                      </a:lnTo>
                      <a:lnTo>
                        <a:pt x="643" y="0"/>
                      </a:lnTo>
                      <a:lnTo>
                        <a:pt x="648" y="0"/>
                      </a:lnTo>
                      <a:lnTo>
                        <a:pt x="654" y="0"/>
                      </a:lnTo>
                      <a:lnTo>
                        <a:pt x="659" y="0"/>
                      </a:lnTo>
                      <a:lnTo>
                        <a:pt x="664" y="0"/>
                      </a:lnTo>
                      <a:lnTo>
                        <a:pt x="674" y="0"/>
                      </a:lnTo>
                      <a:lnTo>
                        <a:pt x="680" y="0"/>
                      </a:lnTo>
                      <a:lnTo>
                        <a:pt x="685" y="0"/>
                      </a:lnTo>
                      <a:lnTo>
                        <a:pt x="690" y="0"/>
                      </a:lnTo>
                      <a:lnTo>
                        <a:pt x="700" y="0"/>
                      </a:lnTo>
                      <a:lnTo>
                        <a:pt x="705" y="0"/>
                      </a:lnTo>
                      <a:lnTo>
                        <a:pt x="711" y="0"/>
                      </a:lnTo>
                      <a:lnTo>
                        <a:pt x="716" y="0"/>
                      </a:lnTo>
                      <a:lnTo>
                        <a:pt x="726" y="0"/>
                      </a:lnTo>
                      <a:lnTo>
                        <a:pt x="731" y="0"/>
                      </a:lnTo>
                      <a:lnTo>
                        <a:pt x="737" y="0"/>
                      </a:lnTo>
                      <a:lnTo>
                        <a:pt x="742" y="0"/>
                      </a:lnTo>
                      <a:lnTo>
                        <a:pt x="752" y="0"/>
                      </a:lnTo>
                      <a:lnTo>
                        <a:pt x="757" y="0"/>
                      </a:lnTo>
                      <a:lnTo>
                        <a:pt x="762" y="0"/>
                      </a:lnTo>
                      <a:lnTo>
                        <a:pt x="768" y="0"/>
                      </a:lnTo>
                      <a:lnTo>
                        <a:pt x="778" y="0"/>
                      </a:lnTo>
                      <a:lnTo>
                        <a:pt x="783" y="0"/>
                      </a:lnTo>
                      <a:lnTo>
                        <a:pt x="788" y="0"/>
                      </a:lnTo>
                      <a:lnTo>
                        <a:pt x="794" y="0"/>
                      </a:lnTo>
                      <a:lnTo>
                        <a:pt x="804" y="0"/>
                      </a:lnTo>
                      <a:lnTo>
                        <a:pt x="809" y="0"/>
                      </a:lnTo>
                      <a:lnTo>
                        <a:pt x="814" y="0"/>
                      </a:lnTo>
                    </a:path>
                  </a:pathLst>
                </a:custGeom>
                <a:noFill/>
                <a:ln w="28575" cmpd="sng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  <p:sp>
              <p:nvSpPr>
                <p:cNvPr id="224322" name="Freeform 66"/>
                <p:cNvSpPr>
                  <a:spLocks/>
                </p:cNvSpPr>
                <p:nvPr/>
              </p:nvSpPr>
              <p:spPr bwMode="auto">
                <a:xfrm>
                  <a:off x="2620" y="2566"/>
                  <a:ext cx="814" cy="446"/>
                </a:xfrm>
                <a:custGeom>
                  <a:avLst/>
                  <a:gdLst/>
                  <a:ahLst/>
                  <a:cxnLst>
                    <a:cxn ang="0">
                      <a:pos x="11" y="0"/>
                    </a:cxn>
                    <a:cxn ang="0">
                      <a:pos x="31" y="0"/>
                    </a:cxn>
                    <a:cxn ang="0">
                      <a:pos x="52" y="0"/>
                    </a:cxn>
                    <a:cxn ang="0">
                      <a:pos x="73" y="0"/>
                    </a:cxn>
                    <a:cxn ang="0">
                      <a:pos x="88" y="0"/>
                    </a:cxn>
                    <a:cxn ang="0">
                      <a:pos x="109" y="0"/>
                    </a:cxn>
                    <a:cxn ang="0">
                      <a:pos x="130" y="0"/>
                    </a:cxn>
                    <a:cxn ang="0">
                      <a:pos x="151" y="223"/>
                    </a:cxn>
                    <a:cxn ang="0">
                      <a:pos x="166" y="446"/>
                    </a:cxn>
                    <a:cxn ang="0">
                      <a:pos x="187" y="446"/>
                    </a:cxn>
                    <a:cxn ang="0">
                      <a:pos x="208" y="446"/>
                    </a:cxn>
                    <a:cxn ang="0">
                      <a:pos x="223" y="446"/>
                    </a:cxn>
                    <a:cxn ang="0">
                      <a:pos x="244" y="446"/>
                    </a:cxn>
                    <a:cxn ang="0">
                      <a:pos x="265" y="446"/>
                    </a:cxn>
                    <a:cxn ang="0">
                      <a:pos x="285" y="446"/>
                    </a:cxn>
                    <a:cxn ang="0">
                      <a:pos x="301" y="446"/>
                    </a:cxn>
                    <a:cxn ang="0">
                      <a:pos x="322" y="446"/>
                    </a:cxn>
                    <a:cxn ang="0">
                      <a:pos x="342" y="446"/>
                    </a:cxn>
                    <a:cxn ang="0">
                      <a:pos x="358" y="446"/>
                    </a:cxn>
                    <a:cxn ang="0">
                      <a:pos x="379" y="446"/>
                    </a:cxn>
                    <a:cxn ang="0">
                      <a:pos x="399" y="446"/>
                    </a:cxn>
                    <a:cxn ang="0">
                      <a:pos x="420" y="446"/>
                    </a:cxn>
                    <a:cxn ang="0">
                      <a:pos x="436" y="446"/>
                    </a:cxn>
                    <a:cxn ang="0">
                      <a:pos x="456" y="446"/>
                    </a:cxn>
                    <a:cxn ang="0">
                      <a:pos x="477" y="446"/>
                    </a:cxn>
                    <a:cxn ang="0">
                      <a:pos x="493" y="446"/>
                    </a:cxn>
                    <a:cxn ang="0">
                      <a:pos x="514" y="446"/>
                    </a:cxn>
                    <a:cxn ang="0">
                      <a:pos x="534" y="446"/>
                    </a:cxn>
                    <a:cxn ang="0">
                      <a:pos x="555" y="446"/>
                    </a:cxn>
                    <a:cxn ang="0">
                      <a:pos x="571" y="446"/>
                    </a:cxn>
                    <a:cxn ang="0">
                      <a:pos x="591" y="446"/>
                    </a:cxn>
                    <a:cxn ang="0">
                      <a:pos x="612" y="446"/>
                    </a:cxn>
                    <a:cxn ang="0">
                      <a:pos x="633" y="446"/>
                    </a:cxn>
                    <a:cxn ang="0">
                      <a:pos x="648" y="446"/>
                    </a:cxn>
                    <a:cxn ang="0">
                      <a:pos x="669" y="446"/>
                    </a:cxn>
                    <a:cxn ang="0">
                      <a:pos x="690" y="446"/>
                    </a:cxn>
                    <a:cxn ang="0">
                      <a:pos x="705" y="446"/>
                    </a:cxn>
                    <a:cxn ang="0">
                      <a:pos x="726" y="446"/>
                    </a:cxn>
                    <a:cxn ang="0">
                      <a:pos x="747" y="446"/>
                    </a:cxn>
                    <a:cxn ang="0">
                      <a:pos x="768" y="446"/>
                    </a:cxn>
                    <a:cxn ang="0">
                      <a:pos x="783" y="446"/>
                    </a:cxn>
                    <a:cxn ang="0">
                      <a:pos x="804" y="446"/>
                    </a:cxn>
                  </a:cxnLst>
                  <a:rect l="0" t="0" r="r" b="b"/>
                  <a:pathLst>
                    <a:path w="814" h="446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11" y="0"/>
                      </a:lnTo>
                      <a:lnTo>
                        <a:pt x="21" y="0"/>
                      </a:lnTo>
                      <a:lnTo>
                        <a:pt x="26" y="0"/>
                      </a:lnTo>
                      <a:lnTo>
                        <a:pt x="31" y="0"/>
                      </a:lnTo>
                      <a:lnTo>
                        <a:pt x="37" y="0"/>
                      </a:lnTo>
                      <a:lnTo>
                        <a:pt x="47" y="0"/>
                      </a:lnTo>
                      <a:lnTo>
                        <a:pt x="52" y="0"/>
                      </a:lnTo>
                      <a:lnTo>
                        <a:pt x="57" y="0"/>
                      </a:lnTo>
                      <a:lnTo>
                        <a:pt x="63" y="0"/>
                      </a:lnTo>
                      <a:lnTo>
                        <a:pt x="73" y="0"/>
                      </a:lnTo>
                      <a:lnTo>
                        <a:pt x="78" y="0"/>
                      </a:lnTo>
                      <a:lnTo>
                        <a:pt x="83" y="0"/>
                      </a:lnTo>
                      <a:lnTo>
                        <a:pt x="88" y="0"/>
                      </a:lnTo>
                      <a:lnTo>
                        <a:pt x="99" y="0"/>
                      </a:lnTo>
                      <a:lnTo>
                        <a:pt x="104" y="0"/>
                      </a:lnTo>
                      <a:lnTo>
                        <a:pt x="109" y="0"/>
                      </a:lnTo>
                      <a:lnTo>
                        <a:pt x="114" y="0"/>
                      </a:lnTo>
                      <a:lnTo>
                        <a:pt x="125" y="0"/>
                      </a:lnTo>
                      <a:lnTo>
                        <a:pt x="130" y="0"/>
                      </a:lnTo>
                      <a:lnTo>
                        <a:pt x="135" y="0"/>
                      </a:lnTo>
                      <a:lnTo>
                        <a:pt x="140" y="0"/>
                      </a:lnTo>
                      <a:lnTo>
                        <a:pt x="151" y="223"/>
                      </a:lnTo>
                      <a:lnTo>
                        <a:pt x="156" y="446"/>
                      </a:lnTo>
                      <a:lnTo>
                        <a:pt x="161" y="446"/>
                      </a:lnTo>
                      <a:lnTo>
                        <a:pt x="166" y="446"/>
                      </a:lnTo>
                      <a:lnTo>
                        <a:pt x="171" y="446"/>
                      </a:lnTo>
                      <a:lnTo>
                        <a:pt x="182" y="446"/>
                      </a:lnTo>
                      <a:lnTo>
                        <a:pt x="187" y="446"/>
                      </a:lnTo>
                      <a:lnTo>
                        <a:pt x="192" y="446"/>
                      </a:lnTo>
                      <a:lnTo>
                        <a:pt x="197" y="446"/>
                      </a:lnTo>
                      <a:lnTo>
                        <a:pt x="208" y="446"/>
                      </a:lnTo>
                      <a:lnTo>
                        <a:pt x="213" y="446"/>
                      </a:lnTo>
                      <a:lnTo>
                        <a:pt x="218" y="446"/>
                      </a:lnTo>
                      <a:lnTo>
                        <a:pt x="223" y="446"/>
                      </a:lnTo>
                      <a:lnTo>
                        <a:pt x="234" y="446"/>
                      </a:lnTo>
                      <a:lnTo>
                        <a:pt x="239" y="446"/>
                      </a:lnTo>
                      <a:lnTo>
                        <a:pt x="244" y="446"/>
                      </a:lnTo>
                      <a:lnTo>
                        <a:pt x="249" y="446"/>
                      </a:lnTo>
                      <a:lnTo>
                        <a:pt x="260" y="446"/>
                      </a:lnTo>
                      <a:lnTo>
                        <a:pt x="265" y="446"/>
                      </a:lnTo>
                      <a:lnTo>
                        <a:pt x="270" y="446"/>
                      </a:lnTo>
                      <a:lnTo>
                        <a:pt x="275" y="446"/>
                      </a:lnTo>
                      <a:lnTo>
                        <a:pt x="285" y="446"/>
                      </a:lnTo>
                      <a:lnTo>
                        <a:pt x="291" y="446"/>
                      </a:lnTo>
                      <a:lnTo>
                        <a:pt x="296" y="446"/>
                      </a:lnTo>
                      <a:lnTo>
                        <a:pt x="301" y="446"/>
                      </a:lnTo>
                      <a:lnTo>
                        <a:pt x="311" y="446"/>
                      </a:lnTo>
                      <a:lnTo>
                        <a:pt x="317" y="446"/>
                      </a:lnTo>
                      <a:lnTo>
                        <a:pt x="322" y="446"/>
                      </a:lnTo>
                      <a:lnTo>
                        <a:pt x="327" y="446"/>
                      </a:lnTo>
                      <a:lnTo>
                        <a:pt x="332" y="446"/>
                      </a:lnTo>
                      <a:lnTo>
                        <a:pt x="342" y="446"/>
                      </a:lnTo>
                      <a:lnTo>
                        <a:pt x="348" y="446"/>
                      </a:lnTo>
                      <a:lnTo>
                        <a:pt x="353" y="446"/>
                      </a:lnTo>
                      <a:lnTo>
                        <a:pt x="358" y="446"/>
                      </a:lnTo>
                      <a:lnTo>
                        <a:pt x="368" y="446"/>
                      </a:lnTo>
                      <a:lnTo>
                        <a:pt x="374" y="446"/>
                      </a:lnTo>
                      <a:lnTo>
                        <a:pt x="379" y="446"/>
                      </a:lnTo>
                      <a:lnTo>
                        <a:pt x="384" y="446"/>
                      </a:lnTo>
                      <a:lnTo>
                        <a:pt x="394" y="446"/>
                      </a:lnTo>
                      <a:lnTo>
                        <a:pt x="399" y="446"/>
                      </a:lnTo>
                      <a:lnTo>
                        <a:pt x="405" y="446"/>
                      </a:lnTo>
                      <a:lnTo>
                        <a:pt x="410" y="446"/>
                      </a:lnTo>
                      <a:lnTo>
                        <a:pt x="420" y="446"/>
                      </a:lnTo>
                      <a:lnTo>
                        <a:pt x="425" y="446"/>
                      </a:lnTo>
                      <a:lnTo>
                        <a:pt x="431" y="446"/>
                      </a:lnTo>
                      <a:lnTo>
                        <a:pt x="436" y="446"/>
                      </a:lnTo>
                      <a:lnTo>
                        <a:pt x="446" y="446"/>
                      </a:lnTo>
                      <a:lnTo>
                        <a:pt x="451" y="446"/>
                      </a:lnTo>
                      <a:lnTo>
                        <a:pt x="456" y="446"/>
                      </a:lnTo>
                      <a:lnTo>
                        <a:pt x="462" y="446"/>
                      </a:lnTo>
                      <a:lnTo>
                        <a:pt x="472" y="446"/>
                      </a:lnTo>
                      <a:lnTo>
                        <a:pt x="477" y="446"/>
                      </a:lnTo>
                      <a:lnTo>
                        <a:pt x="482" y="446"/>
                      </a:lnTo>
                      <a:lnTo>
                        <a:pt x="488" y="446"/>
                      </a:lnTo>
                      <a:lnTo>
                        <a:pt x="493" y="446"/>
                      </a:lnTo>
                      <a:lnTo>
                        <a:pt x="503" y="446"/>
                      </a:lnTo>
                      <a:lnTo>
                        <a:pt x="508" y="446"/>
                      </a:lnTo>
                      <a:lnTo>
                        <a:pt x="514" y="446"/>
                      </a:lnTo>
                      <a:lnTo>
                        <a:pt x="519" y="446"/>
                      </a:lnTo>
                      <a:lnTo>
                        <a:pt x="529" y="446"/>
                      </a:lnTo>
                      <a:lnTo>
                        <a:pt x="534" y="446"/>
                      </a:lnTo>
                      <a:lnTo>
                        <a:pt x="539" y="446"/>
                      </a:lnTo>
                      <a:lnTo>
                        <a:pt x="545" y="446"/>
                      </a:lnTo>
                      <a:lnTo>
                        <a:pt x="555" y="446"/>
                      </a:lnTo>
                      <a:lnTo>
                        <a:pt x="560" y="446"/>
                      </a:lnTo>
                      <a:lnTo>
                        <a:pt x="565" y="446"/>
                      </a:lnTo>
                      <a:lnTo>
                        <a:pt x="571" y="446"/>
                      </a:lnTo>
                      <a:lnTo>
                        <a:pt x="581" y="446"/>
                      </a:lnTo>
                      <a:lnTo>
                        <a:pt x="586" y="446"/>
                      </a:lnTo>
                      <a:lnTo>
                        <a:pt x="591" y="446"/>
                      </a:lnTo>
                      <a:lnTo>
                        <a:pt x="596" y="446"/>
                      </a:lnTo>
                      <a:lnTo>
                        <a:pt x="607" y="446"/>
                      </a:lnTo>
                      <a:lnTo>
                        <a:pt x="612" y="446"/>
                      </a:lnTo>
                      <a:lnTo>
                        <a:pt x="617" y="446"/>
                      </a:lnTo>
                      <a:lnTo>
                        <a:pt x="622" y="446"/>
                      </a:lnTo>
                      <a:lnTo>
                        <a:pt x="633" y="446"/>
                      </a:lnTo>
                      <a:lnTo>
                        <a:pt x="638" y="446"/>
                      </a:lnTo>
                      <a:lnTo>
                        <a:pt x="643" y="446"/>
                      </a:lnTo>
                      <a:lnTo>
                        <a:pt x="648" y="446"/>
                      </a:lnTo>
                      <a:lnTo>
                        <a:pt x="653" y="446"/>
                      </a:lnTo>
                      <a:lnTo>
                        <a:pt x="664" y="446"/>
                      </a:lnTo>
                      <a:lnTo>
                        <a:pt x="669" y="446"/>
                      </a:lnTo>
                      <a:lnTo>
                        <a:pt x="674" y="446"/>
                      </a:lnTo>
                      <a:lnTo>
                        <a:pt x="679" y="446"/>
                      </a:lnTo>
                      <a:lnTo>
                        <a:pt x="690" y="446"/>
                      </a:lnTo>
                      <a:lnTo>
                        <a:pt x="695" y="446"/>
                      </a:lnTo>
                      <a:lnTo>
                        <a:pt x="700" y="446"/>
                      </a:lnTo>
                      <a:lnTo>
                        <a:pt x="705" y="446"/>
                      </a:lnTo>
                      <a:lnTo>
                        <a:pt x="716" y="446"/>
                      </a:lnTo>
                      <a:lnTo>
                        <a:pt x="721" y="446"/>
                      </a:lnTo>
                      <a:lnTo>
                        <a:pt x="726" y="446"/>
                      </a:lnTo>
                      <a:lnTo>
                        <a:pt x="731" y="446"/>
                      </a:lnTo>
                      <a:lnTo>
                        <a:pt x="742" y="446"/>
                      </a:lnTo>
                      <a:lnTo>
                        <a:pt x="747" y="446"/>
                      </a:lnTo>
                      <a:lnTo>
                        <a:pt x="752" y="446"/>
                      </a:lnTo>
                      <a:lnTo>
                        <a:pt x="757" y="446"/>
                      </a:lnTo>
                      <a:lnTo>
                        <a:pt x="768" y="446"/>
                      </a:lnTo>
                      <a:lnTo>
                        <a:pt x="773" y="446"/>
                      </a:lnTo>
                      <a:lnTo>
                        <a:pt x="778" y="446"/>
                      </a:lnTo>
                      <a:lnTo>
                        <a:pt x="783" y="446"/>
                      </a:lnTo>
                      <a:lnTo>
                        <a:pt x="793" y="446"/>
                      </a:lnTo>
                      <a:lnTo>
                        <a:pt x="799" y="446"/>
                      </a:lnTo>
                      <a:lnTo>
                        <a:pt x="804" y="446"/>
                      </a:lnTo>
                      <a:lnTo>
                        <a:pt x="809" y="446"/>
                      </a:lnTo>
                      <a:lnTo>
                        <a:pt x="814" y="446"/>
                      </a:lnTo>
                    </a:path>
                  </a:pathLst>
                </a:custGeom>
                <a:noFill/>
                <a:ln w="28575" cmpd="sng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sp>
            <p:nvSpPr>
              <p:cNvPr id="224323" name="Freeform 67"/>
              <p:cNvSpPr>
                <a:spLocks/>
              </p:cNvSpPr>
              <p:nvPr/>
            </p:nvSpPr>
            <p:spPr bwMode="auto">
              <a:xfrm>
                <a:off x="2591" y="3728"/>
                <a:ext cx="622" cy="1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21" y="0"/>
                  </a:cxn>
                  <a:cxn ang="0">
                    <a:pos x="36" y="0"/>
                  </a:cxn>
                  <a:cxn ang="0">
                    <a:pos x="47" y="0"/>
                  </a:cxn>
                  <a:cxn ang="0">
                    <a:pos x="62" y="0"/>
                  </a:cxn>
                  <a:cxn ang="0">
                    <a:pos x="73" y="0"/>
                  </a:cxn>
                  <a:cxn ang="0">
                    <a:pos x="88" y="0"/>
                  </a:cxn>
                  <a:cxn ang="0">
                    <a:pos x="99" y="0"/>
                  </a:cxn>
                  <a:cxn ang="0">
                    <a:pos x="114" y="0"/>
                  </a:cxn>
                  <a:cxn ang="0">
                    <a:pos x="125" y="0"/>
                  </a:cxn>
                  <a:cxn ang="0">
                    <a:pos x="140" y="0"/>
                  </a:cxn>
                  <a:cxn ang="0">
                    <a:pos x="151" y="0"/>
                  </a:cxn>
                  <a:cxn ang="0">
                    <a:pos x="161" y="0"/>
                  </a:cxn>
                  <a:cxn ang="0">
                    <a:pos x="176" y="0"/>
                  </a:cxn>
                  <a:cxn ang="0">
                    <a:pos x="187" y="0"/>
                  </a:cxn>
                  <a:cxn ang="0">
                    <a:pos x="202" y="0"/>
                  </a:cxn>
                  <a:cxn ang="0">
                    <a:pos x="213" y="0"/>
                  </a:cxn>
                  <a:cxn ang="0">
                    <a:pos x="228" y="0"/>
                  </a:cxn>
                  <a:cxn ang="0">
                    <a:pos x="239" y="0"/>
                  </a:cxn>
                  <a:cxn ang="0">
                    <a:pos x="254" y="0"/>
                  </a:cxn>
                  <a:cxn ang="0">
                    <a:pos x="265" y="0"/>
                  </a:cxn>
                  <a:cxn ang="0">
                    <a:pos x="280" y="0"/>
                  </a:cxn>
                  <a:cxn ang="0">
                    <a:pos x="290" y="0"/>
                  </a:cxn>
                  <a:cxn ang="0">
                    <a:pos x="306" y="0"/>
                  </a:cxn>
                  <a:cxn ang="0">
                    <a:pos x="316" y="0"/>
                  </a:cxn>
                  <a:cxn ang="0">
                    <a:pos x="332" y="0"/>
                  </a:cxn>
                  <a:cxn ang="0">
                    <a:pos x="342" y="0"/>
                  </a:cxn>
                  <a:cxn ang="0">
                    <a:pos x="358" y="0"/>
                  </a:cxn>
                  <a:cxn ang="0">
                    <a:pos x="368" y="0"/>
                  </a:cxn>
                  <a:cxn ang="0">
                    <a:pos x="384" y="0"/>
                  </a:cxn>
                  <a:cxn ang="0">
                    <a:pos x="394" y="0"/>
                  </a:cxn>
                  <a:cxn ang="0">
                    <a:pos x="410" y="0"/>
                  </a:cxn>
                  <a:cxn ang="0">
                    <a:pos x="420" y="0"/>
                  </a:cxn>
                  <a:cxn ang="0">
                    <a:pos x="436" y="0"/>
                  </a:cxn>
                  <a:cxn ang="0">
                    <a:pos x="446" y="0"/>
                  </a:cxn>
                  <a:cxn ang="0">
                    <a:pos x="462" y="0"/>
                  </a:cxn>
                  <a:cxn ang="0">
                    <a:pos x="472" y="0"/>
                  </a:cxn>
                  <a:cxn ang="0">
                    <a:pos x="482" y="0"/>
                  </a:cxn>
                  <a:cxn ang="0">
                    <a:pos x="498" y="0"/>
                  </a:cxn>
                  <a:cxn ang="0">
                    <a:pos x="508" y="0"/>
                  </a:cxn>
                  <a:cxn ang="0">
                    <a:pos x="524" y="0"/>
                  </a:cxn>
                  <a:cxn ang="0">
                    <a:pos x="534" y="0"/>
                  </a:cxn>
                  <a:cxn ang="0">
                    <a:pos x="550" y="0"/>
                  </a:cxn>
                  <a:cxn ang="0">
                    <a:pos x="560" y="0"/>
                  </a:cxn>
                  <a:cxn ang="0">
                    <a:pos x="576" y="0"/>
                  </a:cxn>
                  <a:cxn ang="0">
                    <a:pos x="586" y="0"/>
                  </a:cxn>
                  <a:cxn ang="0">
                    <a:pos x="602" y="0"/>
                  </a:cxn>
                  <a:cxn ang="0">
                    <a:pos x="612" y="0"/>
                  </a:cxn>
                </a:cxnLst>
                <a:rect l="0" t="0" r="r" b="b"/>
                <a:pathLst>
                  <a:path w="622">
                    <a:moveTo>
                      <a:pt x="0" y="0"/>
                    </a:moveTo>
                    <a:lnTo>
                      <a:pt x="11" y="0"/>
                    </a:lnTo>
                    <a:lnTo>
                      <a:pt x="16" y="0"/>
                    </a:lnTo>
                    <a:lnTo>
                      <a:pt x="21" y="0"/>
                    </a:lnTo>
                    <a:lnTo>
                      <a:pt x="26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7" y="0"/>
                    </a:lnTo>
                    <a:lnTo>
                      <a:pt x="52" y="0"/>
                    </a:lnTo>
                    <a:lnTo>
                      <a:pt x="62" y="0"/>
                    </a:lnTo>
                    <a:lnTo>
                      <a:pt x="68" y="0"/>
                    </a:lnTo>
                    <a:lnTo>
                      <a:pt x="73" y="0"/>
                    </a:lnTo>
                    <a:lnTo>
                      <a:pt x="78" y="0"/>
                    </a:lnTo>
                    <a:lnTo>
                      <a:pt x="88" y="0"/>
                    </a:lnTo>
                    <a:lnTo>
                      <a:pt x="93" y="0"/>
                    </a:lnTo>
                    <a:lnTo>
                      <a:pt x="99" y="0"/>
                    </a:lnTo>
                    <a:lnTo>
                      <a:pt x="104" y="0"/>
                    </a:lnTo>
                    <a:lnTo>
                      <a:pt x="114" y="0"/>
                    </a:lnTo>
                    <a:lnTo>
                      <a:pt x="119" y="0"/>
                    </a:lnTo>
                    <a:lnTo>
                      <a:pt x="125" y="0"/>
                    </a:lnTo>
                    <a:lnTo>
                      <a:pt x="130" y="0"/>
                    </a:lnTo>
                    <a:lnTo>
                      <a:pt x="140" y="0"/>
                    </a:lnTo>
                    <a:lnTo>
                      <a:pt x="145" y="0"/>
                    </a:lnTo>
                    <a:lnTo>
                      <a:pt x="151" y="0"/>
                    </a:lnTo>
                    <a:lnTo>
                      <a:pt x="156" y="0"/>
                    </a:lnTo>
                    <a:lnTo>
                      <a:pt x="161" y="0"/>
                    </a:lnTo>
                    <a:lnTo>
                      <a:pt x="171" y="0"/>
                    </a:lnTo>
                    <a:lnTo>
                      <a:pt x="176" y="0"/>
                    </a:lnTo>
                    <a:lnTo>
                      <a:pt x="182" y="0"/>
                    </a:lnTo>
                    <a:lnTo>
                      <a:pt x="187" y="0"/>
                    </a:lnTo>
                    <a:lnTo>
                      <a:pt x="197" y="0"/>
                    </a:lnTo>
                    <a:lnTo>
                      <a:pt x="202" y="0"/>
                    </a:lnTo>
                    <a:lnTo>
                      <a:pt x="208" y="0"/>
                    </a:lnTo>
                    <a:lnTo>
                      <a:pt x="213" y="0"/>
                    </a:lnTo>
                    <a:lnTo>
                      <a:pt x="223" y="0"/>
                    </a:lnTo>
                    <a:lnTo>
                      <a:pt x="228" y="0"/>
                    </a:lnTo>
                    <a:lnTo>
                      <a:pt x="233" y="0"/>
                    </a:lnTo>
                    <a:lnTo>
                      <a:pt x="239" y="0"/>
                    </a:lnTo>
                    <a:lnTo>
                      <a:pt x="249" y="0"/>
                    </a:lnTo>
                    <a:lnTo>
                      <a:pt x="254" y="0"/>
                    </a:lnTo>
                    <a:lnTo>
                      <a:pt x="259" y="0"/>
                    </a:lnTo>
                    <a:lnTo>
                      <a:pt x="265" y="0"/>
                    </a:lnTo>
                    <a:lnTo>
                      <a:pt x="275" y="0"/>
                    </a:lnTo>
                    <a:lnTo>
                      <a:pt x="280" y="0"/>
                    </a:lnTo>
                    <a:lnTo>
                      <a:pt x="285" y="0"/>
                    </a:lnTo>
                    <a:lnTo>
                      <a:pt x="290" y="0"/>
                    </a:lnTo>
                    <a:lnTo>
                      <a:pt x="301" y="0"/>
                    </a:lnTo>
                    <a:lnTo>
                      <a:pt x="306" y="0"/>
                    </a:lnTo>
                    <a:lnTo>
                      <a:pt x="311" y="0"/>
                    </a:lnTo>
                    <a:lnTo>
                      <a:pt x="316" y="0"/>
                    </a:lnTo>
                    <a:lnTo>
                      <a:pt x="322" y="0"/>
                    </a:lnTo>
                    <a:lnTo>
                      <a:pt x="332" y="0"/>
                    </a:lnTo>
                    <a:lnTo>
                      <a:pt x="337" y="0"/>
                    </a:lnTo>
                    <a:lnTo>
                      <a:pt x="342" y="0"/>
                    </a:lnTo>
                    <a:lnTo>
                      <a:pt x="348" y="0"/>
                    </a:lnTo>
                    <a:lnTo>
                      <a:pt x="358" y="0"/>
                    </a:lnTo>
                    <a:lnTo>
                      <a:pt x="363" y="0"/>
                    </a:lnTo>
                    <a:lnTo>
                      <a:pt x="368" y="0"/>
                    </a:lnTo>
                    <a:lnTo>
                      <a:pt x="373" y="0"/>
                    </a:lnTo>
                    <a:lnTo>
                      <a:pt x="384" y="0"/>
                    </a:lnTo>
                    <a:lnTo>
                      <a:pt x="389" y="0"/>
                    </a:lnTo>
                    <a:lnTo>
                      <a:pt x="394" y="0"/>
                    </a:lnTo>
                    <a:lnTo>
                      <a:pt x="399" y="0"/>
                    </a:lnTo>
                    <a:lnTo>
                      <a:pt x="410" y="0"/>
                    </a:lnTo>
                    <a:lnTo>
                      <a:pt x="415" y="0"/>
                    </a:lnTo>
                    <a:lnTo>
                      <a:pt x="420" y="0"/>
                    </a:lnTo>
                    <a:lnTo>
                      <a:pt x="425" y="0"/>
                    </a:lnTo>
                    <a:lnTo>
                      <a:pt x="436" y="0"/>
                    </a:lnTo>
                    <a:lnTo>
                      <a:pt x="441" y="0"/>
                    </a:lnTo>
                    <a:lnTo>
                      <a:pt x="446" y="0"/>
                    </a:lnTo>
                    <a:lnTo>
                      <a:pt x="451" y="0"/>
                    </a:lnTo>
                    <a:lnTo>
                      <a:pt x="462" y="0"/>
                    </a:lnTo>
                    <a:lnTo>
                      <a:pt x="467" y="0"/>
                    </a:lnTo>
                    <a:lnTo>
                      <a:pt x="472" y="0"/>
                    </a:lnTo>
                    <a:lnTo>
                      <a:pt x="477" y="0"/>
                    </a:lnTo>
                    <a:lnTo>
                      <a:pt x="482" y="0"/>
                    </a:lnTo>
                    <a:lnTo>
                      <a:pt x="493" y="0"/>
                    </a:lnTo>
                    <a:lnTo>
                      <a:pt x="498" y="0"/>
                    </a:lnTo>
                    <a:lnTo>
                      <a:pt x="503" y="0"/>
                    </a:lnTo>
                    <a:lnTo>
                      <a:pt x="508" y="0"/>
                    </a:lnTo>
                    <a:lnTo>
                      <a:pt x="519" y="0"/>
                    </a:lnTo>
                    <a:lnTo>
                      <a:pt x="524" y="0"/>
                    </a:lnTo>
                    <a:lnTo>
                      <a:pt x="529" y="0"/>
                    </a:lnTo>
                    <a:lnTo>
                      <a:pt x="534" y="0"/>
                    </a:lnTo>
                    <a:lnTo>
                      <a:pt x="544" y="0"/>
                    </a:lnTo>
                    <a:lnTo>
                      <a:pt x="550" y="0"/>
                    </a:lnTo>
                    <a:lnTo>
                      <a:pt x="555" y="0"/>
                    </a:lnTo>
                    <a:lnTo>
                      <a:pt x="560" y="0"/>
                    </a:lnTo>
                    <a:lnTo>
                      <a:pt x="570" y="0"/>
                    </a:lnTo>
                    <a:lnTo>
                      <a:pt x="576" y="0"/>
                    </a:lnTo>
                    <a:lnTo>
                      <a:pt x="581" y="0"/>
                    </a:lnTo>
                    <a:lnTo>
                      <a:pt x="586" y="0"/>
                    </a:lnTo>
                    <a:lnTo>
                      <a:pt x="596" y="0"/>
                    </a:lnTo>
                    <a:lnTo>
                      <a:pt x="602" y="0"/>
                    </a:lnTo>
                    <a:lnTo>
                      <a:pt x="607" y="0"/>
                    </a:lnTo>
                    <a:lnTo>
                      <a:pt x="612" y="0"/>
                    </a:lnTo>
                    <a:lnTo>
                      <a:pt x="622" y="0"/>
                    </a:lnTo>
                  </a:path>
                </a:pathLst>
              </a:custGeom>
              <a:noFill/>
              <a:ln w="28575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4" name="Group 68"/>
            <p:cNvGrpSpPr>
              <a:grpSpLocks/>
            </p:cNvGrpSpPr>
            <p:nvPr/>
          </p:nvGrpSpPr>
          <p:grpSpPr bwMode="auto">
            <a:xfrm>
              <a:off x="2570901" y="2299632"/>
              <a:ext cx="3060700" cy="2814638"/>
              <a:chOff x="2128" y="1239"/>
              <a:chExt cx="1928" cy="1773"/>
            </a:xfrm>
          </p:grpSpPr>
          <p:sp>
            <p:nvSpPr>
              <p:cNvPr id="224325" name="Freeform 69"/>
              <p:cNvSpPr>
                <a:spLocks/>
              </p:cNvSpPr>
              <p:nvPr/>
            </p:nvSpPr>
            <p:spPr bwMode="auto">
              <a:xfrm>
                <a:off x="2128" y="1239"/>
                <a:ext cx="814" cy="1534"/>
              </a:xfrm>
              <a:custGeom>
                <a:avLst/>
                <a:gdLst/>
                <a:ahLst/>
                <a:cxnLst>
                  <a:cxn ang="0">
                    <a:pos x="10" y="31"/>
                  </a:cxn>
                  <a:cxn ang="0">
                    <a:pos x="31" y="83"/>
                  </a:cxn>
                  <a:cxn ang="0">
                    <a:pos x="46" y="135"/>
                  </a:cxn>
                  <a:cxn ang="0">
                    <a:pos x="67" y="186"/>
                  </a:cxn>
                  <a:cxn ang="0">
                    <a:pos x="88" y="238"/>
                  </a:cxn>
                  <a:cxn ang="0">
                    <a:pos x="109" y="285"/>
                  </a:cxn>
                  <a:cxn ang="0">
                    <a:pos x="124" y="332"/>
                  </a:cxn>
                  <a:cxn ang="0">
                    <a:pos x="145" y="383"/>
                  </a:cxn>
                  <a:cxn ang="0">
                    <a:pos x="166" y="430"/>
                  </a:cxn>
                  <a:cxn ang="0">
                    <a:pos x="181" y="472"/>
                  </a:cxn>
                  <a:cxn ang="0">
                    <a:pos x="202" y="518"/>
                  </a:cxn>
                  <a:cxn ang="0">
                    <a:pos x="223" y="565"/>
                  </a:cxn>
                  <a:cxn ang="0">
                    <a:pos x="243" y="606"/>
                  </a:cxn>
                  <a:cxn ang="0">
                    <a:pos x="259" y="648"/>
                  </a:cxn>
                  <a:cxn ang="0">
                    <a:pos x="280" y="689"/>
                  </a:cxn>
                  <a:cxn ang="0">
                    <a:pos x="300" y="731"/>
                  </a:cxn>
                  <a:cxn ang="0">
                    <a:pos x="321" y="772"/>
                  </a:cxn>
                  <a:cxn ang="0">
                    <a:pos x="337" y="814"/>
                  </a:cxn>
                  <a:cxn ang="0">
                    <a:pos x="358" y="850"/>
                  </a:cxn>
                  <a:cxn ang="0">
                    <a:pos x="378" y="891"/>
                  </a:cxn>
                  <a:cxn ang="0">
                    <a:pos x="394" y="928"/>
                  </a:cxn>
                  <a:cxn ang="0">
                    <a:pos x="415" y="964"/>
                  </a:cxn>
                  <a:cxn ang="0">
                    <a:pos x="435" y="1000"/>
                  </a:cxn>
                  <a:cxn ang="0">
                    <a:pos x="456" y="1031"/>
                  </a:cxn>
                  <a:cxn ang="0">
                    <a:pos x="472" y="1068"/>
                  </a:cxn>
                  <a:cxn ang="0">
                    <a:pos x="492" y="1099"/>
                  </a:cxn>
                  <a:cxn ang="0">
                    <a:pos x="513" y="1130"/>
                  </a:cxn>
                  <a:cxn ang="0">
                    <a:pos x="529" y="1161"/>
                  </a:cxn>
                  <a:cxn ang="0">
                    <a:pos x="549" y="1192"/>
                  </a:cxn>
                  <a:cxn ang="0">
                    <a:pos x="570" y="1223"/>
                  </a:cxn>
                  <a:cxn ang="0">
                    <a:pos x="591" y="1254"/>
                  </a:cxn>
                  <a:cxn ang="0">
                    <a:pos x="606" y="1280"/>
                  </a:cxn>
                  <a:cxn ang="0">
                    <a:pos x="627" y="1311"/>
                  </a:cxn>
                  <a:cxn ang="0">
                    <a:pos x="648" y="1337"/>
                  </a:cxn>
                  <a:cxn ang="0">
                    <a:pos x="663" y="1363"/>
                  </a:cxn>
                  <a:cxn ang="0">
                    <a:pos x="684" y="1389"/>
                  </a:cxn>
                  <a:cxn ang="0">
                    <a:pos x="705" y="1410"/>
                  </a:cxn>
                  <a:cxn ang="0">
                    <a:pos x="726" y="1436"/>
                  </a:cxn>
                  <a:cxn ang="0">
                    <a:pos x="741" y="1456"/>
                  </a:cxn>
                  <a:cxn ang="0">
                    <a:pos x="762" y="1477"/>
                  </a:cxn>
                  <a:cxn ang="0">
                    <a:pos x="783" y="1498"/>
                  </a:cxn>
                  <a:cxn ang="0">
                    <a:pos x="803" y="1519"/>
                  </a:cxn>
                </a:cxnLst>
                <a:rect l="0" t="0" r="r" b="b"/>
                <a:pathLst>
                  <a:path w="814" h="1534">
                    <a:moveTo>
                      <a:pt x="0" y="0"/>
                    </a:moveTo>
                    <a:lnTo>
                      <a:pt x="5" y="15"/>
                    </a:lnTo>
                    <a:lnTo>
                      <a:pt x="10" y="31"/>
                    </a:lnTo>
                    <a:lnTo>
                      <a:pt x="15" y="52"/>
                    </a:lnTo>
                    <a:lnTo>
                      <a:pt x="21" y="67"/>
                    </a:lnTo>
                    <a:lnTo>
                      <a:pt x="31" y="83"/>
                    </a:lnTo>
                    <a:lnTo>
                      <a:pt x="36" y="104"/>
                    </a:lnTo>
                    <a:lnTo>
                      <a:pt x="41" y="119"/>
                    </a:lnTo>
                    <a:lnTo>
                      <a:pt x="46" y="135"/>
                    </a:lnTo>
                    <a:lnTo>
                      <a:pt x="57" y="155"/>
                    </a:lnTo>
                    <a:lnTo>
                      <a:pt x="62" y="171"/>
                    </a:lnTo>
                    <a:lnTo>
                      <a:pt x="67" y="186"/>
                    </a:lnTo>
                    <a:lnTo>
                      <a:pt x="72" y="202"/>
                    </a:lnTo>
                    <a:lnTo>
                      <a:pt x="83" y="223"/>
                    </a:lnTo>
                    <a:lnTo>
                      <a:pt x="88" y="238"/>
                    </a:lnTo>
                    <a:lnTo>
                      <a:pt x="93" y="254"/>
                    </a:lnTo>
                    <a:lnTo>
                      <a:pt x="98" y="269"/>
                    </a:lnTo>
                    <a:lnTo>
                      <a:pt x="109" y="285"/>
                    </a:lnTo>
                    <a:lnTo>
                      <a:pt x="114" y="301"/>
                    </a:lnTo>
                    <a:lnTo>
                      <a:pt x="119" y="316"/>
                    </a:lnTo>
                    <a:lnTo>
                      <a:pt x="124" y="332"/>
                    </a:lnTo>
                    <a:lnTo>
                      <a:pt x="135" y="352"/>
                    </a:lnTo>
                    <a:lnTo>
                      <a:pt x="140" y="368"/>
                    </a:lnTo>
                    <a:lnTo>
                      <a:pt x="145" y="383"/>
                    </a:lnTo>
                    <a:lnTo>
                      <a:pt x="150" y="399"/>
                    </a:lnTo>
                    <a:lnTo>
                      <a:pt x="161" y="415"/>
                    </a:lnTo>
                    <a:lnTo>
                      <a:pt x="166" y="430"/>
                    </a:lnTo>
                    <a:lnTo>
                      <a:pt x="171" y="446"/>
                    </a:lnTo>
                    <a:lnTo>
                      <a:pt x="176" y="461"/>
                    </a:lnTo>
                    <a:lnTo>
                      <a:pt x="181" y="472"/>
                    </a:lnTo>
                    <a:lnTo>
                      <a:pt x="192" y="487"/>
                    </a:lnTo>
                    <a:lnTo>
                      <a:pt x="197" y="503"/>
                    </a:lnTo>
                    <a:lnTo>
                      <a:pt x="202" y="518"/>
                    </a:lnTo>
                    <a:lnTo>
                      <a:pt x="207" y="534"/>
                    </a:lnTo>
                    <a:lnTo>
                      <a:pt x="218" y="549"/>
                    </a:lnTo>
                    <a:lnTo>
                      <a:pt x="223" y="565"/>
                    </a:lnTo>
                    <a:lnTo>
                      <a:pt x="228" y="580"/>
                    </a:lnTo>
                    <a:lnTo>
                      <a:pt x="233" y="591"/>
                    </a:lnTo>
                    <a:lnTo>
                      <a:pt x="243" y="606"/>
                    </a:lnTo>
                    <a:lnTo>
                      <a:pt x="249" y="622"/>
                    </a:lnTo>
                    <a:lnTo>
                      <a:pt x="254" y="637"/>
                    </a:lnTo>
                    <a:lnTo>
                      <a:pt x="259" y="648"/>
                    </a:lnTo>
                    <a:lnTo>
                      <a:pt x="269" y="663"/>
                    </a:lnTo>
                    <a:lnTo>
                      <a:pt x="275" y="679"/>
                    </a:lnTo>
                    <a:lnTo>
                      <a:pt x="280" y="689"/>
                    </a:lnTo>
                    <a:lnTo>
                      <a:pt x="285" y="705"/>
                    </a:lnTo>
                    <a:lnTo>
                      <a:pt x="295" y="720"/>
                    </a:lnTo>
                    <a:lnTo>
                      <a:pt x="300" y="731"/>
                    </a:lnTo>
                    <a:lnTo>
                      <a:pt x="306" y="746"/>
                    </a:lnTo>
                    <a:lnTo>
                      <a:pt x="311" y="762"/>
                    </a:lnTo>
                    <a:lnTo>
                      <a:pt x="321" y="772"/>
                    </a:lnTo>
                    <a:lnTo>
                      <a:pt x="326" y="788"/>
                    </a:lnTo>
                    <a:lnTo>
                      <a:pt x="332" y="798"/>
                    </a:lnTo>
                    <a:lnTo>
                      <a:pt x="337" y="814"/>
                    </a:lnTo>
                    <a:lnTo>
                      <a:pt x="342" y="824"/>
                    </a:lnTo>
                    <a:lnTo>
                      <a:pt x="352" y="840"/>
                    </a:lnTo>
                    <a:lnTo>
                      <a:pt x="358" y="850"/>
                    </a:lnTo>
                    <a:lnTo>
                      <a:pt x="363" y="865"/>
                    </a:lnTo>
                    <a:lnTo>
                      <a:pt x="368" y="876"/>
                    </a:lnTo>
                    <a:lnTo>
                      <a:pt x="378" y="891"/>
                    </a:lnTo>
                    <a:lnTo>
                      <a:pt x="383" y="902"/>
                    </a:lnTo>
                    <a:lnTo>
                      <a:pt x="389" y="912"/>
                    </a:lnTo>
                    <a:lnTo>
                      <a:pt x="394" y="928"/>
                    </a:lnTo>
                    <a:lnTo>
                      <a:pt x="404" y="938"/>
                    </a:lnTo>
                    <a:lnTo>
                      <a:pt x="409" y="948"/>
                    </a:lnTo>
                    <a:lnTo>
                      <a:pt x="415" y="964"/>
                    </a:lnTo>
                    <a:lnTo>
                      <a:pt x="420" y="974"/>
                    </a:lnTo>
                    <a:lnTo>
                      <a:pt x="430" y="985"/>
                    </a:lnTo>
                    <a:lnTo>
                      <a:pt x="435" y="1000"/>
                    </a:lnTo>
                    <a:lnTo>
                      <a:pt x="440" y="1011"/>
                    </a:lnTo>
                    <a:lnTo>
                      <a:pt x="446" y="1021"/>
                    </a:lnTo>
                    <a:lnTo>
                      <a:pt x="456" y="1031"/>
                    </a:lnTo>
                    <a:lnTo>
                      <a:pt x="461" y="1042"/>
                    </a:lnTo>
                    <a:lnTo>
                      <a:pt x="466" y="1057"/>
                    </a:lnTo>
                    <a:lnTo>
                      <a:pt x="472" y="1068"/>
                    </a:lnTo>
                    <a:lnTo>
                      <a:pt x="482" y="1078"/>
                    </a:lnTo>
                    <a:lnTo>
                      <a:pt x="487" y="1088"/>
                    </a:lnTo>
                    <a:lnTo>
                      <a:pt x="492" y="1099"/>
                    </a:lnTo>
                    <a:lnTo>
                      <a:pt x="497" y="1109"/>
                    </a:lnTo>
                    <a:lnTo>
                      <a:pt x="503" y="1119"/>
                    </a:lnTo>
                    <a:lnTo>
                      <a:pt x="513" y="1130"/>
                    </a:lnTo>
                    <a:lnTo>
                      <a:pt x="518" y="1140"/>
                    </a:lnTo>
                    <a:lnTo>
                      <a:pt x="523" y="1151"/>
                    </a:lnTo>
                    <a:lnTo>
                      <a:pt x="529" y="1161"/>
                    </a:lnTo>
                    <a:lnTo>
                      <a:pt x="539" y="1171"/>
                    </a:lnTo>
                    <a:lnTo>
                      <a:pt x="544" y="1182"/>
                    </a:lnTo>
                    <a:lnTo>
                      <a:pt x="549" y="1192"/>
                    </a:lnTo>
                    <a:lnTo>
                      <a:pt x="555" y="1202"/>
                    </a:lnTo>
                    <a:lnTo>
                      <a:pt x="565" y="1213"/>
                    </a:lnTo>
                    <a:lnTo>
                      <a:pt x="570" y="1223"/>
                    </a:lnTo>
                    <a:lnTo>
                      <a:pt x="575" y="1234"/>
                    </a:lnTo>
                    <a:lnTo>
                      <a:pt x="580" y="1244"/>
                    </a:lnTo>
                    <a:lnTo>
                      <a:pt x="591" y="1254"/>
                    </a:lnTo>
                    <a:lnTo>
                      <a:pt x="596" y="1265"/>
                    </a:lnTo>
                    <a:lnTo>
                      <a:pt x="601" y="1270"/>
                    </a:lnTo>
                    <a:lnTo>
                      <a:pt x="606" y="1280"/>
                    </a:lnTo>
                    <a:lnTo>
                      <a:pt x="617" y="1291"/>
                    </a:lnTo>
                    <a:lnTo>
                      <a:pt x="622" y="1301"/>
                    </a:lnTo>
                    <a:lnTo>
                      <a:pt x="627" y="1311"/>
                    </a:lnTo>
                    <a:lnTo>
                      <a:pt x="632" y="1316"/>
                    </a:lnTo>
                    <a:lnTo>
                      <a:pt x="643" y="1327"/>
                    </a:lnTo>
                    <a:lnTo>
                      <a:pt x="648" y="1337"/>
                    </a:lnTo>
                    <a:lnTo>
                      <a:pt x="653" y="1342"/>
                    </a:lnTo>
                    <a:lnTo>
                      <a:pt x="658" y="1353"/>
                    </a:lnTo>
                    <a:lnTo>
                      <a:pt x="663" y="1363"/>
                    </a:lnTo>
                    <a:lnTo>
                      <a:pt x="674" y="1368"/>
                    </a:lnTo>
                    <a:lnTo>
                      <a:pt x="679" y="1379"/>
                    </a:lnTo>
                    <a:lnTo>
                      <a:pt x="684" y="1389"/>
                    </a:lnTo>
                    <a:lnTo>
                      <a:pt x="689" y="1394"/>
                    </a:lnTo>
                    <a:lnTo>
                      <a:pt x="700" y="1405"/>
                    </a:lnTo>
                    <a:lnTo>
                      <a:pt x="705" y="1410"/>
                    </a:lnTo>
                    <a:lnTo>
                      <a:pt x="710" y="1420"/>
                    </a:lnTo>
                    <a:lnTo>
                      <a:pt x="715" y="1425"/>
                    </a:lnTo>
                    <a:lnTo>
                      <a:pt x="726" y="1436"/>
                    </a:lnTo>
                    <a:lnTo>
                      <a:pt x="731" y="1441"/>
                    </a:lnTo>
                    <a:lnTo>
                      <a:pt x="736" y="1451"/>
                    </a:lnTo>
                    <a:lnTo>
                      <a:pt x="741" y="1456"/>
                    </a:lnTo>
                    <a:lnTo>
                      <a:pt x="752" y="1467"/>
                    </a:lnTo>
                    <a:lnTo>
                      <a:pt x="757" y="1472"/>
                    </a:lnTo>
                    <a:lnTo>
                      <a:pt x="762" y="1477"/>
                    </a:lnTo>
                    <a:lnTo>
                      <a:pt x="767" y="1487"/>
                    </a:lnTo>
                    <a:lnTo>
                      <a:pt x="777" y="1493"/>
                    </a:lnTo>
                    <a:lnTo>
                      <a:pt x="783" y="1498"/>
                    </a:lnTo>
                    <a:lnTo>
                      <a:pt x="788" y="1508"/>
                    </a:lnTo>
                    <a:lnTo>
                      <a:pt x="793" y="1513"/>
                    </a:lnTo>
                    <a:lnTo>
                      <a:pt x="803" y="1519"/>
                    </a:lnTo>
                    <a:lnTo>
                      <a:pt x="809" y="1529"/>
                    </a:lnTo>
                    <a:lnTo>
                      <a:pt x="814" y="1534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4326" name="Freeform 70"/>
              <p:cNvSpPr>
                <a:spLocks/>
              </p:cNvSpPr>
              <p:nvPr/>
            </p:nvSpPr>
            <p:spPr bwMode="auto">
              <a:xfrm>
                <a:off x="2942" y="2773"/>
                <a:ext cx="814" cy="239"/>
              </a:xfrm>
              <a:custGeom>
                <a:avLst/>
                <a:gdLst/>
                <a:ahLst/>
                <a:cxnLst>
                  <a:cxn ang="0">
                    <a:pos x="10" y="11"/>
                  </a:cxn>
                  <a:cxn ang="0">
                    <a:pos x="31" y="31"/>
                  </a:cxn>
                  <a:cxn ang="0">
                    <a:pos x="52" y="47"/>
                  </a:cxn>
                  <a:cxn ang="0">
                    <a:pos x="72" y="68"/>
                  </a:cxn>
                  <a:cxn ang="0">
                    <a:pos x="88" y="83"/>
                  </a:cxn>
                  <a:cxn ang="0">
                    <a:pos x="109" y="99"/>
                  </a:cxn>
                  <a:cxn ang="0">
                    <a:pos x="129" y="109"/>
                  </a:cxn>
                  <a:cxn ang="0">
                    <a:pos x="150" y="125"/>
                  </a:cxn>
                  <a:cxn ang="0">
                    <a:pos x="166" y="140"/>
                  </a:cxn>
                  <a:cxn ang="0">
                    <a:pos x="186" y="150"/>
                  </a:cxn>
                  <a:cxn ang="0">
                    <a:pos x="207" y="161"/>
                  </a:cxn>
                  <a:cxn ang="0">
                    <a:pos x="223" y="171"/>
                  </a:cxn>
                  <a:cxn ang="0">
                    <a:pos x="243" y="182"/>
                  </a:cxn>
                  <a:cxn ang="0">
                    <a:pos x="264" y="192"/>
                  </a:cxn>
                  <a:cxn ang="0">
                    <a:pos x="285" y="197"/>
                  </a:cxn>
                  <a:cxn ang="0">
                    <a:pos x="300" y="207"/>
                  </a:cxn>
                  <a:cxn ang="0">
                    <a:pos x="321" y="213"/>
                  </a:cxn>
                  <a:cxn ang="0">
                    <a:pos x="342" y="218"/>
                  </a:cxn>
                  <a:cxn ang="0">
                    <a:pos x="357" y="223"/>
                  </a:cxn>
                  <a:cxn ang="0">
                    <a:pos x="378" y="228"/>
                  </a:cxn>
                  <a:cxn ang="0">
                    <a:pos x="399" y="228"/>
                  </a:cxn>
                  <a:cxn ang="0">
                    <a:pos x="420" y="233"/>
                  </a:cxn>
                  <a:cxn ang="0">
                    <a:pos x="435" y="233"/>
                  </a:cxn>
                  <a:cxn ang="0">
                    <a:pos x="456" y="233"/>
                  </a:cxn>
                  <a:cxn ang="0">
                    <a:pos x="477" y="233"/>
                  </a:cxn>
                  <a:cxn ang="0">
                    <a:pos x="492" y="233"/>
                  </a:cxn>
                  <a:cxn ang="0">
                    <a:pos x="513" y="233"/>
                  </a:cxn>
                  <a:cxn ang="0">
                    <a:pos x="534" y="233"/>
                  </a:cxn>
                  <a:cxn ang="0">
                    <a:pos x="554" y="228"/>
                  </a:cxn>
                  <a:cxn ang="0">
                    <a:pos x="570" y="223"/>
                  </a:cxn>
                  <a:cxn ang="0">
                    <a:pos x="591" y="218"/>
                  </a:cxn>
                  <a:cxn ang="0">
                    <a:pos x="611" y="213"/>
                  </a:cxn>
                  <a:cxn ang="0">
                    <a:pos x="632" y="207"/>
                  </a:cxn>
                  <a:cxn ang="0">
                    <a:pos x="648" y="202"/>
                  </a:cxn>
                  <a:cxn ang="0">
                    <a:pos x="668" y="192"/>
                  </a:cxn>
                  <a:cxn ang="0">
                    <a:pos x="689" y="187"/>
                  </a:cxn>
                  <a:cxn ang="0">
                    <a:pos x="705" y="176"/>
                  </a:cxn>
                  <a:cxn ang="0">
                    <a:pos x="725" y="166"/>
                  </a:cxn>
                  <a:cxn ang="0">
                    <a:pos x="746" y="156"/>
                  </a:cxn>
                  <a:cxn ang="0">
                    <a:pos x="767" y="140"/>
                  </a:cxn>
                  <a:cxn ang="0">
                    <a:pos x="782" y="130"/>
                  </a:cxn>
                  <a:cxn ang="0">
                    <a:pos x="803" y="114"/>
                  </a:cxn>
                </a:cxnLst>
                <a:rect l="0" t="0" r="r" b="b"/>
                <a:pathLst>
                  <a:path w="814" h="239">
                    <a:moveTo>
                      <a:pt x="0" y="0"/>
                    </a:moveTo>
                    <a:lnTo>
                      <a:pt x="5" y="5"/>
                    </a:lnTo>
                    <a:lnTo>
                      <a:pt x="10" y="11"/>
                    </a:lnTo>
                    <a:lnTo>
                      <a:pt x="20" y="21"/>
                    </a:lnTo>
                    <a:lnTo>
                      <a:pt x="26" y="26"/>
                    </a:lnTo>
                    <a:lnTo>
                      <a:pt x="31" y="31"/>
                    </a:lnTo>
                    <a:lnTo>
                      <a:pt x="36" y="36"/>
                    </a:lnTo>
                    <a:lnTo>
                      <a:pt x="46" y="42"/>
                    </a:lnTo>
                    <a:lnTo>
                      <a:pt x="52" y="47"/>
                    </a:lnTo>
                    <a:lnTo>
                      <a:pt x="57" y="52"/>
                    </a:lnTo>
                    <a:lnTo>
                      <a:pt x="62" y="62"/>
                    </a:lnTo>
                    <a:lnTo>
                      <a:pt x="72" y="68"/>
                    </a:lnTo>
                    <a:lnTo>
                      <a:pt x="77" y="73"/>
                    </a:lnTo>
                    <a:lnTo>
                      <a:pt x="83" y="78"/>
                    </a:lnTo>
                    <a:lnTo>
                      <a:pt x="88" y="83"/>
                    </a:lnTo>
                    <a:lnTo>
                      <a:pt x="98" y="88"/>
                    </a:lnTo>
                    <a:lnTo>
                      <a:pt x="103" y="93"/>
                    </a:lnTo>
                    <a:lnTo>
                      <a:pt x="109" y="99"/>
                    </a:lnTo>
                    <a:lnTo>
                      <a:pt x="114" y="104"/>
                    </a:lnTo>
                    <a:lnTo>
                      <a:pt x="124" y="109"/>
                    </a:lnTo>
                    <a:lnTo>
                      <a:pt x="129" y="109"/>
                    </a:lnTo>
                    <a:lnTo>
                      <a:pt x="134" y="114"/>
                    </a:lnTo>
                    <a:lnTo>
                      <a:pt x="140" y="119"/>
                    </a:lnTo>
                    <a:lnTo>
                      <a:pt x="150" y="125"/>
                    </a:lnTo>
                    <a:lnTo>
                      <a:pt x="155" y="130"/>
                    </a:lnTo>
                    <a:lnTo>
                      <a:pt x="160" y="135"/>
                    </a:lnTo>
                    <a:lnTo>
                      <a:pt x="166" y="140"/>
                    </a:lnTo>
                    <a:lnTo>
                      <a:pt x="171" y="140"/>
                    </a:lnTo>
                    <a:lnTo>
                      <a:pt x="181" y="145"/>
                    </a:lnTo>
                    <a:lnTo>
                      <a:pt x="186" y="150"/>
                    </a:lnTo>
                    <a:lnTo>
                      <a:pt x="192" y="156"/>
                    </a:lnTo>
                    <a:lnTo>
                      <a:pt x="197" y="156"/>
                    </a:lnTo>
                    <a:lnTo>
                      <a:pt x="207" y="161"/>
                    </a:lnTo>
                    <a:lnTo>
                      <a:pt x="212" y="166"/>
                    </a:lnTo>
                    <a:lnTo>
                      <a:pt x="217" y="166"/>
                    </a:lnTo>
                    <a:lnTo>
                      <a:pt x="223" y="171"/>
                    </a:lnTo>
                    <a:lnTo>
                      <a:pt x="233" y="176"/>
                    </a:lnTo>
                    <a:lnTo>
                      <a:pt x="238" y="176"/>
                    </a:lnTo>
                    <a:lnTo>
                      <a:pt x="243" y="182"/>
                    </a:lnTo>
                    <a:lnTo>
                      <a:pt x="249" y="187"/>
                    </a:lnTo>
                    <a:lnTo>
                      <a:pt x="259" y="187"/>
                    </a:lnTo>
                    <a:lnTo>
                      <a:pt x="264" y="192"/>
                    </a:lnTo>
                    <a:lnTo>
                      <a:pt x="269" y="192"/>
                    </a:lnTo>
                    <a:lnTo>
                      <a:pt x="274" y="197"/>
                    </a:lnTo>
                    <a:lnTo>
                      <a:pt x="285" y="197"/>
                    </a:lnTo>
                    <a:lnTo>
                      <a:pt x="290" y="202"/>
                    </a:lnTo>
                    <a:lnTo>
                      <a:pt x="295" y="202"/>
                    </a:lnTo>
                    <a:lnTo>
                      <a:pt x="300" y="207"/>
                    </a:lnTo>
                    <a:lnTo>
                      <a:pt x="311" y="207"/>
                    </a:lnTo>
                    <a:lnTo>
                      <a:pt x="316" y="213"/>
                    </a:lnTo>
                    <a:lnTo>
                      <a:pt x="321" y="213"/>
                    </a:lnTo>
                    <a:lnTo>
                      <a:pt x="326" y="213"/>
                    </a:lnTo>
                    <a:lnTo>
                      <a:pt x="331" y="218"/>
                    </a:lnTo>
                    <a:lnTo>
                      <a:pt x="342" y="218"/>
                    </a:lnTo>
                    <a:lnTo>
                      <a:pt x="347" y="218"/>
                    </a:lnTo>
                    <a:lnTo>
                      <a:pt x="352" y="223"/>
                    </a:lnTo>
                    <a:lnTo>
                      <a:pt x="357" y="223"/>
                    </a:lnTo>
                    <a:lnTo>
                      <a:pt x="368" y="223"/>
                    </a:lnTo>
                    <a:lnTo>
                      <a:pt x="373" y="228"/>
                    </a:lnTo>
                    <a:lnTo>
                      <a:pt x="378" y="228"/>
                    </a:lnTo>
                    <a:lnTo>
                      <a:pt x="383" y="228"/>
                    </a:lnTo>
                    <a:lnTo>
                      <a:pt x="394" y="228"/>
                    </a:lnTo>
                    <a:lnTo>
                      <a:pt x="399" y="228"/>
                    </a:lnTo>
                    <a:lnTo>
                      <a:pt x="404" y="233"/>
                    </a:lnTo>
                    <a:lnTo>
                      <a:pt x="409" y="233"/>
                    </a:lnTo>
                    <a:lnTo>
                      <a:pt x="420" y="233"/>
                    </a:lnTo>
                    <a:lnTo>
                      <a:pt x="425" y="233"/>
                    </a:lnTo>
                    <a:lnTo>
                      <a:pt x="430" y="233"/>
                    </a:lnTo>
                    <a:lnTo>
                      <a:pt x="435" y="233"/>
                    </a:lnTo>
                    <a:lnTo>
                      <a:pt x="446" y="233"/>
                    </a:lnTo>
                    <a:lnTo>
                      <a:pt x="451" y="233"/>
                    </a:lnTo>
                    <a:lnTo>
                      <a:pt x="456" y="233"/>
                    </a:lnTo>
                    <a:lnTo>
                      <a:pt x="461" y="233"/>
                    </a:lnTo>
                    <a:lnTo>
                      <a:pt x="471" y="239"/>
                    </a:lnTo>
                    <a:lnTo>
                      <a:pt x="477" y="233"/>
                    </a:lnTo>
                    <a:lnTo>
                      <a:pt x="482" y="233"/>
                    </a:lnTo>
                    <a:lnTo>
                      <a:pt x="487" y="233"/>
                    </a:lnTo>
                    <a:lnTo>
                      <a:pt x="492" y="233"/>
                    </a:lnTo>
                    <a:lnTo>
                      <a:pt x="503" y="233"/>
                    </a:lnTo>
                    <a:lnTo>
                      <a:pt x="508" y="233"/>
                    </a:lnTo>
                    <a:lnTo>
                      <a:pt x="513" y="233"/>
                    </a:lnTo>
                    <a:lnTo>
                      <a:pt x="518" y="233"/>
                    </a:lnTo>
                    <a:lnTo>
                      <a:pt x="528" y="233"/>
                    </a:lnTo>
                    <a:lnTo>
                      <a:pt x="534" y="233"/>
                    </a:lnTo>
                    <a:lnTo>
                      <a:pt x="539" y="228"/>
                    </a:lnTo>
                    <a:lnTo>
                      <a:pt x="544" y="228"/>
                    </a:lnTo>
                    <a:lnTo>
                      <a:pt x="554" y="228"/>
                    </a:lnTo>
                    <a:lnTo>
                      <a:pt x="560" y="228"/>
                    </a:lnTo>
                    <a:lnTo>
                      <a:pt x="565" y="228"/>
                    </a:lnTo>
                    <a:lnTo>
                      <a:pt x="570" y="223"/>
                    </a:lnTo>
                    <a:lnTo>
                      <a:pt x="580" y="223"/>
                    </a:lnTo>
                    <a:lnTo>
                      <a:pt x="585" y="223"/>
                    </a:lnTo>
                    <a:lnTo>
                      <a:pt x="591" y="218"/>
                    </a:lnTo>
                    <a:lnTo>
                      <a:pt x="596" y="218"/>
                    </a:lnTo>
                    <a:lnTo>
                      <a:pt x="606" y="218"/>
                    </a:lnTo>
                    <a:lnTo>
                      <a:pt x="611" y="213"/>
                    </a:lnTo>
                    <a:lnTo>
                      <a:pt x="617" y="213"/>
                    </a:lnTo>
                    <a:lnTo>
                      <a:pt x="622" y="213"/>
                    </a:lnTo>
                    <a:lnTo>
                      <a:pt x="632" y="207"/>
                    </a:lnTo>
                    <a:lnTo>
                      <a:pt x="637" y="207"/>
                    </a:lnTo>
                    <a:lnTo>
                      <a:pt x="643" y="202"/>
                    </a:lnTo>
                    <a:lnTo>
                      <a:pt x="648" y="202"/>
                    </a:lnTo>
                    <a:lnTo>
                      <a:pt x="653" y="197"/>
                    </a:lnTo>
                    <a:lnTo>
                      <a:pt x="663" y="197"/>
                    </a:lnTo>
                    <a:lnTo>
                      <a:pt x="668" y="192"/>
                    </a:lnTo>
                    <a:lnTo>
                      <a:pt x="674" y="192"/>
                    </a:lnTo>
                    <a:lnTo>
                      <a:pt x="679" y="187"/>
                    </a:lnTo>
                    <a:lnTo>
                      <a:pt x="689" y="187"/>
                    </a:lnTo>
                    <a:lnTo>
                      <a:pt x="694" y="182"/>
                    </a:lnTo>
                    <a:lnTo>
                      <a:pt x="700" y="176"/>
                    </a:lnTo>
                    <a:lnTo>
                      <a:pt x="705" y="176"/>
                    </a:lnTo>
                    <a:lnTo>
                      <a:pt x="715" y="171"/>
                    </a:lnTo>
                    <a:lnTo>
                      <a:pt x="720" y="166"/>
                    </a:lnTo>
                    <a:lnTo>
                      <a:pt x="725" y="166"/>
                    </a:lnTo>
                    <a:lnTo>
                      <a:pt x="731" y="161"/>
                    </a:lnTo>
                    <a:lnTo>
                      <a:pt x="741" y="156"/>
                    </a:lnTo>
                    <a:lnTo>
                      <a:pt x="746" y="156"/>
                    </a:lnTo>
                    <a:lnTo>
                      <a:pt x="751" y="150"/>
                    </a:lnTo>
                    <a:lnTo>
                      <a:pt x="757" y="145"/>
                    </a:lnTo>
                    <a:lnTo>
                      <a:pt x="767" y="140"/>
                    </a:lnTo>
                    <a:lnTo>
                      <a:pt x="772" y="140"/>
                    </a:lnTo>
                    <a:lnTo>
                      <a:pt x="777" y="135"/>
                    </a:lnTo>
                    <a:lnTo>
                      <a:pt x="782" y="130"/>
                    </a:lnTo>
                    <a:lnTo>
                      <a:pt x="793" y="125"/>
                    </a:lnTo>
                    <a:lnTo>
                      <a:pt x="798" y="119"/>
                    </a:lnTo>
                    <a:lnTo>
                      <a:pt x="803" y="114"/>
                    </a:lnTo>
                    <a:lnTo>
                      <a:pt x="808" y="109"/>
                    </a:lnTo>
                    <a:lnTo>
                      <a:pt x="814" y="109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4327" name="Freeform 71"/>
              <p:cNvSpPr>
                <a:spLocks/>
              </p:cNvSpPr>
              <p:nvPr/>
            </p:nvSpPr>
            <p:spPr bwMode="auto">
              <a:xfrm>
                <a:off x="3756" y="2566"/>
                <a:ext cx="300" cy="316"/>
              </a:xfrm>
              <a:custGeom>
                <a:avLst/>
                <a:gdLst/>
                <a:ahLst/>
                <a:cxnLst>
                  <a:cxn ang="0">
                    <a:pos x="0" y="316"/>
                  </a:cxn>
                  <a:cxn ang="0">
                    <a:pos x="10" y="311"/>
                  </a:cxn>
                  <a:cxn ang="0">
                    <a:pos x="15" y="306"/>
                  </a:cxn>
                  <a:cxn ang="0">
                    <a:pos x="20" y="300"/>
                  </a:cxn>
                  <a:cxn ang="0">
                    <a:pos x="26" y="295"/>
                  </a:cxn>
                  <a:cxn ang="0">
                    <a:pos x="36" y="290"/>
                  </a:cxn>
                  <a:cxn ang="0">
                    <a:pos x="41" y="285"/>
                  </a:cxn>
                  <a:cxn ang="0">
                    <a:pos x="46" y="280"/>
                  </a:cxn>
                  <a:cxn ang="0">
                    <a:pos x="51" y="275"/>
                  </a:cxn>
                  <a:cxn ang="0">
                    <a:pos x="62" y="269"/>
                  </a:cxn>
                  <a:cxn ang="0">
                    <a:pos x="67" y="259"/>
                  </a:cxn>
                  <a:cxn ang="0">
                    <a:pos x="72" y="254"/>
                  </a:cxn>
                  <a:cxn ang="0">
                    <a:pos x="77" y="249"/>
                  </a:cxn>
                  <a:cxn ang="0">
                    <a:pos x="88" y="243"/>
                  </a:cxn>
                  <a:cxn ang="0">
                    <a:pos x="93" y="238"/>
                  </a:cxn>
                  <a:cxn ang="0">
                    <a:pos x="98" y="233"/>
                  </a:cxn>
                  <a:cxn ang="0">
                    <a:pos x="103" y="228"/>
                  </a:cxn>
                  <a:cxn ang="0">
                    <a:pos x="114" y="218"/>
                  </a:cxn>
                  <a:cxn ang="0">
                    <a:pos x="119" y="212"/>
                  </a:cxn>
                  <a:cxn ang="0">
                    <a:pos x="124" y="207"/>
                  </a:cxn>
                  <a:cxn ang="0">
                    <a:pos x="129" y="202"/>
                  </a:cxn>
                  <a:cxn ang="0">
                    <a:pos x="140" y="192"/>
                  </a:cxn>
                  <a:cxn ang="0">
                    <a:pos x="145" y="186"/>
                  </a:cxn>
                  <a:cxn ang="0">
                    <a:pos x="150" y="181"/>
                  </a:cxn>
                  <a:cxn ang="0">
                    <a:pos x="155" y="171"/>
                  </a:cxn>
                  <a:cxn ang="0">
                    <a:pos x="160" y="166"/>
                  </a:cxn>
                  <a:cxn ang="0">
                    <a:pos x="171" y="160"/>
                  </a:cxn>
                  <a:cxn ang="0">
                    <a:pos x="176" y="150"/>
                  </a:cxn>
                  <a:cxn ang="0">
                    <a:pos x="181" y="145"/>
                  </a:cxn>
                  <a:cxn ang="0">
                    <a:pos x="186" y="140"/>
                  </a:cxn>
                  <a:cxn ang="0">
                    <a:pos x="197" y="129"/>
                  </a:cxn>
                  <a:cxn ang="0">
                    <a:pos x="202" y="124"/>
                  </a:cxn>
                  <a:cxn ang="0">
                    <a:pos x="207" y="114"/>
                  </a:cxn>
                  <a:cxn ang="0">
                    <a:pos x="212" y="109"/>
                  </a:cxn>
                  <a:cxn ang="0">
                    <a:pos x="222" y="98"/>
                  </a:cxn>
                  <a:cxn ang="0">
                    <a:pos x="228" y="93"/>
                  </a:cxn>
                  <a:cxn ang="0">
                    <a:pos x="233" y="83"/>
                  </a:cxn>
                  <a:cxn ang="0">
                    <a:pos x="238" y="78"/>
                  </a:cxn>
                  <a:cxn ang="0">
                    <a:pos x="248" y="67"/>
                  </a:cxn>
                  <a:cxn ang="0">
                    <a:pos x="254" y="62"/>
                  </a:cxn>
                  <a:cxn ang="0">
                    <a:pos x="259" y="52"/>
                  </a:cxn>
                  <a:cxn ang="0">
                    <a:pos x="264" y="41"/>
                  </a:cxn>
                  <a:cxn ang="0">
                    <a:pos x="274" y="36"/>
                  </a:cxn>
                  <a:cxn ang="0">
                    <a:pos x="280" y="26"/>
                  </a:cxn>
                  <a:cxn ang="0">
                    <a:pos x="285" y="15"/>
                  </a:cxn>
                  <a:cxn ang="0">
                    <a:pos x="290" y="10"/>
                  </a:cxn>
                  <a:cxn ang="0">
                    <a:pos x="300" y="0"/>
                  </a:cxn>
                </a:cxnLst>
                <a:rect l="0" t="0" r="r" b="b"/>
                <a:pathLst>
                  <a:path w="300" h="316">
                    <a:moveTo>
                      <a:pt x="0" y="316"/>
                    </a:moveTo>
                    <a:lnTo>
                      <a:pt x="10" y="311"/>
                    </a:lnTo>
                    <a:lnTo>
                      <a:pt x="15" y="306"/>
                    </a:lnTo>
                    <a:lnTo>
                      <a:pt x="20" y="300"/>
                    </a:lnTo>
                    <a:lnTo>
                      <a:pt x="26" y="295"/>
                    </a:lnTo>
                    <a:lnTo>
                      <a:pt x="36" y="290"/>
                    </a:lnTo>
                    <a:lnTo>
                      <a:pt x="41" y="285"/>
                    </a:lnTo>
                    <a:lnTo>
                      <a:pt x="46" y="280"/>
                    </a:lnTo>
                    <a:lnTo>
                      <a:pt x="51" y="275"/>
                    </a:lnTo>
                    <a:lnTo>
                      <a:pt x="62" y="269"/>
                    </a:lnTo>
                    <a:lnTo>
                      <a:pt x="67" y="259"/>
                    </a:lnTo>
                    <a:lnTo>
                      <a:pt x="72" y="254"/>
                    </a:lnTo>
                    <a:lnTo>
                      <a:pt x="77" y="249"/>
                    </a:lnTo>
                    <a:lnTo>
                      <a:pt x="88" y="243"/>
                    </a:lnTo>
                    <a:lnTo>
                      <a:pt x="93" y="238"/>
                    </a:lnTo>
                    <a:lnTo>
                      <a:pt x="98" y="233"/>
                    </a:lnTo>
                    <a:lnTo>
                      <a:pt x="103" y="228"/>
                    </a:lnTo>
                    <a:lnTo>
                      <a:pt x="114" y="218"/>
                    </a:lnTo>
                    <a:lnTo>
                      <a:pt x="119" y="212"/>
                    </a:lnTo>
                    <a:lnTo>
                      <a:pt x="124" y="207"/>
                    </a:lnTo>
                    <a:lnTo>
                      <a:pt x="129" y="202"/>
                    </a:lnTo>
                    <a:lnTo>
                      <a:pt x="140" y="192"/>
                    </a:lnTo>
                    <a:lnTo>
                      <a:pt x="145" y="186"/>
                    </a:lnTo>
                    <a:lnTo>
                      <a:pt x="150" y="181"/>
                    </a:lnTo>
                    <a:lnTo>
                      <a:pt x="155" y="171"/>
                    </a:lnTo>
                    <a:lnTo>
                      <a:pt x="160" y="166"/>
                    </a:lnTo>
                    <a:lnTo>
                      <a:pt x="171" y="160"/>
                    </a:lnTo>
                    <a:lnTo>
                      <a:pt x="176" y="150"/>
                    </a:lnTo>
                    <a:lnTo>
                      <a:pt x="181" y="145"/>
                    </a:lnTo>
                    <a:lnTo>
                      <a:pt x="186" y="140"/>
                    </a:lnTo>
                    <a:lnTo>
                      <a:pt x="197" y="129"/>
                    </a:lnTo>
                    <a:lnTo>
                      <a:pt x="202" y="124"/>
                    </a:lnTo>
                    <a:lnTo>
                      <a:pt x="207" y="114"/>
                    </a:lnTo>
                    <a:lnTo>
                      <a:pt x="212" y="109"/>
                    </a:lnTo>
                    <a:lnTo>
                      <a:pt x="222" y="98"/>
                    </a:lnTo>
                    <a:lnTo>
                      <a:pt x="228" y="93"/>
                    </a:lnTo>
                    <a:lnTo>
                      <a:pt x="233" y="83"/>
                    </a:lnTo>
                    <a:lnTo>
                      <a:pt x="238" y="78"/>
                    </a:lnTo>
                    <a:lnTo>
                      <a:pt x="248" y="67"/>
                    </a:lnTo>
                    <a:lnTo>
                      <a:pt x="254" y="62"/>
                    </a:lnTo>
                    <a:lnTo>
                      <a:pt x="259" y="52"/>
                    </a:lnTo>
                    <a:lnTo>
                      <a:pt x="264" y="41"/>
                    </a:lnTo>
                    <a:lnTo>
                      <a:pt x="274" y="36"/>
                    </a:lnTo>
                    <a:lnTo>
                      <a:pt x="280" y="26"/>
                    </a:lnTo>
                    <a:lnTo>
                      <a:pt x="285" y="15"/>
                    </a:lnTo>
                    <a:lnTo>
                      <a:pt x="290" y="10"/>
                    </a:lnTo>
                    <a:lnTo>
                      <a:pt x="300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5" name="Group 74"/>
            <p:cNvGrpSpPr>
              <a:grpSpLocks/>
            </p:cNvGrpSpPr>
            <p:nvPr/>
          </p:nvGrpSpPr>
          <p:grpSpPr bwMode="auto">
            <a:xfrm>
              <a:off x="2175615" y="2299633"/>
              <a:ext cx="3455987" cy="2714625"/>
              <a:chOff x="1879" y="1239"/>
              <a:chExt cx="2177" cy="1710"/>
            </a:xfrm>
          </p:grpSpPr>
          <p:sp>
            <p:nvSpPr>
              <p:cNvPr id="224331" name="Freeform 75"/>
              <p:cNvSpPr>
                <a:spLocks/>
              </p:cNvSpPr>
              <p:nvPr/>
            </p:nvSpPr>
            <p:spPr bwMode="auto">
              <a:xfrm>
                <a:off x="1879" y="1239"/>
                <a:ext cx="814" cy="1270"/>
              </a:xfrm>
              <a:custGeom>
                <a:avLst/>
                <a:gdLst/>
                <a:ahLst/>
                <a:cxnLst>
                  <a:cxn ang="0">
                    <a:pos x="10" y="26"/>
                  </a:cxn>
                  <a:cxn ang="0">
                    <a:pos x="26" y="78"/>
                  </a:cxn>
                  <a:cxn ang="0">
                    <a:pos x="47" y="129"/>
                  </a:cxn>
                  <a:cxn ang="0">
                    <a:pos x="67" y="176"/>
                  </a:cxn>
                  <a:cxn ang="0">
                    <a:pos x="88" y="223"/>
                  </a:cxn>
                  <a:cxn ang="0">
                    <a:pos x="104" y="269"/>
                  </a:cxn>
                  <a:cxn ang="0">
                    <a:pos x="124" y="311"/>
                  </a:cxn>
                  <a:cxn ang="0">
                    <a:pos x="145" y="358"/>
                  </a:cxn>
                  <a:cxn ang="0">
                    <a:pos x="161" y="399"/>
                  </a:cxn>
                  <a:cxn ang="0">
                    <a:pos x="181" y="440"/>
                  </a:cxn>
                  <a:cxn ang="0">
                    <a:pos x="202" y="477"/>
                  </a:cxn>
                  <a:cxn ang="0">
                    <a:pos x="223" y="518"/>
                  </a:cxn>
                  <a:cxn ang="0">
                    <a:pos x="238" y="554"/>
                  </a:cxn>
                  <a:cxn ang="0">
                    <a:pos x="259" y="591"/>
                  </a:cxn>
                  <a:cxn ang="0">
                    <a:pos x="280" y="622"/>
                  </a:cxn>
                  <a:cxn ang="0">
                    <a:pos x="295" y="658"/>
                  </a:cxn>
                  <a:cxn ang="0">
                    <a:pos x="316" y="689"/>
                  </a:cxn>
                  <a:cxn ang="0">
                    <a:pos x="337" y="720"/>
                  </a:cxn>
                  <a:cxn ang="0">
                    <a:pos x="358" y="751"/>
                  </a:cxn>
                  <a:cxn ang="0">
                    <a:pos x="373" y="783"/>
                  </a:cxn>
                  <a:cxn ang="0">
                    <a:pos x="394" y="814"/>
                  </a:cxn>
                  <a:cxn ang="0">
                    <a:pos x="415" y="840"/>
                  </a:cxn>
                  <a:cxn ang="0">
                    <a:pos x="430" y="871"/>
                  </a:cxn>
                  <a:cxn ang="0">
                    <a:pos x="451" y="897"/>
                  </a:cxn>
                  <a:cxn ang="0">
                    <a:pos x="472" y="923"/>
                  </a:cxn>
                  <a:cxn ang="0">
                    <a:pos x="492" y="948"/>
                  </a:cxn>
                  <a:cxn ang="0">
                    <a:pos x="508" y="969"/>
                  </a:cxn>
                  <a:cxn ang="0">
                    <a:pos x="529" y="995"/>
                  </a:cxn>
                  <a:cxn ang="0">
                    <a:pos x="549" y="1016"/>
                  </a:cxn>
                  <a:cxn ang="0">
                    <a:pos x="570" y="1042"/>
                  </a:cxn>
                  <a:cxn ang="0">
                    <a:pos x="586" y="1062"/>
                  </a:cxn>
                  <a:cxn ang="0">
                    <a:pos x="607" y="1083"/>
                  </a:cxn>
                  <a:cxn ang="0">
                    <a:pos x="627" y="1104"/>
                  </a:cxn>
                  <a:cxn ang="0">
                    <a:pos x="643" y="1119"/>
                  </a:cxn>
                  <a:cxn ang="0">
                    <a:pos x="664" y="1140"/>
                  </a:cxn>
                  <a:cxn ang="0">
                    <a:pos x="684" y="1161"/>
                  </a:cxn>
                  <a:cxn ang="0">
                    <a:pos x="705" y="1176"/>
                  </a:cxn>
                  <a:cxn ang="0">
                    <a:pos x="721" y="1197"/>
                  </a:cxn>
                  <a:cxn ang="0">
                    <a:pos x="741" y="1213"/>
                  </a:cxn>
                  <a:cxn ang="0">
                    <a:pos x="762" y="1228"/>
                  </a:cxn>
                  <a:cxn ang="0">
                    <a:pos x="778" y="1244"/>
                  </a:cxn>
                  <a:cxn ang="0">
                    <a:pos x="798" y="1259"/>
                  </a:cxn>
                </a:cxnLst>
                <a:rect l="0" t="0" r="r" b="b"/>
                <a:pathLst>
                  <a:path w="814" h="1270">
                    <a:moveTo>
                      <a:pt x="0" y="0"/>
                    </a:moveTo>
                    <a:lnTo>
                      <a:pt x="0" y="10"/>
                    </a:lnTo>
                    <a:lnTo>
                      <a:pt x="10" y="26"/>
                    </a:lnTo>
                    <a:lnTo>
                      <a:pt x="16" y="41"/>
                    </a:lnTo>
                    <a:lnTo>
                      <a:pt x="21" y="62"/>
                    </a:lnTo>
                    <a:lnTo>
                      <a:pt x="26" y="78"/>
                    </a:lnTo>
                    <a:lnTo>
                      <a:pt x="36" y="93"/>
                    </a:lnTo>
                    <a:lnTo>
                      <a:pt x="41" y="109"/>
                    </a:lnTo>
                    <a:lnTo>
                      <a:pt x="47" y="129"/>
                    </a:lnTo>
                    <a:lnTo>
                      <a:pt x="52" y="145"/>
                    </a:lnTo>
                    <a:lnTo>
                      <a:pt x="62" y="161"/>
                    </a:lnTo>
                    <a:lnTo>
                      <a:pt x="67" y="176"/>
                    </a:lnTo>
                    <a:lnTo>
                      <a:pt x="73" y="192"/>
                    </a:lnTo>
                    <a:lnTo>
                      <a:pt x="78" y="207"/>
                    </a:lnTo>
                    <a:lnTo>
                      <a:pt x="88" y="223"/>
                    </a:lnTo>
                    <a:lnTo>
                      <a:pt x="93" y="238"/>
                    </a:lnTo>
                    <a:lnTo>
                      <a:pt x="98" y="254"/>
                    </a:lnTo>
                    <a:lnTo>
                      <a:pt x="104" y="269"/>
                    </a:lnTo>
                    <a:lnTo>
                      <a:pt x="109" y="285"/>
                    </a:lnTo>
                    <a:lnTo>
                      <a:pt x="119" y="301"/>
                    </a:lnTo>
                    <a:lnTo>
                      <a:pt x="124" y="311"/>
                    </a:lnTo>
                    <a:lnTo>
                      <a:pt x="130" y="326"/>
                    </a:lnTo>
                    <a:lnTo>
                      <a:pt x="135" y="342"/>
                    </a:lnTo>
                    <a:lnTo>
                      <a:pt x="145" y="358"/>
                    </a:lnTo>
                    <a:lnTo>
                      <a:pt x="150" y="368"/>
                    </a:lnTo>
                    <a:lnTo>
                      <a:pt x="156" y="383"/>
                    </a:lnTo>
                    <a:lnTo>
                      <a:pt x="161" y="399"/>
                    </a:lnTo>
                    <a:lnTo>
                      <a:pt x="171" y="409"/>
                    </a:lnTo>
                    <a:lnTo>
                      <a:pt x="176" y="425"/>
                    </a:lnTo>
                    <a:lnTo>
                      <a:pt x="181" y="440"/>
                    </a:lnTo>
                    <a:lnTo>
                      <a:pt x="187" y="451"/>
                    </a:lnTo>
                    <a:lnTo>
                      <a:pt x="197" y="466"/>
                    </a:lnTo>
                    <a:lnTo>
                      <a:pt x="202" y="477"/>
                    </a:lnTo>
                    <a:lnTo>
                      <a:pt x="207" y="492"/>
                    </a:lnTo>
                    <a:lnTo>
                      <a:pt x="213" y="503"/>
                    </a:lnTo>
                    <a:lnTo>
                      <a:pt x="223" y="518"/>
                    </a:lnTo>
                    <a:lnTo>
                      <a:pt x="228" y="529"/>
                    </a:lnTo>
                    <a:lnTo>
                      <a:pt x="233" y="539"/>
                    </a:lnTo>
                    <a:lnTo>
                      <a:pt x="238" y="554"/>
                    </a:lnTo>
                    <a:lnTo>
                      <a:pt x="249" y="565"/>
                    </a:lnTo>
                    <a:lnTo>
                      <a:pt x="254" y="575"/>
                    </a:lnTo>
                    <a:lnTo>
                      <a:pt x="259" y="591"/>
                    </a:lnTo>
                    <a:lnTo>
                      <a:pt x="264" y="601"/>
                    </a:lnTo>
                    <a:lnTo>
                      <a:pt x="270" y="612"/>
                    </a:lnTo>
                    <a:lnTo>
                      <a:pt x="280" y="622"/>
                    </a:lnTo>
                    <a:lnTo>
                      <a:pt x="285" y="637"/>
                    </a:lnTo>
                    <a:lnTo>
                      <a:pt x="290" y="648"/>
                    </a:lnTo>
                    <a:lnTo>
                      <a:pt x="295" y="658"/>
                    </a:lnTo>
                    <a:lnTo>
                      <a:pt x="306" y="669"/>
                    </a:lnTo>
                    <a:lnTo>
                      <a:pt x="311" y="679"/>
                    </a:lnTo>
                    <a:lnTo>
                      <a:pt x="316" y="689"/>
                    </a:lnTo>
                    <a:lnTo>
                      <a:pt x="321" y="700"/>
                    </a:lnTo>
                    <a:lnTo>
                      <a:pt x="332" y="710"/>
                    </a:lnTo>
                    <a:lnTo>
                      <a:pt x="337" y="720"/>
                    </a:lnTo>
                    <a:lnTo>
                      <a:pt x="342" y="731"/>
                    </a:lnTo>
                    <a:lnTo>
                      <a:pt x="347" y="741"/>
                    </a:lnTo>
                    <a:lnTo>
                      <a:pt x="358" y="751"/>
                    </a:lnTo>
                    <a:lnTo>
                      <a:pt x="363" y="762"/>
                    </a:lnTo>
                    <a:lnTo>
                      <a:pt x="368" y="772"/>
                    </a:lnTo>
                    <a:lnTo>
                      <a:pt x="373" y="783"/>
                    </a:lnTo>
                    <a:lnTo>
                      <a:pt x="384" y="793"/>
                    </a:lnTo>
                    <a:lnTo>
                      <a:pt x="389" y="803"/>
                    </a:lnTo>
                    <a:lnTo>
                      <a:pt x="394" y="814"/>
                    </a:lnTo>
                    <a:lnTo>
                      <a:pt x="399" y="824"/>
                    </a:lnTo>
                    <a:lnTo>
                      <a:pt x="410" y="829"/>
                    </a:lnTo>
                    <a:lnTo>
                      <a:pt x="415" y="840"/>
                    </a:lnTo>
                    <a:lnTo>
                      <a:pt x="420" y="850"/>
                    </a:lnTo>
                    <a:lnTo>
                      <a:pt x="425" y="860"/>
                    </a:lnTo>
                    <a:lnTo>
                      <a:pt x="430" y="871"/>
                    </a:lnTo>
                    <a:lnTo>
                      <a:pt x="441" y="876"/>
                    </a:lnTo>
                    <a:lnTo>
                      <a:pt x="446" y="886"/>
                    </a:lnTo>
                    <a:lnTo>
                      <a:pt x="451" y="897"/>
                    </a:lnTo>
                    <a:lnTo>
                      <a:pt x="456" y="902"/>
                    </a:lnTo>
                    <a:lnTo>
                      <a:pt x="467" y="912"/>
                    </a:lnTo>
                    <a:lnTo>
                      <a:pt x="472" y="923"/>
                    </a:lnTo>
                    <a:lnTo>
                      <a:pt x="477" y="928"/>
                    </a:lnTo>
                    <a:lnTo>
                      <a:pt x="482" y="938"/>
                    </a:lnTo>
                    <a:lnTo>
                      <a:pt x="492" y="948"/>
                    </a:lnTo>
                    <a:lnTo>
                      <a:pt x="498" y="954"/>
                    </a:lnTo>
                    <a:lnTo>
                      <a:pt x="503" y="964"/>
                    </a:lnTo>
                    <a:lnTo>
                      <a:pt x="508" y="969"/>
                    </a:lnTo>
                    <a:lnTo>
                      <a:pt x="518" y="980"/>
                    </a:lnTo>
                    <a:lnTo>
                      <a:pt x="524" y="985"/>
                    </a:lnTo>
                    <a:lnTo>
                      <a:pt x="529" y="995"/>
                    </a:lnTo>
                    <a:lnTo>
                      <a:pt x="534" y="1000"/>
                    </a:lnTo>
                    <a:lnTo>
                      <a:pt x="544" y="1011"/>
                    </a:lnTo>
                    <a:lnTo>
                      <a:pt x="549" y="1016"/>
                    </a:lnTo>
                    <a:lnTo>
                      <a:pt x="555" y="1026"/>
                    </a:lnTo>
                    <a:lnTo>
                      <a:pt x="560" y="1031"/>
                    </a:lnTo>
                    <a:lnTo>
                      <a:pt x="570" y="1042"/>
                    </a:lnTo>
                    <a:lnTo>
                      <a:pt x="575" y="1047"/>
                    </a:lnTo>
                    <a:lnTo>
                      <a:pt x="581" y="1052"/>
                    </a:lnTo>
                    <a:lnTo>
                      <a:pt x="586" y="1062"/>
                    </a:lnTo>
                    <a:lnTo>
                      <a:pt x="591" y="1068"/>
                    </a:lnTo>
                    <a:lnTo>
                      <a:pt x="601" y="1073"/>
                    </a:lnTo>
                    <a:lnTo>
                      <a:pt x="607" y="1083"/>
                    </a:lnTo>
                    <a:lnTo>
                      <a:pt x="612" y="1088"/>
                    </a:lnTo>
                    <a:lnTo>
                      <a:pt x="617" y="1094"/>
                    </a:lnTo>
                    <a:lnTo>
                      <a:pt x="627" y="1104"/>
                    </a:lnTo>
                    <a:lnTo>
                      <a:pt x="632" y="1109"/>
                    </a:lnTo>
                    <a:lnTo>
                      <a:pt x="638" y="1114"/>
                    </a:lnTo>
                    <a:lnTo>
                      <a:pt x="643" y="1119"/>
                    </a:lnTo>
                    <a:lnTo>
                      <a:pt x="653" y="1130"/>
                    </a:lnTo>
                    <a:lnTo>
                      <a:pt x="658" y="1135"/>
                    </a:lnTo>
                    <a:lnTo>
                      <a:pt x="664" y="1140"/>
                    </a:lnTo>
                    <a:lnTo>
                      <a:pt x="669" y="1145"/>
                    </a:lnTo>
                    <a:lnTo>
                      <a:pt x="679" y="1156"/>
                    </a:lnTo>
                    <a:lnTo>
                      <a:pt x="684" y="1161"/>
                    </a:lnTo>
                    <a:lnTo>
                      <a:pt x="689" y="1166"/>
                    </a:lnTo>
                    <a:lnTo>
                      <a:pt x="695" y="1171"/>
                    </a:lnTo>
                    <a:lnTo>
                      <a:pt x="705" y="1176"/>
                    </a:lnTo>
                    <a:lnTo>
                      <a:pt x="710" y="1182"/>
                    </a:lnTo>
                    <a:lnTo>
                      <a:pt x="715" y="1187"/>
                    </a:lnTo>
                    <a:lnTo>
                      <a:pt x="721" y="1197"/>
                    </a:lnTo>
                    <a:lnTo>
                      <a:pt x="731" y="1202"/>
                    </a:lnTo>
                    <a:lnTo>
                      <a:pt x="736" y="1208"/>
                    </a:lnTo>
                    <a:lnTo>
                      <a:pt x="741" y="1213"/>
                    </a:lnTo>
                    <a:lnTo>
                      <a:pt x="746" y="1218"/>
                    </a:lnTo>
                    <a:lnTo>
                      <a:pt x="752" y="1223"/>
                    </a:lnTo>
                    <a:lnTo>
                      <a:pt x="762" y="1228"/>
                    </a:lnTo>
                    <a:lnTo>
                      <a:pt x="767" y="1234"/>
                    </a:lnTo>
                    <a:lnTo>
                      <a:pt x="772" y="1239"/>
                    </a:lnTo>
                    <a:lnTo>
                      <a:pt x="778" y="1244"/>
                    </a:lnTo>
                    <a:lnTo>
                      <a:pt x="788" y="1249"/>
                    </a:lnTo>
                    <a:lnTo>
                      <a:pt x="793" y="1254"/>
                    </a:lnTo>
                    <a:lnTo>
                      <a:pt x="798" y="1259"/>
                    </a:lnTo>
                    <a:lnTo>
                      <a:pt x="804" y="1265"/>
                    </a:lnTo>
                    <a:lnTo>
                      <a:pt x="814" y="1270"/>
                    </a:lnTo>
                  </a:path>
                </a:pathLst>
              </a:custGeom>
              <a:noFill/>
              <a:ln w="28575" cmpd="sng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4332" name="Freeform 76"/>
              <p:cNvSpPr>
                <a:spLocks/>
              </p:cNvSpPr>
              <p:nvPr/>
            </p:nvSpPr>
            <p:spPr bwMode="auto">
              <a:xfrm>
                <a:off x="2693" y="2509"/>
                <a:ext cx="814" cy="357"/>
              </a:xfrm>
              <a:custGeom>
                <a:avLst/>
                <a:gdLst/>
                <a:ahLst/>
                <a:cxnLst>
                  <a:cxn ang="0">
                    <a:pos x="10" y="10"/>
                  </a:cxn>
                  <a:cxn ang="0">
                    <a:pos x="31" y="26"/>
                  </a:cxn>
                  <a:cxn ang="0">
                    <a:pos x="52" y="41"/>
                  </a:cxn>
                  <a:cxn ang="0">
                    <a:pos x="67" y="52"/>
                  </a:cxn>
                  <a:cxn ang="0">
                    <a:pos x="88" y="67"/>
                  </a:cxn>
                  <a:cxn ang="0">
                    <a:pos x="109" y="78"/>
                  </a:cxn>
                  <a:cxn ang="0">
                    <a:pos x="124" y="93"/>
                  </a:cxn>
                  <a:cxn ang="0">
                    <a:pos x="145" y="103"/>
                  </a:cxn>
                  <a:cxn ang="0">
                    <a:pos x="166" y="114"/>
                  </a:cxn>
                  <a:cxn ang="0">
                    <a:pos x="187" y="124"/>
                  </a:cxn>
                  <a:cxn ang="0">
                    <a:pos x="202" y="135"/>
                  </a:cxn>
                  <a:cxn ang="0">
                    <a:pos x="223" y="150"/>
                  </a:cxn>
                  <a:cxn ang="0">
                    <a:pos x="244" y="160"/>
                  </a:cxn>
                  <a:cxn ang="0">
                    <a:pos x="259" y="171"/>
                  </a:cxn>
                  <a:cxn ang="0">
                    <a:pos x="280" y="176"/>
                  </a:cxn>
                  <a:cxn ang="0">
                    <a:pos x="301" y="186"/>
                  </a:cxn>
                  <a:cxn ang="0">
                    <a:pos x="321" y="197"/>
                  </a:cxn>
                  <a:cxn ang="0">
                    <a:pos x="337" y="207"/>
                  </a:cxn>
                  <a:cxn ang="0">
                    <a:pos x="358" y="212"/>
                  </a:cxn>
                  <a:cxn ang="0">
                    <a:pos x="378" y="223"/>
                  </a:cxn>
                  <a:cxn ang="0">
                    <a:pos x="399" y="233"/>
                  </a:cxn>
                  <a:cxn ang="0">
                    <a:pos x="415" y="238"/>
                  </a:cxn>
                  <a:cxn ang="0">
                    <a:pos x="435" y="249"/>
                  </a:cxn>
                  <a:cxn ang="0">
                    <a:pos x="456" y="254"/>
                  </a:cxn>
                  <a:cxn ang="0">
                    <a:pos x="472" y="264"/>
                  </a:cxn>
                  <a:cxn ang="0">
                    <a:pos x="492" y="269"/>
                  </a:cxn>
                  <a:cxn ang="0">
                    <a:pos x="513" y="275"/>
                  </a:cxn>
                  <a:cxn ang="0">
                    <a:pos x="534" y="280"/>
                  </a:cxn>
                  <a:cxn ang="0">
                    <a:pos x="549" y="290"/>
                  </a:cxn>
                  <a:cxn ang="0">
                    <a:pos x="570" y="295"/>
                  </a:cxn>
                  <a:cxn ang="0">
                    <a:pos x="591" y="300"/>
                  </a:cxn>
                  <a:cxn ang="0">
                    <a:pos x="606" y="306"/>
                  </a:cxn>
                  <a:cxn ang="0">
                    <a:pos x="627" y="311"/>
                  </a:cxn>
                  <a:cxn ang="0">
                    <a:pos x="648" y="316"/>
                  </a:cxn>
                  <a:cxn ang="0">
                    <a:pos x="669" y="321"/>
                  </a:cxn>
                  <a:cxn ang="0">
                    <a:pos x="684" y="326"/>
                  </a:cxn>
                  <a:cxn ang="0">
                    <a:pos x="705" y="332"/>
                  </a:cxn>
                  <a:cxn ang="0">
                    <a:pos x="726" y="337"/>
                  </a:cxn>
                  <a:cxn ang="0">
                    <a:pos x="741" y="342"/>
                  </a:cxn>
                  <a:cxn ang="0">
                    <a:pos x="762" y="347"/>
                  </a:cxn>
                  <a:cxn ang="0">
                    <a:pos x="783" y="352"/>
                  </a:cxn>
                  <a:cxn ang="0">
                    <a:pos x="803" y="357"/>
                  </a:cxn>
                </a:cxnLst>
                <a:rect l="0" t="0" r="r" b="b"/>
                <a:pathLst>
                  <a:path w="814" h="357">
                    <a:moveTo>
                      <a:pt x="0" y="0"/>
                    </a:moveTo>
                    <a:lnTo>
                      <a:pt x="5" y="5"/>
                    </a:lnTo>
                    <a:lnTo>
                      <a:pt x="10" y="10"/>
                    </a:lnTo>
                    <a:lnTo>
                      <a:pt x="15" y="15"/>
                    </a:lnTo>
                    <a:lnTo>
                      <a:pt x="26" y="21"/>
                    </a:lnTo>
                    <a:lnTo>
                      <a:pt x="31" y="26"/>
                    </a:lnTo>
                    <a:lnTo>
                      <a:pt x="36" y="31"/>
                    </a:lnTo>
                    <a:lnTo>
                      <a:pt x="41" y="36"/>
                    </a:lnTo>
                    <a:lnTo>
                      <a:pt x="52" y="41"/>
                    </a:lnTo>
                    <a:lnTo>
                      <a:pt x="57" y="41"/>
                    </a:lnTo>
                    <a:lnTo>
                      <a:pt x="62" y="46"/>
                    </a:lnTo>
                    <a:lnTo>
                      <a:pt x="67" y="52"/>
                    </a:lnTo>
                    <a:lnTo>
                      <a:pt x="78" y="57"/>
                    </a:lnTo>
                    <a:lnTo>
                      <a:pt x="83" y="62"/>
                    </a:lnTo>
                    <a:lnTo>
                      <a:pt x="88" y="67"/>
                    </a:lnTo>
                    <a:lnTo>
                      <a:pt x="93" y="72"/>
                    </a:lnTo>
                    <a:lnTo>
                      <a:pt x="98" y="72"/>
                    </a:lnTo>
                    <a:lnTo>
                      <a:pt x="109" y="78"/>
                    </a:lnTo>
                    <a:lnTo>
                      <a:pt x="114" y="83"/>
                    </a:lnTo>
                    <a:lnTo>
                      <a:pt x="119" y="88"/>
                    </a:lnTo>
                    <a:lnTo>
                      <a:pt x="124" y="93"/>
                    </a:lnTo>
                    <a:lnTo>
                      <a:pt x="135" y="93"/>
                    </a:lnTo>
                    <a:lnTo>
                      <a:pt x="140" y="98"/>
                    </a:lnTo>
                    <a:lnTo>
                      <a:pt x="145" y="103"/>
                    </a:lnTo>
                    <a:lnTo>
                      <a:pt x="150" y="109"/>
                    </a:lnTo>
                    <a:lnTo>
                      <a:pt x="161" y="109"/>
                    </a:lnTo>
                    <a:lnTo>
                      <a:pt x="166" y="114"/>
                    </a:lnTo>
                    <a:lnTo>
                      <a:pt x="171" y="119"/>
                    </a:lnTo>
                    <a:lnTo>
                      <a:pt x="176" y="124"/>
                    </a:lnTo>
                    <a:lnTo>
                      <a:pt x="187" y="124"/>
                    </a:lnTo>
                    <a:lnTo>
                      <a:pt x="192" y="129"/>
                    </a:lnTo>
                    <a:lnTo>
                      <a:pt x="197" y="135"/>
                    </a:lnTo>
                    <a:lnTo>
                      <a:pt x="202" y="135"/>
                    </a:lnTo>
                    <a:lnTo>
                      <a:pt x="212" y="140"/>
                    </a:lnTo>
                    <a:lnTo>
                      <a:pt x="218" y="145"/>
                    </a:lnTo>
                    <a:lnTo>
                      <a:pt x="223" y="150"/>
                    </a:lnTo>
                    <a:lnTo>
                      <a:pt x="228" y="150"/>
                    </a:lnTo>
                    <a:lnTo>
                      <a:pt x="238" y="155"/>
                    </a:lnTo>
                    <a:lnTo>
                      <a:pt x="244" y="160"/>
                    </a:lnTo>
                    <a:lnTo>
                      <a:pt x="249" y="160"/>
                    </a:lnTo>
                    <a:lnTo>
                      <a:pt x="254" y="166"/>
                    </a:lnTo>
                    <a:lnTo>
                      <a:pt x="259" y="171"/>
                    </a:lnTo>
                    <a:lnTo>
                      <a:pt x="269" y="171"/>
                    </a:lnTo>
                    <a:lnTo>
                      <a:pt x="275" y="176"/>
                    </a:lnTo>
                    <a:lnTo>
                      <a:pt x="280" y="176"/>
                    </a:lnTo>
                    <a:lnTo>
                      <a:pt x="285" y="181"/>
                    </a:lnTo>
                    <a:lnTo>
                      <a:pt x="295" y="186"/>
                    </a:lnTo>
                    <a:lnTo>
                      <a:pt x="301" y="186"/>
                    </a:lnTo>
                    <a:lnTo>
                      <a:pt x="306" y="192"/>
                    </a:lnTo>
                    <a:lnTo>
                      <a:pt x="311" y="192"/>
                    </a:lnTo>
                    <a:lnTo>
                      <a:pt x="321" y="197"/>
                    </a:lnTo>
                    <a:lnTo>
                      <a:pt x="326" y="202"/>
                    </a:lnTo>
                    <a:lnTo>
                      <a:pt x="332" y="202"/>
                    </a:lnTo>
                    <a:lnTo>
                      <a:pt x="337" y="207"/>
                    </a:lnTo>
                    <a:lnTo>
                      <a:pt x="347" y="207"/>
                    </a:lnTo>
                    <a:lnTo>
                      <a:pt x="352" y="212"/>
                    </a:lnTo>
                    <a:lnTo>
                      <a:pt x="358" y="212"/>
                    </a:lnTo>
                    <a:lnTo>
                      <a:pt x="363" y="217"/>
                    </a:lnTo>
                    <a:lnTo>
                      <a:pt x="373" y="223"/>
                    </a:lnTo>
                    <a:lnTo>
                      <a:pt x="378" y="223"/>
                    </a:lnTo>
                    <a:lnTo>
                      <a:pt x="383" y="228"/>
                    </a:lnTo>
                    <a:lnTo>
                      <a:pt x="389" y="228"/>
                    </a:lnTo>
                    <a:lnTo>
                      <a:pt x="399" y="233"/>
                    </a:lnTo>
                    <a:lnTo>
                      <a:pt x="404" y="233"/>
                    </a:lnTo>
                    <a:lnTo>
                      <a:pt x="409" y="238"/>
                    </a:lnTo>
                    <a:lnTo>
                      <a:pt x="415" y="238"/>
                    </a:lnTo>
                    <a:lnTo>
                      <a:pt x="420" y="243"/>
                    </a:lnTo>
                    <a:lnTo>
                      <a:pt x="430" y="243"/>
                    </a:lnTo>
                    <a:lnTo>
                      <a:pt x="435" y="249"/>
                    </a:lnTo>
                    <a:lnTo>
                      <a:pt x="441" y="249"/>
                    </a:lnTo>
                    <a:lnTo>
                      <a:pt x="446" y="254"/>
                    </a:lnTo>
                    <a:lnTo>
                      <a:pt x="456" y="254"/>
                    </a:lnTo>
                    <a:lnTo>
                      <a:pt x="461" y="259"/>
                    </a:lnTo>
                    <a:lnTo>
                      <a:pt x="466" y="259"/>
                    </a:lnTo>
                    <a:lnTo>
                      <a:pt x="472" y="264"/>
                    </a:lnTo>
                    <a:lnTo>
                      <a:pt x="482" y="264"/>
                    </a:lnTo>
                    <a:lnTo>
                      <a:pt x="487" y="264"/>
                    </a:lnTo>
                    <a:lnTo>
                      <a:pt x="492" y="269"/>
                    </a:lnTo>
                    <a:lnTo>
                      <a:pt x="498" y="269"/>
                    </a:lnTo>
                    <a:lnTo>
                      <a:pt x="508" y="275"/>
                    </a:lnTo>
                    <a:lnTo>
                      <a:pt x="513" y="275"/>
                    </a:lnTo>
                    <a:lnTo>
                      <a:pt x="518" y="280"/>
                    </a:lnTo>
                    <a:lnTo>
                      <a:pt x="523" y="280"/>
                    </a:lnTo>
                    <a:lnTo>
                      <a:pt x="534" y="280"/>
                    </a:lnTo>
                    <a:lnTo>
                      <a:pt x="539" y="285"/>
                    </a:lnTo>
                    <a:lnTo>
                      <a:pt x="544" y="285"/>
                    </a:lnTo>
                    <a:lnTo>
                      <a:pt x="549" y="290"/>
                    </a:lnTo>
                    <a:lnTo>
                      <a:pt x="560" y="290"/>
                    </a:lnTo>
                    <a:lnTo>
                      <a:pt x="565" y="295"/>
                    </a:lnTo>
                    <a:lnTo>
                      <a:pt x="570" y="295"/>
                    </a:lnTo>
                    <a:lnTo>
                      <a:pt x="575" y="295"/>
                    </a:lnTo>
                    <a:lnTo>
                      <a:pt x="580" y="300"/>
                    </a:lnTo>
                    <a:lnTo>
                      <a:pt x="591" y="300"/>
                    </a:lnTo>
                    <a:lnTo>
                      <a:pt x="596" y="300"/>
                    </a:lnTo>
                    <a:lnTo>
                      <a:pt x="601" y="306"/>
                    </a:lnTo>
                    <a:lnTo>
                      <a:pt x="606" y="306"/>
                    </a:lnTo>
                    <a:lnTo>
                      <a:pt x="617" y="311"/>
                    </a:lnTo>
                    <a:lnTo>
                      <a:pt x="622" y="311"/>
                    </a:lnTo>
                    <a:lnTo>
                      <a:pt x="627" y="311"/>
                    </a:lnTo>
                    <a:lnTo>
                      <a:pt x="632" y="316"/>
                    </a:lnTo>
                    <a:lnTo>
                      <a:pt x="643" y="316"/>
                    </a:lnTo>
                    <a:lnTo>
                      <a:pt x="648" y="316"/>
                    </a:lnTo>
                    <a:lnTo>
                      <a:pt x="653" y="321"/>
                    </a:lnTo>
                    <a:lnTo>
                      <a:pt x="658" y="321"/>
                    </a:lnTo>
                    <a:lnTo>
                      <a:pt x="669" y="321"/>
                    </a:lnTo>
                    <a:lnTo>
                      <a:pt x="674" y="326"/>
                    </a:lnTo>
                    <a:lnTo>
                      <a:pt x="679" y="326"/>
                    </a:lnTo>
                    <a:lnTo>
                      <a:pt x="684" y="326"/>
                    </a:lnTo>
                    <a:lnTo>
                      <a:pt x="695" y="332"/>
                    </a:lnTo>
                    <a:lnTo>
                      <a:pt x="700" y="332"/>
                    </a:lnTo>
                    <a:lnTo>
                      <a:pt x="705" y="332"/>
                    </a:lnTo>
                    <a:lnTo>
                      <a:pt x="710" y="337"/>
                    </a:lnTo>
                    <a:lnTo>
                      <a:pt x="720" y="337"/>
                    </a:lnTo>
                    <a:lnTo>
                      <a:pt x="726" y="337"/>
                    </a:lnTo>
                    <a:lnTo>
                      <a:pt x="731" y="342"/>
                    </a:lnTo>
                    <a:lnTo>
                      <a:pt x="736" y="342"/>
                    </a:lnTo>
                    <a:lnTo>
                      <a:pt x="741" y="342"/>
                    </a:lnTo>
                    <a:lnTo>
                      <a:pt x="752" y="347"/>
                    </a:lnTo>
                    <a:lnTo>
                      <a:pt x="757" y="347"/>
                    </a:lnTo>
                    <a:lnTo>
                      <a:pt x="762" y="347"/>
                    </a:lnTo>
                    <a:lnTo>
                      <a:pt x="767" y="347"/>
                    </a:lnTo>
                    <a:lnTo>
                      <a:pt x="777" y="352"/>
                    </a:lnTo>
                    <a:lnTo>
                      <a:pt x="783" y="352"/>
                    </a:lnTo>
                    <a:lnTo>
                      <a:pt x="788" y="352"/>
                    </a:lnTo>
                    <a:lnTo>
                      <a:pt x="793" y="357"/>
                    </a:lnTo>
                    <a:lnTo>
                      <a:pt x="803" y="357"/>
                    </a:lnTo>
                    <a:lnTo>
                      <a:pt x="809" y="357"/>
                    </a:lnTo>
                    <a:lnTo>
                      <a:pt x="814" y="357"/>
                    </a:lnTo>
                  </a:path>
                </a:pathLst>
              </a:custGeom>
              <a:noFill/>
              <a:ln w="28575" cmpd="sng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4333" name="Freeform 77"/>
              <p:cNvSpPr>
                <a:spLocks/>
              </p:cNvSpPr>
              <p:nvPr/>
            </p:nvSpPr>
            <p:spPr bwMode="auto">
              <a:xfrm>
                <a:off x="3507" y="2866"/>
                <a:ext cx="549" cy="83"/>
              </a:xfrm>
              <a:custGeom>
                <a:avLst/>
                <a:gdLst/>
                <a:ahLst/>
                <a:cxnLst>
                  <a:cxn ang="0">
                    <a:pos x="5" y="6"/>
                  </a:cxn>
                  <a:cxn ang="0">
                    <a:pos x="20" y="6"/>
                  </a:cxn>
                  <a:cxn ang="0">
                    <a:pos x="31" y="11"/>
                  </a:cxn>
                  <a:cxn ang="0">
                    <a:pos x="46" y="11"/>
                  </a:cxn>
                  <a:cxn ang="0">
                    <a:pos x="57" y="16"/>
                  </a:cxn>
                  <a:cxn ang="0">
                    <a:pos x="72" y="16"/>
                  </a:cxn>
                  <a:cxn ang="0">
                    <a:pos x="83" y="21"/>
                  </a:cxn>
                  <a:cxn ang="0">
                    <a:pos x="98" y="21"/>
                  </a:cxn>
                  <a:cxn ang="0">
                    <a:pos x="109" y="26"/>
                  </a:cxn>
                  <a:cxn ang="0">
                    <a:pos x="124" y="26"/>
                  </a:cxn>
                  <a:cxn ang="0">
                    <a:pos x="135" y="32"/>
                  </a:cxn>
                  <a:cxn ang="0">
                    <a:pos x="150" y="32"/>
                  </a:cxn>
                  <a:cxn ang="0">
                    <a:pos x="160" y="32"/>
                  </a:cxn>
                  <a:cxn ang="0">
                    <a:pos x="176" y="37"/>
                  </a:cxn>
                  <a:cxn ang="0">
                    <a:pos x="186" y="37"/>
                  </a:cxn>
                  <a:cxn ang="0">
                    <a:pos x="202" y="42"/>
                  </a:cxn>
                  <a:cxn ang="0">
                    <a:pos x="212" y="42"/>
                  </a:cxn>
                  <a:cxn ang="0">
                    <a:pos x="228" y="42"/>
                  </a:cxn>
                  <a:cxn ang="0">
                    <a:pos x="238" y="47"/>
                  </a:cxn>
                  <a:cxn ang="0">
                    <a:pos x="249" y="47"/>
                  </a:cxn>
                  <a:cxn ang="0">
                    <a:pos x="264" y="52"/>
                  </a:cxn>
                  <a:cxn ang="0">
                    <a:pos x="275" y="52"/>
                  </a:cxn>
                  <a:cxn ang="0">
                    <a:pos x="290" y="52"/>
                  </a:cxn>
                  <a:cxn ang="0">
                    <a:pos x="300" y="57"/>
                  </a:cxn>
                  <a:cxn ang="0">
                    <a:pos x="316" y="57"/>
                  </a:cxn>
                  <a:cxn ang="0">
                    <a:pos x="326" y="57"/>
                  </a:cxn>
                  <a:cxn ang="0">
                    <a:pos x="342" y="63"/>
                  </a:cxn>
                  <a:cxn ang="0">
                    <a:pos x="352" y="63"/>
                  </a:cxn>
                  <a:cxn ang="0">
                    <a:pos x="368" y="63"/>
                  </a:cxn>
                  <a:cxn ang="0">
                    <a:pos x="378" y="63"/>
                  </a:cxn>
                  <a:cxn ang="0">
                    <a:pos x="394" y="68"/>
                  </a:cxn>
                  <a:cxn ang="0">
                    <a:pos x="404" y="68"/>
                  </a:cxn>
                  <a:cxn ang="0">
                    <a:pos x="420" y="68"/>
                  </a:cxn>
                  <a:cxn ang="0">
                    <a:pos x="430" y="73"/>
                  </a:cxn>
                  <a:cxn ang="0">
                    <a:pos x="446" y="73"/>
                  </a:cxn>
                  <a:cxn ang="0">
                    <a:pos x="456" y="73"/>
                  </a:cxn>
                  <a:cxn ang="0">
                    <a:pos x="471" y="73"/>
                  </a:cxn>
                  <a:cxn ang="0">
                    <a:pos x="482" y="78"/>
                  </a:cxn>
                  <a:cxn ang="0">
                    <a:pos x="497" y="78"/>
                  </a:cxn>
                  <a:cxn ang="0">
                    <a:pos x="508" y="78"/>
                  </a:cxn>
                  <a:cxn ang="0">
                    <a:pos x="523" y="78"/>
                  </a:cxn>
                  <a:cxn ang="0">
                    <a:pos x="534" y="83"/>
                  </a:cxn>
                  <a:cxn ang="0">
                    <a:pos x="549" y="83"/>
                  </a:cxn>
                </a:cxnLst>
                <a:rect l="0" t="0" r="r" b="b"/>
                <a:pathLst>
                  <a:path w="549" h="83">
                    <a:moveTo>
                      <a:pt x="0" y="0"/>
                    </a:moveTo>
                    <a:lnTo>
                      <a:pt x="5" y="6"/>
                    </a:lnTo>
                    <a:lnTo>
                      <a:pt x="15" y="6"/>
                    </a:lnTo>
                    <a:lnTo>
                      <a:pt x="20" y="6"/>
                    </a:lnTo>
                    <a:lnTo>
                      <a:pt x="26" y="6"/>
                    </a:lnTo>
                    <a:lnTo>
                      <a:pt x="31" y="11"/>
                    </a:lnTo>
                    <a:lnTo>
                      <a:pt x="41" y="11"/>
                    </a:lnTo>
                    <a:lnTo>
                      <a:pt x="46" y="11"/>
                    </a:lnTo>
                    <a:lnTo>
                      <a:pt x="52" y="16"/>
                    </a:lnTo>
                    <a:lnTo>
                      <a:pt x="57" y="16"/>
                    </a:lnTo>
                    <a:lnTo>
                      <a:pt x="67" y="16"/>
                    </a:lnTo>
                    <a:lnTo>
                      <a:pt x="72" y="16"/>
                    </a:lnTo>
                    <a:lnTo>
                      <a:pt x="78" y="16"/>
                    </a:lnTo>
                    <a:lnTo>
                      <a:pt x="83" y="21"/>
                    </a:lnTo>
                    <a:lnTo>
                      <a:pt x="88" y="21"/>
                    </a:lnTo>
                    <a:lnTo>
                      <a:pt x="98" y="21"/>
                    </a:lnTo>
                    <a:lnTo>
                      <a:pt x="103" y="21"/>
                    </a:lnTo>
                    <a:lnTo>
                      <a:pt x="109" y="26"/>
                    </a:lnTo>
                    <a:lnTo>
                      <a:pt x="114" y="26"/>
                    </a:lnTo>
                    <a:lnTo>
                      <a:pt x="124" y="26"/>
                    </a:lnTo>
                    <a:lnTo>
                      <a:pt x="129" y="26"/>
                    </a:lnTo>
                    <a:lnTo>
                      <a:pt x="135" y="32"/>
                    </a:lnTo>
                    <a:lnTo>
                      <a:pt x="140" y="32"/>
                    </a:lnTo>
                    <a:lnTo>
                      <a:pt x="150" y="32"/>
                    </a:lnTo>
                    <a:lnTo>
                      <a:pt x="155" y="32"/>
                    </a:lnTo>
                    <a:lnTo>
                      <a:pt x="160" y="32"/>
                    </a:lnTo>
                    <a:lnTo>
                      <a:pt x="166" y="37"/>
                    </a:lnTo>
                    <a:lnTo>
                      <a:pt x="176" y="37"/>
                    </a:lnTo>
                    <a:lnTo>
                      <a:pt x="181" y="37"/>
                    </a:lnTo>
                    <a:lnTo>
                      <a:pt x="186" y="37"/>
                    </a:lnTo>
                    <a:lnTo>
                      <a:pt x="192" y="37"/>
                    </a:lnTo>
                    <a:lnTo>
                      <a:pt x="202" y="42"/>
                    </a:lnTo>
                    <a:lnTo>
                      <a:pt x="207" y="42"/>
                    </a:lnTo>
                    <a:lnTo>
                      <a:pt x="212" y="42"/>
                    </a:lnTo>
                    <a:lnTo>
                      <a:pt x="217" y="42"/>
                    </a:lnTo>
                    <a:lnTo>
                      <a:pt x="228" y="42"/>
                    </a:lnTo>
                    <a:lnTo>
                      <a:pt x="233" y="47"/>
                    </a:lnTo>
                    <a:lnTo>
                      <a:pt x="238" y="47"/>
                    </a:lnTo>
                    <a:lnTo>
                      <a:pt x="243" y="47"/>
                    </a:lnTo>
                    <a:lnTo>
                      <a:pt x="249" y="47"/>
                    </a:lnTo>
                    <a:lnTo>
                      <a:pt x="259" y="47"/>
                    </a:lnTo>
                    <a:lnTo>
                      <a:pt x="264" y="52"/>
                    </a:lnTo>
                    <a:lnTo>
                      <a:pt x="269" y="52"/>
                    </a:lnTo>
                    <a:lnTo>
                      <a:pt x="275" y="52"/>
                    </a:lnTo>
                    <a:lnTo>
                      <a:pt x="285" y="52"/>
                    </a:lnTo>
                    <a:lnTo>
                      <a:pt x="290" y="52"/>
                    </a:lnTo>
                    <a:lnTo>
                      <a:pt x="295" y="52"/>
                    </a:lnTo>
                    <a:lnTo>
                      <a:pt x="300" y="57"/>
                    </a:lnTo>
                    <a:lnTo>
                      <a:pt x="311" y="57"/>
                    </a:lnTo>
                    <a:lnTo>
                      <a:pt x="316" y="57"/>
                    </a:lnTo>
                    <a:lnTo>
                      <a:pt x="321" y="57"/>
                    </a:lnTo>
                    <a:lnTo>
                      <a:pt x="326" y="57"/>
                    </a:lnTo>
                    <a:lnTo>
                      <a:pt x="337" y="57"/>
                    </a:lnTo>
                    <a:lnTo>
                      <a:pt x="342" y="63"/>
                    </a:lnTo>
                    <a:lnTo>
                      <a:pt x="347" y="63"/>
                    </a:lnTo>
                    <a:lnTo>
                      <a:pt x="352" y="63"/>
                    </a:lnTo>
                    <a:lnTo>
                      <a:pt x="363" y="63"/>
                    </a:lnTo>
                    <a:lnTo>
                      <a:pt x="368" y="63"/>
                    </a:lnTo>
                    <a:lnTo>
                      <a:pt x="373" y="63"/>
                    </a:lnTo>
                    <a:lnTo>
                      <a:pt x="378" y="63"/>
                    </a:lnTo>
                    <a:lnTo>
                      <a:pt x="389" y="68"/>
                    </a:lnTo>
                    <a:lnTo>
                      <a:pt x="394" y="68"/>
                    </a:lnTo>
                    <a:lnTo>
                      <a:pt x="399" y="68"/>
                    </a:lnTo>
                    <a:lnTo>
                      <a:pt x="404" y="68"/>
                    </a:lnTo>
                    <a:lnTo>
                      <a:pt x="409" y="68"/>
                    </a:lnTo>
                    <a:lnTo>
                      <a:pt x="420" y="68"/>
                    </a:lnTo>
                    <a:lnTo>
                      <a:pt x="425" y="73"/>
                    </a:lnTo>
                    <a:lnTo>
                      <a:pt x="430" y="73"/>
                    </a:lnTo>
                    <a:lnTo>
                      <a:pt x="435" y="73"/>
                    </a:lnTo>
                    <a:lnTo>
                      <a:pt x="446" y="73"/>
                    </a:lnTo>
                    <a:lnTo>
                      <a:pt x="451" y="73"/>
                    </a:lnTo>
                    <a:lnTo>
                      <a:pt x="456" y="73"/>
                    </a:lnTo>
                    <a:lnTo>
                      <a:pt x="461" y="73"/>
                    </a:lnTo>
                    <a:lnTo>
                      <a:pt x="471" y="73"/>
                    </a:lnTo>
                    <a:lnTo>
                      <a:pt x="477" y="78"/>
                    </a:lnTo>
                    <a:lnTo>
                      <a:pt x="482" y="78"/>
                    </a:lnTo>
                    <a:lnTo>
                      <a:pt x="487" y="78"/>
                    </a:lnTo>
                    <a:lnTo>
                      <a:pt x="497" y="78"/>
                    </a:lnTo>
                    <a:lnTo>
                      <a:pt x="503" y="78"/>
                    </a:lnTo>
                    <a:lnTo>
                      <a:pt x="508" y="78"/>
                    </a:lnTo>
                    <a:lnTo>
                      <a:pt x="513" y="78"/>
                    </a:lnTo>
                    <a:lnTo>
                      <a:pt x="523" y="78"/>
                    </a:lnTo>
                    <a:lnTo>
                      <a:pt x="529" y="83"/>
                    </a:lnTo>
                    <a:lnTo>
                      <a:pt x="534" y="83"/>
                    </a:lnTo>
                    <a:lnTo>
                      <a:pt x="539" y="83"/>
                    </a:lnTo>
                    <a:lnTo>
                      <a:pt x="549" y="83"/>
                    </a:lnTo>
                  </a:path>
                </a:pathLst>
              </a:custGeom>
              <a:noFill/>
              <a:ln w="28575" cmpd="sng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336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5242624" y="5230425"/>
                  <a:ext cx="639309" cy="2969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𝑡𝑓</m:t>
                        </m:r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4336" name="Text 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42624" y="5230425"/>
                  <a:ext cx="639309" cy="296949"/>
                </a:xfrm>
                <a:prstGeom prst="rect">
                  <a:avLst/>
                </a:prstGeom>
                <a:blipFill>
                  <a:blip r:embed="rId2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4337" name="Text Box 81"/>
            <p:cNvSpPr txBox="1">
              <a:spLocks noChangeArrowheads="1"/>
            </p:cNvSpPr>
            <p:nvPr/>
          </p:nvSpPr>
          <p:spPr bwMode="auto">
            <a:xfrm>
              <a:off x="3144577" y="2337732"/>
              <a:ext cx="224638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Misclassification error</a:t>
              </a:r>
            </a:p>
          </p:txBody>
        </p:sp>
        <p:sp>
          <p:nvSpPr>
            <p:cNvPr id="224338" name="Text Box 82"/>
            <p:cNvSpPr txBox="1">
              <a:spLocks noChangeArrowheads="1"/>
            </p:cNvSpPr>
            <p:nvPr/>
          </p:nvSpPr>
          <p:spPr bwMode="auto">
            <a:xfrm>
              <a:off x="1686310" y="1957041"/>
              <a:ext cx="63671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 dirty="0"/>
                <a:t>Loss</a:t>
              </a:r>
            </a:p>
          </p:txBody>
        </p:sp>
        <p:sp>
          <p:nvSpPr>
            <p:cNvPr id="224339" name="Text Box 83"/>
            <p:cNvSpPr txBox="1">
              <a:spLocks noChangeArrowheads="1"/>
            </p:cNvSpPr>
            <p:nvPr/>
          </p:nvSpPr>
          <p:spPr bwMode="auto">
            <a:xfrm>
              <a:off x="3907576" y="2680632"/>
              <a:ext cx="148598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10101"/>
                  </a:solidFill>
                </a:rPr>
                <a:t>Squared error</a:t>
              </a:r>
            </a:p>
          </p:txBody>
        </p:sp>
        <p:sp>
          <p:nvSpPr>
            <p:cNvPr id="224340" name="Text Box 84"/>
            <p:cNvSpPr txBox="1">
              <a:spLocks noChangeArrowheads="1"/>
            </p:cNvSpPr>
            <p:nvPr/>
          </p:nvSpPr>
          <p:spPr bwMode="auto">
            <a:xfrm>
              <a:off x="3703690" y="3048932"/>
              <a:ext cx="16973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33CC33"/>
                  </a:solidFill>
                </a:rPr>
                <a:t>Exponential loss</a:t>
              </a:r>
            </a:p>
          </p:txBody>
        </p:sp>
      </p:grpSp>
      <p:sp>
        <p:nvSpPr>
          <p:cNvPr id="86" name="矩形 85">
            <a:extLst>
              <a:ext uri="{FF2B5EF4-FFF2-40B4-BE49-F238E27FC236}">
                <a16:creationId xmlns:a16="http://schemas.microsoft.com/office/drawing/2014/main" id="{EACE96D4-E882-4629-95E4-6E6C2FFCFCB1}"/>
              </a:ext>
            </a:extLst>
          </p:cNvPr>
          <p:cNvSpPr/>
          <p:nvPr/>
        </p:nvSpPr>
        <p:spPr>
          <a:xfrm>
            <a:off x="410681" y="1088184"/>
            <a:ext cx="110035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[proposed by </a:t>
            </a:r>
            <a:r>
              <a:rPr lang="en-US" sz="2400" dirty="0" err="1"/>
              <a:t>Schapire</a:t>
            </a:r>
            <a:r>
              <a:rPr lang="en-US" sz="2400" dirty="0"/>
              <a:t> and Singer 1998 as an upper bound on misclassification error]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B99B3D-3478-40D5-9008-2E4B45F051C2}"/>
              </a:ext>
            </a:extLst>
          </p:cNvPr>
          <p:cNvSpPr/>
          <p:nvPr/>
        </p:nvSpPr>
        <p:spPr>
          <a:xfrm>
            <a:off x="6512393" y="2408370"/>
            <a:ext cx="521416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Exponential loss is a monotone, smooth upper bound on misclassification loss.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Leads to simple reweighting scheme.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04E64F8-09B9-4C11-BC14-43B2672B2B9C}"/>
              </a:ext>
            </a:extLst>
          </p:cNvPr>
          <p:cNvSpPr txBox="1"/>
          <p:nvPr/>
        </p:nvSpPr>
        <p:spPr>
          <a:xfrm>
            <a:off x="410681" y="253477"/>
            <a:ext cx="79546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Exponential Error Function  </a:t>
            </a:r>
            <a:r>
              <a:rPr lang="zh-CN" altLang="en-US" sz="2400" b="1" dirty="0"/>
              <a:t>指数损失函数</a:t>
            </a:r>
            <a:endParaRPr lang="en-US" altLang="zh-CN" sz="4000" b="1" dirty="0"/>
          </a:p>
        </p:txBody>
      </p:sp>
    </p:spTree>
    <p:extLst>
      <p:ext uri="{BB962C8B-B14F-4D97-AF65-F5344CB8AC3E}">
        <p14:creationId xmlns:p14="http://schemas.microsoft.com/office/powerpoint/2010/main" val="39971241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9">
            <a:extLst>
              <a:ext uri="{FF2B5EF4-FFF2-40B4-BE49-F238E27FC236}">
                <a16:creationId xmlns:a16="http://schemas.microsoft.com/office/drawing/2014/main" id="{A097870B-AD3D-4F2A-BF17-2136DBD44FAD}"/>
              </a:ext>
            </a:extLst>
          </p:cNvPr>
          <p:cNvSpPr/>
          <p:nvPr/>
        </p:nvSpPr>
        <p:spPr>
          <a:xfrm>
            <a:off x="410681" y="3020969"/>
            <a:ext cx="5943597" cy="3634030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1" name="矩形: 圆角 9">
            <a:extLst>
              <a:ext uri="{FF2B5EF4-FFF2-40B4-BE49-F238E27FC236}">
                <a16:creationId xmlns:a16="http://schemas.microsoft.com/office/drawing/2014/main" id="{519C19E3-B9C3-4F60-99F3-6A0F48AE62CF}"/>
              </a:ext>
            </a:extLst>
          </p:cNvPr>
          <p:cNvSpPr/>
          <p:nvPr/>
        </p:nvSpPr>
        <p:spPr>
          <a:xfrm>
            <a:off x="410681" y="1053902"/>
            <a:ext cx="11439171" cy="167044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AdaBoost</a:t>
            </a:r>
          </a:p>
        </p:txBody>
      </p:sp>
      <p:sp>
        <p:nvSpPr>
          <p:cNvPr id="3" name="矩形 2"/>
          <p:cNvSpPr/>
          <p:nvPr/>
        </p:nvSpPr>
        <p:spPr>
          <a:xfrm>
            <a:off x="410681" y="1070051"/>
            <a:ext cx="1158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Consider the exponential error function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931674" y="1497960"/>
                <a:ext cx="3486019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⁡{−</m:t>
                          </m:r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74" y="1497960"/>
                <a:ext cx="3486019" cy="11308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717758" y="1528224"/>
                <a:ext cx="3007939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758" y="1528224"/>
                <a:ext cx="3007939" cy="1100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8130212" y="1181013"/>
                <a:ext cx="322402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∈ {−1, 1}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: target value.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212" y="1181013"/>
                <a:ext cx="3224024" cy="400110"/>
              </a:xfrm>
              <a:prstGeom prst="rect">
                <a:avLst/>
              </a:prstGeom>
              <a:blipFill>
                <a:blip r:embed="rId4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B79B3A29-0A6E-4FA7-A812-2A899E9A7714}"/>
              </a:ext>
            </a:extLst>
          </p:cNvPr>
          <p:cNvSpPr/>
          <p:nvPr/>
        </p:nvSpPr>
        <p:spPr>
          <a:xfrm>
            <a:off x="446398" y="3116533"/>
            <a:ext cx="6211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For testing, new data points are classified by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A27F2A6-4862-4582-9D96-34390E88F5E3}"/>
                  </a:ext>
                </a:extLst>
              </p:cNvPr>
              <p:cNvSpPr/>
              <p:nvPr/>
            </p:nvSpPr>
            <p:spPr>
              <a:xfrm>
                <a:off x="656376" y="5246358"/>
                <a:ext cx="5498428" cy="10831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𝑠𝑖𝑔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A27F2A6-4862-4582-9D96-34390E88F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76" y="5246358"/>
                <a:ext cx="5498428" cy="10831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62667259-F4C0-4066-85EA-82589813A60B}"/>
                  </a:ext>
                </a:extLst>
              </p:cNvPr>
              <p:cNvSpPr/>
              <p:nvPr/>
            </p:nvSpPr>
            <p:spPr>
              <a:xfrm>
                <a:off x="656376" y="3578227"/>
                <a:ext cx="3445174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62667259-F4C0-4066-85EA-82589813A6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76" y="3578227"/>
                <a:ext cx="3445174" cy="1130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 descr="屏幕剪辑">
            <a:extLst>
              <a:ext uri="{FF2B5EF4-FFF2-40B4-BE49-F238E27FC236}">
                <a16:creationId xmlns:a16="http://schemas.microsoft.com/office/drawing/2014/main" id="{2E7AD0B3-8100-49A8-B3DD-20DB6177CB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136" y="3429000"/>
            <a:ext cx="4141328" cy="29154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9A4B85B-1E74-4D77-8486-97E4A5767E33}"/>
                  </a:ext>
                </a:extLst>
              </p:cNvPr>
              <p:cNvSpPr/>
              <p:nvPr/>
            </p:nvSpPr>
            <p:spPr>
              <a:xfrm>
                <a:off x="8130212" y="1601706"/>
                <a:ext cx="3727173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∈ {−1, 1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000" dirty="0"/>
                  <a:t>: prediction value of the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CN" sz="2000" dirty="0"/>
                  <a:t>-</a:t>
                </a:r>
                <a:r>
                  <a:rPr lang="en-US" altLang="zh-CN" sz="2000" dirty="0" err="1"/>
                  <a:t>th</a:t>
                </a:r>
                <a:r>
                  <a:rPr lang="en-US" altLang="zh-CN" sz="2000" dirty="0"/>
                  <a:t> base classifier.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000" dirty="0"/>
                  <a:t>: iteration number.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9A4B85B-1E74-4D77-8486-97E4A5767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212" y="1601706"/>
                <a:ext cx="3727173" cy="1015663"/>
              </a:xfrm>
              <a:prstGeom prst="rect">
                <a:avLst/>
              </a:prstGeom>
              <a:blipFill>
                <a:blip r:embed="rId8"/>
                <a:stretch>
                  <a:fillRect l="-1800" t="-3614" r="-1637" b="-10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2124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AdaBoost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5192996-4625-466B-90CB-81A285A94D75}"/>
              </a:ext>
            </a:extLst>
          </p:cNvPr>
          <p:cNvGrpSpPr/>
          <p:nvPr/>
        </p:nvGrpSpPr>
        <p:grpSpPr>
          <a:xfrm>
            <a:off x="417471" y="2907641"/>
            <a:ext cx="11439171" cy="1641741"/>
            <a:chOff x="417471" y="2907641"/>
            <a:chExt cx="11439171" cy="1641741"/>
          </a:xfrm>
        </p:grpSpPr>
        <p:sp>
          <p:nvSpPr>
            <p:cNvPr id="13" name="矩形: 圆角 9">
              <a:extLst>
                <a:ext uri="{FF2B5EF4-FFF2-40B4-BE49-F238E27FC236}">
                  <a16:creationId xmlns:a16="http://schemas.microsoft.com/office/drawing/2014/main" id="{EEAD0B6F-45C7-4804-A76C-DE96E0133182}"/>
                </a:ext>
              </a:extLst>
            </p:cNvPr>
            <p:cNvSpPr/>
            <p:nvPr/>
          </p:nvSpPr>
          <p:spPr>
            <a:xfrm>
              <a:off x="417471" y="2907641"/>
              <a:ext cx="11439171" cy="1641741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/>
                <p:cNvSpPr/>
                <p:nvPr/>
              </p:nvSpPr>
              <p:spPr>
                <a:xfrm>
                  <a:off x="417471" y="2958571"/>
                  <a:ext cx="11092042" cy="15696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altLang="zh-CN" sz="2400" dirty="0"/>
                    <a:t>Our goal is to minimize </a:t>
                  </a:r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a14:m>
                  <a:r>
                    <a:rPr lang="en-US" altLang="zh-CN" sz="2400" dirty="0"/>
                    <a:t> with respect to both the </a:t>
                  </a:r>
                  <a:r>
                    <a:rPr lang="en-US" altLang="zh-CN" sz="2400" dirty="0">
                      <a:solidFill>
                        <a:srgbClr val="FF0000"/>
                      </a:solidFill>
                    </a:rPr>
                    <a:t>weighting coefficients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dirty="0"/>
                    <a:t>and the </a:t>
                  </a:r>
                  <a:r>
                    <a:rPr lang="en-US" altLang="zh-CN" sz="2400" dirty="0">
                      <a:solidFill>
                        <a:srgbClr val="FF0000"/>
                      </a:solidFill>
                    </a:rPr>
                    <a:t>parameters of the base classifiers</a:t>
                  </a:r>
                  <a:r>
                    <a:rPr lang="en-US" altLang="zh-CN" sz="24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400" dirty="0"/>
                    <a:t>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altLang="zh-CN" sz="2400" dirty="0"/>
                    <a:t>Suppose that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4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 are fixed. 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altLang="zh-CN" sz="2400" dirty="0"/>
                    <a:t>Minimize </a:t>
                  </a:r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dirty="0"/>
                    <a:t>with respect to only both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zh-CN" altLang="en-US" sz="2400" dirty="0"/>
                    <a:t> </a:t>
                  </a:r>
                  <a:r>
                    <a:rPr lang="en-US" altLang="zh-CN" sz="2400" dirty="0"/>
                    <a:t>and parameters of the model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400" dirty="0"/>
                    <a:t>.</a:t>
                  </a:r>
                </a:p>
              </p:txBody>
            </p:sp>
          </mc:Choice>
          <mc:Fallback xmlns=""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471" y="2958571"/>
                  <a:ext cx="11092042" cy="1569660"/>
                </a:xfrm>
                <a:prstGeom prst="rect">
                  <a:avLst/>
                </a:prstGeom>
                <a:blipFill>
                  <a:blip r:embed="rId2"/>
                  <a:stretch>
                    <a:fillRect l="-714" t="-3101" b="-77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E870760-0619-42E3-80F0-F26345729D06}"/>
              </a:ext>
            </a:extLst>
          </p:cNvPr>
          <p:cNvGrpSpPr/>
          <p:nvPr/>
        </p:nvGrpSpPr>
        <p:grpSpPr>
          <a:xfrm>
            <a:off x="430558" y="4740423"/>
            <a:ext cx="11439171" cy="1878618"/>
            <a:chOff x="430558" y="4740423"/>
            <a:chExt cx="11439171" cy="1878618"/>
          </a:xfrm>
        </p:grpSpPr>
        <p:sp>
          <p:nvSpPr>
            <p:cNvPr id="14" name="矩形: 圆角 7">
              <a:extLst>
                <a:ext uri="{FF2B5EF4-FFF2-40B4-BE49-F238E27FC236}">
                  <a16:creationId xmlns:a16="http://schemas.microsoft.com/office/drawing/2014/main" id="{E060ADB6-95B6-44DD-BACF-37B690FBE5C9}"/>
                </a:ext>
              </a:extLst>
            </p:cNvPr>
            <p:cNvSpPr/>
            <p:nvPr/>
          </p:nvSpPr>
          <p:spPr>
            <a:xfrm>
              <a:off x="430558" y="4740423"/>
              <a:ext cx="11439171" cy="1878618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/>
                <p:cNvSpPr/>
                <p:nvPr/>
              </p:nvSpPr>
              <p:spPr>
                <a:xfrm>
                  <a:off x="789136" y="4792054"/>
                  <a:ext cx="5827749" cy="11308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⁡{−</m:t>
                            </m:r>
                            <m:sSub>
                              <m:sSub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nary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136" y="4792054"/>
                  <a:ext cx="5827749" cy="11308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828F21A-0A1A-4167-8C6A-5AF7D3EC645B}"/>
              </a:ext>
            </a:extLst>
          </p:cNvPr>
          <p:cNvGrpSpPr/>
          <p:nvPr/>
        </p:nvGrpSpPr>
        <p:grpSpPr>
          <a:xfrm>
            <a:off x="1944931" y="4880109"/>
            <a:ext cx="4984881" cy="1667628"/>
            <a:chOff x="1925053" y="4572000"/>
            <a:chExt cx="4984881" cy="16676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/>
                <p:cNvSpPr/>
                <p:nvPr/>
              </p:nvSpPr>
              <p:spPr>
                <a:xfrm>
                  <a:off x="2654805" y="5777963"/>
                  <a:ext cx="425512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a14:m>
                  <a:r>
                    <a:rPr lang="en-US" altLang="zh-CN" sz="2400" dirty="0"/>
                    <a:t> can be treated as </a:t>
                  </a:r>
                  <a:r>
                    <a:rPr lang="en-US" altLang="zh-CN" sz="2400" dirty="0">
                      <a:solidFill>
                        <a:srgbClr val="0000FF"/>
                      </a:solidFill>
                    </a:rPr>
                    <a:t>constants</a:t>
                  </a:r>
                  <a:r>
                    <a:rPr lang="en-US" altLang="zh-CN" sz="2400" dirty="0"/>
                    <a:t>. </a:t>
                  </a:r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4805" y="5777963"/>
                  <a:ext cx="4255129" cy="461665"/>
                </a:xfrm>
                <a:prstGeom prst="rect">
                  <a:avLst/>
                </a:prstGeom>
                <a:blipFill>
                  <a:blip r:embed="rId4"/>
                  <a:stretch>
                    <a:fillRect t="-10526" r="-1862" b="-2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EC41269-66D6-4932-89D9-60C099E0E732}"/>
                </a:ext>
              </a:extLst>
            </p:cNvPr>
            <p:cNvSpPr/>
            <p:nvPr/>
          </p:nvSpPr>
          <p:spPr>
            <a:xfrm>
              <a:off x="1925053" y="4572000"/>
              <a:ext cx="2454442" cy="9852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1E8E6C87-DA4F-44C0-A40B-E1A5D16C4B6E}"/>
                </a:ext>
              </a:extLst>
            </p:cNvPr>
            <p:cNvCxnSpPr>
              <a:cxnSpLocks/>
            </p:cNvCxnSpPr>
            <p:nvPr/>
          </p:nvCxnSpPr>
          <p:spPr>
            <a:xfrm>
              <a:off x="3157086" y="5557263"/>
              <a:ext cx="0" cy="2920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122687A-74FF-4AE7-8AE6-D6D5C8F3A5F2}"/>
                  </a:ext>
                </a:extLst>
              </p:cNvPr>
              <p:cNvSpPr/>
              <p:nvPr/>
            </p:nvSpPr>
            <p:spPr>
              <a:xfrm>
                <a:off x="6730120" y="4807329"/>
                <a:ext cx="4181850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⁡{−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122687A-74FF-4AE7-8AE6-D6D5C8F3A5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120" y="4807329"/>
                <a:ext cx="4181850" cy="11308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: 圆角 9">
            <a:extLst>
              <a:ext uri="{FF2B5EF4-FFF2-40B4-BE49-F238E27FC236}">
                <a16:creationId xmlns:a16="http://schemas.microsoft.com/office/drawing/2014/main" id="{6E168E3A-F14C-4FCB-A8BF-E3F55FF385A4}"/>
              </a:ext>
            </a:extLst>
          </p:cNvPr>
          <p:cNvSpPr/>
          <p:nvPr/>
        </p:nvSpPr>
        <p:spPr>
          <a:xfrm>
            <a:off x="410681" y="1053902"/>
            <a:ext cx="11439171" cy="167044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14E0D4-7D65-4123-89A6-32946DFAF486}"/>
              </a:ext>
            </a:extLst>
          </p:cNvPr>
          <p:cNvSpPr/>
          <p:nvPr/>
        </p:nvSpPr>
        <p:spPr>
          <a:xfrm>
            <a:off x="410681" y="1070051"/>
            <a:ext cx="1158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Consider the exponential error function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041CE2C-C7EB-4CD0-AC29-E6271B7DE466}"/>
                  </a:ext>
                </a:extLst>
              </p:cNvPr>
              <p:cNvSpPr/>
              <p:nvPr/>
            </p:nvSpPr>
            <p:spPr>
              <a:xfrm>
                <a:off x="931674" y="1497960"/>
                <a:ext cx="3486019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⁡{−</m:t>
                          </m:r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041CE2C-C7EB-4CD0-AC29-E6271B7DE4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74" y="1497960"/>
                <a:ext cx="3486019" cy="1130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3F2E839-F15D-4A63-90AF-62E0BFEB32B3}"/>
                  </a:ext>
                </a:extLst>
              </p:cNvPr>
              <p:cNvSpPr/>
              <p:nvPr/>
            </p:nvSpPr>
            <p:spPr>
              <a:xfrm>
                <a:off x="4717758" y="1528224"/>
                <a:ext cx="3007939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3F2E839-F15D-4A63-90AF-62E0BFEB32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758" y="1528224"/>
                <a:ext cx="3007939" cy="11005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59CF368-C907-45DC-86C3-A92D711167CF}"/>
                  </a:ext>
                </a:extLst>
              </p:cNvPr>
              <p:cNvSpPr/>
              <p:nvPr/>
            </p:nvSpPr>
            <p:spPr>
              <a:xfrm>
                <a:off x="8130212" y="1181013"/>
                <a:ext cx="322402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∈ {−1, 1}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: ground truth.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59CF368-C907-45DC-86C3-A92D71116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212" y="1181013"/>
                <a:ext cx="3224024" cy="400110"/>
              </a:xfrm>
              <a:prstGeom prst="rect">
                <a:avLst/>
              </a:prstGeom>
              <a:blipFill>
                <a:blip r:embed="rId8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BDBA40E0-E3BE-497A-AC19-9AA396B6EE7C}"/>
                  </a:ext>
                </a:extLst>
              </p:cNvPr>
              <p:cNvSpPr/>
              <p:nvPr/>
            </p:nvSpPr>
            <p:spPr>
              <a:xfrm>
                <a:off x="8130212" y="1601706"/>
                <a:ext cx="3727173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∈ {−1, 1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000" dirty="0"/>
                  <a:t>: prediction value of the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CN" sz="2000" dirty="0"/>
                  <a:t>-</a:t>
                </a:r>
                <a:r>
                  <a:rPr lang="en-US" altLang="zh-CN" sz="2000" dirty="0" err="1"/>
                  <a:t>th</a:t>
                </a:r>
                <a:r>
                  <a:rPr lang="en-US" altLang="zh-CN" sz="2000" dirty="0"/>
                  <a:t> base classifier.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000" dirty="0"/>
                  <a:t>: iteration number.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BDBA40E0-E3BE-497A-AC19-9AA396B6E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212" y="1601706"/>
                <a:ext cx="3727173" cy="1015663"/>
              </a:xfrm>
              <a:prstGeom prst="rect">
                <a:avLst/>
              </a:prstGeom>
              <a:blipFill>
                <a:blip r:embed="rId9"/>
                <a:stretch>
                  <a:fillRect l="-1800" t="-3614" r="-1637" b="-10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67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7">
            <a:extLst>
              <a:ext uri="{FF2B5EF4-FFF2-40B4-BE49-F238E27FC236}">
                <a16:creationId xmlns:a16="http://schemas.microsoft.com/office/drawing/2014/main" id="{FC3F1168-E8E3-4E70-89B0-C5493F6D07B2}"/>
              </a:ext>
            </a:extLst>
          </p:cNvPr>
          <p:cNvSpPr/>
          <p:nvPr/>
        </p:nvSpPr>
        <p:spPr>
          <a:xfrm>
            <a:off x="149649" y="4413882"/>
            <a:ext cx="11892704" cy="1436170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矩形: 圆角 9">
            <a:extLst>
              <a:ext uri="{FF2B5EF4-FFF2-40B4-BE49-F238E27FC236}">
                <a16:creationId xmlns:a16="http://schemas.microsoft.com/office/drawing/2014/main" id="{010AF2BC-156A-4278-B3A6-C325B280E334}"/>
              </a:ext>
            </a:extLst>
          </p:cNvPr>
          <p:cNvSpPr/>
          <p:nvPr/>
        </p:nvSpPr>
        <p:spPr>
          <a:xfrm>
            <a:off x="149649" y="1053902"/>
            <a:ext cx="11892704" cy="206000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/>
              <a:t>AdaBoost</a:t>
            </a:r>
            <a:endParaRPr lang="en-US" altLang="zh-CN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10681" y="2212322"/>
                <a:ext cx="1115454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400" dirty="0"/>
                  <a:t>denote the set of data points that are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correctly</a:t>
                </a:r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classified</a:t>
                </a:r>
                <a:r>
                  <a:rPr lang="en-US" altLang="zh-CN" sz="2400" dirty="0"/>
                  <a:t> and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misclassified</a:t>
                </a:r>
                <a:r>
                  <a:rPr lang="en-US" altLang="zh-CN" sz="2400" dirty="0"/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2212322"/>
                <a:ext cx="11154547" cy="830997"/>
              </a:xfrm>
              <a:prstGeom prst="rect">
                <a:avLst/>
              </a:prstGeom>
              <a:blipFill>
                <a:blip r:embed="rId2"/>
                <a:stretch>
                  <a:fillRect l="-820" t="-5882" r="-874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3884978" y="1126413"/>
                <a:ext cx="4422044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⁡{−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978" y="1126413"/>
                <a:ext cx="4422044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E917C5C6-6189-4EB7-921A-76BC9409AC48}"/>
              </a:ext>
            </a:extLst>
          </p:cNvPr>
          <p:cNvGrpSpPr/>
          <p:nvPr/>
        </p:nvGrpSpPr>
        <p:grpSpPr>
          <a:xfrm>
            <a:off x="149649" y="3429000"/>
            <a:ext cx="11892704" cy="655982"/>
            <a:chOff x="149649" y="3429000"/>
            <a:chExt cx="11892704" cy="655982"/>
          </a:xfrm>
        </p:grpSpPr>
        <p:sp>
          <p:nvSpPr>
            <p:cNvPr id="17" name="矩形: 圆角 7">
              <a:extLst>
                <a:ext uri="{FF2B5EF4-FFF2-40B4-BE49-F238E27FC236}">
                  <a16:creationId xmlns:a16="http://schemas.microsoft.com/office/drawing/2014/main" id="{E060ADB6-95B6-44DD-BACF-37B690FBE5C9}"/>
                </a:ext>
              </a:extLst>
            </p:cNvPr>
            <p:cNvSpPr/>
            <p:nvPr/>
          </p:nvSpPr>
          <p:spPr>
            <a:xfrm>
              <a:off x="149649" y="3429000"/>
              <a:ext cx="11892704" cy="655982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/>
                <p:cNvSpPr/>
                <p:nvPr/>
              </p:nvSpPr>
              <p:spPr>
                <a:xfrm>
                  <a:off x="4019030" y="3495381"/>
                  <a:ext cx="297658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dirty="0"/>
                    <a:t>Can you rewrite </a:t>
                  </a:r>
                  <a14:m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</m:oMath>
                  </a14:m>
                  <a:r>
                    <a:rPr lang="en-US" altLang="zh-CN" sz="2800" dirty="0"/>
                    <a:t>?</a:t>
                  </a:r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6" name="矩形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030" y="3495381"/>
                  <a:ext cx="2976584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4090" t="-10465" r="-3272" b="-325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0CA87C0-1C8F-427D-BCA2-D86B6FB10025}"/>
                  </a:ext>
                </a:extLst>
              </p:cNvPr>
              <p:cNvSpPr/>
              <p:nvPr/>
            </p:nvSpPr>
            <p:spPr>
              <a:xfrm>
                <a:off x="72648" y="4697330"/>
                <a:ext cx="4885761" cy="10342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𝒯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e>
                      </m:nary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0CA87C0-1C8F-427D-BCA2-D86B6FB100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8" y="4697330"/>
                <a:ext cx="4885761" cy="10342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1134133-F7D4-44A7-AFA4-4D4DD8B9B4CE}"/>
                  </a:ext>
                </a:extLst>
              </p:cNvPr>
              <p:cNvSpPr/>
              <p:nvPr/>
            </p:nvSpPr>
            <p:spPr>
              <a:xfrm>
                <a:off x="4647820" y="4600765"/>
                <a:ext cx="7511543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1134133-F7D4-44A7-AFA4-4D4DD8B9B4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820" y="4600765"/>
                <a:ext cx="7511543" cy="1130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872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/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9">
            <a:extLst>
              <a:ext uri="{FF2B5EF4-FFF2-40B4-BE49-F238E27FC236}">
                <a16:creationId xmlns:a16="http://schemas.microsoft.com/office/drawing/2014/main" id="{010AF2BC-156A-4278-B3A6-C325B280E334}"/>
              </a:ext>
            </a:extLst>
          </p:cNvPr>
          <p:cNvSpPr/>
          <p:nvPr/>
        </p:nvSpPr>
        <p:spPr>
          <a:xfrm>
            <a:off x="410681" y="1053903"/>
            <a:ext cx="11439171" cy="1368732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/>
              <a:t>AdaBoost</a:t>
            </a:r>
            <a:endParaRPr lang="en-US" altLang="zh-CN" sz="40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FA4C33A-2487-4245-A4DF-9C95F155C1F4}"/>
              </a:ext>
            </a:extLst>
          </p:cNvPr>
          <p:cNvGrpSpPr/>
          <p:nvPr/>
        </p:nvGrpSpPr>
        <p:grpSpPr>
          <a:xfrm>
            <a:off x="410680" y="2795526"/>
            <a:ext cx="11439172" cy="1480454"/>
            <a:chOff x="410680" y="3402226"/>
            <a:chExt cx="11439172" cy="1480454"/>
          </a:xfrm>
        </p:grpSpPr>
        <p:sp>
          <p:nvSpPr>
            <p:cNvPr id="12" name="矩形: 圆角 9">
              <a:extLst>
                <a:ext uri="{FF2B5EF4-FFF2-40B4-BE49-F238E27FC236}">
                  <a16:creationId xmlns:a16="http://schemas.microsoft.com/office/drawing/2014/main" id="{17237314-419A-45A2-99D4-9C6F9EAF9ADB}"/>
                </a:ext>
              </a:extLst>
            </p:cNvPr>
            <p:cNvSpPr/>
            <p:nvPr/>
          </p:nvSpPr>
          <p:spPr>
            <a:xfrm>
              <a:off x="410681" y="3402226"/>
              <a:ext cx="11439171" cy="1480454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E1964572-667A-4282-B97C-CB38FB180613}"/>
                    </a:ext>
                  </a:extLst>
                </p:cNvPr>
                <p:cNvSpPr/>
                <p:nvPr/>
              </p:nvSpPr>
              <p:spPr>
                <a:xfrm>
                  <a:off x="410680" y="3464114"/>
                  <a:ext cx="11154547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42900" indent="-342900" algn="just">
                    <a:buFont typeface="Arial" panose="020B0604020202020204" pitchFamily="34" charset="0"/>
                    <a:buChar char="•"/>
                  </a:pPr>
                  <a:r>
                    <a:rPr lang="en-US" altLang="zh-CN" sz="2400" dirty="0"/>
                    <a:t>Minimize </a:t>
                  </a:r>
                  <a14:m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𝐸</m:t>
                      </m:r>
                    </m:oMath>
                  </a14:m>
                  <a:r>
                    <a:rPr lang="en-US" altLang="zh-CN" sz="2400" dirty="0"/>
                    <a:t> with respect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zh-CN" sz="24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zh-CN" altLang="en-US" sz="2400" dirty="0"/>
                    <a:t> </a:t>
                  </a:r>
                  <a:r>
                    <a:rPr lang="en-US" altLang="zh-CN" sz="2400" dirty="0"/>
                    <a:t>as constants. It is equivalent to minimize,</a:t>
                  </a:r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E1964572-667A-4282-B97C-CB38FB1806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680" y="3464114"/>
                  <a:ext cx="11154547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710" t="-10667" b="-30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DE53864D-7074-497E-A2FE-058A3AC401CB}"/>
                    </a:ext>
                  </a:extLst>
                </p:cNvPr>
                <p:cNvSpPr/>
                <p:nvPr/>
              </p:nvSpPr>
              <p:spPr>
                <a:xfrm>
                  <a:off x="3583321" y="3924917"/>
                  <a:ext cx="3420295" cy="9577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DE53864D-7074-497E-A2FE-058A3AC401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3321" y="3924917"/>
                  <a:ext cx="3420295" cy="95776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1C8D51FD-87F4-40AE-BD17-044AB75EBF8A}"/>
              </a:ext>
            </a:extLst>
          </p:cNvPr>
          <p:cNvGrpSpPr/>
          <p:nvPr/>
        </p:nvGrpSpPr>
        <p:grpSpPr>
          <a:xfrm>
            <a:off x="410681" y="4578666"/>
            <a:ext cx="11439171" cy="1460456"/>
            <a:chOff x="410681" y="5171003"/>
            <a:chExt cx="11439171" cy="1460456"/>
          </a:xfrm>
        </p:grpSpPr>
        <p:sp>
          <p:nvSpPr>
            <p:cNvPr id="11" name="矩形: 圆角 9">
              <a:extLst>
                <a:ext uri="{FF2B5EF4-FFF2-40B4-BE49-F238E27FC236}">
                  <a16:creationId xmlns:a16="http://schemas.microsoft.com/office/drawing/2014/main" id="{2B64A732-A664-4CCB-82E2-D833AF5949BC}"/>
                </a:ext>
              </a:extLst>
            </p:cNvPr>
            <p:cNvSpPr/>
            <p:nvPr/>
          </p:nvSpPr>
          <p:spPr>
            <a:xfrm>
              <a:off x="410681" y="5171003"/>
              <a:ext cx="11439171" cy="1460456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BF18C9F7-D1AC-4F7E-99F8-7CD9CCC1B442}"/>
                    </a:ext>
                  </a:extLst>
                </p:cNvPr>
                <p:cNvSpPr/>
                <p:nvPr/>
              </p:nvSpPr>
              <p:spPr>
                <a:xfrm>
                  <a:off x="421365" y="5220979"/>
                  <a:ext cx="658225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342900" indent="-342900" algn="just">
                    <a:buFont typeface="Arial" panose="020B0604020202020204" pitchFamily="34" charset="0"/>
                    <a:buChar char="•"/>
                  </a:pPr>
                  <a:r>
                    <a:rPr lang="en-US" altLang="zh-CN" sz="2400" dirty="0"/>
                    <a:t>Minimizing </a:t>
                  </a:r>
                  <a14:m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𝐸</m:t>
                      </m:r>
                    </m:oMath>
                  </a14:m>
                  <a:r>
                    <a:rPr lang="en-US" altLang="zh-CN" sz="2400" dirty="0"/>
                    <a:t> with respect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, we can obtain,</a:t>
                  </a:r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BF18C9F7-D1AC-4F7E-99F8-7CD9CCC1B4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365" y="5220979"/>
                  <a:ext cx="658225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204" t="-10526" r="-278" b="-2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E8C35710-18A1-4601-B059-8A602E788EF6}"/>
                    </a:ext>
                  </a:extLst>
                </p:cNvPr>
                <p:cNvSpPr/>
                <p:nvPr/>
              </p:nvSpPr>
              <p:spPr>
                <a:xfrm>
                  <a:off x="3550369" y="5691245"/>
                  <a:ext cx="2371162" cy="77886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dirty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0" i="1" dirty="0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000" i="1" dirty="0"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dirty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000" i="1" dirty="0"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dirty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E8C35710-18A1-4601-B059-8A602E788E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369" y="5691245"/>
                  <a:ext cx="2371162" cy="7788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F8070903-F1FC-4691-B3E5-D9D724FCF256}"/>
                    </a:ext>
                  </a:extLst>
                </p:cNvPr>
                <p:cNvSpPr/>
                <p:nvPr/>
              </p:nvSpPr>
              <p:spPr>
                <a:xfrm>
                  <a:off x="7301309" y="5720580"/>
                  <a:ext cx="3226716" cy="7201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 dirty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e>
                            </m:nary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F8070903-F1FC-4691-B3E5-D9D724FCF2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1309" y="5720580"/>
                  <a:ext cx="3226716" cy="72019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F622263-0E09-4915-BB6E-DF07A05252AB}"/>
                </a:ext>
              </a:extLst>
            </p:cNvPr>
            <p:cNvSpPr/>
            <p:nvPr/>
          </p:nvSpPr>
          <p:spPr>
            <a:xfrm>
              <a:off x="6078745" y="5851632"/>
              <a:ext cx="9773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/>
                <a:t>where</a:t>
              </a:r>
              <a:endParaRPr lang="zh-CN" altLang="en-US" sz="2400" dirty="0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1B58C12F-4E8C-4F93-BAD5-157DADD2C9F3}"/>
              </a:ext>
            </a:extLst>
          </p:cNvPr>
          <p:cNvSpPr/>
          <p:nvPr/>
        </p:nvSpPr>
        <p:spPr>
          <a:xfrm>
            <a:off x="7960543" y="4628642"/>
            <a:ext cx="23953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Weighted error rate 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0A2C7F-802E-4B4B-A4AB-6968F88A68E3}"/>
              </a:ext>
            </a:extLst>
          </p:cNvPr>
          <p:cNvSpPr/>
          <p:nvPr/>
        </p:nvSpPr>
        <p:spPr>
          <a:xfrm>
            <a:off x="7232822" y="3651555"/>
            <a:ext cx="34681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Weighted error function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17835C7D-0491-4F48-91DB-0761EDDC775A}"/>
                  </a:ext>
                </a:extLst>
              </p:cNvPr>
              <p:cNvSpPr/>
              <p:nvPr/>
            </p:nvSpPr>
            <p:spPr>
              <a:xfrm>
                <a:off x="2195284" y="1088068"/>
                <a:ext cx="7801431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17835C7D-0491-4F48-91DB-0761EDDC7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284" y="1088068"/>
                <a:ext cx="7801431" cy="11308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84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9">
            <a:extLst>
              <a:ext uri="{FF2B5EF4-FFF2-40B4-BE49-F238E27FC236}">
                <a16:creationId xmlns:a16="http://schemas.microsoft.com/office/drawing/2014/main" id="{76167219-8CC2-4E4B-A942-F04BF7F7306B}"/>
              </a:ext>
            </a:extLst>
          </p:cNvPr>
          <p:cNvSpPr/>
          <p:nvPr/>
        </p:nvSpPr>
        <p:spPr>
          <a:xfrm>
            <a:off x="385075" y="2185521"/>
            <a:ext cx="11421846" cy="2167466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4" name="矩形: 圆角 9">
            <a:extLst>
              <a:ext uri="{FF2B5EF4-FFF2-40B4-BE49-F238E27FC236}">
                <a16:creationId xmlns:a16="http://schemas.microsoft.com/office/drawing/2014/main" id="{D2411CED-4962-4C04-9354-F410C0FBE66B}"/>
              </a:ext>
            </a:extLst>
          </p:cNvPr>
          <p:cNvSpPr/>
          <p:nvPr/>
        </p:nvSpPr>
        <p:spPr>
          <a:xfrm>
            <a:off x="428007" y="1106479"/>
            <a:ext cx="11421846" cy="84733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202" name="Text Box 66"/>
              <p:cNvSpPr txBox="1">
                <a:spLocks noChangeArrowheads="1"/>
              </p:cNvSpPr>
              <p:nvPr/>
            </p:nvSpPr>
            <p:spPr bwMode="auto">
              <a:xfrm>
                <a:off x="428005" y="1106478"/>
                <a:ext cx="11335987" cy="3261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dirty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 dirty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 dirty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, when would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800" dirty="0"/>
                  <a:t>?</a:t>
                </a:r>
                <a:endParaRPr lang="en-US" sz="2800" dirty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&lt;1/2</m:t>
                    </m:r>
                  </m:oMath>
                </a14:m>
                <a:endParaRPr lang="en-US" sz="2400" dirty="0"/>
              </a:p>
              <a:p>
                <a:pPr marL="457200" indent="-457200" algn="just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endParaRPr lang="en-US" sz="2400" dirty="0"/>
              </a:p>
              <a:p>
                <a:pPr marL="457200" indent="-457200" algn="just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  <a:p>
                <a:pPr marL="457200" indent="-457200" algn="just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19202" name="Text 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005" y="1106478"/>
                <a:ext cx="11335987" cy="3261277"/>
              </a:xfrm>
              <a:prstGeom prst="rect">
                <a:avLst/>
              </a:prstGeom>
              <a:blipFill>
                <a:blip r:embed="rId2"/>
                <a:stretch>
                  <a:fillRect l="-968" b="-355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本框 72">
            <a:extLst>
              <a:ext uri="{FF2B5EF4-FFF2-40B4-BE49-F238E27FC236}">
                <a16:creationId xmlns:a16="http://schemas.microsoft.com/office/drawing/2014/main" id="{BF3265B7-71A0-4EB6-A734-B47BF472256C}"/>
              </a:ext>
            </a:extLst>
          </p:cNvPr>
          <p:cNvSpPr txBox="1"/>
          <p:nvPr/>
        </p:nvSpPr>
        <p:spPr>
          <a:xfrm>
            <a:off x="410681" y="253477"/>
            <a:ext cx="18964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Exercise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00C534-AB3F-49FE-A346-0EA8259F4EC6}"/>
              </a:ext>
            </a:extLst>
          </p:cNvPr>
          <p:cNvSpPr/>
          <p:nvPr/>
        </p:nvSpPr>
        <p:spPr>
          <a:xfrm>
            <a:off x="470935" y="2243049"/>
            <a:ext cx="11335987" cy="4317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926F7B4-5099-4F28-879E-C44FC4A0EF9E}"/>
                  </a:ext>
                </a:extLst>
              </p:cNvPr>
              <p:cNvSpPr txBox="1"/>
              <p:nvPr/>
            </p:nvSpPr>
            <p:spPr>
              <a:xfrm>
                <a:off x="6371924" y="2837566"/>
                <a:ext cx="526754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&lt;1/2</m:t>
                    </m:r>
                  </m:oMath>
                </a14:m>
                <a:r>
                  <a:rPr lang="en-US" altLang="zh-CN" sz="2400" dirty="0"/>
                  <a:t> 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400" dirty="0"/>
                  <a:t> is useful for final 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altLang="zh-CN" sz="2400" dirty="0"/>
                  <a:t> and weighted error rate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400" dirty="0"/>
                  <a:t> is better than random.</a:t>
                </a:r>
              </a:p>
              <a:p>
                <a:pPr algn="just"/>
                <a:endParaRPr lang="en-US" altLang="zh-CN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926F7B4-5099-4F28-879E-C44FC4A0E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924" y="2837566"/>
                <a:ext cx="5267547" cy="1569660"/>
              </a:xfrm>
              <a:prstGeom prst="rect">
                <a:avLst/>
              </a:prstGeom>
              <a:blipFill>
                <a:blip r:embed="rId3"/>
                <a:stretch>
                  <a:fillRect l="-1736" t="-3101" r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42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/>
              <a:t>AdaBoost</a:t>
            </a:r>
            <a:endParaRPr lang="en-US" altLang="zh-CN" sz="4000" b="1" dirty="0"/>
          </a:p>
        </p:txBody>
      </p:sp>
      <p:sp>
        <p:nvSpPr>
          <p:cNvPr id="14" name="矩形: 圆角 9">
            <a:extLst>
              <a:ext uri="{FF2B5EF4-FFF2-40B4-BE49-F238E27FC236}">
                <a16:creationId xmlns:a16="http://schemas.microsoft.com/office/drawing/2014/main" id="{2BB470BF-BD18-4208-B8DE-5060C70A43EA}"/>
              </a:ext>
            </a:extLst>
          </p:cNvPr>
          <p:cNvSpPr/>
          <p:nvPr/>
        </p:nvSpPr>
        <p:spPr>
          <a:xfrm>
            <a:off x="410681" y="1053902"/>
            <a:ext cx="11439171" cy="128198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10681" y="1070051"/>
                <a:ext cx="115824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Having found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the weights are updated as </a:t>
                </a: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1070051"/>
                <a:ext cx="115824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789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441124" y="1709119"/>
                <a:ext cx="35783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124" y="1709119"/>
                <a:ext cx="3578352" cy="461665"/>
              </a:xfrm>
              <a:prstGeom prst="rect">
                <a:avLst/>
              </a:prstGeom>
              <a:blipFill>
                <a:blip r:embed="rId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CC3C12C9-82D4-4CD2-AC53-94093EE4B68F}"/>
              </a:ext>
            </a:extLst>
          </p:cNvPr>
          <p:cNvGrpSpPr/>
          <p:nvPr/>
        </p:nvGrpSpPr>
        <p:grpSpPr>
          <a:xfrm>
            <a:off x="5368575" y="1529195"/>
            <a:ext cx="5571941" cy="560798"/>
            <a:chOff x="5368575" y="1529195"/>
            <a:chExt cx="5571941" cy="5607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/>
                <p:cNvSpPr/>
                <p:nvPr/>
              </p:nvSpPr>
              <p:spPr>
                <a:xfrm>
                  <a:off x="6264428" y="1529195"/>
                  <a:ext cx="4676088" cy="5361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⁡{−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)}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7" name="矩形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428" y="1529195"/>
                  <a:ext cx="4676088" cy="53610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右箭头 18"/>
            <p:cNvSpPr/>
            <p:nvPr/>
          </p:nvSpPr>
          <p:spPr>
            <a:xfrm>
              <a:off x="5368575" y="1789910"/>
              <a:ext cx="562063" cy="300083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FC641D4-54F6-4B2F-AE3A-CA33C816AEA6}"/>
              </a:ext>
            </a:extLst>
          </p:cNvPr>
          <p:cNvGrpSpPr/>
          <p:nvPr/>
        </p:nvGrpSpPr>
        <p:grpSpPr>
          <a:xfrm>
            <a:off x="410680" y="2630511"/>
            <a:ext cx="11439171" cy="3974011"/>
            <a:chOff x="410680" y="2630511"/>
            <a:chExt cx="11439171" cy="397401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2D1D6E9-6E0D-4105-97DC-7B3260CE75A0}"/>
                </a:ext>
              </a:extLst>
            </p:cNvPr>
            <p:cNvGrpSpPr/>
            <p:nvPr/>
          </p:nvGrpSpPr>
          <p:grpSpPr>
            <a:xfrm>
              <a:off x="410680" y="2630511"/>
              <a:ext cx="11439171" cy="3974011"/>
              <a:chOff x="410680" y="2630511"/>
              <a:chExt cx="11439171" cy="3974011"/>
            </a:xfrm>
          </p:grpSpPr>
          <p:sp>
            <p:nvSpPr>
              <p:cNvPr id="13" name="矩形: 圆角 9">
                <a:extLst>
                  <a:ext uri="{FF2B5EF4-FFF2-40B4-BE49-F238E27FC236}">
                    <a16:creationId xmlns:a16="http://schemas.microsoft.com/office/drawing/2014/main" id="{F2ACA3BB-58AE-47F4-B568-7E2BF94B11DA}"/>
                  </a:ext>
                </a:extLst>
              </p:cNvPr>
              <p:cNvSpPr/>
              <p:nvPr/>
            </p:nvSpPr>
            <p:spPr>
              <a:xfrm>
                <a:off x="410680" y="2630511"/>
                <a:ext cx="11439171" cy="3974011"/>
              </a:xfrm>
              <a:prstGeom prst="roundRect">
                <a:avLst>
                  <a:gd name="adj" fmla="val 3573"/>
                </a:avLst>
              </a:prstGeom>
              <a:solidFill>
                <a:srgbClr val="F9E6E6"/>
              </a:solidFill>
              <a:ln>
                <a:solidFill>
                  <a:srgbClr val="FFFBD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BE8463F-E097-4939-8AAF-283A81638E57}"/>
                  </a:ext>
                </a:extLst>
              </p:cNvPr>
              <p:cNvSpPr/>
              <p:nvPr/>
            </p:nvSpPr>
            <p:spPr>
              <a:xfrm>
                <a:off x="410680" y="2708899"/>
                <a:ext cx="1089900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sz="2400" dirty="0"/>
                  <a:t>For practical algorithm, we make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B1E3502F-D089-4AA0-B8DC-EAEF07B76AE9}"/>
                      </a:ext>
                    </a:extLst>
                  </p:cNvPr>
                  <p:cNvSpPr/>
                  <p:nvPr/>
                </p:nvSpPr>
                <p:spPr>
                  <a:xfrm>
                    <a:off x="481968" y="3248952"/>
                    <a:ext cx="7636386" cy="113082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dirty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</m:e>
                              </m:nary>
                            </m:den>
                          </m:f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B1E3502F-D089-4AA0-B8DC-EAEF07B76AE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968" y="3248952"/>
                    <a:ext cx="7636386" cy="113082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>
                <a:xfrm>
                  <a:off x="1244319" y="5311184"/>
                  <a:ext cx="4758995" cy="11308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⁡{−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)}</m:t>
                            </m:r>
                          </m:e>
                        </m:nary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4319" y="5311184"/>
                  <a:ext cx="4758995" cy="113082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6FD5E06-DDC5-47F2-B2A5-CFAF183A5DB1}"/>
                    </a:ext>
                  </a:extLst>
                </p:cNvPr>
                <p:cNvSpPr/>
                <p:nvPr/>
              </p:nvSpPr>
              <p:spPr>
                <a:xfrm>
                  <a:off x="1244319" y="4478431"/>
                  <a:ext cx="4727383" cy="8658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⁡{−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)}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6FD5E06-DDC5-47F2-B2A5-CFAF183A5D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4319" y="4478431"/>
                  <a:ext cx="4727383" cy="86581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EEC0925-7A5C-4DCF-AE46-F3C1AD3120AE}"/>
              </a:ext>
            </a:extLst>
          </p:cNvPr>
          <p:cNvGrpSpPr/>
          <p:nvPr/>
        </p:nvGrpSpPr>
        <p:grpSpPr>
          <a:xfrm>
            <a:off x="6426136" y="3467633"/>
            <a:ext cx="5355184" cy="2734315"/>
            <a:chOff x="6426136" y="3467633"/>
            <a:chExt cx="5355184" cy="27343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CBBADE7F-D508-408E-9CF1-02CD46825984}"/>
                    </a:ext>
                  </a:extLst>
                </p:cNvPr>
                <p:cNvSpPr/>
                <p:nvPr/>
              </p:nvSpPr>
              <p:spPr>
                <a:xfrm>
                  <a:off x="8452362" y="3467633"/>
                  <a:ext cx="1779461" cy="6934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e>
                            </m:nary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CBBADE7F-D508-408E-9CF1-02CD468259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2362" y="3467633"/>
                  <a:ext cx="1779461" cy="69346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31A705A1-C216-4AD0-B372-1B302EBD4059}"/>
                    </a:ext>
                  </a:extLst>
                </p:cNvPr>
                <p:cNvSpPr/>
                <p:nvPr/>
              </p:nvSpPr>
              <p:spPr>
                <a:xfrm>
                  <a:off x="6426136" y="4532615"/>
                  <a:ext cx="5355184" cy="7162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bSup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nary>
                          </m:den>
                        </m:f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⁡{−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)}</m:t>
                            </m:r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en-US" altLang="zh-CN" dirty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⁡{−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)}</m:t>
                                </m:r>
                              </m:e>
                            </m:nary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31A705A1-C216-4AD0-B372-1B302EBD40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6136" y="4532615"/>
                  <a:ext cx="5355184" cy="71622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50DFADFB-28F1-49BC-A47B-01887C0BA4AD}"/>
                    </a:ext>
                  </a:extLst>
                </p:cNvPr>
                <p:cNvSpPr/>
                <p:nvPr/>
              </p:nvSpPr>
              <p:spPr>
                <a:xfrm>
                  <a:off x="6426136" y="5508488"/>
                  <a:ext cx="3947171" cy="6934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⁡{−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)}</m:t>
                            </m:r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en-US" altLang="zh-CN" dirty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⁡{−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)}</m:t>
                                </m:r>
                              </m:e>
                            </m:nary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50DFADFB-28F1-49BC-A47B-01887C0BA4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6136" y="5508488"/>
                  <a:ext cx="3947171" cy="69346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40E6BC9A-5CA1-4DBD-8172-CE83EB00B74C}"/>
              </a:ext>
            </a:extLst>
          </p:cNvPr>
          <p:cNvSpPr/>
          <p:nvPr/>
        </p:nvSpPr>
        <p:spPr>
          <a:xfrm>
            <a:off x="6133978" y="3471333"/>
            <a:ext cx="2176901" cy="2692400"/>
          </a:xfrm>
          <a:custGeom>
            <a:avLst/>
            <a:gdLst>
              <a:gd name="connsiteX0" fmla="*/ 2044822 w 2176901"/>
              <a:gd name="connsiteY0" fmla="*/ 0 h 2692400"/>
              <a:gd name="connsiteX1" fmla="*/ 1994022 w 2176901"/>
              <a:gd name="connsiteY1" fmla="*/ 711200 h 2692400"/>
              <a:gd name="connsiteX2" fmla="*/ 275289 w 2176901"/>
              <a:gd name="connsiteY2" fmla="*/ 905934 h 2692400"/>
              <a:gd name="connsiteX3" fmla="*/ 4355 w 2176901"/>
              <a:gd name="connsiteY3" fmla="*/ 2692400 h 2692400"/>
              <a:gd name="connsiteX4" fmla="*/ 4355 w 2176901"/>
              <a:gd name="connsiteY4" fmla="*/ 269240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6901" h="2692400">
                <a:moveTo>
                  <a:pt x="2044822" y="0"/>
                </a:moveTo>
                <a:cubicBezTo>
                  <a:pt x="2166883" y="280105"/>
                  <a:pt x="2288944" y="560211"/>
                  <a:pt x="1994022" y="711200"/>
                </a:cubicBezTo>
                <a:cubicBezTo>
                  <a:pt x="1699100" y="862189"/>
                  <a:pt x="606900" y="575734"/>
                  <a:pt x="275289" y="905934"/>
                </a:cubicBezTo>
                <a:cubicBezTo>
                  <a:pt x="-56322" y="1236134"/>
                  <a:pt x="4355" y="2692400"/>
                  <a:pt x="4355" y="2692400"/>
                </a:cubicBezTo>
                <a:lnTo>
                  <a:pt x="4355" y="26924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8BE9A7-6C9B-43F9-B5D8-BEA4ADFAC3A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43338" y="74322"/>
            <a:ext cx="3871687" cy="113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9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67" y="41190"/>
            <a:ext cx="6184223" cy="6811997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6" name="图片 5" descr="屏幕剪辑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23"/>
          <a:stretch/>
        </p:blipFill>
        <p:spPr>
          <a:xfrm>
            <a:off x="6799304" y="4913086"/>
            <a:ext cx="4964328" cy="1066949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13" name="直角上箭头 12"/>
          <p:cNvSpPr/>
          <p:nvPr/>
        </p:nvSpPr>
        <p:spPr>
          <a:xfrm>
            <a:off x="6404471" y="6021861"/>
            <a:ext cx="518984" cy="502508"/>
          </a:xfrm>
          <a:prstGeom prst="bentUp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9">
            <a:extLst>
              <a:ext uri="{FF2B5EF4-FFF2-40B4-BE49-F238E27FC236}">
                <a16:creationId xmlns:a16="http://schemas.microsoft.com/office/drawing/2014/main" id="{AD861669-9C01-4CD6-8101-DA4353BCE299}"/>
              </a:ext>
            </a:extLst>
          </p:cNvPr>
          <p:cNvSpPr/>
          <p:nvPr/>
        </p:nvSpPr>
        <p:spPr>
          <a:xfrm>
            <a:off x="6485639" y="3026004"/>
            <a:ext cx="5559183" cy="952872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7671FC9-C1B4-461E-B5ED-4BC7260ED1F5}"/>
                  </a:ext>
                </a:extLst>
              </p:cNvPr>
              <p:cNvSpPr/>
              <p:nvPr/>
            </p:nvSpPr>
            <p:spPr>
              <a:xfrm>
                <a:off x="6455620" y="3148497"/>
                <a:ext cx="565169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000" dirty="0"/>
                  <a:t>: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weighted</a:t>
                </a:r>
                <a:r>
                  <a:rPr lang="en-US" altLang="zh-CN" sz="2000" dirty="0"/>
                  <a:t> error rate of each base classifier.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000" dirty="0"/>
                  <a:t> gives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larger</a:t>
                </a:r>
                <a:r>
                  <a:rPr lang="en-US" altLang="zh-CN" sz="2000" dirty="0"/>
                  <a:t> weight to more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accurate</a:t>
                </a:r>
                <a:r>
                  <a:rPr lang="en-US" altLang="zh-CN" sz="2000" dirty="0"/>
                  <a:t> classifier.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7671FC9-C1B4-461E-B5ED-4BC7260ED1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620" y="3148497"/>
                <a:ext cx="5651696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971" t="-4274" r="-2157" b="-136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9">
            <a:extLst>
              <a:ext uri="{FF2B5EF4-FFF2-40B4-BE49-F238E27FC236}">
                <a16:creationId xmlns:a16="http://schemas.microsoft.com/office/drawing/2014/main" id="{6F62EB6A-3518-4C57-9874-6FCD9E7259EB}"/>
              </a:ext>
            </a:extLst>
          </p:cNvPr>
          <p:cNvSpPr/>
          <p:nvPr/>
        </p:nvSpPr>
        <p:spPr>
          <a:xfrm>
            <a:off x="6485639" y="333632"/>
            <a:ext cx="5559183" cy="2418996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0FB0182-BC6A-4E0D-A961-F127753DF835}"/>
                  </a:ext>
                </a:extLst>
              </p:cNvPr>
              <p:cNvSpPr txBox="1"/>
              <p:nvPr/>
            </p:nvSpPr>
            <p:spPr>
              <a:xfrm>
                <a:off x="6455620" y="353766"/>
                <a:ext cx="5651696" cy="2378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increases </a:t>
                </a:r>
                <a:r>
                  <a:rPr lang="en-US" altLang="zh-CN" sz="2000" dirty="0"/>
                  <a:t>for points that are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misclassified</a:t>
                </a:r>
                <a:r>
                  <a:rPr lang="en-US" altLang="zh-CN" sz="2000" dirty="0"/>
                  <a:t>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decreases </a:t>
                </a:r>
                <a:r>
                  <a:rPr lang="en-US" altLang="zh-CN" sz="2000" dirty="0"/>
                  <a:t>for that are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correctly </a:t>
                </a:r>
                <a:r>
                  <a:rPr lang="en-US" altLang="zh-CN" sz="2000" dirty="0"/>
                  <a:t>classified.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The successive classifier is forced to put greater emphasis on points that were misclassified by the previous classifier.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Points that continue to be misclassified by the successive classifier receive greater weight.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0FB0182-BC6A-4E0D-A961-F127753DF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620" y="353766"/>
                <a:ext cx="5651696" cy="2378728"/>
              </a:xfrm>
              <a:prstGeom prst="rect">
                <a:avLst/>
              </a:prstGeom>
              <a:blipFill rotWithShape="0">
                <a:blip r:embed="rId5"/>
                <a:stretch>
                  <a:fillRect l="-971" r="-1079" b="-3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9461CE6E-13D5-4427-A06E-D3548408EDD2}"/>
              </a:ext>
            </a:extLst>
          </p:cNvPr>
          <p:cNvSpPr/>
          <p:nvPr/>
        </p:nvSpPr>
        <p:spPr>
          <a:xfrm>
            <a:off x="780504" y="4809067"/>
            <a:ext cx="3820840" cy="11944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2D8417B-3DC8-4DB7-935D-3B8F02E92BF9}"/>
              </a:ext>
            </a:extLst>
          </p:cNvPr>
          <p:cNvSpPr/>
          <p:nvPr/>
        </p:nvSpPr>
        <p:spPr>
          <a:xfrm>
            <a:off x="534922" y="5927139"/>
            <a:ext cx="4479840" cy="866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248E8C7-91A1-496A-91D4-6256A5277F79}"/>
                  </a:ext>
                </a:extLst>
              </p:cNvPr>
              <p:cNvSpPr/>
              <p:nvPr/>
            </p:nvSpPr>
            <p:spPr>
              <a:xfrm>
                <a:off x="1590313" y="5584563"/>
                <a:ext cx="3217740" cy="6079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⁡{−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248E8C7-91A1-496A-91D4-6256A5277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313" y="5584563"/>
                <a:ext cx="3217740" cy="6079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6AB96BAF-E5D7-4B56-B470-CCC44F8AE690}"/>
              </a:ext>
            </a:extLst>
          </p:cNvPr>
          <p:cNvSpPr/>
          <p:nvPr/>
        </p:nvSpPr>
        <p:spPr>
          <a:xfrm>
            <a:off x="6799304" y="4871259"/>
            <a:ext cx="4964328" cy="1108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0D297F-AF24-4CBF-941C-D4E22DF97D6B}"/>
              </a:ext>
            </a:extLst>
          </p:cNvPr>
          <p:cNvSpPr/>
          <p:nvPr/>
        </p:nvSpPr>
        <p:spPr>
          <a:xfrm>
            <a:off x="2073531" y="3546875"/>
            <a:ext cx="2941231" cy="14428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06A849A-5908-41A2-B636-46EC74F749F6}"/>
                  </a:ext>
                </a:extLst>
              </p:cNvPr>
              <p:cNvSpPr/>
              <p:nvPr/>
            </p:nvSpPr>
            <p:spPr>
              <a:xfrm>
                <a:off x="1853797" y="3475884"/>
                <a:ext cx="2747547" cy="7846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06A849A-5908-41A2-B636-46EC74F749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97" y="3475884"/>
                <a:ext cx="2747547" cy="7846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5DFC1BE9-DA57-4C13-916A-B87F0C5ED53F}"/>
              </a:ext>
            </a:extLst>
          </p:cNvPr>
          <p:cNvSpPr txBox="1"/>
          <p:nvPr/>
        </p:nvSpPr>
        <p:spPr>
          <a:xfrm>
            <a:off x="787494" y="4231103"/>
            <a:ext cx="17113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and then calculate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04C2417-C721-4401-BC81-31066B4C992F}"/>
                  </a:ext>
                </a:extLst>
              </p:cNvPr>
              <p:cNvSpPr/>
              <p:nvPr/>
            </p:nvSpPr>
            <p:spPr>
              <a:xfrm>
                <a:off x="1895682" y="4579127"/>
                <a:ext cx="1935145" cy="6415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i="1" dirty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i="1" dirty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04C2417-C721-4401-BC81-31066B4C99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682" y="4579127"/>
                <a:ext cx="1935145" cy="6415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9657011-B0E3-4F93-927F-9D975BC0E04E}"/>
                  </a:ext>
                </a:extLst>
              </p:cNvPr>
              <p:cNvSpPr txBox="1"/>
              <p:nvPr/>
            </p:nvSpPr>
            <p:spPr>
              <a:xfrm>
                <a:off x="534922" y="5246009"/>
                <a:ext cx="37589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600" i="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1600" dirty="0"/>
                  <a:t>Update the data weighting coefficients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9657011-B0E3-4F93-927F-9D975BC0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22" y="5246009"/>
                <a:ext cx="3758914" cy="338554"/>
              </a:xfrm>
              <a:prstGeom prst="rect">
                <a:avLst/>
              </a:prstGeom>
              <a:blipFill>
                <a:blip r:embed="rId9"/>
                <a:stretch>
                  <a:fillRect l="-162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A99AC1B9-B291-482A-9B84-84603A116651}"/>
                  </a:ext>
                </a:extLst>
              </p:cNvPr>
              <p:cNvSpPr/>
              <p:nvPr/>
            </p:nvSpPr>
            <p:spPr>
              <a:xfrm>
                <a:off x="1493632" y="6093845"/>
                <a:ext cx="3144643" cy="7846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⁡{−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A99AC1B9-B291-482A-9B84-84603A116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632" y="6093845"/>
                <a:ext cx="3144643" cy="7846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B49F0CDD-B78C-4F2F-B4C4-A6B2B5AAF697}"/>
              </a:ext>
            </a:extLst>
          </p:cNvPr>
          <p:cNvSpPr txBox="1"/>
          <p:nvPr/>
        </p:nvSpPr>
        <p:spPr>
          <a:xfrm>
            <a:off x="251998" y="6344327"/>
            <a:ext cx="13383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/>
              <a:t>normalization</a:t>
            </a:r>
            <a:endParaRPr lang="zh-CN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74718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/>
      <p:bldP spid="9" grpId="0" animBg="1"/>
      <p:bldP spid="1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: 圆角 9">
            <a:extLst>
              <a:ext uri="{FF2B5EF4-FFF2-40B4-BE49-F238E27FC236}">
                <a16:creationId xmlns:a16="http://schemas.microsoft.com/office/drawing/2014/main" id="{EB51FB48-955D-4C09-8844-70485BAB29FF}"/>
              </a:ext>
            </a:extLst>
          </p:cNvPr>
          <p:cNvSpPr/>
          <p:nvPr/>
        </p:nvSpPr>
        <p:spPr>
          <a:xfrm>
            <a:off x="428007" y="3237112"/>
            <a:ext cx="11421846" cy="2167466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4" name="矩形: 圆角 9">
            <a:extLst>
              <a:ext uri="{FF2B5EF4-FFF2-40B4-BE49-F238E27FC236}">
                <a16:creationId xmlns:a16="http://schemas.microsoft.com/office/drawing/2014/main" id="{D2411CED-4962-4C04-9354-F410C0FBE66B}"/>
              </a:ext>
            </a:extLst>
          </p:cNvPr>
          <p:cNvSpPr/>
          <p:nvPr/>
        </p:nvSpPr>
        <p:spPr>
          <a:xfrm>
            <a:off x="428007" y="1106479"/>
            <a:ext cx="11421846" cy="193305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202" name="Text Box 66"/>
              <p:cNvSpPr txBox="1">
                <a:spLocks noChangeArrowheads="1"/>
              </p:cNvSpPr>
              <p:nvPr/>
            </p:nvSpPr>
            <p:spPr bwMode="auto">
              <a:xfrm>
                <a:off x="428005" y="1106478"/>
                <a:ext cx="11335987" cy="4298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sz="2800" dirty="0"/>
                  <a:t>F</a:t>
                </a:r>
                <a:r>
                  <a:rPr lang="en-US" altLang="zh-CN" sz="2800" dirty="0"/>
                  <a:t>or four examples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dirty="0"/>
                  <a:t> for all examples.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/>
                  <a:t> predicts the first example wrongly but all the other three examples correctly. After the re-weighting, 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800" dirty="0"/>
                  <a:t>?</a:t>
                </a:r>
              </a:p>
              <a:p>
                <a:pPr marL="457200" indent="-457200" algn="just">
                  <a:spcBef>
                    <a:spcPts val="3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A: 4</a:t>
                </a:r>
              </a:p>
              <a:p>
                <a:pPr marL="457200" indent="-457200" algn="just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B: 3</a:t>
                </a:r>
              </a:p>
              <a:p>
                <a:pPr marL="457200" indent="-457200" algn="just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C: 1/3</a:t>
                </a:r>
              </a:p>
              <a:p>
                <a:pPr marL="457200" indent="-457200" algn="just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D: 1/4</a:t>
                </a:r>
              </a:p>
            </p:txBody>
          </p:sp>
        </mc:Choice>
        <mc:Fallback xmlns="">
          <p:sp>
            <p:nvSpPr>
              <p:cNvPr id="219202" name="Text 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005" y="1106478"/>
                <a:ext cx="11335987" cy="4298100"/>
              </a:xfrm>
              <a:prstGeom prst="rect">
                <a:avLst/>
              </a:prstGeom>
              <a:blipFill>
                <a:blip r:embed="rId2"/>
                <a:stretch>
                  <a:fillRect l="-968" r="-1075" b="-227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本框 72">
            <a:extLst>
              <a:ext uri="{FF2B5EF4-FFF2-40B4-BE49-F238E27FC236}">
                <a16:creationId xmlns:a16="http://schemas.microsoft.com/office/drawing/2014/main" id="{BF3265B7-71A0-4EB6-A734-B47BF472256C}"/>
              </a:ext>
            </a:extLst>
          </p:cNvPr>
          <p:cNvSpPr txBox="1"/>
          <p:nvPr/>
        </p:nvSpPr>
        <p:spPr>
          <a:xfrm>
            <a:off x="410681" y="253477"/>
            <a:ext cx="18964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Exercise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00C534-AB3F-49FE-A346-0EA8259F4EC6}"/>
              </a:ext>
            </a:extLst>
          </p:cNvPr>
          <p:cNvSpPr/>
          <p:nvPr/>
        </p:nvSpPr>
        <p:spPr>
          <a:xfrm>
            <a:off x="428005" y="3818468"/>
            <a:ext cx="11335987" cy="4317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9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A6B9C01-A9D9-4A0A-912D-51D652E97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90" y="0"/>
            <a:ext cx="9042559" cy="682386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E81209A-05B5-45EB-AE99-65BCBC046729}"/>
              </a:ext>
            </a:extLst>
          </p:cNvPr>
          <p:cNvSpPr/>
          <p:nvPr/>
        </p:nvSpPr>
        <p:spPr>
          <a:xfrm>
            <a:off x="5851444" y="3609975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zh-CN" sz="2000" b="1" dirty="0">
                <a:solidFill>
                  <a:srgbClr val="FF0000"/>
                </a:solidFill>
              </a:rPr>
              <a:t>Decision Stump: </a:t>
            </a:r>
            <a:r>
              <a:rPr lang="en-US" altLang="zh-CN" sz="2000" dirty="0"/>
              <a:t>one-level decision tree.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000" dirty="0"/>
              <a:t>A decision tree with one internal node (the root) which is immediately connected to the terminal nodes (its leaves).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000" dirty="0"/>
              <a:t>A decision stump makes a prediction based on the value of just a single input feature.</a:t>
            </a:r>
            <a:endParaRPr lang="zh-CN" altLang="en-US" sz="200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60F5ECE-A872-4495-8C93-82C16DB5CF4C}"/>
              </a:ext>
            </a:extLst>
          </p:cNvPr>
          <p:cNvGrpSpPr/>
          <p:nvPr/>
        </p:nvGrpSpPr>
        <p:grpSpPr>
          <a:xfrm>
            <a:off x="7191375" y="1095375"/>
            <a:ext cx="3600450" cy="2019300"/>
            <a:chOff x="6819900" y="1504950"/>
            <a:chExt cx="3600450" cy="20193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66FB3C7B-9057-48C6-BF44-5C0123CD9353}"/>
                    </a:ext>
                  </a:extLst>
                </p:cNvPr>
                <p:cNvSpPr/>
                <p:nvPr/>
              </p:nvSpPr>
              <p:spPr>
                <a:xfrm>
                  <a:off x="7848600" y="1504950"/>
                  <a:ext cx="1419225" cy="762000"/>
                </a:xfrm>
                <a:prstGeom prst="ellipse">
                  <a:avLst/>
                </a:prstGeom>
                <a:solidFill>
                  <a:srgbClr val="E6F5F0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66FB3C7B-9057-48C6-BF44-5C0123CD93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8600" y="1504950"/>
                  <a:ext cx="1419225" cy="7620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7E695ED4-EDB8-4990-8FEC-9B6A57F68AD1}"/>
                    </a:ext>
                  </a:extLst>
                </p:cNvPr>
                <p:cNvSpPr/>
                <p:nvPr/>
              </p:nvSpPr>
              <p:spPr>
                <a:xfrm>
                  <a:off x="6819900" y="2914650"/>
                  <a:ext cx="1419225" cy="609600"/>
                </a:xfrm>
                <a:prstGeom prst="rect">
                  <a:avLst/>
                </a:prstGeom>
                <a:solidFill>
                  <a:srgbClr val="FFFBD6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US" altLang="zh-CN" sz="2400" dirty="0"/>
                    <a:t> </a:t>
                  </a:r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7E695ED4-EDB8-4990-8FEC-9B6A57F68A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900" y="2914650"/>
                  <a:ext cx="1419225" cy="609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522CD6DA-4964-476B-9B3B-76D9896CABC4}"/>
                    </a:ext>
                  </a:extLst>
                </p:cNvPr>
                <p:cNvSpPr/>
                <p:nvPr/>
              </p:nvSpPr>
              <p:spPr>
                <a:xfrm>
                  <a:off x="9001125" y="2914650"/>
                  <a:ext cx="1419225" cy="609600"/>
                </a:xfrm>
                <a:prstGeom prst="rect">
                  <a:avLst/>
                </a:prstGeom>
                <a:solidFill>
                  <a:srgbClr val="FFFBD6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522CD6DA-4964-476B-9B3B-76D9896CAB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1125" y="2914650"/>
                  <a:ext cx="1419225" cy="6096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433F10C-AB03-43D8-9A8D-69ADD20613D6}"/>
                </a:ext>
              </a:extLst>
            </p:cNvPr>
            <p:cNvCxnSpPr>
              <a:cxnSpLocks/>
              <a:stCxn id="7" idx="4"/>
              <a:endCxn id="91" idx="0"/>
            </p:cNvCxnSpPr>
            <p:nvPr/>
          </p:nvCxnSpPr>
          <p:spPr>
            <a:xfrm>
              <a:off x="8558213" y="2266950"/>
              <a:ext cx="1152525" cy="64770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AD62A244-7280-43F9-AFF1-292B55E96A4A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7529513" y="2266950"/>
              <a:ext cx="1028700" cy="6477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851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63EE183-2B8B-4264-852F-CD2357467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64" y="0"/>
            <a:ext cx="9033035" cy="682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6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DF609D3-9B18-4A2D-8FC1-B42A20163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40" y="0"/>
            <a:ext cx="925451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055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7D8174-61CD-40AF-99AA-0E63AD712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64" y="0"/>
            <a:ext cx="9321961" cy="695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813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D74D10A-EEB9-4B4E-9FC6-762EA3126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49" y="0"/>
            <a:ext cx="9210675" cy="694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5818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0681" y="931922"/>
            <a:ext cx="6476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Given the following training dataset,</a:t>
            </a:r>
            <a:endParaRPr lang="zh-CN" altLang="en-US" sz="32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7981950" y="5624513"/>
            <a:ext cx="2057400" cy="273844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72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E0791AB-4481-49E3-8ECA-9476C4CF3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598018"/>
              </p:ext>
            </p:extLst>
          </p:nvPr>
        </p:nvGraphicFramePr>
        <p:xfrm>
          <a:off x="1173214" y="1959266"/>
          <a:ext cx="98455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052">
                  <a:extLst>
                    <a:ext uri="{9D8B030D-6E8A-4147-A177-3AD203B41FA5}">
                      <a16:colId xmlns:a16="http://schemas.microsoft.com/office/drawing/2014/main" val="749135200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831418707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64631214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704001034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242237984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44305882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476524407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192763546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17078640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409458263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267079137"/>
                    </a:ext>
                  </a:extLst>
                </a:gridCol>
              </a:tblGrid>
              <a:tr h="424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X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8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9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65951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T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5364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A2278EC-1315-454A-9DC4-4E0CD2F5BCD8}"/>
                  </a:ext>
                </a:extLst>
              </p:cNvPr>
              <p:cNvSpPr txBox="1"/>
              <p:nvPr/>
            </p:nvSpPr>
            <p:spPr>
              <a:xfrm>
                <a:off x="410681" y="3429000"/>
                <a:ext cx="1095045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/>
                  <a:t>Use </a:t>
                </a:r>
                <a:r>
                  <a:rPr lang="en-US" altLang="zh-CN" sz="3200" b="1" dirty="0" err="1"/>
                  <a:t>Adaboost</a:t>
                </a:r>
                <a:r>
                  <a:rPr lang="en-US" altLang="zh-CN" sz="3200" b="1" dirty="0"/>
                  <a:t> with the base (weak) classifier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3200" dirty="0"/>
                  <a:t> </a:t>
                </a:r>
                <a:r>
                  <a:rPr lang="en-US" altLang="zh-CN" sz="3200" dirty="0"/>
                  <a:t>or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3200" dirty="0"/>
                  <a:t>.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A2278EC-1315-454A-9DC4-4E0CD2F5B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3429000"/>
                <a:ext cx="10950452" cy="584775"/>
              </a:xfrm>
              <a:prstGeom prst="rect">
                <a:avLst/>
              </a:prstGeom>
              <a:blipFill>
                <a:blip r:embed="rId3"/>
                <a:stretch>
                  <a:fillRect l="-1391" t="-12632" b="-34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698E03A1-3297-4FD3-B27C-0F58C92664BB}"/>
              </a:ext>
            </a:extLst>
          </p:cNvPr>
          <p:cNvSpPr txBox="1"/>
          <p:nvPr/>
        </p:nvSpPr>
        <p:spPr>
          <a:xfrm>
            <a:off x="410681" y="253477"/>
            <a:ext cx="18964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11942043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5766" y="160069"/>
            <a:ext cx="6476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Given the following training dataset,</a:t>
            </a:r>
            <a:endParaRPr lang="zh-CN" altLang="en-US" sz="32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E0791AB-4481-49E3-8ECA-9476C4CF3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289214"/>
              </p:ext>
            </p:extLst>
          </p:nvPr>
        </p:nvGraphicFramePr>
        <p:xfrm>
          <a:off x="1012938" y="1092109"/>
          <a:ext cx="98455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052">
                  <a:extLst>
                    <a:ext uri="{9D8B030D-6E8A-4147-A177-3AD203B41FA5}">
                      <a16:colId xmlns:a16="http://schemas.microsoft.com/office/drawing/2014/main" val="749135200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831418707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64631214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704001034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242237984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44305882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476524407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192763546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17078640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409458263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267079137"/>
                    </a:ext>
                  </a:extLst>
                </a:gridCol>
              </a:tblGrid>
              <a:tr h="424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X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8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9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65951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T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536425"/>
                  </a:ext>
                </a:extLst>
              </a:tr>
            </a:tbl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41F83BA5-3894-4440-BF5C-5998631843B3}"/>
              </a:ext>
            </a:extLst>
          </p:cNvPr>
          <p:cNvGrpSpPr/>
          <p:nvPr/>
        </p:nvGrpSpPr>
        <p:grpSpPr>
          <a:xfrm>
            <a:off x="279718" y="2205782"/>
            <a:ext cx="10950452" cy="693844"/>
            <a:chOff x="279718" y="2205782"/>
            <a:chExt cx="10950452" cy="693844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A2278EC-1315-454A-9DC4-4E0CD2F5BCD8}"/>
                </a:ext>
              </a:extLst>
            </p:cNvPr>
            <p:cNvSpPr txBox="1"/>
            <p:nvPr/>
          </p:nvSpPr>
          <p:spPr>
            <a:xfrm>
              <a:off x="279718" y="2291094"/>
              <a:ext cx="109504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/>
                <a:t>Initialize the sample weights</a:t>
              </a:r>
              <a:endParaRPr lang="zh-CN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AB0A6D1-C851-4AA2-8447-165DECC15FD1}"/>
                    </a:ext>
                  </a:extLst>
                </p:cNvPr>
                <p:cNvSpPr txBox="1"/>
                <p:nvPr/>
              </p:nvSpPr>
              <p:spPr>
                <a:xfrm>
                  <a:off x="5339510" y="2205782"/>
                  <a:ext cx="3190169" cy="6938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=1,2,…,10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AB0A6D1-C851-4AA2-8447-165DECC15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9510" y="2205782"/>
                  <a:ext cx="3190169" cy="69384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57D0B10-F4E8-47E1-B0C0-F7C23F89EDCE}"/>
              </a:ext>
            </a:extLst>
          </p:cNvPr>
          <p:cNvGrpSpPr/>
          <p:nvPr/>
        </p:nvGrpSpPr>
        <p:grpSpPr>
          <a:xfrm>
            <a:off x="279718" y="3152997"/>
            <a:ext cx="10950452" cy="1440827"/>
            <a:chOff x="279718" y="3152997"/>
            <a:chExt cx="10950452" cy="14408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16CEDA6-6625-4500-BD3A-1263D5370E9B}"/>
                    </a:ext>
                  </a:extLst>
                </p:cNvPr>
                <p:cNvSpPr txBox="1"/>
                <p:nvPr/>
              </p:nvSpPr>
              <p:spPr>
                <a:xfrm>
                  <a:off x="279718" y="3152997"/>
                  <a:ext cx="109504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/>
                    <a:t>Training the base classifier with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zh-CN" sz="2800" dirty="0"/>
                    <a:t>’s, </a:t>
                  </a:r>
                  <a:r>
                    <a:rPr lang="en-US" altLang="zh-CN" sz="2800" b="1" dirty="0"/>
                    <a:t>we have</a:t>
                  </a:r>
                  <a:r>
                    <a:rPr lang="en-US" altLang="zh-CN" sz="28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=2.5</m:t>
                      </m:r>
                    </m:oMath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16CEDA6-6625-4500-BD3A-1263D5370E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718" y="3152997"/>
                  <a:ext cx="10950452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169" t="-10465" b="-325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6DCFB22-D57C-4130-B2EF-BA6A1CA429F6}"/>
                    </a:ext>
                  </a:extLst>
                </p:cNvPr>
                <p:cNvSpPr txBox="1"/>
                <p:nvPr/>
              </p:nvSpPr>
              <p:spPr>
                <a:xfrm>
                  <a:off x="3966305" y="3770009"/>
                  <a:ext cx="3403560" cy="8238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1,  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&lt;2.5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−1,  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&gt;2.5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6DCFB22-D57C-4130-B2EF-BA6A1CA429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305" y="3770009"/>
                  <a:ext cx="3403560" cy="8238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C27574-C4FF-43E2-8967-B18FD2C90228}"/>
                  </a:ext>
                </a:extLst>
              </p:cNvPr>
              <p:cNvSpPr txBox="1"/>
              <p:nvPr/>
            </p:nvSpPr>
            <p:spPr>
              <a:xfrm>
                <a:off x="279718" y="4687615"/>
                <a:ext cx="70901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b="1" dirty="0"/>
                  <a:t> we have the error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C27574-C4FF-43E2-8967-B18FD2C90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18" y="4687615"/>
                <a:ext cx="7090147" cy="523220"/>
              </a:xfrm>
              <a:prstGeom prst="rect">
                <a:avLst/>
              </a:prstGeom>
              <a:blipFill>
                <a:blip r:embed="rId6"/>
                <a:stretch>
                  <a:fillRect l="-1806" t="-11628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DC2657B-6615-43A2-AB10-BA4E407A0A55}"/>
                  </a:ext>
                </a:extLst>
              </p:cNvPr>
              <p:cNvSpPr txBox="1"/>
              <p:nvPr/>
            </p:nvSpPr>
            <p:spPr>
              <a:xfrm>
                <a:off x="279718" y="5269175"/>
                <a:ext cx="10950451" cy="85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The weight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=0.4236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DC2657B-6615-43A2-AB10-BA4E407A0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18" y="5269175"/>
                <a:ext cx="10950451" cy="854273"/>
              </a:xfrm>
              <a:prstGeom prst="rect">
                <a:avLst/>
              </a:prstGeom>
              <a:blipFill>
                <a:blip r:embed="rId7"/>
                <a:stretch>
                  <a:fillRect l="-1169" b="-7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3E5E990-5D9A-4D9C-84EA-540FACA40BA8}"/>
                  </a:ext>
                </a:extLst>
              </p:cNvPr>
              <p:cNvSpPr txBox="1"/>
              <p:nvPr/>
            </p:nvSpPr>
            <p:spPr>
              <a:xfrm>
                <a:off x="279719" y="6181788"/>
                <a:ext cx="34474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=0.4236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3E5E990-5D9A-4D9C-84EA-540FACA40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19" y="6181788"/>
                <a:ext cx="344745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3807F12-D366-4499-AF81-EBC7D3E81356}"/>
                  </a:ext>
                </a:extLst>
              </p:cNvPr>
              <p:cNvSpPr/>
              <p:nvPr/>
            </p:nvSpPr>
            <p:spPr>
              <a:xfrm>
                <a:off x="4733264" y="6174711"/>
                <a:ext cx="549695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b="1" dirty="0"/>
                  <a:t> has 3 error samples.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3807F12-D366-4499-AF81-EBC7D3E813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264" y="6174711"/>
                <a:ext cx="5496954" cy="523220"/>
              </a:xfrm>
              <a:prstGeom prst="rect">
                <a:avLst/>
              </a:prstGeom>
              <a:blipFill>
                <a:blip r:embed="rId9"/>
                <a:stretch>
                  <a:fillRect t="-11628" r="-110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椭圆 19">
            <a:extLst>
              <a:ext uri="{FF2B5EF4-FFF2-40B4-BE49-F238E27FC236}">
                <a16:creationId xmlns:a16="http://schemas.microsoft.com/office/drawing/2014/main" id="{0D15AC85-4956-4E48-A7B0-7B0DAF46ACE3}"/>
              </a:ext>
            </a:extLst>
          </p:cNvPr>
          <p:cNvSpPr/>
          <p:nvPr/>
        </p:nvSpPr>
        <p:spPr>
          <a:xfrm>
            <a:off x="9222101" y="1631328"/>
            <a:ext cx="899055" cy="69384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88077BB-2515-46F5-BEE7-1921FAA179E1}"/>
              </a:ext>
            </a:extLst>
          </p:cNvPr>
          <p:cNvSpPr/>
          <p:nvPr/>
        </p:nvSpPr>
        <p:spPr>
          <a:xfrm>
            <a:off x="7384018" y="1631328"/>
            <a:ext cx="899055" cy="69384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4F4B81F-FC69-4734-8B5F-26D24C16FF57}"/>
              </a:ext>
            </a:extLst>
          </p:cNvPr>
          <p:cNvSpPr/>
          <p:nvPr/>
        </p:nvSpPr>
        <p:spPr>
          <a:xfrm>
            <a:off x="8303059" y="1631328"/>
            <a:ext cx="899055" cy="69384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64A6C91-3A21-4F62-92FA-BBCA3BDF2647}"/>
              </a:ext>
            </a:extLst>
          </p:cNvPr>
          <p:cNvGrpSpPr/>
          <p:nvPr/>
        </p:nvGrpSpPr>
        <p:grpSpPr>
          <a:xfrm>
            <a:off x="2499457" y="1807235"/>
            <a:ext cx="9208869" cy="523220"/>
            <a:chOff x="2499457" y="1807235"/>
            <a:chExt cx="9208869" cy="52322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4293440-4CCF-4454-8148-F2EA8AA507E9}"/>
                </a:ext>
              </a:extLst>
            </p:cNvPr>
            <p:cNvSpPr txBox="1"/>
            <p:nvPr/>
          </p:nvSpPr>
          <p:spPr>
            <a:xfrm>
              <a:off x="2499457" y="1807235"/>
              <a:ext cx="92048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</a:rPr>
                <a:t>1         1        1         -1       -1        -1       -1       -1        -1        -1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42F5276-7D99-4155-956D-7FB1656918AD}"/>
                    </a:ext>
                  </a:extLst>
                </p:cNvPr>
                <p:cNvSpPr txBox="1"/>
                <p:nvPr/>
              </p:nvSpPr>
              <p:spPr>
                <a:xfrm>
                  <a:off x="10854505" y="1861814"/>
                  <a:ext cx="85382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42F5276-7D99-4155-956D-7FB165691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4505" y="1861814"/>
                  <a:ext cx="853821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7642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6" grpId="0"/>
      <p:bldP spid="20" grpId="0" animBg="1"/>
      <p:bldP spid="21" grpId="0" animBg="1"/>
      <p:bldP spid="2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表格 5">
            <a:extLst>
              <a:ext uri="{FF2B5EF4-FFF2-40B4-BE49-F238E27FC236}">
                <a16:creationId xmlns:a16="http://schemas.microsoft.com/office/drawing/2014/main" id="{B2CDE02C-908A-4453-9B51-94C09DA0D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85394"/>
              </p:ext>
            </p:extLst>
          </p:nvPr>
        </p:nvGraphicFramePr>
        <p:xfrm>
          <a:off x="1098663" y="1216126"/>
          <a:ext cx="98455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052">
                  <a:extLst>
                    <a:ext uri="{9D8B030D-6E8A-4147-A177-3AD203B41FA5}">
                      <a16:colId xmlns:a16="http://schemas.microsoft.com/office/drawing/2014/main" val="749135200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831418707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64631214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704001034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242237984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44305882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476524407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192763546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17078640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409458263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267079137"/>
                    </a:ext>
                  </a:extLst>
                </a:gridCol>
              </a:tblGrid>
              <a:tr h="424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X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8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9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65951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T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53642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A2278EC-1315-454A-9DC4-4E0CD2F5BCD8}"/>
              </a:ext>
            </a:extLst>
          </p:cNvPr>
          <p:cNvSpPr txBox="1"/>
          <p:nvPr/>
        </p:nvSpPr>
        <p:spPr>
          <a:xfrm>
            <a:off x="359231" y="2310585"/>
            <a:ext cx="10950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Update the sample weights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AB0A6D1-C851-4AA2-8447-165DECC15FD1}"/>
                  </a:ext>
                </a:extLst>
              </p:cNvPr>
              <p:cNvSpPr txBox="1"/>
              <p:nvPr/>
            </p:nvSpPr>
            <p:spPr>
              <a:xfrm>
                <a:off x="319522" y="3084943"/>
                <a:ext cx="11902296" cy="3138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)=(0.07143,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0.07143,0.07143,0.07143,0.07143,0.07143,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0.16667,0.16667,0.16667,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0.07143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AB0A6D1-C851-4AA2-8447-165DECC15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22" y="3084943"/>
                <a:ext cx="11902296" cy="313804"/>
              </a:xfrm>
              <a:prstGeom prst="rect">
                <a:avLst/>
              </a:prstGeom>
              <a:blipFill>
                <a:blip r:embed="rId3"/>
                <a:stretch>
                  <a:fillRect l="-512" t="-1923" r="-461" b="-32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6DCFB22-D57C-4130-B2EF-BA6A1CA429F6}"/>
                  </a:ext>
                </a:extLst>
              </p:cNvPr>
              <p:cNvSpPr txBox="1"/>
              <p:nvPr/>
            </p:nvSpPr>
            <p:spPr>
              <a:xfrm>
                <a:off x="8744244" y="3492426"/>
                <a:ext cx="3540521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1,  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&lt;8.5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−1,  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&gt;8.5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6DCFB22-D57C-4130-B2EF-BA6A1CA42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4244" y="3492426"/>
                <a:ext cx="3540521" cy="8238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C27574-C4FF-43E2-8967-B18FD2C90228}"/>
                  </a:ext>
                </a:extLst>
              </p:cNvPr>
              <p:cNvSpPr txBox="1"/>
              <p:nvPr/>
            </p:nvSpPr>
            <p:spPr>
              <a:xfrm>
                <a:off x="359231" y="4442272"/>
                <a:ext cx="798963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b="1" dirty="0"/>
                  <a:t> we have the error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C27574-C4FF-43E2-8967-B18FD2C90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31" y="4442272"/>
                <a:ext cx="7989639" cy="523220"/>
              </a:xfrm>
              <a:prstGeom prst="rect">
                <a:avLst/>
              </a:prstGeom>
              <a:blipFill>
                <a:blip r:embed="rId5"/>
                <a:stretch>
                  <a:fillRect l="-1602" t="-11628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DC2657B-6615-43A2-AB10-BA4E407A0A55}"/>
                  </a:ext>
                </a:extLst>
              </p:cNvPr>
              <p:cNvSpPr txBox="1"/>
              <p:nvPr/>
            </p:nvSpPr>
            <p:spPr>
              <a:xfrm>
                <a:off x="359231" y="5171734"/>
                <a:ext cx="10950451" cy="85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The weight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DC2657B-6615-43A2-AB10-BA4E407A0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31" y="5171734"/>
                <a:ext cx="10950451" cy="854273"/>
              </a:xfrm>
              <a:prstGeom prst="rect">
                <a:avLst/>
              </a:prstGeom>
              <a:blipFill>
                <a:blip r:embed="rId6"/>
                <a:stretch>
                  <a:fillRect l="-1169" b="-7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0378F3D-2604-42F7-A783-642688DF5547}"/>
                  </a:ext>
                </a:extLst>
              </p:cNvPr>
              <p:cNvSpPr/>
              <p:nvPr/>
            </p:nvSpPr>
            <p:spPr>
              <a:xfrm>
                <a:off x="8266367" y="2127410"/>
                <a:ext cx="3509550" cy="871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⁡{−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0378F3D-2604-42F7-A783-642688DF55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367" y="2127410"/>
                <a:ext cx="3509550" cy="8712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4EE71E-3A28-444B-BC0C-C839E9848EE7}"/>
                  </a:ext>
                </a:extLst>
              </p:cNvPr>
              <p:cNvSpPr/>
              <p:nvPr/>
            </p:nvSpPr>
            <p:spPr>
              <a:xfrm>
                <a:off x="4674358" y="2226829"/>
                <a:ext cx="3592009" cy="6723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⁡{−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4EE71E-3A28-444B-BC0C-C839E9848E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358" y="2226829"/>
                <a:ext cx="3592009" cy="6723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58BA2E7-EA8B-4B51-9431-E2920579FDAF}"/>
                  </a:ext>
                </a:extLst>
              </p:cNvPr>
              <p:cNvSpPr txBox="1"/>
              <p:nvPr/>
            </p:nvSpPr>
            <p:spPr>
              <a:xfrm>
                <a:off x="5526157" y="6159916"/>
                <a:ext cx="6758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b="1" dirty="0"/>
                  <a:t> has 3 error samples.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58BA2E7-EA8B-4B51-9431-E2920579F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157" y="6159916"/>
                <a:ext cx="6758608" cy="523220"/>
              </a:xfrm>
              <a:prstGeom prst="rect">
                <a:avLst/>
              </a:prstGeom>
              <a:blipFill>
                <a:blip r:embed="rId9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DD8FA1A-498D-4C14-8107-F58241AA43F5}"/>
                  </a:ext>
                </a:extLst>
              </p:cNvPr>
              <p:cNvSpPr txBox="1"/>
              <p:nvPr/>
            </p:nvSpPr>
            <p:spPr>
              <a:xfrm>
                <a:off x="319522" y="6238917"/>
                <a:ext cx="49419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0.4236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+0.6496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DD8FA1A-498D-4C14-8107-F58241AA4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22" y="6238917"/>
                <a:ext cx="4941994" cy="369332"/>
              </a:xfrm>
              <a:prstGeom prst="rect">
                <a:avLst/>
              </a:prstGeom>
              <a:blipFill>
                <a:blip r:embed="rId10"/>
                <a:stretch>
                  <a:fillRect l="-370" r="-493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3FA5D0CA-8359-4795-9C2F-221464480DDB}"/>
              </a:ext>
            </a:extLst>
          </p:cNvPr>
          <p:cNvSpPr txBox="1"/>
          <p:nvPr/>
        </p:nvSpPr>
        <p:spPr>
          <a:xfrm>
            <a:off x="235766" y="160069"/>
            <a:ext cx="6476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Given the following training dataset,</a:t>
            </a:r>
            <a:endParaRPr lang="zh-CN" altLang="en-US" sz="32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F54DAD9-5663-48F1-A685-3A9EDB49EE88}"/>
              </a:ext>
            </a:extLst>
          </p:cNvPr>
          <p:cNvSpPr txBox="1"/>
          <p:nvPr/>
        </p:nvSpPr>
        <p:spPr>
          <a:xfrm>
            <a:off x="2499457" y="1807235"/>
            <a:ext cx="920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1         1        1         1         1         1        1         1         1        -1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3F18A59-AF03-459E-A815-0951AD305780}"/>
              </a:ext>
            </a:extLst>
          </p:cNvPr>
          <p:cNvSpPr/>
          <p:nvPr/>
        </p:nvSpPr>
        <p:spPr>
          <a:xfrm>
            <a:off x="6517401" y="1631328"/>
            <a:ext cx="899055" cy="69384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BF744CB-5445-49FD-8457-7F3C9F1B0ACB}"/>
              </a:ext>
            </a:extLst>
          </p:cNvPr>
          <p:cNvSpPr/>
          <p:nvPr/>
        </p:nvSpPr>
        <p:spPr>
          <a:xfrm>
            <a:off x="4679318" y="1631328"/>
            <a:ext cx="899055" cy="69384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9A4D797-D87A-4DAA-8A59-467C86E6F3E2}"/>
              </a:ext>
            </a:extLst>
          </p:cNvPr>
          <p:cNvSpPr/>
          <p:nvPr/>
        </p:nvSpPr>
        <p:spPr>
          <a:xfrm>
            <a:off x="5598359" y="1631328"/>
            <a:ext cx="899055" cy="693844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C3F8A79-550B-45EA-A280-2C9FD2374EF4}"/>
                  </a:ext>
                </a:extLst>
              </p:cNvPr>
              <p:cNvSpPr txBox="1"/>
              <p:nvPr/>
            </p:nvSpPr>
            <p:spPr>
              <a:xfrm>
                <a:off x="369123" y="3676479"/>
                <a:ext cx="109504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Training the base classifier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800" dirty="0"/>
                  <a:t>’s, </a:t>
                </a:r>
                <a:r>
                  <a:rPr lang="en-US" altLang="zh-CN" sz="2800" b="1" dirty="0"/>
                  <a:t>we have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=8.5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C3F8A79-550B-45EA-A280-2C9FD2374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23" y="3676479"/>
                <a:ext cx="10950452" cy="523220"/>
              </a:xfrm>
              <a:prstGeom prst="rect">
                <a:avLst/>
              </a:prstGeom>
              <a:blipFill>
                <a:blip r:embed="rId11"/>
                <a:stretch>
                  <a:fillRect l="-1169" t="-10465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E02AEA5-14EF-402D-829F-66EAC3D8734A}"/>
              </a:ext>
            </a:extLst>
          </p:cNvPr>
          <p:cNvCxnSpPr/>
          <p:nvPr/>
        </p:nvCxnSpPr>
        <p:spPr>
          <a:xfrm>
            <a:off x="8266367" y="3444801"/>
            <a:ext cx="287788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FE3784B-60CA-4E42-AAE3-688CACFD664F}"/>
              </a:ext>
            </a:extLst>
          </p:cNvPr>
          <p:cNvSpPr txBox="1"/>
          <p:nvPr/>
        </p:nvSpPr>
        <p:spPr>
          <a:xfrm>
            <a:off x="2489765" y="798376"/>
            <a:ext cx="920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33CC"/>
                </a:solidFill>
              </a:rPr>
              <a:t>1         1        1         -1       -1        -1       -1       -1        -1        -1</a:t>
            </a:r>
            <a:endParaRPr lang="zh-CN" altLang="en-US" sz="2800" dirty="0">
              <a:solidFill>
                <a:srgbClr val="FF33CC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34C507C-BB6C-4B87-A539-5E71E9F03058}"/>
              </a:ext>
            </a:extLst>
          </p:cNvPr>
          <p:cNvSpPr/>
          <p:nvPr/>
        </p:nvSpPr>
        <p:spPr>
          <a:xfrm>
            <a:off x="9161937" y="1136983"/>
            <a:ext cx="899055" cy="693844"/>
          </a:xfrm>
          <a:prstGeom prst="ellipse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73F8B37-2668-47DE-AB2A-D05302ED1E84}"/>
              </a:ext>
            </a:extLst>
          </p:cNvPr>
          <p:cNvSpPr/>
          <p:nvPr/>
        </p:nvSpPr>
        <p:spPr>
          <a:xfrm>
            <a:off x="7323854" y="1136983"/>
            <a:ext cx="899055" cy="693844"/>
          </a:xfrm>
          <a:prstGeom prst="ellipse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87435F2-13CB-4E6E-B65F-332F14E5CB68}"/>
              </a:ext>
            </a:extLst>
          </p:cNvPr>
          <p:cNvSpPr/>
          <p:nvPr/>
        </p:nvSpPr>
        <p:spPr>
          <a:xfrm>
            <a:off x="8242895" y="1136983"/>
            <a:ext cx="899055" cy="693844"/>
          </a:xfrm>
          <a:prstGeom prst="ellipse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4C2C773-053A-4DC9-9949-018FFD95CB9B}"/>
                  </a:ext>
                </a:extLst>
              </p:cNvPr>
              <p:cNvSpPr txBox="1"/>
              <p:nvPr/>
            </p:nvSpPr>
            <p:spPr>
              <a:xfrm>
                <a:off x="10920551" y="1862851"/>
                <a:ext cx="8538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4C2C773-053A-4DC9-9949-018FFD95C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0551" y="1862851"/>
                <a:ext cx="853821" cy="400110"/>
              </a:xfrm>
              <a:prstGeom prst="rect">
                <a:avLst/>
              </a:prstGeom>
              <a:blipFill>
                <a:blip r:embed="rId1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CB6BE58-8D04-4627-A92A-F99CC09B1094}"/>
                  </a:ext>
                </a:extLst>
              </p:cNvPr>
              <p:cNvSpPr txBox="1"/>
              <p:nvPr/>
            </p:nvSpPr>
            <p:spPr>
              <a:xfrm>
                <a:off x="10920551" y="862045"/>
                <a:ext cx="8538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CB6BE58-8D04-4627-A92A-F99CC09B1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0551" y="862045"/>
                <a:ext cx="853821" cy="400110"/>
              </a:xfrm>
              <a:prstGeom prst="rect">
                <a:avLst/>
              </a:prstGeom>
              <a:blipFill>
                <a:blip r:embed="rId1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43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  <p:bldP spid="23" grpId="0" animBg="1"/>
      <p:bldP spid="24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A2278EC-1315-454A-9DC4-4E0CD2F5BCD8}"/>
              </a:ext>
            </a:extLst>
          </p:cNvPr>
          <p:cNvSpPr txBox="1"/>
          <p:nvPr/>
        </p:nvSpPr>
        <p:spPr>
          <a:xfrm>
            <a:off x="369124" y="2320515"/>
            <a:ext cx="10950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Update the sample weights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AB0A6D1-C851-4AA2-8447-165DECC15FD1}"/>
                  </a:ext>
                </a:extLst>
              </p:cNvPr>
              <p:cNvSpPr txBox="1"/>
              <p:nvPr/>
            </p:nvSpPr>
            <p:spPr>
              <a:xfrm>
                <a:off x="289704" y="3045665"/>
                <a:ext cx="11902296" cy="3154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)=(0.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0.0455,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0.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7,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7,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7,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0.1060,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0.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06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0.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06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0.0455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AB0A6D1-C851-4AA2-8447-165DECC15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04" y="3045665"/>
                <a:ext cx="11902296" cy="315407"/>
              </a:xfrm>
              <a:prstGeom prst="rect">
                <a:avLst/>
              </a:prstGeom>
              <a:blipFill>
                <a:blip r:embed="rId3"/>
                <a:stretch>
                  <a:fillRect t="-1961" b="-37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16CEDA6-6625-4500-BD3A-1263D5370E9B}"/>
                  </a:ext>
                </a:extLst>
              </p:cNvPr>
              <p:cNvSpPr txBox="1"/>
              <p:nvPr/>
            </p:nvSpPr>
            <p:spPr>
              <a:xfrm>
                <a:off x="369123" y="3676479"/>
                <a:ext cx="109504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Training the base classifier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altLang="zh-CN" sz="2800" dirty="0"/>
                  <a:t>’s, </a:t>
                </a:r>
                <a:r>
                  <a:rPr lang="en-US" altLang="zh-CN" sz="2800" b="1" dirty="0"/>
                  <a:t>we have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=5.5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16CEDA6-6625-4500-BD3A-1263D5370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23" y="3676479"/>
                <a:ext cx="10950452" cy="523220"/>
              </a:xfrm>
              <a:prstGeom prst="rect">
                <a:avLst/>
              </a:prstGeom>
              <a:blipFill>
                <a:blip r:embed="rId4"/>
                <a:stretch>
                  <a:fillRect l="-1169" t="-10465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6DCFB22-D57C-4130-B2EF-BA6A1CA429F6}"/>
                  </a:ext>
                </a:extLst>
              </p:cNvPr>
              <p:cNvSpPr txBox="1"/>
              <p:nvPr/>
            </p:nvSpPr>
            <p:spPr>
              <a:xfrm>
                <a:off x="8695088" y="3494672"/>
                <a:ext cx="3410677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−1,  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&lt;5.5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1,  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&gt;5.5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6DCFB22-D57C-4130-B2EF-BA6A1CA42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088" y="3494672"/>
                <a:ext cx="3410677" cy="8238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C27574-C4FF-43E2-8967-B18FD2C90228}"/>
                  </a:ext>
                </a:extLst>
              </p:cNvPr>
              <p:cNvSpPr txBox="1"/>
              <p:nvPr/>
            </p:nvSpPr>
            <p:spPr>
              <a:xfrm>
                <a:off x="369123" y="4505516"/>
                <a:ext cx="798963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b="1" dirty="0"/>
                  <a:t> we have the error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=0.1820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C27574-C4FF-43E2-8967-B18FD2C90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23" y="4505516"/>
                <a:ext cx="7989639" cy="523220"/>
              </a:xfrm>
              <a:prstGeom prst="rect">
                <a:avLst/>
              </a:prstGeom>
              <a:blipFill>
                <a:blip r:embed="rId6"/>
                <a:stretch>
                  <a:fillRect l="-1603" t="-10465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DC2657B-6615-43A2-AB10-BA4E407A0A55}"/>
                  </a:ext>
                </a:extLst>
              </p:cNvPr>
              <p:cNvSpPr txBox="1"/>
              <p:nvPr/>
            </p:nvSpPr>
            <p:spPr>
              <a:xfrm>
                <a:off x="369124" y="5128718"/>
                <a:ext cx="10950451" cy="85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The weight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=0.7514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DC2657B-6615-43A2-AB10-BA4E407A0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24" y="5128718"/>
                <a:ext cx="10950451" cy="854273"/>
              </a:xfrm>
              <a:prstGeom prst="rect">
                <a:avLst/>
              </a:prstGeom>
              <a:blipFill>
                <a:blip r:embed="rId7"/>
                <a:stretch>
                  <a:fillRect l="-1169" b="-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0378F3D-2604-42F7-A783-642688DF5547}"/>
                  </a:ext>
                </a:extLst>
              </p:cNvPr>
              <p:cNvSpPr/>
              <p:nvPr/>
            </p:nvSpPr>
            <p:spPr>
              <a:xfrm>
                <a:off x="8271829" y="2158062"/>
                <a:ext cx="3509550" cy="871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⁡{−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0378F3D-2604-42F7-A783-642688DF55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829" y="2158062"/>
                <a:ext cx="3509550" cy="8712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4EE71E-3A28-444B-BC0C-C839E9848EE7}"/>
                  </a:ext>
                </a:extLst>
              </p:cNvPr>
              <p:cNvSpPr/>
              <p:nvPr/>
            </p:nvSpPr>
            <p:spPr>
              <a:xfrm>
                <a:off x="4679820" y="2257481"/>
                <a:ext cx="3592009" cy="6723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⁡{−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4EE71E-3A28-444B-BC0C-C839E9848E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820" y="2257481"/>
                <a:ext cx="3592009" cy="6723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2D8C8398-808B-4C8F-90D7-D6C196D4113C}"/>
              </a:ext>
            </a:extLst>
          </p:cNvPr>
          <p:cNvSpPr txBox="1"/>
          <p:nvPr/>
        </p:nvSpPr>
        <p:spPr>
          <a:xfrm>
            <a:off x="235766" y="160069"/>
            <a:ext cx="6476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Given the following training dataset,</a:t>
            </a:r>
            <a:endParaRPr lang="zh-CN" alt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1DBBBE4-51F1-4EED-8C6E-4004FC0A5708}"/>
                  </a:ext>
                </a:extLst>
              </p:cNvPr>
              <p:cNvSpPr txBox="1"/>
              <p:nvPr/>
            </p:nvSpPr>
            <p:spPr>
              <a:xfrm>
                <a:off x="369124" y="6236860"/>
                <a:ext cx="68234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0.4236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+0.6496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751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1DBBBE4-51F1-4EED-8C6E-4004FC0A5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24" y="6236860"/>
                <a:ext cx="6823406" cy="369332"/>
              </a:xfrm>
              <a:prstGeom prst="rect">
                <a:avLst/>
              </a:prstGeom>
              <a:blipFill>
                <a:blip r:embed="rId10"/>
                <a:stretch>
                  <a:fillRect l="-1162" r="-1072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5">
            <a:extLst>
              <a:ext uri="{FF2B5EF4-FFF2-40B4-BE49-F238E27FC236}">
                <a16:creationId xmlns:a16="http://schemas.microsoft.com/office/drawing/2014/main" id="{11E018FF-27B2-44E6-B1FC-5878D69C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966359"/>
              </p:ext>
            </p:extLst>
          </p:nvPr>
        </p:nvGraphicFramePr>
        <p:xfrm>
          <a:off x="1012938" y="1092109"/>
          <a:ext cx="98455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052">
                  <a:extLst>
                    <a:ext uri="{9D8B030D-6E8A-4147-A177-3AD203B41FA5}">
                      <a16:colId xmlns:a16="http://schemas.microsoft.com/office/drawing/2014/main" val="749135200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831418707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64631214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704001034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242237984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44305882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476524407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192763546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17078640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409458263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267079137"/>
                    </a:ext>
                  </a:extLst>
                </a:gridCol>
              </a:tblGrid>
              <a:tr h="424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X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8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9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65951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T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536425"/>
                  </a:ext>
                </a:extLst>
              </a:tr>
            </a:tbl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0A8A3CA-B887-4543-B47A-B163EF09A9B6}"/>
              </a:ext>
            </a:extLst>
          </p:cNvPr>
          <p:cNvCxnSpPr>
            <a:cxnSpLocks/>
          </p:cNvCxnSpPr>
          <p:nvPr/>
        </p:nvCxnSpPr>
        <p:spPr>
          <a:xfrm>
            <a:off x="5637467" y="3494672"/>
            <a:ext cx="254450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8B8D477-4504-4961-8924-1135D95670BA}"/>
              </a:ext>
            </a:extLst>
          </p:cNvPr>
          <p:cNvSpPr txBox="1"/>
          <p:nvPr/>
        </p:nvSpPr>
        <p:spPr>
          <a:xfrm>
            <a:off x="2499457" y="806990"/>
            <a:ext cx="920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33CC"/>
                </a:solidFill>
              </a:rPr>
              <a:t>1         1        1         1         1         1        1         1         1        -1</a:t>
            </a:r>
            <a:endParaRPr lang="zh-CN" altLang="en-US" sz="2800" dirty="0">
              <a:solidFill>
                <a:srgbClr val="FF33CC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F6410A-2F85-43A9-BC50-FFE003B5D0D8}"/>
              </a:ext>
            </a:extLst>
          </p:cNvPr>
          <p:cNvSpPr txBox="1"/>
          <p:nvPr/>
        </p:nvSpPr>
        <p:spPr>
          <a:xfrm>
            <a:off x="2499457" y="464538"/>
            <a:ext cx="920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33CC"/>
                </a:solidFill>
              </a:rPr>
              <a:t>1         1        1         -1       -1        -1       -1       -1        -1       -1</a:t>
            </a:r>
            <a:endParaRPr lang="zh-CN" altLang="en-US" sz="2800" dirty="0">
              <a:solidFill>
                <a:srgbClr val="FF33CC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A397B00-316C-4EBA-879E-C5686531285B}"/>
              </a:ext>
            </a:extLst>
          </p:cNvPr>
          <p:cNvSpPr txBox="1"/>
          <p:nvPr/>
        </p:nvSpPr>
        <p:spPr>
          <a:xfrm>
            <a:off x="2499457" y="1807235"/>
            <a:ext cx="920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-1       -1       -1        -1       -1        -1        1         1         1        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396833A-CE79-4E52-8313-4D5C0093DB6D}"/>
                  </a:ext>
                </a:extLst>
              </p:cNvPr>
              <p:cNvSpPr txBox="1"/>
              <p:nvPr/>
            </p:nvSpPr>
            <p:spPr>
              <a:xfrm>
                <a:off x="10889028" y="861585"/>
                <a:ext cx="8538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396833A-CE79-4E52-8313-4D5C0093D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028" y="861585"/>
                <a:ext cx="853821" cy="400110"/>
              </a:xfrm>
              <a:prstGeom prst="rect">
                <a:avLst/>
              </a:prstGeom>
              <a:blipFill>
                <a:blip r:embed="rId11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FCD4916-52E9-4BD3-AEEB-51BB41EBABA0}"/>
                  </a:ext>
                </a:extLst>
              </p:cNvPr>
              <p:cNvSpPr txBox="1"/>
              <p:nvPr/>
            </p:nvSpPr>
            <p:spPr>
              <a:xfrm>
                <a:off x="10889028" y="460854"/>
                <a:ext cx="8538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FCD4916-52E9-4BD3-AEEB-51BB41EBA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028" y="460854"/>
                <a:ext cx="853821" cy="400110"/>
              </a:xfrm>
              <a:prstGeom prst="rect">
                <a:avLst/>
              </a:prstGeom>
              <a:blipFill>
                <a:blip r:embed="rId1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54F5DC-2B54-4E6B-B5B2-4DEB8C531D28}"/>
                  </a:ext>
                </a:extLst>
              </p:cNvPr>
              <p:cNvSpPr txBox="1"/>
              <p:nvPr/>
            </p:nvSpPr>
            <p:spPr>
              <a:xfrm>
                <a:off x="10886694" y="1823448"/>
                <a:ext cx="8538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54F5DC-2B54-4E6B-B5B2-4DEB8C531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6694" y="1823448"/>
                <a:ext cx="853821" cy="400110"/>
              </a:xfrm>
              <a:prstGeom prst="rect">
                <a:avLst/>
              </a:prstGeom>
              <a:blipFill>
                <a:blip r:embed="rId1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05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D8C8398-808B-4C8F-90D7-D6C196D4113C}"/>
              </a:ext>
            </a:extLst>
          </p:cNvPr>
          <p:cNvSpPr txBox="1"/>
          <p:nvPr/>
        </p:nvSpPr>
        <p:spPr>
          <a:xfrm>
            <a:off x="235766" y="160069"/>
            <a:ext cx="6476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Given the following training dataset,</a:t>
            </a:r>
            <a:endParaRPr lang="zh-CN" alt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9D7A5ED-9434-4CD3-8DBB-2056F6CCD4C3}"/>
                  </a:ext>
                </a:extLst>
              </p:cNvPr>
              <p:cNvSpPr txBox="1"/>
              <p:nvPr/>
            </p:nvSpPr>
            <p:spPr>
              <a:xfrm>
                <a:off x="446126" y="5917223"/>
                <a:ext cx="491260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b="1" dirty="0"/>
                  <a:t> has 0 error.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9D7A5ED-9434-4CD3-8DBB-2056F6CCD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26" y="5917223"/>
                <a:ext cx="4912607" cy="523220"/>
              </a:xfrm>
              <a:prstGeom prst="rect">
                <a:avLst/>
              </a:prstGeom>
              <a:blipFill>
                <a:blip r:embed="rId3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1DBBBE4-51F1-4EED-8C6E-4004FC0A5708}"/>
                  </a:ext>
                </a:extLst>
              </p:cNvPr>
              <p:cNvSpPr txBox="1"/>
              <p:nvPr/>
            </p:nvSpPr>
            <p:spPr>
              <a:xfrm>
                <a:off x="446126" y="5322460"/>
                <a:ext cx="68234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0.4236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+0.6496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751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1DBBBE4-51F1-4EED-8C6E-4004FC0A5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26" y="5322460"/>
                <a:ext cx="6823406" cy="369332"/>
              </a:xfrm>
              <a:prstGeom prst="rect">
                <a:avLst/>
              </a:prstGeom>
              <a:blipFill>
                <a:blip r:embed="rId4"/>
                <a:stretch>
                  <a:fillRect l="-1071" r="-1071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C872CB28-8AEF-4EBF-9126-96AA2170FC43}"/>
              </a:ext>
            </a:extLst>
          </p:cNvPr>
          <p:cNvSpPr txBox="1"/>
          <p:nvPr/>
        </p:nvSpPr>
        <p:spPr>
          <a:xfrm>
            <a:off x="2306951" y="3473974"/>
            <a:ext cx="920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-1       -1       -1        -1       -1        -1        1         1         1         1</a:t>
            </a:r>
            <a:endParaRPr lang="zh-CN" altLang="en-US" sz="2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B2406D-3110-4668-9B2C-CB0BC4A4A9F9}"/>
              </a:ext>
            </a:extLst>
          </p:cNvPr>
          <p:cNvSpPr txBox="1"/>
          <p:nvPr/>
        </p:nvSpPr>
        <p:spPr>
          <a:xfrm>
            <a:off x="2297260" y="2298574"/>
            <a:ext cx="920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         1        1         -1       -1       -1        -1        -1       -1        -1</a:t>
            </a:r>
            <a:endParaRPr lang="zh-CN" altLang="en-US" sz="28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B683D5-C121-400C-9AF9-08BA3866BD25}"/>
              </a:ext>
            </a:extLst>
          </p:cNvPr>
          <p:cNvSpPr txBox="1"/>
          <p:nvPr/>
        </p:nvSpPr>
        <p:spPr>
          <a:xfrm>
            <a:off x="2306951" y="2875591"/>
            <a:ext cx="920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         1        1          1        1         1         1         1         1        -1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DD1111-DDD3-48E1-9F24-F83A083E32C2}"/>
                  </a:ext>
                </a:extLst>
              </p:cNvPr>
              <p:cNvSpPr/>
              <p:nvPr/>
            </p:nvSpPr>
            <p:spPr>
              <a:xfrm>
                <a:off x="625272" y="2382193"/>
                <a:ext cx="14333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DD1111-DDD3-48E1-9F24-F83A083E32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72" y="2382193"/>
                <a:ext cx="143334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EB01DA9F-8067-4CDD-9806-2593D6C9593C}"/>
                  </a:ext>
                </a:extLst>
              </p:cNvPr>
              <p:cNvSpPr/>
              <p:nvPr/>
            </p:nvSpPr>
            <p:spPr>
              <a:xfrm>
                <a:off x="622611" y="2959210"/>
                <a:ext cx="14333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EB01DA9F-8067-4CDD-9806-2593D6C959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11" y="2959210"/>
                <a:ext cx="1433341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14F102E-DDC3-4037-AA2E-FFEB0D38F076}"/>
                  </a:ext>
                </a:extLst>
              </p:cNvPr>
              <p:cNvSpPr/>
              <p:nvPr/>
            </p:nvSpPr>
            <p:spPr>
              <a:xfrm>
                <a:off x="622611" y="3557593"/>
                <a:ext cx="14333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b="1" dirty="0">
                    <a:solidFill>
                      <a:schemeClr val="tx1"/>
                    </a:solidFill>
                  </a:rPr>
                  <a:t> 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14F102E-DDC3-4037-AA2E-FFEB0D38F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11" y="3557593"/>
                <a:ext cx="1433341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D7516588-BEBF-4E3B-9EBD-2CA868FD0FC8}"/>
              </a:ext>
            </a:extLst>
          </p:cNvPr>
          <p:cNvSpPr txBox="1"/>
          <p:nvPr/>
        </p:nvSpPr>
        <p:spPr>
          <a:xfrm>
            <a:off x="2298429" y="4126639"/>
            <a:ext cx="920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1         1        1         -1       -1        -1        1         1         1        -1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6164081-B127-4245-B563-7AD129CB7CC7}"/>
                  </a:ext>
                </a:extLst>
              </p:cNvPr>
              <p:cNvSpPr/>
              <p:nvPr/>
            </p:nvSpPr>
            <p:spPr>
              <a:xfrm>
                <a:off x="383860" y="4196908"/>
                <a:ext cx="19230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Final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𝒔𝒊𝒈𝒏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d>
                      <m:d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6164081-B127-4245-B563-7AD129CB7C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60" y="4196908"/>
                <a:ext cx="1923091" cy="369332"/>
              </a:xfrm>
              <a:prstGeom prst="rect">
                <a:avLst/>
              </a:prstGeom>
              <a:blipFill>
                <a:blip r:embed="rId8"/>
                <a:stretch>
                  <a:fillRect l="-2857" t="-8197" r="-31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5">
            <a:extLst>
              <a:ext uri="{FF2B5EF4-FFF2-40B4-BE49-F238E27FC236}">
                <a16:creationId xmlns:a16="http://schemas.microsoft.com/office/drawing/2014/main" id="{824E5640-29C2-4421-B354-C7A2760D0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015353"/>
              </p:ext>
            </p:extLst>
          </p:nvPr>
        </p:nvGraphicFramePr>
        <p:xfrm>
          <a:off x="1012938" y="1092109"/>
          <a:ext cx="98455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052">
                  <a:extLst>
                    <a:ext uri="{9D8B030D-6E8A-4147-A177-3AD203B41FA5}">
                      <a16:colId xmlns:a16="http://schemas.microsoft.com/office/drawing/2014/main" val="749135200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831418707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64631214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704001034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242237984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44305882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476524407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2192763546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1170786408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409458263"/>
                    </a:ext>
                  </a:extLst>
                </a:gridCol>
                <a:gridCol w="895052">
                  <a:extLst>
                    <a:ext uri="{9D8B030D-6E8A-4147-A177-3AD203B41FA5}">
                      <a16:colId xmlns:a16="http://schemas.microsoft.com/office/drawing/2014/main" val="3267079137"/>
                    </a:ext>
                  </a:extLst>
                </a:gridCol>
              </a:tblGrid>
              <a:tr h="424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X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8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9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65951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T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-1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53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62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0681" y="253477"/>
            <a:ext cx="5539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AdaBoost—Training Error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9FD7847-CF56-4293-B6CE-0FFB5801E149}"/>
              </a:ext>
            </a:extLst>
          </p:cNvPr>
          <p:cNvGrpSpPr/>
          <p:nvPr/>
        </p:nvGrpSpPr>
        <p:grpSpPr>
          <a:xfrm>
            <a:off x="410680" y="2967396"/>
            <a:ext cx="11439171" cy="2259122"/>
            <a:chOff x="410680" y="2967396"/>
            <a:chExt cx="11439171" cy="2259122"/>
          </a:xfrm>
        </p:grpSpPr>
        <p:sp>
          <p:nvSpPr>
            <p:cNvPr id="13" name="矩形: 圆角 9">
              <a:extLst>
                <a:ext uri="{FF2B5EF4-FFF2-40B4-BE49-F238E27FC236}">
                  <a16:creationId xmlns:a16="http://schemas.microsoft.com/office/drawing/2014/main" id="{F2ACA3BB-58AE-47F4-B568-7E2BF94B11DA}"/>
                </a:ext>
              </a:extLst>
            </p:cNvPr>
            <p:cNvSpPr/>
            <p:nvPr/>
          </p:nvSpPr>
          <p:spPr>
            <a:xfrm>
              <a:off x="410680" y="2967396"/>
              <a:ext cx="11439171" cy="2259122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EBE8463F-E097-4939-8AAF-283A81638E57}"/>
                    </a:ext>
                  </a:extLst>
                </p:cNvPr>
                <p:cNvSpPr/>
                <p:nvPr/>
              </p:nvSpPr>
              <p:spPr>
                <a:xfrm>
                  <a:off x="410680" y="3045783"/>
                  <a:ext cx="10899003" cy="5091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spcBef>
                      <a:spcPts val="1200"/>
                    </a:spcBef>
                    <a:spcAft>
                      <a:spcPts val="1200"/>
                    </a:spcAft>
                  </a:pPr>
                  <a:r>
                    <a:rPr lang="en-US" altLang="zh-CN" sz="2400" dirty="0"/>
                    <a:t>When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altLang="zh-CN" sz="2400" dirty="0"/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a14:m>
                  <a:r>
                    <a:rPr lang="en-US" altLang="zh-CN" sz="2400" dirty="0"/>
                    <a:t>, then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altLang="zh-CN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EBE8463F-E097-4939-8AAF-283A81638E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680" y="3045783"/>
                  <a:ext cx="10899003" cy="509178"/>
                </a:xfrm>
                <a:prstGeom prst="rect">
                  <a:avLst/>
                </a:prstGeom>
                <a:blipFill>
                  <a:blip r:embed="rId2"/>
                  <a:stretch>
                    <a:fillRect l="-839" t="-3614" b="-240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矩形: 圆角 9">
            <a:extLst>
              <a:ext uri="{FF2B5EF4-FFF2-40B4-BE49-F238E27FC236}">
                <a16:creationId xmlns:a16="http://schemas.microsoft.com/office/drawing/2014/main" id="{2BB470BF-BD18-4208-B8DE-5060C70A43EA}"/>
              </a:ext>
            </a:extLst>
          </p:cNvPr>
          <p:cNvSpPr/>
          <p:nvPr/>
        </p:nvSpPr>
        <p:spPr>
          <a:xfrm>
            <a:off x="410681" y="1053902"/>
            <a:ext cx="11439171" cy="165499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0681" y="1070051"/>
            <a:ext cx="1158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Freund and </a:t>
            </a:r>
            <a:r>
              <a:rPr lang="en-US" altLang="zh-CN" sz="2400" dirty="0" err="1"/>
              <a:t>Schapire</a:t>
            </a:r>
            <a:r>
              <a:rPr lang="en-US" altLang="zh-CN" sz="2400" dirty="0"/>
              <a:t> prove the training error of AdaBoost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6FD5E06-DDC5-47F2-B2A5-CFAF183A5DB1}"/>
                  </a:ext>
                </a:extLst>
              </p:cNvPr>
              <p:cNvSpPr/>
              <p:nvPr/>
            </p:nvSpPr>
            <p:spPr>
              <a:xfrm>
                <a:off x="2550056" y="3713522"/>
                <a:ext cx="6481967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6FD5E06-DDC5-47F2-B2A5-CFAF183A5D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056" y="3713522"/>
                <a:ext cx="6481967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08D3F1A-AC27-4B02-BE19-B3746D4947E3}"/>
                  </a:ext>
                </a:extLst>
              </p:cNvPr>
              <p:cNvSpPr/>
              <p:nvPr/>
            </p:nvSpPr>
            <p:spPr>
              <a:xfrm>
                <a:off x="972354" y="1460762"/>
                <a:ext cx="10247292" cy="1281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 dirty="0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zh-CN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nary>
                            <m:naryPr>
                              <m:chr m:val="∑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zh-CN" alt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400" i="1" dirty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08D3F1A-AC27-4B02-BE19-B3746D494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354" y="1460762"/>
                <a:ext cx="10247292" cy="12813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1225BE9-6BEE-45B2-8AE3-A84CD61BF83C}"/>
                  </a:ext>
                </a:extLst>
              </p:cNvPr>
              <p:cNvSpPr/>
              <p:nvPr/>
            </p:nvSpPr>
            <p:spPr>
              <a:xfrm>
                <a:off x="9847214" y="351376"/>
                <a:ext cx="221874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1225BE9-6BEE-45B2-8AE3-A84CD61BF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214" y="351376"/>
                <a:ext cx="2218749" cy="338554"/>
              </a:xfrm>
              <a:prstGeom prst="rect">
                <a:avLst/>
              </a:prstGeom>
              <a:blipFill>
                <a:blip r:embed="rId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BC5DD08-EEC9-4862-A1FB-43087A745DE5}"/>
                  </a:ext>
                </a:extLst>
              </p:cNvPr>
              <p:cNvSpPr/>
              <p:nvPr/>
            </p:nvSpPr>
            <p:spPr>
              <a:xfrm>
                <a:off x="7422777" y="66207"/>
                <a:ext cx="2317365" cy="871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BC5DD08-EEC9-4862-A1FB-43087A745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777" y="66207"/>
                <a:ext cx="2317365" cy="8712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8538D8B9-492A-48BE-8DD6-42A6E604175E}"/>
              </a:ext>
            </a:extLst>
          </p:cNvPr>
          <p:cNvGrpSpPr/>
          <p:nvPr/>
        </p:nvGrpSpPr>
        <p:grpSpPr>
          <a:xfrm>
            <a:off x="410679" y="5485014"/>
            <a:ext cx="11439171" cy="978692"/>
            <a:chOff x="410679" y="5485014"/>
            <a:chExt cx="11439171" cy="978692"/>
          </a:xfrm>
        </p:grpSpPr>
        <p:sp>
          <p:nvSpPr>
            <p:cNvPr id="24" name="矩形: 圆角 9">
              <a:extLst>
                <a:ext uri="{FF2B5EF4-FFF2-40B4-BE49-F238E27FC236}">
                  <a16:creationId xmlns:a16="http://schemas.microsoft.com/office/drawing/2014/main" id="{28DFC2CC-EA09-42BD-92AA-932D7107326C}"/>
                </a:ext>
              </a:extLst>
            </p:cNvPr>
            <p:cNvSpPr/>
            <p:nvPr/>
          </p:nvSpPr>
          <p:spPr>
            <a:xfrm>
              <a:off x="410679" y="5485014"/>
              <a:ext cx="11439171" cy="978692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73B63355-A8C0-4E4F-88BC-2038AC4FE6CE}"/>
                    </a:ext>
                  </a:extLst>
                </p:cNvPr>
                <p:cNvSpPr/>
                <p:nvPr/>
              </p:nvSpPr>
              <p:spPr>
                <a:xfrm>
                  <a:off x="3496489" y="5485014"/>
                  <a:ext cx="4727383" cy="8658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⁡{−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)}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73B63355-A8C0-4E4F-88BC-2038AC4FE6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6489" y="5485014"/>
                  <a:ext cx="4727383" cy="86581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8AA5374-D159-4AC8-BB97-8218C4CC6039}"/>
                </a:ext>
              </a:extLst>
            </p:cNvPr>
            <p:cNvSpPr/>
            <p:nvPr/>
          </p:nvSpPr>
          <p:spPr>
            <a:xfrm>
              <a:off x="410680" y="5549509"/>
              <a:ext cx="108990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sz="2400" dirty="0"/>
                <a:t>Next we will use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B4A8306-D769-4718-8153-25604935379C}"/>
                  </a:ext>
                </a:extLst>
              </p:cNvPr>
              <p:cNvSpPr/>
              <p:nvPr/>
            </p:nvSpPr>
            <p:spPr>
              <a:xfrm>
                <a:off x="9640717" y="915188"/>
                <a:ext cx="1878015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B4A8306-D769-4718-8153-256049353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717" y="915188"/>
                <a:ext cx="1878015" cy="613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37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9">
            <a:extLst>
              <a:ext uri="{FF2B5EF4-FFF2-40B4-BE49-F238E27FC236}">
                <a16:creationId xmlns:a16="http://schemas.microsoft.com/office/drawing/2014/main" id="{F2ACA3BB-58AE-47F4-B568-7E2BF94B11DA}"/>
              </a:ext>
            </a:extLst>
          </p:cNvPr>
          <p:cNvSpPr/>
          <p:nvPr/>
        </p:nvSpPr>
        <p:spPr>
          <a:xfrm>
            <a:off x="410681" y="1256075"/>
            <a:ext cx="11439171" cy="3460306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5539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AdaBoost—Training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6FD5E06-DDC5-47F2-B2A5-CFAF183A5DB1}"/>
                  </a:ext>
                </a:extLst>
              </p:cNvPr>
              <p:cNvSpPr/>
              <p:nvPr/>
            </p:nvSpPr>
            <p:spPr>
              <a:xfrm>
                <a:off x="410681" y="1273352"/>
                <a:ext cx="6430094" cy="10831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dirty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dirty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0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 dirty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6FD5E06-DDC5-47F2-B2A5-CFAF183A5D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1273352"/>
                <a:ext cx="6430094" cy="10831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0D4BBD-B95E-460F-9770-2A3B96B76198}"/>
                  </a:ext>
                </a:extLst>
              </p:cNvPr>
              <p:cNvSpPr/>
              <p:nvPr/>
            </p:nvSpPr>
            <p:spPr>
              <a:xfrm>
                <a:off x="8045345" y="120483"/>
                <a:ext cx="3970061" cy="736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altLang="zh-CN" sz="2000" dirty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⁡{−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0D4BBD-B95E-460F-9770-2A3B96B76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345" y="120483"/>
                <a:ext cx="3970061" cy="736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08EB636-C8A5-42D3-B83E-251E0D8BEC5B}"/>
                  </a:ext>
                </a:extLst>
              </p:cNvPr>
              <p:cNvSpPr/>
              <p:nvPr/>
            </p:nvSpPr>
            <p:spPr>
              <a:xfrm>
                <a:off x="6840775" y="1256074"/>
                <a:ext cx="3923446" cy="9577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nary>
                            <m:naryPr>
                              <m:chr m:val="∏"/>
                              <m:ctrlP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dirty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 dirty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08EB636-C8A5-42D3-B83E-251E0D8BE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775" y="1256074"/>
                <a:ext cx="3923446" cy="9577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8E9B5B7-E0EA-4983-A814-245D88E18B4E}"/>
                  </a:ext>
                </a:extLst>
              </p:cNvPr>
              <p:cNvSpPr/>
              <p:nvPr/>
            </p:nvSpPr>
            <p:spPr>
              <a:xfrm>
                <a:off x="2796552" y="2450536"/>
                <a:ext cx="4230196" cy="9577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nary>
                            <m:naryPr>
                              <m:chr m:val="∏"/>
                              <m:ctrlP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dirty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 dirty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8E9B5B7-E0EA-4983-A814-245D88E18B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552" y="2450536"/>
                <a:ext cx="4230196" cy="9577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6DB3162-D343-4FD6-AFF7-6489FB90195D}"/>
                  </a:ext>
                </a:extLst>
              </p:cNvPr>
              <p:cNvSpPr/>
              <p:nvPr/>
            </p:nvSpPr>
            <p:spPr>
              <a:xfrm>
                <a:off x="6840775" y="2417302"/>
                <a:ext cx="4494628" cy="9577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nary>
                            <m:naryPr>
                              <m:chr m:val="∏"/>
                              <m:ctrlP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dirty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 dirty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6DB3162-D343-4FD6-AFF7-6489FB9019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775" y="2417302"/>
                <a:ext cx="4494628" cy="9577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9B7B8CD-9284-4CFD-AEEE-8C09A12D2684}"/>
                  </a:ext>
                </a:extLst>
              </p:cNvPr>
              <p:cNvSpPr/>
              <p:nvPr/>
            </p:nvSpPr>
            <p:spPr>
              <a:xfrm>
                <a:off x="2796552" y="3631172"/>
                <a:ext cx="1305294" cy="9577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9B7B8CD-9284-4CFD-AEEE-8C09A12D2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552" y="3631172"/>
                <a:ext cx="1305294" cy="9577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4B5E4CA-3778-4CBB-A1CC-66AA8EDE1735}"/>
                  </a:ext>
                </a:extLst>
              </p:cNvPr>
              <p:cNvSpPr/>
              <p:nvPr/>
            </p:nvSpPr>
            <p:spPr>
              <a:xfrm>
                <a:off x="1245537" y="5115168"/>
                <a:ext cx="10247292" cy="1281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1" dirty="0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zh-CN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nary>
                            <m:naryPr>
                              <m:chr m:val="∑"/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zh-CN" alt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4B5E4CA-3778-4CBB-A1CC-66AA8EDE1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537" y="5115168"/>
                <a:ext cx="10247292" cy="12813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27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  <p:bldP spid="10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9">
            <a:extLst>
              <a:ext uri="{FF2B5EF4-FFF2-40B4-BE49-F238E27FC236}">
                <a16:creationId xmlns:a16="http://schemas.microsoft.com/office/drawing/2014/main" id="{F2ACA3BB-58AE-47F4-B568-7E2BF94B11DA}"/>
              </a:ext>
            </a:extLst>
          </p:cNvPr>
          <p:cNvSpPr/>
          <p:nvPr/>
        </p:nvSpPr>
        <p:spPr>
          <a:xfrm>
            <a:off x="410681" y="1256075"/>
            <a:ext cx="11439171" cy="4345850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5539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AdaBoost—Training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2A4B3F5-F1D9-4E3B-84D8-9F58BFE00F3E}"/>
                  </a:ext>
                </a:extLst>
              </p:cNvPr>
              <p:cNvSpPr/>
              <p:nvPr/>
            </p:nvSpPr>
            <p:spPr>
              <a:xfrm>
                <a:off x="252268" y="1256075"/>
                <a:ext cx="11844460" cy="11784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⁡{−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)}</m:t>
                          </m:r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2A4B3F5-F1D9-4E3B-84D8-9F58BFE00F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68" y="1256075"/>
                <a:ext cx="11844460" cy="1178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99FEC50-B5EC-4CAA-93AC-F53D6A0199EF}"/>
                  </a:ext>
                </a:extLst>
              </p:cNvPr>
              <p:cNvSpPr/>
              <p:nvPr/>
            </p:nvSpPr>
            <p:spPr>
              <a:xfrm>
                <a:off x="803111" y="2833262"/>
                <a:ext cx="49671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2400" dirty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⁡(−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2400" dirty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99FEC50-B5EC-4CAA-93AC-F53D6A0199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11" y="2833262"/>
                <a:ext cx="4967194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80A702B3-A626-4D83-A88F-5A77C7C5C5B5}"/>
                  </a:ext>
                </a:extLst>
              </p:cNvPr>
              <p:cNvSpPr/>
              <p:nvPr/>
            </p:nvSpPr>
            <p:spPr>
              <a:xfrm>
                <a:off x="8809599" y="199612"/>
                <a:ext cx="3382401" cy="9577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80A702B3-A626-4D83-A88F-5A77C7C5C5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599" y="199612"/>
                <a:ext cx="3382401" cy="9577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37F8205-09B6-45A7-AC9C-7C798901552A}"/>
                  </a:ext>
                </a:extLst>
              </p:cNvPr>
              <p:cNvSpPr/>
              <p:nvPr/>
            </p:nvSpPr>
            <p:spPr>
              <a:xfrm>
                <a:off x="654255" y="3589639"/>
                <a:ext cx="8217378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2400" dirty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2400" dirty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37F8205-09B6-45A7-AC9C-7C79890155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55" y="3589639"/>
                <a:ext cx="8217378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2FFD32C-8368-4958-94C9-C610576645C7}"/>
                  </a:ext>
                </a:extLst>
              </p:cNvPr>
              <p:cNvSpPr/>
              <p:nvPr/>
            </p:nvSpPr>
            <p:spPr>
              <a:xfrm>
                <a:off x="6174498" y="289059"/>
                <a:ext cx="2371162" cy="7788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 dirty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 dirty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2FFD32C-8368-4958-94C9-C610576645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498" y="289059"/>
                <a:ext cx="2371162" cy="7788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4D618AA0-46BA-4220-9D13-39F87F44A59A}"/>
              </a:ext>
            </a:extLst>
          </p:cNvPr>
          <p:cNvGrpSpPr/>
          <p:nvPr/>
        </p:nvGrpSpPr>
        <p:grpSpPr>
          <a:xfrm>
            <a:off x="856272" y="4634927"/>
            <a:ext cx="7830999" cy="843885"/>
            <a:chOff x="856272" y="4634927"/>
            <a:chExt cx="7830999" cy="8438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6E841ADA-DB65-4732-B3BE-27EF16C0B4CF}"/>
                    </a:ext>
                  </a:extLst>
                </p:cNvPr>
                <p:cNvSpPr/>
                <p:nvPr/>
              </p:nvSpPr>
              <p:spPr>
                <a:xfrm>
                  <a:off x="856272" y="4754391"/>
                  <a:ext cx="2497800" cy="5395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ra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6E841ADA-DB65-4732-B3BE-27EF16C0B4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272" y="4754391"/>
                  <a:ext cx="2497800" cy="53957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226DD846-7DDB-46BA-B565-6D3EBF2D0C35}"/>
                    </a:ext>
                  </a:extLst>
                </p:cNvPr>
                <p:cNvSpPr/>
                <p:nvPr/>
              </p:nvSpPr>
              <p:spPr>
                <a:xfrm>
                  <a:off x="3354072" y="4634927"/>
                  <a:ext cx="1864228" cy="8438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226DD846-7DDB-46BA-B565-6D3EBF2D0C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072" y="4634927"/>
                  <a:ext cx="1864228" cy="84388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E4744E88-C9A3-4499-BC26-286B30E2B8B9}"/>
                    </a:ext>
                  </a:extLst>
                </p:cNvPr>
                <p:cNvSpPr/>
                <p:nvPr/>
              </p:nvSpPr>
              <p:spPr>
                <a:xfrm>
                  <a:off x="6424600" y="4816108"/>
                  <a:ext cx="2262671" cy="613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E4744E88-C9A3-4499-BC26-286B30E2B8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4600" y="4816108"/>
                  <a:ext cx="2262671" cy="613886"/>
                </a:xfrm>
                <a:prstGeom prst="rect">
                  <a:avLst/>
                </a:prstGeom>
                <a:blipFill>
                  <a:blip r:embed="rId9"/>
                  <a:stretch>
                    <a:fillRect l="-4313" b="-990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0A181E6-6DFA-4D6C-BDC3-978D256EB828}"/>
              </a:ext>
            </a:extLst>
          </p:cNvPr>
          <p:cNvGrpSpPr/>
          <p:nvPr/>
        </p:nvGrpSpPr>
        <p:grpSpPr>
          <a:xfrm>
            <a:off x="5286819" y="5823025"/>
            <a:ext cx="5945947" cy="843885"/>
            <a:chOff x="1552353" y="5757564"/>
            <a:chExt cx="5945947" cy="8438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DEA752C6-CFCA-471F-B441-871368D968C4}"/>
                    </a:ext>
                  </a:extLst>
                </p:cNvPr>
                <p:cNvSpPr/>
                <p:nvPr/>
              </p:nvSpPr>
              <p:spPr>
                <a:xfrm>
                  <a:off x="4762231" y="5757564"/>
                  <a:ext cx="2736069" cy="8438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sup>
                        </m:sSup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DEA752C6-CFCA-471F-B441-871368D968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2231" y="5757564"/>
                  <a:ext cx="2736069" cy="84388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31F4767-558A-42E8-B5AC-77682764C3D6}"/>
                </a:ext>
              </a:extLst>
            </p:cNvPr>
            <p:cNvSpPr txBox="1"/>
            <p:nvPr/>
          </p:nvSpPr>
          <p:spPr>
            <a:xfrm>
              <a:off x="1552353" y="6000712"/>
              <a:ext cx="30240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Next we need to prove</a:t>
              </a:r>
              <a:endParaRPr lang="zh-CN" altLang="en-US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97F5B81-BBAA-471F-8427-DB61EDACB862}"/>
                  </a:ext>
                </a:extLst>
              </p:cNvPr>
              <p:cNvSpPr/>
              <p:nvPr/>
            </p:nvSpPr>
            <p:spPr>
              <a:xfrm>
                <a:off x="2238599" y="5731836"/>
                <a:ext cx="2931315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  <m:r>
                        <a:rPr lang="en-US" altLang="zh-CN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zh-CN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altLang="zh-CN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zh-CN" alt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altLang="zh-CN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97F5B81-BBAA-471F-8427-DB61EDACB8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599" y="5731836"/>
                <a:ext cx="2931315" cy="9840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A218E70B-8220-4802-9B1E-166424F7E1BD}"/>
              </a:ext>
            </a:extLst>
          </p:cNvPr>
          <p:cNvSpPr txBox="1"/>
          <p:nvPr/>
        </p:nvSpPr>
        <p:spPr>
          <a:xfrm>
            <a:off x="934556" y="6031923"/>
            <a:ext cx="1254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To prove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608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7" grpId="0"/>
      <p:bldP spid="1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9">
            <a:extLst>
              <a:ext uri="{FF2B5EF4-FFF2-40B4-BE49-F238E27FC236}">
                <a16:creationId xmlns:a16="http://schemas.microsoft.com/office/drawing/2014/main" id="{F2ACA3BB-58AE-47F4-B568-7E2BF94B11DA}"/>
              </a:ext>
            </a:extLst>
          </p:cNvPr>
          <p:cNvSpPr/>
          <p:nvPr/>
        </p:nvSpPr>
        <p:spPr>
          <a:xfrm>
            <a:off x="410681" y="1256075"/>
            <a:ext cx="11439171" cy="3432883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5539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AdaBoost—Training Error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A4B3F5-F1D9-4E3B-84D8-9F58BFE00F3E}"/>
              </a:ext>
            </a:extLst>
          </p:cNvPr>
          <p:cNvSpPr/>
          <p:nvPr/>
        </p:nvSpPr>
        <p:spPr>
          <a:xfrm>
            <a:off x="803111" y="1435648"/>
            <a:ext cx="569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Let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99FEC50-B5EC-4CAA-93AC-F53D6A0199EF}"/>
                  </a:ext>
                </a:extLst>
              </p:cNvPr>
              <p:cNvSpPr/>
              <p:nvPr/>
            </p:nvSpPr>
            <p:spPr>
              <a:xfrm>
                <a:off x="1427390" y="1435647"/>
                <a:ext cx="23360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=4</m:t>
                      </m:r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[0,1]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99FEC50-B5EC-4CAA-93AC-F53D6A0199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390" y="1435647"/>
                <a:ext cx="2336024" cy="461665"/>
              </a:xfrm>
              <a:prstGeom prst="rect">
                <a:avLst/>
              </a:prstGeom>
              <a:blipFill>
                <a:blip r:embed="rId2"/>
                <a:stretch>
                  <a:fillRect r="-783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45A6482-7DA2-42FA-A7E3-CEB2C20E0F48}"/>
                  </a:ext>
                </a:extLst>
              </p:cNvPr>
              <p:cNvSpPr/>
              <p:nvPr/>
            </p:nvSpPr>
            <p:spPr>
              <a:xfrm>
                <a:off x="3821271" y="1435646"/>
                <a:ext cx="28199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45A6482-7DA2-42FA-A7E3-CEB2C20E0F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71" y="1435646"/>
                <a:ext cx="2819939" cy="461665"/>
              </a:xfrm>
              <a:prstGeom prst="rect">
                <a:avLst/>
              </a:prstGeom>
              <a:blipFill>
                <a:blip r:embed="rId3"/>
                <a:stretch>
                  <a:fillRect l="-216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B595053-66B6-4A69-8960-E8BEC0E44F53}"/>
                  </a:ext>
                </a:extLst>
              </p:cNvPr>
              <p:cNvSpPr/>
              <p:nvPr/>
            </p:nvSpPr>
            <p:spPr>
              <a:xfrm>
                <a:off x="1451006" y="2281809"/>
                <a:ext cx="47405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for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∈[0,1]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B595053-66B6-4A69-8960-E8BEC0E44F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006" y="2281809"/>
                <a:ext cx="4740529" cy="461665"/>
              </a:xfrm>
              <a:prstGeom prst="rect">
                <a:avLst/>
              </a:prstGeom>
              <a:blipFill>
                <a:blip r:embed="rId4"/>
                <a:stretch>
                  <a:fillRect l="-1028" t="-10526" r="-643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065BDEF-6CC8-4D20-AD42-2E2FCA7C3CC9}"/>
                  </a:ext>
                </a:extLst>
              </p:cNvPr>
              <p:cNvSpPr/>
              <p:nvPr/>
            </p:nvSpPr>
            <p:spPr>
              <a:xfrm>
                <a:off x="1427390" y="3139142"/>
                <a:ext cx="24370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065BDEF-6CC8-4D20-AD42-2E2FCA7C3C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390" y="3139142"/>
                <a:ext cx="2437013" cy="461665"/>
              </a:xfrm>
              <a:prstGeom prst="rect">
                <a:avLst/>
              </a:prstGeom>
              <a:blipFill>
                <a:blip r:embed="rId5"/>
                <a:stretch>
                  <a:fillRect l="-250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B3EAA4E9-DF6F-465D-9554-CC60D89864CB}"/>
                  </a:ext>
                </a:extLst>
              </p:cNvPr>
              <p:cNvSpPr/>
              <p:nvPr/>
            </p:nvSpPr>
            <p:spPr>
              <a:xfrm>
                <a:off x="1451006" y="3904404"/>
                <a:ext cx="3041089" cy="5123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sup>
                      </m:s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4</m:t>
                      </m:r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B3EAA4E9-DF6F-465D-9554-CC60D89864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006" y="3904404"/>
                <a:ext cx="3041089" cy="512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B73210AF-F17F-48E4-9FD5-7F0AEFE747B1}"/>
              </a:ext>
            </a:extLst>
          </p:cNvPr>
          <p:cNvGrpSpPr/>
          <p:nvPr/>
        </p:nvGrpSpPr>
        <p:grpSpPr>
          <a:xfrm>
            <a:off x="410681" y="4901224"/>
            <a:ext cx="11439171" cy="1317118"/>
            <a:chOff x="410681" y="4901224"/>
            <a:chExt cx="11439171" cy="1317118"/>
          </a:xfrm>
        </p:grpSpPr>
        <p:sp>
          <p:nvSpPr>
            <p:cNvPr id="27" name="矩形: 圆角 9">
              <a:extLst>
                <a:ext uri="{FF2B5EF4-FFF2-40B4-BE49-F238E27FC236}">
                  <a16:creationId xmlns:a16="http://schemas.microsoft.com/office/drawing/2014/main" id="{435EA14E-02F4-4F5A-BC76-39880DBC54EB}"/>
                </a:ext>
              </a:extLst>
            </p:cNvPr>
            <p:cNvSpPr/>
            <p:nvPr/>
          </p:nvSpPr>
          <p:spPr>
            <a:xfrm>
              <a:off x="410681" y="4901224"/>
              <a:ext cx="11439171" cy="1317118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493AC3D4-8139-418B-8DF1-DC0BDA35780A}"/>
                    </a:ext>
                  </a:extLst>
                </p:cNvPr>
                <p:cNvSpPr/>
                <p:nvPr/>
              </p:nvSpPr>
              <p:spPr>
                <a:xfrm>
                  <a:off x="803111" y="4936966"/>
                  <a:ext cx="10247292" cy="128137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 b="0" i="0" dirty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sz="2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1" i="1" dirty="0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∏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zh-CN" altLang="en-US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i="1" dirty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493AC3D4-8139-418B-8DF1-DC0BDA3578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111" y="4936966"/>
                  <a:ext cx="10247292" cy="128137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0038ABA-239D-46C8-BCE2-E3B8DDDDCCBA}"/>
              </a:ext>
            </a:extLst>
          </p:cNvPr>
          <p:cNvGrpSpPr/>
          <p:nvPr/>
        </p:nvGrpSpPr>
        <p:grpSpPr>
          <a:xfrm>
            <a:off x="4742121" y="3692584"/>
            <a:ext cx="4089948" cy="843885"/>
            <a:chOff x="4742121" y="3692584"/>
            <a:chExt cx="4089948" cy="8438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5F1956BD-FA56-4DC0-9BAD-3680DAAF3E11}"/>
                    </a:ext>
                  </a:extLst>
                </p:cNvPr>
                <p:cNvSpPr/>
                <p:nvPr/>
              </p:nvSpPr>
              <p:spPr>
                <a:xfrm>
                  <a:off x="6096000" y="3692584"/>
                  <a:ext cx="2736069" cy="8438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sup>
                        </m:sSup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5F1956BD-FA56-4DC0-9BAD-3680DAAF3E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692584"/>
                  <a:ext cx="2736069" cy="84388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箭头: 右 1">
              <a:extLst>
                <a:ext uri="{FF2B5EF4-FFF2-40B4-BE49-F238E27FC236}">
                  <a16:creationId xmlns:a16="http://schemas.microsoft.com/office/drawing/2014/main" id="{1E22D2C3-A669-4C29-A257-903926EA8400}"/>
                </a:ext>
              </a:extLst>
            </p:cNvPr>
            <p:cNvSpPr/>
            <p:nvPr/>
          </p:nvSpPr>
          <p:spPr>
            <a:xfrm>
              <a:off x="4742121" y="4019107"/>
              <a:ext cx="882502" cy="297712"/>
            </a:xfrm>
            <a:prstGeom prst="rightArrow">
              <a:avLst/>
            </a:prstGeom>
            <a:solidFill>
              <a:srgbClr val="FFFB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56F9208-5527-4C87-B7B2-E7AD99FAC521}"/>
              </a:ext>
            </a:extLst>
          </p:cNvPr>
          <p:cNvGrpSpPr/>
          <p:nvPr/>
        </p:nvGrpSpPr>
        <p:grpSpPr>
          <a:xfrm>
            <a:off x="8905559" y="3904404"/>
            <a:ext cx="2875760" cy="512320"/>
            <a:chOff x="4742121" y="3884997"/>
            <a:chExt cx="2875760" cy="512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983B30CD-D954-49A7-A268-5D64BE39C0EF}"/>
                    </a:ext>
                  </a:extLst>
                </p:cNvPr>
                <p:cNvSpPr/>
                <p:nvPr/>
              </p:nvSpPr>
              <p:spPr>
                <a:xfrm>
                  <a:off x="5777441" y="3884997"/>
                  <a:ext cx="1840440" cy="5123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sup>
                        </m:sSup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983B30CD-D954-49A7-A268-5D64BE39C0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7441" y="3884997"/>
                  <a:ext cx="1840440" cy="5123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箭头: 右 21">
              <a:extLst>
                <a:ext uri="{FF2B5EF4-FFF2-40B4-BE49-F238E27FC236}">
                  <a16:creationId xmlns:a16="http://schemas.microsoft.com/office/drawing/2014/main" id="{79D26133-AE47-4A8E-BE9F-372D06EA8644}"/>
                </a:ext>
              </a:extLst>
            </p:cNvPr>
            <p:cNvSpPr/>
            <p:nvPr/>
          </p:nvSpPr>
          <p:spPr>
            <a:xfrm>
              <a:off x="4742121" y="4019107"/>
              <a:ext cx="882502" cy="297712"/>
            </a:xfrm>
            <a:prstGeom prst="rightArrow">
              <a:avLst/>
            </a:prstGeom>
            <a:solidFill>
              <a:srgbClr val="FFFB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07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圆角 9">
            <a:extLst>
              <a:ext uri="{FF2B5EF4-FFF2-40B4-BE49-F238E27FC236}">
                <a16:creationId xmlns:a16="http://schemas.microsoft.com/office/drawing/2014/main" id="{435EA14E-02F4-4F5A-BC76-39880DBC54EB}"/>
              </a:ext>
            </a:extLst>
          </p:cNvPr>
          <p:cNvSpPr/>
          <p:nvPr/>
        </p:nvSpPr>
        <p:spPr>
          <a:xfrm>
            <a:off x="410680" y="3880560"/>
            <a:ext cx="11439171" cy="2158733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矩形: 圆角 9">
            <a:extLst>
              <a:ext uri="{FF2B5EF4-FFF2-40B4-BE49-F238E27FC236}">
                <a16:creationId xmlns:a16="http://schemas.microsoft.com/office/drawing/2014/main" id="{F2ACA3BB-58AE-47F4-B568-7E2BF94B11DA}"/>
              </a:ext>
            </a:extLst>
          </p:cNvPr>
          <p:cNvSpPr/>
          <p:nvPr/>
        </p:nvSpPr>
        <p:spPr>
          <a:xfrm>
            <a:off x="410681" y="1256075"/>
            <a:ext cx="11439171" cy="232977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5539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AdaBoost—Training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2A4B3F5-F1D9-4E3B-84D8-9F58BFE00F3E}"/>
                  </a:ext>
                </a:extLst>
              </p:cNvPr>
              <p:cNvSpPr/>
              <p:nvPr/>
            </p:nvSpPr>
            <p:spPr>
              <a:xfrm>
                <a:off x="452227" y="1371850"/>
                <a:ext cx="831791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/>
                  <a:t>If there exist some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800" dirty="0"/>
                  <a:t>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23"/>
                          </m:rPr>
                          <a:rPr lang="zh-CN" alt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m:rPr>
                        <m:brk m:alnAt="23"/>
                      </m:rP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800" dirty="0"/>
                  <a:t> for all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800" dirty="0"/>
                  <a:t>, then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2A4B3F5-F1D9-4E3B-84D8-9F58BFE00F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27" y="1371850"/>
                <a:ext cx="8317918" cy="523220"/>
              </a:xfrm>
              <a:prstGeom prst="rect">
                <a:avLst/>
              </a:prstGeom>
              <a:blipFill>
                <a:blip r:embed="rId2"/>
                <a:stretch>
                  <a:fillRect l="-1465" t="-10465" r="-586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93AC3D4-8139-418B-8DF1-DC0BDA35780A}"/>
                  </a:ext>
                </a:extLst>
              </p:cNvPr>
              <p:cNvSpPr/>
              <p:nvPr/>
            </p:nvSpPr>
            <p:spPr>
              <a:xfrm>
                <a:off x="3018332" y="1947753"/>
                <a:ext cx="5161734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zh-CN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p>
                            <m:sSupPr>
                              <m:ctrlPr>
                                <a:rPr lang="en-US" altLang="zh-CN" sz="2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93AC3D4-8139-418B-8DF1-DC0BDA357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332" y="1947753"/>
                <a:ext cx="5161734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3406248D-96D5-4E20-9C11-E8CC66A9DC41}"/>
              </a:ext>
            </a:extLst>
          </p:cNvPr>
          <p:cNvSpPr/>
          <p:nvPr/>
        </p:nvSpPr>
        <p:spPr>
          <a:xfrm>
            <a:off x="434600" y="2998831"/>
            <a:ext cx="114391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Namely, under this condition, the training error drops exponentially fast.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2BBF000-FFED-4453-A317-2EDA9F760B1F}"/>
                  </a:ext>
                </a:extLst>
              </p:cNvPr>
              <p:cNvSpPr/>
              <p:nvPr/>
            </p:nvSpPr>
            <p:spPr>
              <a:xfrm>
                <a:off x="410680" y="3872264"/>
                <a:ext cx="11439171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800" dirty="0"/>
                  <a:t>Notably, AdaBoost does not need to know the lower bound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800" dirty="0"/>
                  <a:t>, which makes it different from previous boosting methods.</a:t>
                </a:r>
              </a:p>
              <a:p>
                <a:pPr algn="just"/>
                <a:r>
                  <a:rPr lang="en-US" altLang="zh-CN" sz="2800" dirty="0"/>
                  <a:t>AdaBoost, is adaptive because that it adapts to the training error rate of each weak learner. This is the basis of its name — “Ada” is short for “adaptive.”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2BBF000-FFED-4453-A317-2EDA9F760B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0" y="3872264"/>
                <a:ext cx="11439171" cy="1815882"/>
              </a:xfrm>
              <a:prstGeom prst="rect">
                <a:avLst/>
              </a:prstGeom>
              <a:blipFill>
                <a:blip r:embed="rId4"/>
                <a:stretch>
                  <a:fillRect l="-1066" t="-3020" r="-1066" b="-8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74838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9">
            <a:extLst>
              <a:ext uri="{FF2B5EF4-FFF2-40B4-BE49-F238E27FC236}">
                <a16:creationId xmlns:a16="http://schemas.microsoft.com/office/drawing/2014/main" id="{F2ACA3BB-58AE-47F4-B568-7E2BF94B11DA}"/>
              </a:ext>
            </a:extLst>
          </p:cNvPr>
          <p:cNvSpPr/>
          <p:nvPr/>
        </p:nvSpPr>
        <p:spPr>
          <a:xfrm>
            <a:off x="410681" y="1256074"/>
            <a:ext cx="11439171" cy="434531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69868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AdaBoost—Generalization Error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A4B3F5-F1D9-4E3B-84D8-9F58BFE00F3E}"/>
              </a:ext>
            </a:extLst>
          </p:cNvPr>
          <p:cNvSpPr/>
          <p:nvPr/>
        </p:nvSpPr>
        <p:spPr>
          <a:xfrm>
            <a:off x="452227" y="1371850"/>
            <a:ext cx="113290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/>
              <a:t>Freund &amp; </a:t>
            </a:r>
            <a:r>
              <a:rPr lang="en-US" altLang="zh-CN" sz="2800" dirty="0" err="1"/>
              <a:t>Schapire</a:t>
            </a:r>
            <a:r>
              <a:rPr lang="en-US" altLang="zh-CN" sz="2800" dirty="0"/>
              <a:t> [JCSS97] proved that the generalization error of AdaBoost </a:t>
            </a:r>
          </a:p>
          <a:p>
            <a:pPr algn="just"/>
            <a:r>
              <a:rPr lang="en-US" altLang="zh-CN" sz="2800" dirty="0"/>
              <a:t>is bounded by: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DFAE8FD-DF96-4788-AF61-191B9C9A1858}"/>
                  </a:ext>
                </a:extLst>
              </p:cNvPr>
              <p:cNvSpPr/>
              <p:nvPr/>
            </p:nvSpPr>
            <p:spPr>
              <a:xfrm>
                <a:off x="3518063" y="2156330"/>
                <a:ext cx="4213141" cy="12906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𝑒𝑚𝑝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b="0" i="1" dirty="0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𝐻𝑀</m:t>
                                  </m:r>
                                </m:num>
                                <m:den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DFAE8FD-DF96-4788-AF61-191B9C9A1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063" y="2156330"/>
                <a:ext cx="4213141" cy="12906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DD39CD5-2B2D-452B-AE86-D2DF36593ED9}"/>
                  </a:ext>
                </a:extLst>
              </p:cNvPr>
              <p:cNvSpPr/>
              <p:nvPr/>
            </p:nvSpPr>
            <p:spPr>
              <a:xfrm>
                <a:off x="520760" y="3303904"/>
                <a:ext cx="11329092" cy="22974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800" dirty="0"/>
                  <a:t>with probability at least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l-GR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800" dirty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sz="2800" dirty="0"/>
                  <a:t>: VC-dimension of base learners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800" dirty="0"/>
                  <a:t>: the number of training instances.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2800" dirty="0"/>
                  <a:t>: the number of learning rounds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800" i="1" dirty="0">
                            <a:latin typeface="Cambria Math" panose="02040503050406030204" pitchFamily="18" charset="0"/>
                          </a:rPr>
                          <m:t>𝒪</m:t>
                        </m:r>
                      </m:e>
                    </m:acc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 is used instead of 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to hide logarithmic terms and constant factors.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DD39CD5-2B2D-452B-AE86-D2DF36593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60" y="3303904"/>
                <a:ext cx="11329092" cy="2297488"/>
              </a:xfrm>
              <a:prstGeom prst="rect">
                <a:avLst/>
              </a:prstGeom>
              <a:blipFill>
                <a:blip r:embed="rId3"/>
                <a:stretch>
                  <a:fillRect l="-1076" t="-2653" r="-1937" b="-50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79411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9">
            <a:extLst>
              <a:ext uri="{FF2B5EF4-FFF2-40B4-BE49-F238E27FC236}">
                <a16:creationId xmlns:a16="http://schemas.microsoft.com/office/drawing/2014/main" id="{EE73D2B7-339F-41CF-B2C7-0549AB8F94EA}"/>
              </a:ext>
            </a:extLst>
          </p:cNvPr>
          <p:cNvSpPr/>
          <p:nvPr/>
        </p:nvSpPr>
        <p:spPr>
          <a:xfrm>
            <a:off x="410681" y="3514065"/>
            <a:ext cx="11439171" cy="2009932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矩形: 圆角 9">
            <a:extLst>
              <a:ext uri="{FF2B5EF4-FFF2-40B4-BE49-F238E27FC236}">
                <a16:creationId xmlns:a16="http://schemas.microsoft.com/office/drawing/2014/main" id="{F2ACA3BB-58AE-47F4-B568-7E2BF94B11DA}"/>
              </a:ext>
            </a:extLst>
          </p:cNvPr>
          <p:cNvSpPr/>
          <p:nvPr/>
        </p:nvSpPr>
        <p:spPr>
          <a:xfrm>
            <a:off x="410681" y="1277341"/>
            <a:ext cx="11439171" cy="200993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69868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AdaBoost—Generalization Error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A4B3F5-F1D9-4E3B-84D8-9F58BFE00F3E}"/>
              </a:ext>
            </a:extLst>
          </p:cNvPr>
          <p:cNvSpPr/>
          <p:nvPr/>
        </p:nvSpPr>
        <p:spPr>
          <a:xfrm>
            <a:off x="452227" y="1371850"/>
            <a:ext cx="113290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/>
              <a:t>Freund &amp; </a:t>
            </a:r>
            <a:r>
              <a:rPr lang="en-US" altLang="zh-CN" sz="2800" dirty="0" err="1"/>
              <a:t>Schapire</a:t>
            </a:r>
            <a:r>
              <a:rPr lang="en-US" altLang="zh-CN" sz="2800" dirty="0"/>
              <a:t> [JCSS97] proved that the generalization error of AdaBoost </a:t>
            </a:r>
          </a:p>
          <a:p>
            <a:pPr algn="just"/>
            <a:r>
              <a:rPr lang="en-US" altLang="zh-CN" sz="2800" dirty="0"/>
              <a:t>is bounded by: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DFAE8FD-DF96-4788-AF61-191B9C9A1858}"/>
                  </a:ext>
                </a:extLst>
              </p:cNvPr>
              <p:cNvSpPr/>
              <p:nvPr/>
            </p:nvSpPr>
            <p:spPr>
              <a:xfrm>
                <a:off x="3656286" y="1975332"/>
                <a:ext cx="4213141" cy="12906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𝑒𝑚𝑝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b="0" i="1" dirty="0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𝐻𝑀</m:t>
                                  </m:r>
                                </m:num>
                                <m:den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DFAE8FD-DF96-4788-AF61-191B9C9A1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286" y="1975332"/>
                <a:ext cx="4213141" cy="12906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DBCDD90-5C63-49BF-A290-5F749FC95B7A}"/>
                  </a:ext>
                </a:extLst>
              </p:cNvPr>
              <p:cNvSpPr/>
              <p:nvPr/>
            </p:nvSpPr>
            <p:spPr>
              <a:xfrm>
                <a:off x="431453" y="3581044"/>
                <a:ext cx="11397625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This bound suggests that boosting will overfit if run for too many rounds, i.e., as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2800" dirty="0"/>
                  <a:t> becomes large. 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However, several authors observed empirically that boosting often does not overfit, even when run for thousands of rounds. 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DBCDD90-5C63-49BF-A290-5F749FC95B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53" y="3581044"/>
                <a:ext cx="11397625" cy="1815882"/>
              </a:xfrm>
              <a:prstGeom prst="rect">
                <a:avLst/>
              </a:prstGeom>
              <a:blipFill>
                <a:blip r:embed="rId3"/>
                <a:stretch>
                  <a:fillRect l="-963" t="-3020" r="-1124" b="-8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9213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9">
            <a:extLst>
              <a:ext uri="{FF2B5EF4-FFF2-40B4-BE49-F238E27FC236}">
                <a16:creationId xmlns:a16="http://schemas.microsoft.com/office/drawing/2014/main" id="{5D8FD6D7-B158-449D-976E-D65B784D0A3B}"/>
              </a:ext>
            </a:extLst>
          </p:cNvPr>
          <p:cNvSpPr/>
          <p:nvPr/>
        </p:nvSpPr>
        <p:spPr>
          <a:xfrm>
            <a:off x="6593274" y="4341340"/>
            <a:ext cx="5256577" cy="1422922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矩形: 圆角 9">
            <a:extLst>
              <a:ext uri="{FF2B5EF4-FFF2-40B4-BE49-F238E27FC236}">
                <a16:creationId xmlns:a16="http://schemas.microsoft.com/office/drawing/2014/main" id="{5D8FD6D7-B158-449D-976E-D65B784D0A3B}"/>
              </a:ext>
            </a:extLst>
          </p:cNvPr>
          <p:cNvSpPr/>
          <p:nvPr/>
        </p:nvSpPr>
        <p:spPr>
          <a:xfrm>
            <a:off x="6593275" y="2314831"/>
            <a:ext cx="5256577" cy="1634896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19202" name="Text Box 66"/>
          <p:cNvSpPr txBox="1">
            <a:spLocks noChangeArrowheads="1"/>
          </p:cNvSpPr>
          <p:nvPr/>
        </p:nvSpPr>
        <p:spPr bwMode="auto">
          <a:xfrm>
            <a:off x="428006" y="1106478"/>
            <a:ext cx="108071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/>
              <a:t>AdaBoost</a:t>
            </a:r>
            <a:r>
              <a:rPr lang="en-US" sz="2800" dirty="0"/>
              <a:t> often does not </a:t>
            </a:r>
            <a:r>
              <a:rPr lang="en-US" sz="2800" dirty="0" err="1"/>
              <a:t>overfit</a:t>
            </a:r>
            <a:r>
              <a:rPr lang="en-US" sz="2800" dirty="0"/>
              <a:t> in real practice!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F3265B7-71A0-4EB6-A734-B47BF472256C}"/>
              </a:ext>
            </a:extLst>
          </p:cNvPr>
          <p:cNvSpPr txBox="1"/>
          <p:nvPr/>
        </p:nvSpPr>
        <p:spPr>
          <a:xfrm>
            <a:off x="410681" y="253477"/>
            <a:ext cx="29495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The Mystery </a:t>
            </a: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22" y="1931243"/>
            <a:ext cx="5786465" cy="427096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566216" y="4452636"/>
            <a:ext cx="53106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Understanding why </a:t>
            </a:r>
            <a:r>
              <a:rPr lang="en-US" altLang="zh-CN" sz="2400" dirty="0" err="1"/>
              <a:t>AdaBoost</a:t>
            </a:r>
            <a:r>
              <a:rPr lang="en-US" altLang="zh-CN" sz="2400" dirty="0"/>
              <a:t> seems resistant to overfitting is the most fascinating fundamental theoretical issue.</a:t>
            </a:r>
          </a:p>
        </p:txBody>
      </p:sp>
      <p:sp>
        <p:nvSpPr>
          <p:cNvPr id="4" name="矩形 3"/>
          <p:cNvSpPr/>
          <p:nvPr/>
        </p:nvSpPr>
        <p:spPr>
          <a:xfrm>
            <a:off x="6593275" y="2318511"/>
            <a:ext cx="559872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AdaBoost</a:t>
            </a:r>
            <a:r>
              <a:rPr lang="en-US" altLang="zh-CN" sz="2400" dirty="0"/>
              <a:t> drives the training error to zero.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Further iterations continue to improve test error in many examples.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085889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02" name="Text Box 66"/>
          <p:cNvSpPr txBox="1">
            <a:spLocks noChangeArrowheads="1"/>
          </p:cNvSpPr>
          <p:nvPr/>
        </p:nvSpPr>
        <p:spPr bwMode="auto">
          <a:xfrm>
            <a:off x="428006" y="1106478"/>
            <a:ext cx="10807170" cy="375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Significant Advantages</a:t>
            </a:r>
          </a:p>
          <a:p>
            <a:pPr marL="914400" lvl="1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Very accurate prediction</a:t>
            </a:r>
          </a:p>
          <a:p>
            <a:pPr marL="914400" lvl="1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Very simple (just 10 lines of code as </a:t>
            </a:r>
            <a:r>
              <a:rPr lang="en-US" sz="2800" dirty="0" err="1"/>
              <a:t>Schapire</a:t>
            </a:r>
            <a:r>
              <a:rPr lang="en-US" sz="2800" dirty="0"/>
              <a:t> said)</a:t>
            </a:r>
          </a:p>
          <a:p>
            <a:pPr marL="914400" lvl="1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Wide and successful applications</a:t>
            </a:r>
          </a:p>
          <a:p>
            <a:pPr marL="914400" lvl="1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Sound theoretical foundation</a:t>
            </a:r>
          </a:p>
          <a:p>
            <a:pPr marL="914400" lvl="1" indent="-4572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…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F3265B7-71A0-4EB6-A734-B47BF472256C}"/>
              </a:ext>
            </a:extLst>
          </p:cNvPr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/>
              <a:t>AdaBoost</a:t>
            </a:r>
            <a:endParaRPr lang="en-US" altLang="zh-CN" sz="4000" b="1" dirty="0"/>
          </a:p>
        </p:txBody>
      </p:sp>
      <p:sp>
        <p:nvSpPr>
          <p:cNvPr id="71" name="Text Box 66"/>
          <p:cNvSpPr txBox="1">
            <a:spLocks noChangeArrowheads="1"/>
          </p:cNvSpPr>
          <p:nvPr/>
        </p:nvSpPr>
        <p:spPr bwMode="auto">
          <a:xfrm>
            <a:off x="885712" y="5700449"/>
            <a:ext cx="1099072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 dirty="0"/>
              <a:t>Freund &amp; </a:t>
            </a:r>
            <a:r>
              <a:rPr lang="en-US" altLang="zh-CN" sz="2400" dirty="0" err="1"/>
              <a:t>Schapire</a:t>
            </a:r>
            <a:r>
              <a:rPr lang="en-US" altLang="zh-CN" sz="2400" dirty="0"/>
              <a:t>, A decision theoretic generalization of on-line learning and an application to Boosting. Journal of Computer and System Sciences, 1997, 55: 119-139.</a:t>
            </a:r>
            <a:endParaRPr 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885713" y="5019290"/>
            <a:ext cx="38046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Verdana" panose="020B0604030504040204" pitchFamily="34" charset="0"/>
              </a:rPr>
              <a:t>Gödel Prize (2003)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11" y="5019290"/>
            <a:ext cx="543001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099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9">
            <a:extLst>
              <a:ext uri="{FF2B5EF4-FFF2-40B4-BE49-F238E27FC236}">
                <a16:creationId xmlns:a16="http://schemas.microsoft.com/office/drawing/2014/main" id="{99B510A3-A75A-4553-B35F-47D05C5F5F7E}"/>
              </a:ext>
            </a:extLst>
          </p:cNvPr>
          <p:cNvSpPr/>
          <p:nvPr/>
        </p:nvSpPr>
        <p:spPr>
          <a:xfrm>
            <a:off x="428007" y="1106478"/>
            <a:ext cx="11421846" cy="489006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19202" name="Text Box 66"/>
          <p:cNvSpPr txBox="1">
            <a:spLocks noChangeArrowheads="1"/>
          </p:cNvSpPr>
          <p:nvPr/>
        </p:nvSpPr>
        <p:spPr bwMode="auto">
          <a:xfrm>
            <a:off x="428005" y="1106478"/>
            <a:ext cx="11335987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It is simple yet effective.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zh-CN" sz="2800" dirty="0"/>
              <a:t>Can be applied to almost all tasks where one wants to apply</a:t>
            </a:r>
            <a:br>
              <a:rPr lang="en-US" altLang="zh-CN" sz="2800" dirty="0"/>
            </a:br>
            <a:r>
              <a:rPr lang="en-US" altLang="zh-CN" sz="2800" dirty="0"/>
              <a:t>machine learning techniques.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For example, in computer vision, the </a:t>
            </a:r>
            <a:r>
              <a:rPr lang="en-US" sz="2800" dirty="0">
                <a:solidFill>
                  <a:srgbClr val="FF0000"/>
                </a:solidFill>
              </a:rPr>
              <a:t>Viola-Jones detector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 err="1"/>
              <a:t>AdaBoost</a:t>
            </a:r>
            <a:r>
              <a:rPr lang="en-US" sz="2800" dirty="0"/>
              <a:t> using harr-like features in a cascade structure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It generates the Boosting Family of algorithms.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altLang="zh-CN" sz="2800" dirty="0"/>
              <a:t>A lot of Boosting algorithms: AdaBoost.M1, AdaBoost.MR, </a:t>
            </a:r>
            <a:r>
              <a:rPr lang="en-US" altLang="zh-CN" sz="2800" dirty="0" err="1"/>
              <a:t>FilterBoost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GentleBoost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GradientBoost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MadaBoost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LogitBoost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LPBoost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MultiBoost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RealBoost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RobustBoost</a:t>
            </a:r>
            <a:r>
              <a:rPr lang="en-US" altLang="zh-CN" sz="2800" dirty="0"/>
              <a:t>,…</a:t>
            </a:r>
            <a:endParaRPr lang="en-US" sz="2800" dirty="0"/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800" dirty="0"/>
              <a:t>There are sound theoretical results.</a:t>
            </a:r>
            <a:endParaRPr lang="en-US" sz="28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F3265B7-71A0-4EB6-A734-B47BF472256C}"/>
              </a:ext>
            </a:extLst>
          </p:cNvPr>
          <p:cNvSpPr txBox="1"/>
          <p:nvPr/>
        </p:nvSpPr>
        <p:spPr>
          <a:xfrm>
            <a:off x="410681" y="253477"/>
            <a:ext cx="62433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Why </a:t>
            </a:r>
            <a:r>
              <a:rPr lang="en-US" altLang="zh-CN" sz="4000" b="1" dirty="0" err="1"/>
              <a:t>AdaBoost</a:t>
            </a:r>
            <a:r>
              <a:rPr lang="en-US" altLang="zh-CN" sz="4000" b="1" dirty="0"/>
              <a:t> High Impact?</a:t>
            </a:r>
          </a:p>
        </p:txBody>
      </p:sp>
    </p:spTree>
    <p:extLst>
      <p:ext uri="{BB962C8B-B14F-4D97-AF65-F5344CB8AC3E}">
        <p14:creationId xmlns:p14="http://schemas.microsoft.com/office/powerpoint/2010/main" val="10684106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9202" name="Text Box 66"/>
              <p:cNvSpPr txBox="1">
                <a:spLocks noChangeArrowheads="1"/>
              </p:cNvSpPr>
              <p:nvPr/>
            </p:nvSpPr>
            <p:spPr bwMode="auto">
              <a:xfrm>
                <a:off x="428005" y="1106478"/>
                <a:ext cx="11187345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sz="2800" dirty="0"/>
                  <a:t>2000 points from Nested Spheres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800" dirty="0"/>
                  <a:t>. Leftmost term is a single tree.</a:t>
                </a:r>
              </a:p>
            </p:txBody>
          </p:sp>
        </mc:Choice>
        <mc:Fallback xmlns="">
          <p:sp>
            <p:nvSpPr>
              <p:cNvPr id="219202" name="Text 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005" y="1106478"/>
                <a:ext cx="11187345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981" t="-11765" b="-3411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本框 72">
            <a:extLst>
              <a:ext uri="{FF2B5EF4-FFF2-40B4-BE49-F238E27FC236}">
                <a16:creationId xmlns:a16="http://schemas.microsoft.com/office/drawing/2014/main" id="{BF3265B7-71A0-4EB6-A734-B47BF472256C}"/>
              </a:ext>
            </a:extLst>
          </p:cNvPr>
          <p:cNvSpPr txBox="1"/>
          <p:nvPr/>
        </p:nvSpPr>
        <p:spPr>
          <a:xfrm>
            <a:off x="410681" y="253477"/>
            <a:ext cx="44007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Boosting vs Bagging</a:t>
            </a: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293" y="1774813"/>
            <a:ext cx="5076210" cy="482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0231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55979D9A-FEF7-42CB-8110-6C572023D97B}"/>
              </a:ext>
            </a:extLst>
          </p:cNvPr>
          <p:cNvSpPr/>
          <p:nvPr/>
        </p:nvSpPr>
        <p:spPr>
          <a:xfrm>
            <a:off x="344821" y="1190073"/>
            <a:ext cx="4481703" cy="157282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Summary</a:t>
            </a:r>
          </a:p>
        </p:txBody>
      </p:sp>
      <p:cxnSp>
        <p:nvCxnSpPr>
          <p:cNvPr id="4" name="直接箭头连接符 3"/>
          <p:cNvCxnSpPr/>
          <p:nvPr/>
        </p:nvCxnSpPr>
        <p:spPr>
          <a:xfrm>
            <a:off x="344821" y="4044350"/>
            <a:ext cx="1107989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84889" y="4168857"/>
            <a:ext cx="19224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Classification Trees 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200" y="3727144"/>
            <a:ext cx="459783" cy="44171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44863" y="1267754"/>
            <a:ext cx="465134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FF0000"/>
                </a:solidFill>
              </a:rPr>
              <a:t>C</a:t>
            </a:r>
            <a:r>
              <a:rPr lang="en-US" altLang="zh-CN" sz="2200" dirty="0"/>
              <a:t>lassification </a:t>
            </a:r>
            <a:r>
              <a:rPr lang="en-US" altLang="zh-CN" sz="2200" dirty="0">
                <a:solidFill>
                  <a:srgbClr val="FF0000"/>
                </a:solidFill>
              </a:rPr>
              <a:t>A</a:t>
            </a:r>
            <a:r>
              <a:rPr lang="en-US" altLang="zh-CN" sz="2200" dirty="0"/>
              <a:t>nd </a:t>
            </a:r>
            <a:r>
              <a:rPr lang="en-US" altLang="zh-CN" sz="2200" dirty="0">
                <a:solidFill>
                  <a:srgbClr val="FF0000"/>
                </a:solidFill>
              </a:rPr>
              <a:t>R</a:t>
            </a:r>
            <a:r>
              <a:rPr lang="en-US" altLang="zh-CN" sz="2200" dirty="0"/>
              <a:t>egression </a:t>
            </a:r>
            <a:r>
              <a:rPr lang="en-US" altLang="zh-CN" sz="2200" dirty="0">
                <a:solidFill>
                  <a:srgbClr val="FF0000"/>
                </a:solidFill>
              </a:rPr>
              <a:t>T</a:t>
            </a:r>
            <a:r>
              <a:rPr lang="en-US" altLang="zh-CN" sz="2200" dirty="0"/>
              <a:t>ree.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FF0000"/>
                </a:solidFill>
              </a:rPr>
              <a:t>Binary</a:t>
            </a:r>
            <a:r>
              <a:rPr lang="en-US" altLang="zh-CN" sz="2200" dirty="0"/>
              <a:t> tree.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FF0000"/>
                </a:solidFill>
              </a:rPr>
              <a:t>Gini index/residual sum of squares.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/>
              <a:t>Easy to </a:t>
            </a:r>
            <a:r>
              <a:rPr lang="en-US" altLang="zh-CN" sz="2200" dirty="0">
                <a:solidFill>
                  <a:srgbClr val="FF0000"/>
                </a:solidFill>
              </a:rPr>
              <a:t>interpret.</a:t>
            </a:r>
          </a:p>
        </p:txBody>
      </p:sp>
    </p:spTree>
    <p:extLst>
      <p:ext uri="{BB962C8B-B14F-4D97-AF65-F5344CB8AC3E}">
        <p14:creationId xmlns:p14="http://schemas.microsoft.com/office/powerpoint/2010/main" val="14462550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3BCC2C7-7DCF-45FE-89F7-7CDA8F3E96B8}"/>
              </a:ext>
            </a:extLst>
          </p:cNvPr>
          <p:cNvSpPr/>
          <p:nvPr/>
        </p:nvSpPr>
        <p:spPr>
          <a:xfrm>
            <a:off x="2481352" y="833292"/>
            <a:ext cx="5087828" cy="189105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Summary</a:t>
            </a:r>
          </a:p>
        </p:txBody>
      </p:sp>
      <p:cxnSp>
        <p:nvCxnSpPr>
          <p:cNvPr id="4" name="直接箭头连接符 3"/>
          <p:cNvCxnSpPr/>
          <p:nvPr/>
        </p:nvCxnSpPr>
        <p:spPr>
          <a:xfrm>
            <a:off x="344821" y="4044350"/>
            <a:ext cx="1107989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84889" y="4168857"/>
            <a:ext cx="19224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Classification Trees </a:t>
            </a:r>
          </a:p>
        </p:txBody>
      </p:sp>
      <p:sp>
        <p:nvSpPr>
          <p:cNvPr id="6" name="矩形 5"/>
          <p:cNvSpPr/>
          <p:nvPr/>
        </p:nvSpPr>
        <p:spPr>
          <a:xfrm>
            <a:off x="2507296" y="4353523"/>
            <a:ext cx="24661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Bagging</a:t>
            </a:r>
          </a:p>
        </p:txBody>
      </p:sp>
      <p:sp>
        <p:nvSpPr>
          <p:cNvPr id="13" name="矩形 12"/>
          <p:cNvSpPr/>
          <p:nvPr/>
        </p:nvSpPr>
        <p:spPr>
          <a:xfrm>
            <a:off x="2868395" y="3135711"/>
            <a:ext cx="19192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Averaging Trees </a:t>
            </a:r>
            <a:endParaRPr lang="zh-CN" altLang="en-US" sz="200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/>
          <a:srcRect l="3707" t="-175" r="4424" b="10791"/>
          <a:stretch/>
        </p:blipFill>
        <p:spPr>
          <a:xfrm>
            <a:off x="3491395" y="3748727"/>
            <a:ext cx="497932" cy="4201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00" y="3727144"/>
            <a:ext cx="459783" cy="44171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481352" y="875199"/>
            <a:ext cx="502238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 err="1"/>
              <a:t>Boostrap</a:t>
            </a:r>
            <a:r>
              <a:rPr lang="en-US" altLang="zh-CN" sz="2200" dirty="0"/>
              <a:t> Aggregating (Leo </a:t>
            </a:r>
            <a:r>
              <a:rPr lang="en-US" altLang="zh-CN" sz="2200" dirty="0" err="1"/>
              <a:t>Breiman</a:t>
            </a:r>
            <a:r>
              <a:rPr lang="en-US" altLang="zh-CN" sz="2200" dirty="0"/>
              <a:t>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b="1" dirty="0">
                <a:solidFill>
                  <a:srgbClr val="FF0000"/>
                </a:solidFill>
              </a:rPr>
              <a:t>Idea</a:t>
            </a:r>
            <a:r>
              <a:rPr lang="en-US" altLang="zh-CN" sz="2200" dirty="0"/>
              <a:t>: train several different models separately, then majority voting.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0000"/>
                </a:solidFill>
                <a:latin typeface="Calibri" panose="020F0502020204030204" pitchFamily="34" charset="0"/>
              </a:rPr>
              <a:t>Usually treats each predictor trained on a bootstrap set with the </a:t>
            </a:r>
            <a:r>
              <a:rPr lang="en-US" altLang="zh-CN" sz="2200" dirty="0">
                <a:solidFill>
                  <a:srgbClr val="FF0000"/>
                </a:solidFill>
                <a:latin typeface="Calibri" panose="020F0502020204030204" pitchFamily="34" charset="0"/>
              </a:rPr>
              <a:t>same weight</a:t>
            </a:r>
            <a:r>
              <a:rPr lang="en-US" altLang="zh-CN" sz="22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13800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63ED5A4-D73E-447B-A196-E75CAD449FF4}"/>
              </a:ext>
            </a:extLst>
          </p:cNvPr>
          <p:cNvSpPr/>
          <p:nvPr/>
        </p:nvSpPr>
        <p:spPr>
          <a:xfrm>
            <a:off x="4677372" y="359559"/>
            <a:ext cx="4683444" cy="2202132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22403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Summary</a:t>
            </a:r>
          </a:p>
        </p:txBody>
      </p:sp>
      <p:cxnSp>
        <p:nvCxnSpPr>
          <p:cNvPr id="4" name="直接箭头连接符 3"/>
          <p:cNvCxnSpPr/>
          <p:nvPr/>
        </p:nvCxnSpPr>
        <p:spPr>
          <a:xfrm>
            <a:off x="344821" y="4044350"/>
            <a:ext cx="1107989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84889" y="4168857"/>
            <a:ext cx="19224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Classification Trees </a:t>
            </a:r>
          </a:p>
        </p:txBody>
      </p:sp>
      <p:sp>
        <p:nvSpPr>
          <p:cNvPr id="6" name="矩形 5"/>
          <p:cNvSpPr/>
          <p:nvPr/>
        </p:nvSpPr>
        <p:spPr>
          <a:xfrm>
            <a:off x="2507296" y="4353523"/>
            <a:ext cx="24661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Bagging</a:t>
            </a:r>
          </a:p>
        </p:txBody>
      </p:sp>
      <p:sp>
        <p:nvSpPr>
          <p:cNvPr id="8" name="矩形 7"/>
          <p:cNvSpPr/>
          <p:nvPr/>
        </p:nvSpPr>
        <p:spPr>
          <a:xfrm>
            <a:off x="4973427" y="4353523"/>
            <a:ext cx="36195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Random Forests </a:t>
            </a:r>
          </a:p>
        </p:txBody>
      </p:sp>
      <p:sp>
        <p:nvSpPr>
          <p:cNvPr id="11" name="矩形 10"/>
          <p:cNvSpPr/>
          <p:nvPr/>
        </p:nvSpPr>
        <p:spPr>
          <a:xfrm>
            <a:off x="5695467" y="2981823"/>
            <a:ext cx="21754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</a:rPr>
              <a:t>Cleverer</a:t>
            </a:r>
            <a:r>
              <a:rPr lang="en-US" altLang="zh-CN" sz="2000" b="1" dirty="0"/>
              <a:t> Averaging of Trees </a:t>
            </a:r>
          </a:p>
        </p:txBody>
      </p:sp>
      <p:sp>
        <p:nvSpPr>
          <p:cNvPr id="13" name="矩形 12"/>
          <p:cNvSpPr/>
          <p:nvPr/>
        </p:nvSpPr>
        <p:spPr>
          <a:xfrm>
            <a:off x="2868395" y="3135711"/>
            <a:ext cx="19192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Averaging Trees </a:t>
            </a:r>
            <a:endParaRPr lang="zh-CN" altLang="en-US" sz="200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/>
          <a:srcRect l="3707" t="-175" r="4424" b="10791"/>
          <a:stretch/>
        </p:blipFill>
        <p:spPr>
          <a:xfrm>
            <a:off x="3491395" y="3748727"/>
            <a:ext cx="497932" cy="4201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/>
          <a:srcRect l="3707" t="-175" r="4424" b="10791"/>
          <a:stretch/>
        </p:blipFill>
        <p:spPr>
          <a:xfrm>
            <a:off x="6534250" y="3748727"/>
            <a:ext cx="497932" cy="4201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00" y="3727144"/>
            <a:ext cx="459783" cy="441713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677372" y="436929"/>
            <a:ext cx="459860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0000"/>
                </a:solidFill>
                <a:latin typeface="Calibri" panose="020F0502020204030204" pitchFamily="34" charset="0"/>
              </a:rPr>
              <a:t>Tries to </a:t>
            </a:r>
            <a:r>
              <a:rPr lang="en-US" altLang="zh-CN" sz="2200" dirty="0">
                <a:solidFill>
                  <a:srgbClr val="FF0000"/>
                </a:solidFill>
                <a:latin typeface="Calibri" panose="020F0502020204030204" pitchFamily="34" charset="0"/>
              </a:rPr>
              <a:t>de-correlate</a:t>
            </a:r>
            <a:r>
              <a:rPr lang="en-US" altLang="zh-CN" sz="2200" dirty="0">
                <a:solidFill>
                  <a:srgbClr val="000000"/>
                </a:solidFill>
                <a:latin typeface="Calibri" panose="020F0502020204030204" pitchFamily="34" charset="0"/>
              </a:rPr>
              <a:t> the bootstrap-trained predictors (decision trees) by </a:t>
            </a:r>
            <a:r>
              <a:rPr lang="en-US" altLang="zh-CN" sz="2200" dirty="0">
                <a:solidFill>
                  <a:srgbClr val="FF0000"/>
                </a:solidFill>
                <a:latin typeface="Calibri" panose="020F0502020204030204" pitchFamily="34" charset="0"/>
              </a:rPr>
              <a:t>sampling features.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/>
              <a:t>Two sources of randomness: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FF0000"/>
                </a:solidFill>
              </a:rPr>
              <a:t>Random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FF0000"/>
                </a:solidFill>
              </a:rPr>
              <a:t>training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FF0000"/>
                </a:solidFill>
              </a:rPr>
              <a:t>samples;</a:t>
            </a:r>
            <a:endParaRPr lang="en-US" altLang="zh-CN" sz="22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FF0000"/>
                </a:solidFill>
              </a:rPr>
              <a:t>Random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FF0000"/>
                </a:solidFill>
              </a:rPr>
              <a:t>attributes.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00117865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06C2571-92A8-4A3B-88D7-C536A091D54D}"/>
              </a:ext>
            </a:extLst>
          </p:cNvPr>
          <p:cNvSpPr/>
          <p:nvPr/>
        </p:nvSpPr>
        <p:spPr>
          <a:xfrm>
            <a:off x="6856488" y="372731"/>
            <a:ext cx="5021285" cy="2197426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2217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Summary</a:t>
            </a:r>
          </a:p>
        </p:txBody>
      </p:sp>
      <p:cxnSp>
        <p:nvCxnSpPr>
          <p:cNvPr id="4" name="直接箭头连接符 3"/>
          <p:cNvCxnSpPr/>
          <p:nvPr/>
        </p:nvCxnSpPr>
        <p:spPr>
          <a:xfrm>
            <a:off x="344821" y="4044350"/>
            <a:ext cx="1107989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84889" y="4168857"/>
            <a:ext cx="19224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Classification Trees </a:t>
            </a:r>
          </a:p>
        </p:txBody>
      </p:sp>
      <p:sp>
        <p:nvSpPr>
          <p:cNvPr id="6" name="矩形 5"/>
          <p:cNvSpPr/>
          <p:nvPr/>
        </p:nvSpPr>
        <p:spPr>
          <a:xfrm>
            <a:off x="2507296" y="4353523"/>
            <a:ext cx="24661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Bagging</a:t>
            </a:r>
          </a:p>
        </p:txBody>
      </p:sp>
      <p:sp>
        <p:nvSpPr>
          <p:cNvPr id="8" name="矩形 7"/>
          <p:cNvSpPr/>
          <p:nvPr/>
        </p:nvSpPr>
        <p:spPr>
          <a:xfrm>
            <a:off x="4973427" y="4353523"/>
            <a:ext cx="36195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Random Forests </a:t>
            </a:r>
          </a:p>
        </p:txBody>
      </p:sp>
      <p:sp>
        <p:nvSpPr>
          <p:cNvPr id="9" name="矩形 8"/>
          <p:cNvSpPr/>
          <p:nvPr/>
        </p:nvSpPr>
        <p:spPr>
          <a:xfrm>
            <a:off x="8294582" y="4353523"/>
            <a:ext cx="37103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Boosting</a:t>
            </a:r>
          </a:p>
        </p:txBody>
      </p:sp>
      <p:sp>
        <p:nvSpPr>
          <p:cNvPr id="11" name="矩形 10"/>
          <p:cNvSpPr/>
          <p:nvPr/>
        </p:nvSpPr>
        <p:spPr>
          <a:xfrm>
            <a:off x="5695467" y="2981823"/>
            <a:ext cx="21754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</a:rPr>
              <a:t>Cleverer</a:t>
            </a:r>
            <a:r>
              <a:rPr lang="en-US" altLang="zh-CN" sz="2000" b="1" dirty="0"/>
              <a:t> Averaging of Trees </a:t>
            </a:r>
          </a:p>
        </p:txBody>
      </p:sp>
      <p:sp>
        <p:nvSpPr>
          <p:cNvPr id="12" name="矩形 11"/>
          <p:cNvSpPr/>
          <p:nvPr/>
        </p:nvSpPr>
        <p:spPr>
          <a:xfrm>
            <a:off x="9061317" y="2997212"/>
            <a:ext cx="21768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</a:rPr>
              <a:t>Cleverer</a:t>
            </a:r>
            <a:r>
              <a:rPr lang="en-US" altLang="zh-CN" sz="2000" b="1" dirty="0"/>
              <a:t> Averaging of Trees </a:t>
            </a:r>
          </a:p>
        </p:txBody>
      </p:sp>
      <p:sp>
        <p:nvSpPr>
          <p:cNvPr id="13" name="矩形 12"/>
          <p:cNvSpPr/>
          <p:nvPr/>
        </p:nvSpPr>
        <p:spPr>
          <a:xfrm>
            <a:off x="2868395" y="3135711"/>
            <a:ext cx="19192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Averaging Trees </a:t>
            </a:r>
            <a:endParaRPr lang="zh-CN" altLang="en-US" sz="200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/>
          <a:srcRect l="3707" t="-175" r="4424" b="10791"/>
          <a:stretch/>
        </p:blipFill>
        <p:spPr>
          <a:xfrm>
            <a:off x="3491395" y="3748727"/>
            <a:ext cx="497932" cy="4201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/>
          <a:srcRect l="3707" t="-175" r="4424" b="10791"/>
          <a:stretch/>
        </p:blipFill>
        <p:spPr>
          <a:xfrm>
            <a:off x="6534250" y="3748727"/>
            <a:ext cx="497932" cy="4201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3707" t="-175" r="4424" b="10791"/>
          <a:stretch/>
        </p:blipFill>
        <p:spPr>
          <a:xfrm>
            <a:off x="9900794" y="3748727"/>
            <a:ext cx="497932" cy="4201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00" y="3727144"/>
            <a:ext cx="459783" cy="44171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879444" y="442626"/>
            <a:ext cx="490187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0000"/>
                </a:solidFill>
                <a:latin typeface="Calibri" panose="020F0502020204030204" pitchFamily="34" charset="0"/>
              </a:rPr>
              <a:t>Boosting </a:t>
            </a:r>
            <a:r>
              <a:rPr lang="en-US" altLang="zh-CN" sz="2200" dirty="0">
                <a:solidFill>
                  <a:srgbClr val="FF0000"/>
                </a:solidFill>
                <a:latin typeface="Calibri" panose="020F0502020204030204" pitchFamily="34" charset="0"/>
              </a:rPr>
              <a:t>strategically</a:t>
            </a:r>
            <a:r>
              <a:rPr lang="en-US" altLang="zh-CN" sz="22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Calibri" panose="020F0502020204030204" pitchFamily="34" charset="0"/>
              </a:rPr>
              <a:t>learns and combines </a:t>
            </a:r>
            <a:r>
              <a:rPr lang="en-US" altLang="zh-CN" sz="2200" dirty="0">
                <a:solidFill>
                  <a:srgbClr val="000000"/>
                </a:solidFill>
                <a:latin typeface="Calibri" panose="020F0502020204030204" pitchFamily="34" charset="0"/>
              </a:rPr>
              <a:t>the next predictor based on previous predictors.</a:t>
            </a:r>
            <a:endParaRPr lang="zh-CN" alt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/>
              <a:t>Learn in </a:t>
            </a:r>
            <a:r>
              <a:rPr lang="en-US" altLang="zh-CN" sz="2200" dirty="0">
                <a:solidFill>
                  <a:srgbClr val="FF0000"/>
                </a:solidFill>
              </a:rPr>
              <a:t>sequence</a:t>
            </a:r>
            <a:r>
              <a:rPr lang="en-US" altLang="zh-CN" sz="22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/>
              <a:t>Using a </a:t>
            </a:r>
            <a:r>
              <a:rPr lang="en-US" altLang="zh-CN" sz="2200" dirty="0">
                <a:solidFill>
                  <a:srgbClr val="FF0000"/>
                </a:solidFill>
              </a:rPr>
              <a:t>weighted</a:t>
            </a:r>
            <a:r>
              <a:rPr lang="en-US" altLang="zh-CN" sz="2200" dirty="0"/>
              <a:t> form of the data set.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200" dirty="0"/>
              <a:t>E.g., AdaBoost.</a:t>
            </a:r>
          </a:p>
        </p:txBody>
      </p:sp>
    </p:spTree>
    <p:extLst>
      <p:ext uri="{BB962C8B-B14F-4D97-AF65-F5344CB8AC3E}">
        <p14:creationId xmlns:p14="http://schemas.microsoft.com/office/powerpoint/2010/main" val="20829138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0681" y="253477"/>
            <a:ext cx="58675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Exponential Error Function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03D651C-63A9-4E4A-B607-09C9F4A2DC72}"/>
              </a:ext>
            </a:extLst>
          </p:cNvPr>
          <p:cNvGrpSpPr/>
          <p:nvPr/>
        </p:nvGrpSpPr>
        <p:grpSpPr>
          <a:xfrm>
            <a:off x="410681" y="3767554"/>
            <a:ext cx="11439171" cy="1037286"/>
            <a:chOff x="410681" y="3767554"/>
            <a:chExt cx="11439171" cy="1037286"/>
          </a:xfrm>
        </p:grpSpPr>
        <p:sp>
          <p:nvSpPr>
            <p:cNvPr id="12" name="矩形: 圆角 9">
              <a:extLst>
                <a:ext uri="{FF2B5EF4-FFF2-40B4-BE49-F238E27FC236}">
                  <a16:creationId xmlns:a16="http://schemas.microsoft.com/office/drawing/2014/main" id="{4976AFEC-3C98-4D5C-974A-9A733BE39A38}"/>
                </a:ext>
              </a:extLst>
            </p:cNvPr>
            <p:cNvSpPr/>
            <p:nvPr/>
          </p:nvSpPr>
          <p:spPr>
            <a:xfrm>
              <a:off x="410681" y="3767554"/>
              <a:ext cx="11439171" cy="1037286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FA44904-E4CA-4A5B-BE33-BCCB36D7FE55}"/>
                </a:ext>
              </a:extLst>
            </p:cNvPr>
            <p:cNvSpPr/>
            <p:nvPr/>
          </p:nvSpPr>
          <p:spPr>
            <a:xfrm>
              <a:off x="2566195" y="4054212"/>
              <a:ext cx="655320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Let us revisit the logistic cross entropy loss! </a:t>
              </a:r>
              <a:endParaRPr lang="en-US" sz="2800" dirty="0"/>
            </a:p>
          </p:txBody>
        </p:sp>
      </p:grpSp>
      <p:sp>
        <p:nvSpPr>
          <p:cNvPr id="13" name="矩形: 圆角 9">
            <a:extLst>
              <a:ext uri="{FF2B5EF4-FFF2-40B4-BE49-F238E27FC236}">
                <a16:creationId xmlns:a16="http://schemas.microsoft.com/office/drawing/2014/main" id="{A55146BD-7D9E-4FE4-97FA-F9B95E1CDA14}"/>
              </a:ext>
            </a:extLst>
          </p:cNvPr>
          <p:cNvSpPr/>
          <p:nvPr/>
        </p:nvSpPr>
        <p:spPr>
          <a:xfrm>
            <a:off x="410681" y="1053901"/>
            <a:ext cx="11439171" cy="164216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D3DD67-B511-41E6-9E20-9052877D1FD4}"/>
              </a:ext>
            </a:extLst>
          </p:cNvPr>
          <p:cNvSpPr/>
          <p:nvPr/>
        </p:nvSpPr>
        <p:spPr>
          <a:xfrm>
            <a:off x="410681" y="1070051"/>
            <a:ext cx="1158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For binary classification, consider the exponential error function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D03F9BE-BF64-4D1D-8F28-8EF202C465AD}"/>
                  </a:ext>
                </a:extLst>
              </p:cNvPr>
              <p:cNvSpPr/>
              <p:nvPr/>
            </p:nvSpPr>
            <p:spPr>
              <a:xfrm>
                <a:off x="3989186" y="1546010"/>
                <a:ext cx="32904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b="0" i="1" dirty="0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⁡{−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𝑡𝑓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)}]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D03F9BE-BF64-4D1D-8F28-8EF202C465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186" y="1546010"/>
                <a:ext cx="3290452" cy="461665"/>
              </a:xfrm>
              <a:prstGeom prst="rect">
                <a:avLst/>
              </a:prstGeom>
              <a:blipFill>
                <a:blip r:embed="rId2"/>
                <a:stretch>
                  <a:fillRect r="-185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649F753-F541-4125-8FE7-1B61BF2D4D27}"/>
                  </a:ext>
                </a:extLst>
              </p:cNvPr>
              <p:cNvSpPr/>
              <p:nvPr/>
            </p:nvSpPr>
            <p:spPr>
              <a:xfrm>
                <a:off x="7910144" y="1531716"/>
                <a:ext cx="17336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∈ {−1, 1}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649F753-F541-4125-8FE7-1B61BF2D4D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144" y="1531716"/>
                <a:ext cx="1733680" cy="461665"/>
              </a:xfrm>
              <a:prstGeom prst="rect">
                <a:avLst/>
              </a:prstGeom>
              <a:blipFill>
                <a:blip r:embed="rId3"/>
                <a:stretch>
                  <a:fillRect r="-352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9E02CECE-40C0-4677-8B80-DDD81E5E9ACA}"/>
                  </a:ext>
                </a:extLst>
              </p:cNvPr>
              <p:cNvSpPr/>
              <p:nvPr/>
            </p:nvSpPr>
            <p:spPr>
              <a:xfrm>
                <a:off x="442269" y="2116363"/>
                <a:ext cx="115824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It is almost equivalent to the logistic cross-entropy loss (for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altLang="zh-CN" sz="2400" dirty="0"/>
                  <a:t> labels).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9E02CECE-40C0-4677-8B80-DDD81E5E9A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9" y="2116363"/>
                <a:ext cx="11582400" cy="461665"/>
              </a:xfrm>
              <a:prstGeom prst="rect">
                <a:avLst/>
              </a:prstGeom>
              <a:blipFill>
                <a:blip r:embed="rId4"/>
                <a:stretch>
                  <a:fillRect l="-84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40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6D90DF3-899B-47E3-AE0A-C5A71A186F66}"/>
              </a:ext>
            </a:extLst>
          </p:cNvPr>
          <p:cNvSpPr/>
          <p:nvPr/>
        </p:nvSpPr>
        <p:spPr>
          <a:xfrm>
            <a:off x="510913" y="4946301"/>
            <a:ext cx="10889885" cy="141190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A553360-8CBB-44AF-AF18-6D49AB210FD2}"/>
              </a:ext>
            </a:extLst>
          </p:cNvPr>
          <p:cNvSpPr/>
          <p:nvPr/>
        </p:nvSpPr>
        <p:spPr>
          <a:xfrm>
            <a:off x="510913" y="3263611"/>
            <a:ext cx="10904946" cy="1411907"/>
          </a:xfrm>
          <a:prstGeom prst="roundRect">
            <a:avLst>
              <a:gd name="adj" fmla="val 4718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A47A33-54AC-4AEC-99F2-DE2CE28FEAF8}"/>
                  </a:ext>
                </a:extLst>
              </p:cNvPr>
              <p:cNvSpPr/>
              <p:nvPr/>
            </p:nvSpPr>
            <p:spPr>
              <a:xfrm>
                <a:off x="-190108" y="3390561"/>
                <a:ext cx="4927011" cy="916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i="1" dirty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4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 sz="2400" b="0" i="1" dirty="0" smtClean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dirty="0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dirty="0" smtClean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400" b="1" i="1" dirty="0">
                                      <a:solidFill>
                                        <a:srgbClr val="4440F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solidFill>
                                        <a:srgbClr val="4440FB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solidFill>
                                        <a:srgbClr val="4440FB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A47A33-54AC-4AEC-99F2-DE2CE28FEA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108" y="3390561"/>
                <a:ext cx="4927011" cy="9161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BD2A27A-6C88-4C34-963B-421BD074C161}"/>
                  </a:ext>
                </a:extLst>
              </p:cNvPr>
              <p:cNvSpPr/>
              <p:nvPr/>
            </p:nvSpPr>
            <p:spPr>
              <a:xfrm>
                <a:off x="3672847" y="3406266"/>
                <a:ext cx="13974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BD2A27A-6C88-4C34-963B-421BD074C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47" y="3406266"/>
                <a:ext cx="1397434" cy="461665"/>
              </a:xfrm>
              <a:prstGeom prst="rect">
                <a:avLst/>
              </a:prstGeom>
              <a:blipFill>
                <a:blip r:embed="rId4"/>
                <a:stretch>
                  <a:fillRect l="-698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859745F-AE5A-45FD-A850-E1206B61F286}"/>
                  </a:ext>
                </a:extLst>
              </p:cNvPr>
              <p:cNvSpPr/>
              <p:nvPr/>
            </p:nvSpPr>
            <p:spPr>
              <a:xfrm>
                <a:off x="3672847" y="3876936"/>
                <a:ext cx="13958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f</a:t>
                </a:r>
                <a:r>
                  <a:rPr lang="en-US" sz="2400" b="0" dirty="0"/>
                  <a:t>or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rgbClr val="4440F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859745F-AE5A-45FD-A850-E1206B61F2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47" y="3876936"/>
                <a:ext cx="1395831" cy="461665"/>
              </a:xfrm>
              <a:prstGeom prst="rect">
                <a:avLst/>
              </a:prstGeom>
              <a:blipFill>
                <a:blip r:embed="rId5"/>
                <a:stretch>
                  <a:fillRect l="-7018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DF7037FE-BB24-46F1-93B2-7FC012CFF1AA}"/>
                  </a:ext>
                </a:extLst>
              </p:cNvPr>
              <p:cNvSpPr/>
              <p:nvPr/>
            </p:nvSpPr>
            <p:spPr>
              <a:xfrm>
                <a:off x="5847391" y="3566658"/>
                <a:ext cx="5673296" cy="541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 dirty="0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CN" altLang="en-US" sz="28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sz="280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zh-CN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800" i="1" dirty="0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zh-CN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DF7037FE-BB24-46F1-93B2-7FC012CFF1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391" y="3566658"/>
                <a:ext cx="5673296" cy="541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B84795D-5559-4A65-AD00-AC022F245522}"/>
                  </a:ext>
                </a:extLst>
              </p:cNvPr>
              <p:cNvSpPr/>
              <p:nvPr/>
            </p:nvSpPr>
            <p:spPr>
              <a:xfrm>
                <a:off x="510913" y="2456632"/>
                <a:ext cx="803346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dirty="0" smtClean="0">
                            <a:solidFill>
                              <a:srgbClr val="4440F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dirty="0" smtClean="0">
                        <a:solidFill>
                          <a:srgbClr val="4440F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B84795D-5559-4A65-AD00-AC022F2455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13" y="2456632"/>
                <a:ext cx="8033466" cy="461665"/>
              </a:xfrm>
              <a:prstGeom prst="rect">
                <a:avLst/>
              </a:prstGeom>
              <a:blipFill>
                <a:blip r:embed="rId7"/>
                <a:stretch>
                  <a:fillRect l="-121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203361F5-AB53-4E4C-8271-F093C21FEC03}"/>
                  </a:ext>
                </a:extLst>
              </p:cNvPr>
              <p:cNvSpPr/>
              <p:nvPr/>
            </p:nvSpPr>
            <p:spPr>
              <a:xfrm>
                <a:off x="588263" y="5132559"/>
                <a:ext cx="10629448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𝑙𝑖𝑘𝑒𝑙𝑖h𝑜𝑜𝑑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en-US" sz="2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∏"/>
                          <m:ctrlPr>
                            <a:rPr lang="pt-BR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 dirty="0">
                                      <a:solidFill>
                                        <a:srgbClr val="C55A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rgbClr val="C55A1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rgbClr val="C55A1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sz="2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4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zh-CN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i="1" dirty="0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4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zh-CN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203361F5-AB53-4E4C-8271-F093C21FEC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63" y="5132559"/>
                <a:ext cx="10629448" cy="11005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09A2C075-1764-4464-B688-BC968913ABC0}"/>
              </a:ext>
            </a:extLst>
          </p:cNvPr>
          <p:cNvSpPr/>
          <p:nvPr/>
        </p:nvSpPr>
        <p:spPr>
          <a:xfrm>
            <a:off x="8478674" y="4213853"/>
            <a:ext cx="2907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Bernoulli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C9DAC29-AF38-4F39-B5BB-9ED97A03F3AD}"/>
                  </a:ext>
                </a:extLst>
              </p:cNvPr>
              <p:cNvSpPr/>
              <p:nvPr/>
            </p:nvSpPr>
            <p:spPr>
              <a:xfrm>
                <a:off x="5072089" y="3505831"/>
                <a:ext cx="83388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3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C9DAC29-AF38-4F39-B5BB-9ED97A03F3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089" y="3505831"/>
                <a:ext cx="833883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A26D236-E651-4950-89AA-60390A0ED295}"/>
              </a:ext>
            </a:extLst>
          </p:cNvPr>
          <p:cNvSpPr/>
          <p:nvPr/>
        </p:nvSpPr>
        <p:spPr>
          <a:xfrm>
            <a:off x="525125" y="1205745"/>
            <a:ext cx="10889885" cy="84337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0151163-1254-4968-8764-36A4A87A875B}"/>
                  </a:ext>
                </a:extLst>
              </p:cNvPr>
              <p:cNvSpPr txBox="1"/>
              <p:nvPr/>
            </p:nvSpPr>
            <p:spPr>
              <a:xfrm>
                <a:off x="410681" y="253477"/>
                <a:ext cx="639098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b="1" dirty="0"/>
                  <a:t>Logistic Regression--</a:t>
                </a:r>
                <a14:m>
                  <m:oMath xmlns:m="http://schemas.openxmlformats.org/officeDocument/2006/math">
                    <m:r>
                      <a:rPr lang="en-US" altLang="zh-CN" sz="40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4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4000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4000" b="0" i="1" dirty="0">
                        <a:latin typeface="Cambria Math" panose="02040503050406030204" pitchFamily="18" charset="0"/>
                      </a:rPr>
                      <m:t>,1}</m:t>
                    </m:r>
                  </m:oMath>
                </a14:m>
                <a:endParaRPr lang="en-US" altLang="zh-CN" sz="4000" i="1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0151163-1254-4968-8764-36A4A87A8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253477"/>
                <a:ext cx="6390980" cy="707886"/>
              </a:xfrm>
              <a:prstGeom prst="rect">
                <a:avLst/>
              </a:prstGeom>
              <a:blipFill>
                <a:blip r:embed="rId10"/>
                <a:stretch>
                  <a:fillRect l="-3337" t="-15517" b="-36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3A0F64DC-9D98-42C3-AFAA-BE552F675BA3}"/>
                  </a:ext>
                </a:extLst>
              </p:cNvPr>
              <p:cNvSpPr/>
              <p:nvPr/>
            </p:nvSpPr>
            <p:spPr>
              <a:xfrm>
                <a:off x="7923137" y="2252282"/>
                <a:ext cx="3463449" cy="80817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3A0F64DC-9D98-42C3-AFAA-BE552F675B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137" y="2252282"/>
                <a:ext cx="3463449" cy="8081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9BF8AD4-A8F1-42F9-A6D9-B60274A0852E}"/>
                  </a:ext>
                </a:extLst>
              </p:cNvPr>
              <p:cNvSpPr/>
              <p:nvPr/>
            </p:nvSpPr>
            <p:spPr>
              <a:xfrm>
                <a:off x="518018" y="1303561"/>
                <a:ext cx="10889885" cy="468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Logistic regression use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to approximate the t</a:t>
                </a:r>
                <a:r>
                  <a:rPr lang="en-US" altLang="zh-CN" sz="2400" dirty="0"/>
                  <a:t>arget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55A1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C55A1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C55A1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  <m:e>
                        <m:r>
                          <a:rPr lang="en-US" sz="2400" b="1" i="1" dirty="0">
                            <a:solidFill>
                              <a:srgbClr val="C55A1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C55A11"/>
                  </a:solidFill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9BF8AD4-A8F1-42F9-A6D9-B60274A08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18" y="1303561"/>
                <a:ext cx="10889885" cy="468205"/>
              </a:xfrm>
              <a:prstGeom prst="rect">
                <a:avLst/>
              </a:prstGeom>
              <a:blipFill>
                <a:blip r:embed="rId12"/>
                <a:stretch>
                  <a:fillRect l="-896" t="-909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50489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73440DD-54CC-42DE-816E-3B11F529FD7F}"/>
              </a:ext>
            </a:extLst>
          </p:cNvPr>
          <p:cNvSpPr/>
          <p:nvPr/>
        </p:nvSpPr>
        <p:spPr>
          <a:xfrm>
            <a:off x="497949" y="4189870"/>
            <a:ext cx="10889885" cy="241465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D8F16FE-BA4F-4A1B-AA8A-E4F1B883CB2F}"/>
              </a:ext>
            </a:extLst>
          </p:cNvPr>
          <p:cNvSpPr/>
          <p:nvPr/>
        </p:nvSpPr>
        <p:spPr>
          <a:xfrm>
            <a:off x="497950" y="2803317"/>
            <a:ext cx="10889885" cy="1167934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64CC0EC-23D7-4E9E-B60E-9BE64570B1BB}"/>
              </a:ext>
            </a:extLst>
          </p:cNvPr>
          <p:cNvSpPr/>
          <p:nvPr/>
        </p:nvSpPr>
        <p:spPr>
          <a:xfrm>
            <a:off x="497950" y="1164110"/>
            <a:ext cx="10889885" cy="1326876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8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E32CA4B2-17E7-451D-AA61-1B835EBE2E1B}"/>
                  </a:ext>
                </a:extLst>
              </p:cNvPr>
              <p:cNvSpPr/>
              <p:nvPr/>
            </p:nvSpPr>
            <p:spPr>
              <a:xfrm>
                <a:off x="3850144" y="1242638"/>
                <a:ext cx="7511094" cy="1098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dirty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altLang="zh-CN" sz="2400" b="0" i="1" dirty="0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lim>
                          </m:limLow>
                        </m:fName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 dirty="0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4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pt-BR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fName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400" i="1" dirty="0" smtClean="0">
                                      <a:solidFill>
                                        <a:srgbClr val="C55A1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400" b="1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func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E32CA4B2-17E7-451D-AA61-1B835EBE2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44" y="1242638"/>
                <a:ext cx="7511094" cy="1098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6488D06-7554-445F-AA1C-45892FCBD9F5}"/>
                  </a:ext>
                </a:extLst>
              </p:cNvPr>
              <p:cNvSpPr/>
              <p:nvPr/>
            </p:nvSpPr>
            <p:spPr>
              <a:xfrm>
                <a:off x="3850144" y="4266515"/>
                <a:ext cx="7533601" cy="1098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dirty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sz="2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altLang="zh-CN" sz="2400" b="1" i="1" dirty="0" smtClean="0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400" b="1" i="1" dirty="0" smtClean="0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𝒘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400" b="1" i="1" dirty="0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𝑻</m:t>
                                                  </m:r>
                                                </m:sup>
                                              </m:sSup>
                                              <m:sSub>
                                                <m:sSubPr>
                                                  <m:ctrlPr>
                                                    <a:rPr lang="zh-CN" altLang="en-US" sz="2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sSup>
                                                <m:sSupPr>
                                                  <m:ctrlPr>
                                                    <a:rPr lang="en-US" altLang="zh-CN" sz="2400" b="1" i="1" dirty="0" smtClean="0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400" b="1" i="1" dirty="0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𝒘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400" b="1" i="1" dirty="0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𝑻</m:t>
                                                  </m:r>
                                                </m:sup>
                                              </m:sSup>
                                              <m:sSub>
                                                <m:sSubPr>
                                                  <m:ctrlPr>
                                                    <a:rPr lang="zh-CN" altLang="en-US" sz="2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6488D06-7554-445F-AA1C-45892FCBD9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44" y="4266515"/>
                <a:ext cx="7533601" cy="1098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905D37FF-A6BD-4ABE-A6E1-62492D1CCB3E}"/>
                  </a:ext>
                </a:extLst>
              </p:cNvPr>
              <p:cNvSpPr/>
              <p:nvPr/>
            </p:nvSpPr>
            <p:spPr>
              <a:xfrm>
                <a:off x="3850144" y="2920754"/>
                <a:ext cx="4208908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 dirty="0" smtClean="0">
                              <a:solidFill>
                                <a:srgbClr val="4440FB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dirty="0" smtClean="0">
                              <a:solidFill>
                                <a:srgbClr val="4440FB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dirty="0" smtClean="0">
                              <a:solidFill>
                                <a:srgbClr val="4440FB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4440FB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solidFill>
                                <a:srgbClr val="4440FB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905D37FF-A6BD-4ABE-A6E1-62492D1CCB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44" y="2920754"/>
                <a:ext cx="4208908" cy="9885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DD48A697-9367-4F74-BAE1-E962929BE2FD}"/>
              </a:ext>
            </a:extLst>
          </p:cNvPr>
          <p:cNvSpPr/>
          <p:nvPr/>
        </p:nvSpPr>
        <p:spPr>
          <a:xfrm>
            <a:off x="617840" y="1476441"/>
            <a:ext cx="37391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Negative Log-likelihood</a:t>
            </a:r>
            <a:endParaRPr lang="zh-CN" altLang="en-US" sz="2400" b="1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F31C120-832A-490E-B937-1379EE2E34FB}"/>
              </a:ext>
            </a:extLst>
          </p:cNvPr>
          <p:cNvSpPr/>
          <p:nvPr/>
        </p:nvSpPr>
        <p:spPr>
          <a:xfrm>
            <a:off x="676327" y="3125674"/>
            <a:ext cx="19647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Cross-entropy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41A82D6-EF1D-4C5E-A22E-3F1044A39436}"/>
                  </a:ext>
                </a:extLst>
              </p:cNvPr>
              <p:cNvSpPr/>
              <p:nvPr/>
            </p:nvSpPr>
            <p:spPr>
              <a:xfrm>
                <a:off x="8189581" y="2957873"/>
                <a:ext cx="289867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,1−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4440FB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dirty="0">
                        <a:solidFill>
                          <a:srgbClr val="4440F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,1−</m:t>
                    </m:r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41A82D6-EF1D-4C5E-A22E-3F1044A394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581" y="2957873"/>
                <a:ext cx="2898679" cy="830997"/>
              </a:xfrm>
              <a:prstGeom prst="rect">
                <a:avLst/>
              </a:prstGeom>
              <a:blipFill>
                <a:blip r:embed="rId6"/>
                <a:stretch>
                  <a:fillRect l="-630" b="-87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9F4A22A1-89F8-4799-AC79-CF63ADC69721}"/>
              </a:ext>
            </a:extLst>
          </p:cNvPr>
          <p:cNvSpPr/>
          <p:nvPr/>
        </p:nvSpPr>
        <p:spPr>
          <a:xfrm>
            <a:off x="8818427" y="2053533"/>
            <a:ext cx="25209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Cross-entropy loss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FBD939-6F66-4D2D-BA4F-9C9795B09852}"/>
              </a:ext>
            </a:extLst>
          </p:cNvPr>
          <p:cNvSpPr/>
          <p:nvPr/>
        </p:nvSpPr>
        <p:spPr>
          <a:xfrm>
            <a:off x="676327" y="4552006"/>
            <a:ext cx="31740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Negative Log-likelihood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6ABE41A-ACC9-4015-AE55-41D9B59AE5BE}"/>
                  </a:ext>
                </a:extLst>
              </p:cNvPr>
              <p:cNvSpPr/>
              <p:nvPr/>
            </p:nvSpPr>
            <p:spPr>
              <a:xfrm>
                <a:off x="3673853" y="5469849"/>
                <a:ext cx="5120273" cy="1098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dirty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sz="2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sz="2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altLang="zh-CN" sz="2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zh-CN" altLang="en-US" sz="2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en-US" altLang="zh-CN" sz="2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zh-CN" altLang="en-US" sz="2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dirty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dirty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sup>
                                  </m:s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6ABE41A-ACC9-4015-AE55-41D9B59AE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853" y="5469849"/>
                <a:ext cx="5120273" cy="1098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等腰三角形 3"/>
          <p:cNvSpPr/>
          <p:nvPr/>
        </p:nvSpPr>
        <p:spPr>
          <a:xfrm>
            <a:off x="4289064" y="2093147"/>
            <a:ext cx="206922" cy="287675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/>
        </p:nvSpPr>
        <p:spPr>
          <a:xfrm>
            <a:off x="6193268" y="2093147"/>
            <a:ext cx="206922" cy="287675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/>
          <p:cNvSpPr/>
          <p:nvPr/>
        </p:nvSpPr>
        <p:spPr>
          <a:xfrm>
            <a:off x="6822013" y="2093147"/>
            <a:ext cx="206922" cy="287675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ED4BE03-7F45-4786-A761-050F98E90B8C}"/>
                  </a:ext>
                </a:extLst>
              </p:cNvPr>
              <p:cNvSpPr txBox="1"/>
              <p:nvPr/>
            </p:nvSpPr>
            <p:spPr>
              <a:xfrm>
                <a:off x="410681" y="253477"/>
                <a:ext cx="639098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b="1" dirty="0"/>
                  <a:t>Logistic Regression--</a:t>
                </a:r>
                <a14:m>
                  <m:oMath xmlns:m="http://schemas.openxmlformats.org/officeDocument/2006/math">
                    <m:r>
                      <a:rPr lang="en-US" altLang="zh-CN" sz="40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4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4000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4000" b="0" i="1" dirty="0">
                        <a:latin typeface="Cambria Math" panose="02040503050406030204" pitchFamily="18" charset="0"/>
                      </a:rPr>
                      <m:t>,1}</m:t>
                    </m:r>
                  </m:oMath>
                </a14:m>
                <a:endParaRPr lang="en-US" altLang="zh-CN" sz="4000" i="1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ED4BE03-7F45-4786-A761-050F98E90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253477"/>
                <a:ext cx="6390980" cy="707886"/>
              </a:xfrm>
              <a:prstGeom prst="rect">
                <a:avLst/>
              </a:prstGeom>
              <a:blipFill>
                <a:blip r:embed="rId5"/>
                <a:stretch>
                  <a:fillRect l="-3337" t="-15517" b="-36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1117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64CC0EC-23D7-4E9E-B60E-9BE64570B1BB}"/>
              </a:ext>
            </a:extLst>
          </p:cNvPr>
          <p:cNvSpPr/>
          <p:nvPr/>
        </p:nvSpPr>
        <p:spPr>
          <a:xfrm>
            <a:off x="477992" y="1324390"/>
            <a:ext cx="10889885" cy="4714038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911A25F-F3C1-45F1-AF37-EDF7C052F2AC}"/>
                  </a:ext>
                </a:extLst>
              </p:cNvPr>
              <p:cNvSpPr txBox="1"/>
              <p:nvPr/>
            </p:nvSpPr>
            <p:spPr>
              <a:xfrm>
                <a:off x="410681" y="253477"/>
                <a:ext cx="67740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b="1" dirty="0"/>
                  <a:t>Logistic Regression--</a:t>
                </a:r>
                <a14:m>
                  <m:oMath xmlns:m="http://schemas.openxmlformats.org/officeDocument/2006/math">
                    <m:r>
                      <a:rPr lang="en-US" altLang="zh-CN" sz="40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4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4000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4000" b="0" i="1" dirty="0">
                        <a:latin typeface="Cambria Math" panose="02040503050406030204" pitchFamily="18" charset="0"/>
                      </a:rPr>
                      <m:t>−1,1}</m:t>
                    </m:r>
                  </m:oMath>
                </a14:m>
                <a:endParaRPr lang="en-US" altLang="zh-CN" sz="4000" i="1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911A25F-F3C1-45F1-AF37-EDF7C052F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253477"/>
                <a:ext cx="6774099" cy="707886"/>
              </a:xfrm>
              <a:prstGeom prst="rect">
                <a:avLst/>
              </a:prstGeom>
              <a:blipFill>
                <a:blip r:embed="rId3"/>
                <a:stretch>
                  <a:fillRect l="-3147" t="-15517" b="-36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636A159-6372-48A4-BA33-CF7E514DA925}"/>
                  </a:ext>
                </a:extLst>
              </p:cNvPr>
              <p:cNvSpPr/>
              <p:nvPr/>
            </p:nvSpPr>
            <p:spPr>
              <a:xfrm>
                <a:off x="224879" y="2373728"/>
                <a:ext cx="378714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(+1|</m:t>
                      </m:r>
                      <m:sSub>
                        <m:sSubPr>
                          <m:ctrlP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636A159-6372-48A4-BA33-CF7E514DA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79" y="2373728"/>
                <a:ext cx="378714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A47A33-54AC-4AEC-99F2-DE2CE28FEAF8}"/>
                  </a:ext>
                </a:extLst>
              </p:cNvPr>
              <p:cNvSpPr/>
              <p:nvPr/>
            </p:nvSpPr>
            <p:spPr>
              <a:xfrm>
                <a:off x="4243869" y="2120564"/>
                <a:ext cx="4927011" cy="916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4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 sz="2400" b="0" i="1" dirty="0" smtClean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dirty="0" smtClean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dirty="0" smtClean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400" b="1" i="1" dirty="0">
                                      <a:solidFill>
                                        <a:srgbClr val="4440F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solidFill>
                                        <a:srgbClr val="4440FB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solidFill>
                                        <a:srgbClr val="4440FB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A47A33-54AC-4AEC-99F2-DE2CE28FEA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869" y="2120564"/>
                <a:ext cx="4927011" cy="9161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BD2A27A-6C88-4C34-963B-421BD074C161}"/>
                  </a:ext>
                </a:extLst>
              </p:cNvPr>
              <p:cNvSpPr/>
              <p:nvPr/>
            </p:nvSpPr>
            <p:spPr>
              <a:xfrm>
                <a:off x="8670497" y="2142895"/>
                <a:ext cx="15396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BD2A27A-6C88-4C34-963B-421BD074C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497" y="2142895"/>
                <a:ext cx="1539652" cy="461665"/>
              </a:xfrm>
              <a:prstGeom prst="rect">
                <a:avLst/>
              </a:prstGeom>
              <a:blipFill>
                <a:blip r:embed="rId6"/>
                <a:stretch>
                  <a:fillRect l="-5929" t="-10667" r="-395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859745F-AE5A-45FD-A850-E1206B61F286}"/>
                  </a:ext>
                </a:extLst>
              </p:cNvPr>
              <p:cNvSpPr/>
              <p:nvPr/>
            </p:nvSpPr>
            <p:spPr>
              <a:xfrm>
                <a:off x="8670497" y="2666115"/>
                <a:ext cx="15396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859745F-AE5A-45FD-A850-E1206B61F2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497" y="2666115"/>
                <a:ext cx="1539652" cy="461665"/>
              </a:xfrm>
              <a:prstGeom prst="rect">
                <a:avLst/>
              </a:prstGeom>
              <a:blipFill>
                <a:blip r:embed="rId7"/>
                <a:stretch>
                  <a:fillRect l="-5929" t="-10526" r="-395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CA6AEC-A788-4179-BA35-C1503E0D9B15}"/>
                  </a:ext>
                </a:extLst>
              </p:cNvPr>
              <p:cNvSpPr txBox="1"/>
              <p:nvPr/>
            </p:nvSpPr>
            <p:spPr>
              <a:xfrm>
                <a:off x="4012021" y="2342950"/>
                <a:ext cx="51777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CA6AEC-A788-4179-BA35-C1503E0D9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021" y="2342950"/>
                <a:ext cx="517770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BC1359D-0E0F-4DA6-8A3B-1F24AA2882B9}"/>
                  </a:ext>
                </a:extLst>
              </p:cNvPr>
              <p:cNvSpPr/>
              <p:nvPr/>
            </p:nvSpPr>
            <p:spPr>
              <a:xfrm>
                <a:off x="477992" y="1497998"/>
                <a:ext cx="803346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dirty="0" smtClean="0">
                            <a:solidFill>
                              <a:srgbClr val="4440F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dirty="0" smtClean="0">
                        <a:solidFill>
                          <a:srgbClr val="4440F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BC1359D-0E0F-4DA6-8A3B-1F24AA28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92" y="1497998"/>
                <a:ext cx="8033466" cy="461665"/>
              </a:xfrm>
              <a:prstGeom prst="rect">
                <a:avLst/>
              </a:prstGeom>
              <a:blipFill>
                <a:blip r:embed="rId9"/>
                <a:stretch>
                  <a:fillRect l="-113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974AB36-ED8C-4E89-9E1A-FEC6449CB76F}"/>
                  </a:ext>
                </a:extLst>
              </p:cNvPr>
              <p:cNvSpPr/>
              <p:nvPr/>
            </p:nvSpPr>
            <p:spPr>
              <a:xfrm>
                <a:off x="1391621" y="3469553"/>
                <a:ext cx="2676053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4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 sz="2400" i="1" dirty="0" smtClean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srgbClr val="4440F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rgbClr val="4440FB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2400" b="1" i="1" dirty="0">
                                          <a:solidFill>
                                            <a:srgbClr val="4440F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rgbClr val="4440F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solidFill>
                                            <a:srgbClr val="4440F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974AB36-ED8C-4E89-9E1A-FEC6449CB7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621" y="3469553"/>
                <a:ext cx="2676053" cy="9161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3E3C29C-6137-4C64-82AB-CD0C2FB565E5}"/>
                  </a:ext>
                </a:extLst>
              </p:cNvPr>
              <p:cNvSpPr/>
              <p:nvPr/>
            </p:nvSpPr>
            <p:spPr>
              <a:xfrm>
                <a:off x="4534422" y="3450577"/>
                <a:ext cx="15396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3E3C29C-6137-4C64-82AB-CD0C2FB565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422" y="3450577"/>
                <a:ext cx="1539652" cy="461665"/>
              </a:xfrm>
              <a:prstGeom prst="rect">
                <a:avLst/>
              </a:prstGeom>
              <a:blipFill>
                <a:blip r:embed="rId11"/>
                <a:stretch>
                  <a:fillRect l="-6349" t="-10526" r="-397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0A599B4-6715-47ED-AD6D-56049F110749}"/>
                  </a:ext>
                </a:extLst>
              </p:cNvPr>
              <p:cNvSpPr/>
              <p:nvPr/>
            </p:nvSpPr>
            <p:spPr>
              <a:xfrm>
                <a:off x="4534422" y="3973797"/>
                <a:ext cx="15396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0A599B4-6715-47ED-AD6D-56049F1107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422" y="3973797"/>
                <a:ext cx="1539652" cy="461665"/>
              </a:xfrm>
              <a:prstGeom prst="rect">
                <a:avLst/>
              </a:prstGeom>
              <a:blipFill>
                <a:blip r:embed="rId12"/>
                <a:stretch>
                  <a:fillRect l="-6349" t="-10526" r="-397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150FEAF2-5C14-433A-9EB5-48A49A451047}"/>
                  </a:ext>
                </a:extLst>
              </p:cNvPr>
              <p:cNvSpPr/>
              <p:nvPr/>
            </p:nvSpPr>
            <p:spPr>
              <a:xfrm>
                <a:off x="1882557" y="5138414"/>
                <a:ext cx="3412263" cy="461729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1 −</m:t>
                      </m:r>
                      <m:r>
                        <a:rPr lang="pl-PL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pl-PL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l-PL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l-PL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pl-PL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pl-PL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pl-PL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l-PL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br>
                  <a:rPr lang="pl-PL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150FEAF2-5C14-433A-9EB5-48A49A4510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557" y="5138414"/>
                <a:ext cx="3412263" cy="461729"/>
              </a:xfrm>
              <a:prstGeom prst="rect">
                <a:avLst/>
              </a:prstGeom>
              <a:blipFill>
                <a:blip r:embed="rId13"/>
                <a:stretch>
                  <a:fillRect b="-1219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15D70CB-1921-4177-8805-C8DD3483AE39}"/>
                  </a:ext>
                </a:extLst>
              </p:cNvPr>
              <p:cNvSpPr txBox="1"/>
              <p:nvPr/>
            </p:nvSpPr>
            <p:spPr>
              <a:xfrm>
                <a:off x="6620353" y="3715744"/>
                <a:ext cx="51777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15D70CB-1921-4177-8805-C8DD3483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353" y="3715744"/>
                <a:ext cx="517770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5B4AEDF-23D9-489D-81FE-D718388CB478}"/>
                  </a:ext>
                </a:extLst>
              </p:cNvPr>
              <p:cNvSpPr/>
              <p:nvPr/>
            </p:nvSpPr>
            <p:spPr>
              <a:xfrm>
                <a:off x="7684402" y="3715744"/>
                <a:ext cx="24228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zh-CN" alt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5B4AEDF-23D9-489D-81FE-D718388CB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402" y="3715744"/>
                <a:ext cx="2422843" cy="461665"/>
              </a:xfrm>
              <a:prstGeom prst="rect">
                <a:avLst/>
              </a:prstGeom>
              <a:blipFill>
                <a:blip r:embed="rId1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89DBC17-5E08-4647-99AE-9CCEA53C8270}"/>
                  </a:ext>
                </a:extLst>
              </p:cNvPr>
              <p:cNvSpPr txBox="1"/>
              <p:nvPr/>
            </p:nvSpPr>
            <p:spPr>
              <a:xfrm>
                <a:off x="859597" y="3715744"/>
                <a:ext cx="51777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89DBC17-5E08-4647-99AE-9CCEA53C8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97" y="3715744"/>
                <a:ext cx="517770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0EED8D30-6BC9-4F0B-8B7E-EAF5DF0D1B00}"/>
                  </a:ext>
                </a:extLst>
              </p:cNvPr>
              <p:cNvSpPr/>
              <p:nvPr/>
            </p:nvSpPr>
            <p:spPr>
              <a:xfrm>
                <a:off x="7997260" y="253477"/>
                <a:ext cx="3584251" cy="806375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0EED8D30-6BC9-4F0B-8B7E-EAF5DF0D1B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260" y="253477"/>
                <a:ext cx="3584251" cy="8063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2668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64CC0EC-23D7-4E9E-B60E-9BE64570B1BB}"/>
              </a:ext>
            </a:extLst>
          </p:cNvPr>
          <p:cNvSpPr/>
          <p:nvPr/>
        </p:nvSpPr>
        <p:spPr>
          <a:xfrm>
            <a:off x="534029" y="1081719"/>
            <a:ext cx="10889885" cy="5517042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0BD42B38-E47B-4B00-9E0C-419F1F41F195}"/>
                  </a:ext>
                </a:extLst>
              </p:cNvPr>
              <p:cNvSpPr/>
              <p:nvPr/>
            </p:nvSpPr>
            <p:spPr>
              <a:xfrm>
                <a:off x="512314" y="1718861"/>
                <a:ext cx="10779105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𝑙𝑖𝑘𝑒𝑙𝑖h𝑜𝑜𝑑</m:t>
                      </m:r>
                      <m:d>
                        <m:d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solidFill>
                            <a:srgbClr val="4440FB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4440F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4440F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b="1" i="1" dirty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 smtClean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dirty="0" smtClean="0">
                          <a:solidFill>
                            <a:srgbClr val="4440FB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  <m:r>
                        <a:rPr lang="en-US" sz="2400" i="1" dirty="0">
                          <a:solidFill>
                            <a:srgbClr val="4440FB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4440F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4440F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b="1" i="1" dirty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 smtClean="0">
                                  <a:solidFill>
                                    <a:srgbClr val="4440FB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0BD42B38-E47B-4B00-9E0C-419F1F41F1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14" y="1718861"/>
                <a:ext cx="10779105" cy="1100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5AC2CED-0572-4CDC-9918-61114764A661}"/>
                  </a:ext>
                </a:extLst>
              </p:cNvPr>
              <p:cNvSpPr/>
              <p:nvPr/>
            </p:nvSpPr>
            <p:spPr>
              <a:xfrm>
                <a:off x="591113" y="1174053"/>
                <a:ext cx="803346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dirty="0" smtClean="0">
                            <a:solidFill>
                              <a:srgbClr val="4440F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dirty="0" smtClean="0">
                        <a:solidFill>
                          <a:srgbClr val="4440F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5AC2CED-0572-4CDC-9918-61114764A6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1174053"/>
                <a:ext cx="8033466" cy="461665"/>
              </a:xfrm>
              <a:prstGeom prst="rect">
                <a:avLst/>
              </a:prstGeom>
              <a:blipFill>
                <a:blip r:embed="rId4"/>
                <a:stretch>
                  <a:fillRect l="-1214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60CD22E-3929-4501-BA91-4961F9D14AE4}"/>
                  </a:ext>
                </a:extLst>
              </p:cNvPr>
              <p:cNvSpPr/>
              <p:nvPr/>
            </p:nvSpPr>
            <p:spPr>
              <a:xfrm>
                <a:off x="506931" y="2882150"/>
                <a:ext cx="8967198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dirty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lim>
                          </m:limLow>
                        </m:fName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𝑙𝑖𝑘𝑒𝑙𝑖h𝑜𝑜𝑑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</m:e>
                      </m:func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∏"/>
                          <m:ctrlPr>
                            <a:rPr lang="pt-B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pt-BR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pt-BR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pl-PL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60CD22E-3929-4501-BA91-4961F9D14A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31" y="2882150"/>
                <a:ext cx="8967198" cy="1100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127FCA4-1B77-49D7-B73E-C8B4499D965B}"/>
                  </a:ext>
                </a:extLst>
              </p:cNvPr>
              <p:cNvSpPr/>
              <p:nvPr/>
            </p:nvSpPr>
            <p:spPr>
              <a:xfrm>
                <a:off x="1122456" y="4013689"/>
                <a:ext cx="3327385" cy="1098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dirty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altLang="zh-CN" sz="2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i="0" dirty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pl-PL" sz="24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en-US" altLang="zh-CN" sz="2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zh-CN" altLang="en-US" sz="2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dirty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dirty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  <m:r>
                            <m:rPr>
                              <m:nor/>
                            </m:rPr>
                            <a:rPr lang="en-US" sz="2400" dirty="0" smtClean="0"/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127FCA4-1B77-49D7-B73E-C8B4499D9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456" y="4013689"/>
                <a:ext cx="3327385" cy="1098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CB5D05B0-6878-4044-81E5-4155078B5530}"/>
                  </a:ext>
                </a:extLst>
              </p:cNvPr>
              <p:cNvSpPr/>
              <p:nvPr/>
            </p:nvSpPr>
            <p:spPr>
              <a:xfrm>
                <a:off x="6096000" y="4019027"/>
                <a:ext cx="4338880" cy="1098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dirty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altLang="zh-CN" sz="2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i="0" dirty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1/(1+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en-US" altLang="zh-CN" sz="2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zh-CN" altLang="en-US" sz="2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dirty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dirty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func>
                            </m:e>
                          </m:nary>
                          <m:r>
                            <m:rPr>
                              <m:nor/>
                            </m:rPr>
                            <a:rPr lang="en-US" sz="2400" dirty="0" smtClean="0"/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CB5D05B0-6878-4044-81E5-4155078B55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019027"/>
                <a:ext cx="4338880" cy="1098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8C93C1C-F620-4AA3-9C1B-409F49A7ECD3}"/>
                  </a:ext>
                </a:extLst>
              </p:cNvPr>
              <p:cNvSpPr txBox="1"/>
              <p:nvPr/>
            </p:nvSpPr>
            <p:spPr>
              <a:xfrm>
                <a:off x="4875064" y="4353136"/>
                <a:ext cx="51777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8C93C1C-F620-4AA3-9C1B-409F49A7E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064" y="4353136"/>
                <a:ext cx="517770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0260BD1-E524-45B6-9ABC-E056CEA41C68}"/>
                  </a:ext>
                </a:extLst>
              </p:cNvPr>
              <p:cNvSpPr txBox="1"/>
              <p:nvPr/>
            </p:nvSpPr>
            <p:spPr>
              <a:xfrm>
                <a:off x="410681" y="253477"/>
                <a:ext cx="67740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b="1" dirty="0"/>
                  <a:t>Logistic Regression--</a:t>
                </a:r>
                <a14:m>
                  <m:oMath xmlns:m="http://schemas.openxmlformats.org/officeDocument/2006/math">
                    <m:r>
                      <a:rPr lang="en-US" altLang="zh-CN" sz="40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4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4000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4000" b="0" i="1" dirty="0">
                        <a:latin typeface="Cambria Math" panose="02040503050406030204" pitchFamily="18" charset="0"/>
                      </a:rPr>
                      <m:t>−1,1}</m:t>
                    </m:r>
                  </m:oMath>
                </a14:m>
                <a:endParaRPr lang="en-US" altLang="zh-CN" sz="4000" i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0260BD1-E524-45B6-9ABC-E056CEA41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253477"/>
                <a:ext cx="6774099" cy="707886"/>
              </a:xfrm>
              <a:prstGeom prst="rect">
                <a:avLst/>
              </a:prstGeom>
              <a:blipFill>
                <a:blip r:embed="rId9"/>
                <a:stretch>
                  <a:fillRect l="-314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55A9E20D-594C-4948-B6E8-FBD3D83A61A1}"/>
              </a:ext>
            </a:extLst>
          </p:cNvPr>
          <p:cNvGrpSpPr/>
          <p:nvPr/>
        </p:nvGrpSpPr>
        <p:grpSpPr>
          <a:xfrm>
            <a:off x="591113" y="5354210"/>
            <a:ext cx="10602744" cy="1098570"/>
            <a:chOff x="591113" y="5354210"/>
            <a:chExt cx="10602744" cy="1098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72F1B456-6B33-4824-BF32-D0F65B18ADBF}"/>
                    </a:ext>
                  </a:extLst>
                </p:cNvPr>
                <p:cNvSpPr/>
                <p:nvPr/>
              </p:nvSpPr>
              <p:spPr>
                <a:xfrm>
                  <a:off x="3797730" y="5354210"/>
                  <a:ext cx="7396127" cy="1098570"/>
                </a:xfrm>
                <a:prstGeom prst="rect">
                  <a:avLst/>
                </a:prstGeom>
                <a:ln w="38100">
                  <a:solidFill>
                    <a:srgbClr val="FF0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BR" sz="2400" dirty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dirty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</m:e>
                              <m:lim>
                                <m:r>
                                  <a:rPr lang="en-US" altLang="zh-CN" sz="2400" b="1" i="1" dirty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b>
                                  <m:sSubPr>
                                    <m:ctrlPr>
                                      <a:rPr lang="zh-CN" alt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  <m:brk m:alnAt="23"/>
                                  </m:r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func>
                                  <m:func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i="0" dirty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zh-CN" sz="2400" b="1" i="1" dirty="0">
                                                    <a:solidFill>
                                                      <a:schemeClr val="accent2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sz="2400" b="1" i="1" dirty="0">
                                                    <a:solidFill>
                                                      <a:schemeClr val="accent2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𝒘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CN" sz="2400" b="1" i="1" dirty="0">
                                                    <a:solidFill>
                                                      <a:schemeClr val="accent2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𝑻</m:t>
                                                </m:r>
                                              </m:sup>
                                            </m:sSup>
                                            <m:sSub>
                                              <m:sSubPr>
                                                <m:ctrlPr>
                                                  <a:rPr lang="zh-CN" altLang="en-US" sz="2400" b="1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 b="1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b="1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𝒊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</m:den>
                                    </m:f>
                                  </m:e>
                                </m:func>
                              </m:e>
                            </m:nary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  <m:brk m:alnAt="23"/>
                                  </m:r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func>
                                  <m:func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dirty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sSup>
                                              <m:sSupPr>
                                                <m:ctrlPr>
                                                  <a:rPr lang="en-US" altLang="zh-CN" sz="2400" b="1" i="1" dirty="0">
                                                    <a:solidFill>
                                                      <a:schemeClr val="accent2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sz="2400" b="1" i="1" dirty="0">
                                                    <a:solidFill>
                                                      <a:schemeClr val="accent2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𝒘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CN" sz="2400" b="1" i="1" dirty="0">
                                                    <a:solidFill>
                                                      <a:schemeClr val="accent2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𝑻</m:t>
                                                </m:r>
                                              </m:sup>
                                            </m:sSup>
                                            <m:sSub>
                                              <m:sSubPr>
                                                <m:ctrlPr>
                                                  <a:rPr lang="zh-CN" altLang="en-US" sz="2400" b="1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 b="1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b="1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𝒊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</m:den>
                                    </m:f>
                                  </m:e>
                                </m:func>
                              </m:e>
                            </m:nary>
                          </m:e>
                        </m:func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72F1B456-6B33-4824-BF32-D0F65B18AD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7730" y="5354210"/>
                  <a:ext cx="7396127" cy="109857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30615C41-A282-4F39-B115-3025CCA3F160}"/>
                    </a:ext>
                  </a:extLst>
                </p:cNvPr>
                <p:cNvSpPr/>
                <p:nvPr/>
              </p:nvSpPr>
              <p:spPr>
                <a:xfrm>
                  <a:off x="591113" y="5545448"/>
                  <a:ext cx="2976560" cy="83099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/>
                    <a:t>Cross-entropy loss for</a:t>
                  </a:r>
                </a:p>
                <a:p>
                  <a14:m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{−1,1}</m:t>
                      </m:r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30615C41-A282-4F39-B115-3025CCA3F1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113" y="5545448"/>
                  <a:ext cx="2976560" cy="830997"/>
                </a:xfrm>
                <a:prstGeom prst="rect">
                  <a:avLst/>
                </a:prstGeom>
                <a:blipFill>
                  <a:blip r:embed="rId11"/>
                  <a:stretch>
                    <a:fillRect l="-3279" t="-5882" b="-95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1712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9">
            <a:extLst>
              <a:ext uri="{FF2B5EF4-FFF2-40B4-BE49-F238E27FC236}">
                <a16:creationId xmlns:a16="http://schemas.microsoft.com/office/drawing/2014/main" id="{519C19E3-B9C3-4F60-99F3-6A0F48AE62CF}"/>
              </a:ext>
            </a:extLst>
          </p:cNvPr>
          <p:cNvSpPr/>
          <p:nvPr/>
        </p:nvSpPr>
        <p:spPr>
          <a:xfrm>
            <a:off x="410680" y="2922548"/>
            <a:ext cx="11439171" cy="375010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58675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Exponential Error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4E77102-A691-42B2-914A-248CA259D3CA}"/>
                  </a:ext>
                </a:extLst>
              </p:cNvPr>
              <p:cNvSpPr/>
              <p:nvPr/>
            </p:nvSpPr>
            <p:spPr>
              <a:xfrm>
                <a:off x="2269858" y="3280713"/>
                <a:ext cx="7480638" cy="109857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altLang="zh-CN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zh-CN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sz="2400" b="1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𝑻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zh-CN" altLang="en-US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den>
                                  </m:f>
                                </m:e>
                              </m:func>
                            </m:e>
                          </m:nary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p>
                                            <m:sSupPr>
                                              <m:ctrlPr>
                                                <a:rPr lang="en-US" altLang="zh-CN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𝑻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zh-CN" altLang="en-US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1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den>
                                  </m:f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4E77102-A691-42B2-914A-248CA259D3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858" y="3280713"/>
                <a:ext cx="7480638" cy="1098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C04D9F75-611E-40E9-AE66-F86BF14B12A5}"/>
              </a:ext>
            </a:extLst>
          </p:cNvPr>
          <p:cNvGrpSpPr/>
          <p:nvPr/>
        </p:nvGrpSpPr>
        <p:grpSpPr>
          <a:xfrm>
            <a:off x="2269858" y="4541343"/>
            <a:ext cx="7492244" cy="1861525"/>
            <a:chOff x="4232008" y="4530103"/>
            <a:chExt cx="7492244" cy="18615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88715F18-B91B-4F85-A00C-63312C2A6C13}"/>
                    </a:ext>
                  </a:extLst>
                </p:cNvPr>
                <p:cNvSpPr/>
                <p:nvPr/>
              </p:nvSpPr>
              <p:spPr>
                <a:xfrm>
                  <a:off x="4232008" y="5293058"/>
                  <a:ext cx="7492244" cy="1098570"/>
                </a:xfrm>
                <a:prstGeom prst="rect">
                  <a:avLst/>
                </a:prstGeom>
                <a:ln w="38100">
                  <a:solidFill>
                    <a:srgbClr val="FF0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pt-BR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BR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BR" sz="24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</m:e>
                              <m:lim>
                                <m:r>
                                  <a:rPr lang="en-US" altLang="zh-CN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b>
                                  <m:sSubPr>
                                    <m:ctrlPr>
                                      <a:rPr lang="zh-CN" alt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  <m:brk m:alnAt="23"/>
                                  </m:r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zh-CN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func>
                                  <m:funcPr>
                                    <m:ctrlP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i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altLang="zh-CN" sz="240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altLang="en-US" sz="2400" b="1" i="1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400" b="1" i="1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400" b="1" i="1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𝒊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sup>
                                        </m:sSup>
                                      </m:den>
                                    </m:f>
                                  </m:e>
                                </m:func>
                              </m:e>
                            </m:nary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  <m:brk m:alnAt="23"/>
                                  </m:r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func>
                                  <m:funcPr>
                                    <m:ctrlPr>
                                      <a:rPr lang="en-US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altLang="zh-CN" sz="240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altLang="en-US" sz="2400" b="1" i="1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400" b="1" i="1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400" b="1" i="1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𝒊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sup>
                                        </m:sSup>
                                      </m:den>
                                    </m:f>
                                  </m:e>
                                </m:func>
                              </m:e>
                            </m:nary>
                          </m:e>
                        </m:func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88715F18-B91B-4F85-A00C-63312C2A6C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008" y="5293058"/>
                  <a:ext cx="7492244" cy="10985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箭头: 下 5">
              <a:extLst>
                <a:ext uri="{FF2B5EF4-FFF2-40B4-BE49-F238E27FC236}">
                  <a16:creationId xmlns:a16="http://schemas.microsoft.com/office/drawing/2014/main" id="{E989CC51-7420-4370-9A68-A98AE9D72F09}"/>
                </a:ext>
              </a:extLst>
            </p:cNvPr>
            <p:cNvSpPr/>
            <p:nvPr/>
          </p:nvSpPr>
          <p:spPr>
            <a:xfrm>
              <a:off x="7867298" y="4530103"/>
              <a:ext cx="254922" cy="541436"/>
            </a:xfrm>
            <a:prstGeom prst="down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矩形: 圆角 9">
            <a:extLst>
              <a:ext uri="{FF2B5EF4-FFF2-40B4-BE49-F238E27FC236}">
                <a16:creationId xmlns:a16="http://schemas.microsoft.com/office/drawing/2014/main" id="{CA2A46E6-0C56-4525-BC7D-21E81898DFE5}"/>
              </a:ext>
            </a:extLst>
          </p:cNvPr>
          <p:cNvSpPr/>
          <p:nvPr/>
        </p:nvSpPr>
        <p:spPr>
          <a:xfrm>
            <a:off x="410681" y="1053901"/>
            <a:ext cx="11439171" cy="164216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DC8D7AB-05E1-412A-B59A-052771C33CAF}"/>
              </a:ext>
            </a:extLst>
          </p:cNvPr>
          <p:cNvSpPr/>
          <p:nvPr/>
        </p:nvSpPr>
        <p:spPr>
          <a:xfrm>
            <a:off x="410681" y="1070051"/>
            <a:ext cx="1158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For binary classification, consider the exponential error function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186B38D-0F1E-4A31-8BC3-CC2A5A0BFC25}"/>
                  </a:ext>
                </a:extLst>
              </p:cNvPr>
              <p:cNvSpPr/>
              <p:nvPr/>
            </p:nvSpPr>
            <p:spPr>
              <a:xfrm>
                <a:off x="2566195" y="1564942"/>
                <a:ext cx="32955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b="0" i="1" dirty="0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⁡{−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𝑡𝑓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)}]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186B38D-0F1E-4A31-8BC3-CC2A5A0B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195" y="1564942"/>
                <a:ext cx="3295581" cy="461665"/>
              </a:xfrm>
              <a:prstGeom prst="rect">
                <a:avLst/>
              </a:prstGeom>
              <a:blipFill>
                <a:blip r:embed="rId7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A0B1B31-F288-4269-A2B0-402A34A66245}"/>
                  </a:ext>
                </a:extLst>
              </p:cNvPr>
              <p:cNvSpPr/>
              <p:nvPr/>
            </p:nvSpPr>
            <p:spPr>
              <a:xfrm>
                <a:off x="6317209" y="1564942"/>
                <a:ext cx="17336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∈ {−1, 1}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A0B1B31-F288-4269-A2B0-402A34A66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209" y="1564942"/>
                <a:ext cx="1733680" cy="461665"/>
              </a:xfrm>
              <a:prstGeom prst="rect">
                <a:avLst/>
              </a:prstGeom>
              <a:blipFill>
                <a:blip r:embed="rId8"/>
                <a:stretch>
                  <a:fillRect r="-351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EBAB108-E7CE-414B-91D1-4497678C6016}"/>
                  </a:ext>
                </a:extLst>
              </p:cNvPr>
              <p:cNvSpPr/>
              <p:nvPr/>
            </p:nvSpPr>
            <p:spPr>
              <a:xfrm>
                <a:off x="442269" y="2116363"/>
                <a:ext cx="115824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It is almost </a:t>
                </a:r>
                <a:r>
                  <a:rPr lang="en-US" altLang="zh-CN" sz="2400" dirty="0">
                    <a:solidFill>
                      <a:srgbClr val="0000FF"/>
                    </a:solidFill>
                  </a:rPr>
                  <a:t>equivalent</a:t>
                </a:r>
                <a:r>
                  <a:rPr lang="en-US" altLang="zh-CN" sz="2400" dirty="0"/>
                  <a:t> to the </a:t>
                </a:r>
                <a:r>
                  <a:rPr lang="en-US" altLang="zh-CN" sz="2400" dirty="0">
                    <a:solidFill>
                      <a:srgbClr val="0000FF"/>
                    </a:solidFill>
                  </a:rPr>
                  <a:t>logistic cross </a:t>
                </a:r>
                <a:r>
                  <a:rPr lang="en-US" altLang="zh-CN" sz="2400" dirty="0"/>
                  <a:t>entropy loss (for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altLang="zh-CN" sz="2400" dirty="0"/>
                  <a:t> labels).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EBAB108-E7CE-414B-91D1-4497678C6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9" y="2116363"/>
                <a:ext cx="11582400" cy="461665"/>
              </a:xfrm>
              <a:prstGeom prst="rect">
                <a:avLst/>
              </a:prstGeom>
              <a:blipFill>
                <a:blip r:embed="rId9"/>
                <a:stretch>
                  <a:fillRect l="-84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57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9">
            <a:extLst>
              <a:ext uri="{FF2B5EF4-FFF2-40B4-BE49-F238E27FC236}">
                <a16:creationId xmlns:a16="http://schemas.microsoft.com/office/drawing/2014/main" id="{519C19E3-B9C3-4F60-99F3-6A0F48AE62CF}"/>
              </a:ext>
            </a:extLst>
          </p:cNvPr>
          <p:cNvSpPr/>
          <p:nvPr/>
        </p:nvSpPr>
        <p:spPr>
          <a:xfrm>
            <a:off x="410680" y="2922548"/>
            <a:ext cx="11439171" cy="375010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58675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Exponential Error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746751C-E2FA-4DA7-A4AF-25100A765244}"/>
                  </a:ext>
                </a:extLst>
              </p:cNvPr>
              <p:cNvSpPr/>
              <p:nvPr/>
            </p:nvSpPr>
            <p:spPr>
              <a:xfrm>
                <a:off x="442269" y="3361157"/>
                <a:ext cx="5971827" cy="7500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</m:num>
                            <m:den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746751C-E2FA-4DA7-A4AF-25100A765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9" y="3361157"/>
                <a:ext cx="5971827" cy="750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D1DBFF3-CC80-420C-93D8-003075616B67}"/>
                  </a:ext>
                </a:extLst>
              </p:cNvPr>
              <p:cNvSpPr/>
              <p:nvPr/>
            </p:nvSpPr>
            <p:spPr>
              <a:xfrm>
                <a:off x="442269" y="4169104"/>
                <a:ext cx="10696261" cy="9762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 i="1" dirty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D1DBFF3-CC80-420C-93D8-003075616B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9" y="4169104"/>
                <a:ext cx="10696261" cy="9762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BD77EB8F-ACAD-46A7-9C84-BBF001A90EA1}"/>
                  </a:ext>
                </a:extLst>
              </p:cNvPr>
              <p:cNvSpPr/>
              <p:nvPr/>
            </p:nvSpPr>
            <p:spPr>
              <a:xfrm>
                <a:off x="442269" y="4834424"/>
                <a:ext cx="6014595" cy="1074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0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dirty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CN" sz="20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</m:e>
                              </m:func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dirty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CN" sz="20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=+1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BD77EB8F-ACAD-46A7-9C84-BBF001A90E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9" y="4834424"/>
                <a:ext cx="6014595" cy="10749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573073" y="2913347"/>
            <a:ext cx="2928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Logistic cross entropy loss</a:t>
            </a:r>
            <a:endParaRPr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C0816CDD-EE7C-4479-B1E3-6D4032240110}"/>
                  </a:ext>
                </a:extLst>
              </p:cNvPr>
              <p:cNvSpPr/>
              <p:nvPr/>
            </p:nvSpPr>
            <p:spPr>
              <a:xfrm>
                <a:off x="3533605" y="6004734"/>
                <a:ext cx="26958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sz="2000" b="1" dirty="0"/>
                  <a:t>Exponential error loss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C0816CDD-EE7C-4479-B1E3-6D4032240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605" y="6004734"/>
                <a:ext cx="2695866" cy="400110"/>
              </a:xfrm>
              <a:prstGeom prst="rect">
                <a:avLst/>
              </a:prstGeom>
              <a:blipFill>
                <a:blip r:embed="rId5"/>
                <a:stretch>
                  <a:fillRect t="-7576" r="-1584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: 圆角 9">
            <a:extLst>
              <a:ext uri="{FF2B5EF4-FFF2-40B4-BE49-F238E27FC236}">
                <a16:creationId xmlns:a16="http://schemas.microsoft.com/office/drawing/2014/main" id="{4387E3BA-5A9D-4053-891C-3365DEC6930F}"/>
              </a:ext>
            </a:extLst>
          </p:cNvPr>
          <p:cNvSpPr/>
          <p:nvPr/>
        </p:nvSpPr>
        <p:spPr>
          <a:xfrm>
            <a:off x="410681" y="1053901"/>
            <a:ext cx="11439171" cy="164216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5D1FDF-2E90-40DB-A7F5-D18879AB02E8}"/>
              </a:ext>
            </a:extLst>
          </p:cNvPr>
          <p:cNvSpPr/>
          <p:nvPr/>
        </p:nvSpPr>
        <p:spPr>
          <a:xfrm>
            <a:off x="410681" y="1070051"/>
            <a:ext cx="1158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For binary classification, consider the exponential error function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44B9533-A5DF-4524-A220-4C5CCC61BC95}"/>
                  </a:ext>
                </a:extLst>
              </p:cNvPr>
              <p:cNvSpPr/>
              <p:nvPr/>
            </p:nvSpPr>
            <p:spPr>
              <a:xfrm>
                <a:off x="2566195" y="1564942"/>
                <a:ext cx="32955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b="0" i="1" dirty="0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⁡{−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𝑡𝑓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)}]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44B9533-A5DF-4524-A220-4C5CCC61BC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195" y="1564942"/>
                <a:ext cx="3295581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CA1F77D-F0E5-4055-86BF-DFE5FC70D050}"/>
                  </a:ext>
                </a:extLst>
              </p:cNvPr>
              <p:cNvSpPr/>
              <p:nvPr/>
            </p:nvSpPr>
            <p:spPr>
              <a:xfrm>
                <a:off x="6317209" y="1564942"/>
                <a:ext cx="17336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∈ {−1, 1}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CA1F77D-F0E5-4055-86BF-DFE5FC70D0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209" y="1564942"/>
                <a:ext cx="1733680" cy="461665"/>
              </a:xfrm>
              <a:prstGeom prst="rect">
                <a:avLst/>
              </a:prstGeom>
              <a:blipFill>
                <a:blip r:embed="rId7"/>
                <a:stretch>
                  <a:fillRect r="-351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29C1A35-C02F-4010-B84C-E49609D6A38E}"/>
                  </a:ext>
                </a:extLst>
              </p:cNvPr>
              <p:cNvSpPr/>
              <p:nvPr/>
            </p:nvSpPr>
            <p:spPr>
              <a:xfrm>
                <a:off x="442269" y="2116363"/>
                <a:ext cx="115824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It is almost equivalent to the logistic cross entropy loss (for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altLang="zh-CN" sz="2400" dirty="0"/>
                  <a:t> labels).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29C1A35-C02F-4010-B84C-E49609D6A3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9" y="2116363"/>
                <a:ext cx="11582400" cy="461665"/>
              </a:xfrm>
              <a:prstGeom prst="rect">
                <a:avLst/>
              </a:prstGeom>
              <a:blipFill>
                <a:blip r:embed="rId8"/>
                <a:stretch>
                  <a:fillRect l="-84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8E6824F-9E92-4622-9A62-37EFB3632FD0}"/>
                  </a:ext>
                </a:extLst>
              </p:cNvPr>
              <p:cNvSpPr/>
              <p:nvPr/>
            </p:nvSpPr>
            <p:spPr>
              <a:xfrm>
                <a:off x="442269" y="6004734"/>
                <a:ext cx="3059747" cy="445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8E6824F-9E92-4622-9A62-37EFB3632F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9" y="6004734"/>
                <a:ext cx="3059747" cy="445635"/>
              </a:xfrm>
              <a:prstGeom prst="rect">
                <a:avLst/>
              </a:prstGeom>
              <a:blipFill>
                <a:blip r:embed="rId9"/>
                <a:stretch>
                  <a:fillRect b="-9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25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30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9">
            <a:extLst>
              <a:ext uri="{FF2B5EF4-FFF2-40B4-BE49-F238E27FC236}">
                <a16:creationId xmlns:a16="http://schemas.microsoft.com/office/drawing/2014/main" id="{519C19E3-B9C3-4F60-99F3-6A0F48AE62CF}"/>
              </a:ext>
            </a:extLst>
          </p:cNvPr>
          <p:cNvSpPr/>
          <p:nvPr/>
        </p:nvSpPr>
        <p:spPr>
          <a:xfrm>
            <a:off x="410680" y="2922549"/>
            <a:ext cx="11439171" cy="3486490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0681" y="253477"/>
            <a:ext cx="58675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Exponential Error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AC928627-E53B-4B5E-A213-306122D130EC}"/>
                  </a:ext>
                </a:extLst>
              </p:cNvPr>
              <p:cNvSpPr/>
              <p:nvPr/>
            </p:nvSpPr>
            <p:spPr>
              <a:xfrm>
                <a:off x="2107126" y="4314490"/>
                <a:ext cx="7656583" cy="7336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𝔼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altLang="zh-CN" sz="2000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⁡{−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)}|</m:t>
                          </m:r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zh-CN" altLang="en-US" sz="20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sSup>
                        <m:sSup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sSup>
                        <m:sSup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p>
                      </m:sSup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AC928627-E53B-4B5E-A213-306122D13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126" y="4314490"/>
                <a:ext cx="7656583" cy="733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442269" y="2922548"/>
            <a:ext cx="1340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In addition</a:t>
            </a:r>
            <a:endParaRPr lang="zh-CN" alt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B058F3F-AB4A-496A-B75A-67BA19FF5907}"/>
                  </a:ext>
                </a:extLst>
              </p:cNvPr>
              <p:cNvSpPr/>
              <p:nvPr/>
            </p:nvSpPr>
            <p:spPr>
              <a:xfrm>
                <a:off x="2107126" y="2904220"/>
                <a:ext cx="7724614" cy="8996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CN" sz="2000" dirty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⁡{−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)}]=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altLang="zh-CN" sz="20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=−1|</m:t>
                              </m:r>
                              <m:r>
                                <a:rPr lang="en-US" altLang="zh-CN" sz="20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B058F3F-AB4A-496A-B75A-67BA19FF5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126" y="2904220"/>
                <a:ext cx="7724614" cy="8996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442269" y="5917679"/>
            <a:ext cx="9712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Hence, AdaBoost and Logistic Regression are equivalent up to a factor 2.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C928627-E53B-4B5E-A213-306122D130EC}"/>
                  </a:ext>
                </a:extLst>
              </p:cNvPr>
              <p:cNvSpPr/>
              <p:nvPr/>
            </p:nvSpPr>
            <p:spPr>
              <a:xfrm>
                <a:off x="2107126" y="5050771"/>
                <a:ext cx="2890407" cy="741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altLang="zh-CN" sz="20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=−1</m:t>
                                  </m:r>
                                </m:e>
                                <m:e>
                                  <m:r>
                                    <a:rPr lang="en-US" altLang="zh-CN" sz="20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C928627-E53B-4B5E-A213-306122D13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126" y="5050771"/>
                <a:ext cx="2890407" cy="7414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7A67879-2737-484B-A11A-13709466E26C}"/>
                  </a:ext>
                </a:extLst>
              </p:cNvPr>
              <p:cNvSpPr/>
              <p:nvPr/>
            </p:nvSpPr>
            <p:spPr>
              <a:xfrm>
                <a:off x="2107126" y="3701623"/>
                <a:ext cx="6907981" cy="445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CN" sz="2000" dirty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⁡{−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)}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sz="20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=−1|</m:t>
                          </m:r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7A67879-2737-484B-A11A-13709466E2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126" y="3701623"/>
                <a:ext cx="6907981" cy="445635"/>
              </a:xfrm>
              <a:prstGeom prst="rect">
                <a:avLst/>
              </a:prstGeom>
              <a:blipFill>
                <a:blip r:embed="rId6"/>
                <a:stretch>
                  <a:fillRect b="-10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: 圆角 9">
            <a:extLst>
              <a:ext uri="{FF2B5EF4-FFF2-40B4-BE49-F238E27FC236}">
                <a16:creationId xmlns:a16="http://schemas.microsoft.com/office/drawing/2014/main" id="{7F07C7D6-C2ED-4EEC-A1FC-5DE0CB61DFD4}"/>
              </a:ext>
            </a:extLst>
          </p:cNvPr>
          <p:cNvSpPr/>
          <p:nvPr/>
        </p:nvSpPr>
        <p:spPr>
          <a:xfrm>
            <a:off x="410681" y="1053901"/>
            <a:ext cx="11439171" cy="164216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701462-64DD-4326-B78F-892F83C00A75}"/>
              </a:ext>
            </a:extLst>
          </p:cNvPr>
          <p:cNvSpPr/>
          <p:nvPr/>
        </p:nvSpPr>
        <p:spPr>
          <a:xfrm>
            <a:off x="410681" y="1070051"/>
            <a:ext cx="1158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For binary classification, consider the exponential error function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012EFE9-4C5D-4FD0-9665-4A5786F41081}"/>
                  </a:ext>
                </a:extLst>
              </p:cNvPr>
              <p:cNvSpPr/>
              <p:nvPr/>
            </p:nvSpPr>
            <p:spPr>
              <a:xfrm>
                <a:off x="2566195" y="1564942"/>
                <a:ext cx="32955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b="0" i="1" dirty="0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CN" sz="2400" b="0" i="0" dirty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⁡{−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𝑡𝑓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)}]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012EFE9-4C5D-4FD0-9665-4A5786F41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195" y="1564942"/>
                <a:ext cx="3295581" cy="461665"/>
              </a:xfrm>
              <a:prstGeom prst="rect">
                <a:avLst/>
              </a:prstGeom>
              <a:blipFill>
                <a:blip r:embed="rId7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7C2BA8F-BEF8-4ACE-95D4-5103EC125226}"/>
                  </a:ext>
                </a:extLst>
              </p:cNvPr>
              <p:cNvSpPr/>
              <p:nvPr/>
            </p:nvSpPr>
            <p:spPr>
              <a:xfrm>
                <a:off x="6317209" y="1564942"/>
                <a:ext cx="17336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∈ {−1, 1}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7C2BA8F-BEF8-4ACE-95D4-5103EC1252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209" y="1564942"/>
                <a:ext cx="1733680" cy="461665"/>
              </a:xfrm>
              <a:prstGeom prst="rect">
                <a:avLst/>
              </a:prstGeom>
              <a:blipFill>
                <a:blip r:embed="rId8"/>
                <a:stretch>
                  <a:fillRect r="-351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6D02981-C07B-4044-81DF-32739B2DD0C4}"/>
                  </a:ext>
                </a:extLst>
              </p:cNvPr>
              <p:cNvSpPr/>
              <p:nvPr/>
            </p:nvSpPr>
            <p:spPr>
              <a:xfrm>
                <a:off x="442269" y="2116363"/>
                <a:ext cx="115824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dirty="0"/>
                  <a:t>It is almost equivalent to the logistic cross entropy loss (for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altLang="zh-CN" sz="2400" dirty="0"/>
                  <a:t> labels).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6D02981-C07B-4044-81DF-32739B2DD0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9" y="2116363"/>
                <a:ext cx="11582400" cy="461665"/>
              </a:xfrm>
              <a:prstGeom prst="rect">
                <a:avLst/>
              </a:prstGeom>
              <a:blipFill>
                <a:blip r:embed="rId9"/>
                <a:stretch>
                  <a:fillRect l="-84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370054BA-C772-4394-87D0-9A8772C52E3F}"/>
              </a:ext>
            </a:extLst>
          </p:cNvPr>
          <p:cNvGrpSpPr/>
          <p:nvPr/>
        </p:nvGrpSpPr>
        <p:grpSpPr>
          <a:xfrm>
            <a:off x="5209280" y="5046475"/>
            <a:ext cx="3861953" cy="750077"/>
            <a:chOff x="5209280" y="5046475"/>
            <a:chExt cx="3861953" cy="7500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261028EF-1567-4E43-A672-F0FF70F0D57B}"/>
                    </a:ext>
                  </a:extLst>
                </p:cNvPr>
                <p:cNvSpPr/>
                <p:nvPr/>
              </p:nvSpPr>
              <p:spPr>
                <a:xfrm>
                  <a:off x="6233469" y="5046475"/>
                  <a:ext cx="2837764" cy="7500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261028EF-1567-4E43-A672-F0FF70F0D5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3469" y="5046475"/>
                  <a:ext cx="2837764" cy="7500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箭头: 右 2">
              <a:extLst>
                <a:ext uri="{FF2B5EF4-FFF2-40B4-BE49-F238E27FC236}">
                  <a16:creationId xmlns:a16="http://schemas.microsoft.com/office/drawing/2014/main" id="{1F284546-D090-4C1D-B6FC-B36722040A21}"/>
                </a:ext>
              </a:extLst>
            </p:cNvPr>
            <p:cNvSpPr/>
            <p:nvPr/>
          </p:nvSpPr>
          <p:spPr>
            <a:xfrm>
              <a:off x="5209280" y="5294690"/>
              <a:ext cx="652496" cy="25364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51852074-C7B6-47C1-A4FC-9B5D01748BDD}"/>
              </a:ext>
            </a:extLst>
          </p:cNvPr>
          <p:cNvSpPr/>
          <p:nvPr/>
        </p:nvSpPr>
        <p:spPr>
          <a:xfrm>
            <a:off x="4581525" y="2922548"/>
            <a:ext cx="4248150" cy="7229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1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5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3556</TotalTime>
  <Words>5683</Words>
  <Application>Microsoft Macintosh PowerPoint</Application>
  <PresentationFormat>Widescreen</PresentationFormat>
  <Paragraphs>874</Paragraphs>
  <Slides>99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7" baseType="lpstr">
      <vt:lpstr>Arial</vt:lpstr>
      <vt:lpstr>Calibri</vt:lpstr>
      <vt:lpstr>Calibri Light</vt:lpstr>
      <vt:lpstr>Cambria Math</vt:lpstr>
      <vt:lpstr>Helvetica</vt:lpstr>
      <vt:lpstr>Verdana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xuemeng song</dc:creator>
  <cp:lastModifiedBy>Microsoft Office User</cp:lastModifiedBy>
  <cp:revision>674</cp:revision>
  <dcterms:created xsi:type="dcterms:W3CDTF">2018-07-20T01:47:54Z</dcterms:created>
  <dcterms:modified xsi:type="dcterms:W3CDTF">2022-12-20T10:42:33Z</dcterms:modified>
</cp:coreProperties>
</file>