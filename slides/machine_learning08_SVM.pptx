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262" r:id="rId2"/>
    <p:sldId id="358" r:id="rId3"/>
    <p:sldId id="359" r:id="rId4"/>
    <p:sldId id="600" r:id="rId5"/>
    <p:sldId id="500" r:id="rId6"/>
    <p:sldId id="504" r:id="rId7"/>
    <p:sldId id="501" r:id="rId8"/>
    <p:sldId id="505" r:id="rId9"/>
    <p:sldId id="508" r:id="rId10"/>
    <p:sldId id="360" r:id="rId11"/>
    <p:sldId id="607" r:id="rId12"/>
    <p:sldId id="431" r:id="rId13"/>
    <p:sldId id="433" r:id="rId14"/>
    <p:sldId id="364" r:id="rId15"/>
    <p:sldId id="436" r:id="rId16"/>
    <p:sldId id="365" r:id="rId17"/>
    <p:sldId id="438" r:id="rId18"/>
    <p:sldId id="366" r:id="rId19"/>
    <p:sldId id="362" r:id="rId20"/>
    <p:sldId id="439" r:id="rId21"/>
    <p:sldId id="598" r:id="rId22"/>
    <p:sldId id="374" r:id="rId23"/>
    <p:sldId id="367" r:id="rId24"/>
    <p:sldId id="440" r:id="rId25"/>
    <p:sldId id="574" r:id="rId26"/>
    <p:sldId id="575" r:id="rId27"/>
    <p:sldId id="576" r:id="rId28"/>
    <p:sldId id="577" r:id="rId29"/>
    <p:sldId id="578" r:id="rId30"/>
    <p:sldId id="580" r:id="rId31"/>
    <p:sldId id="581" r:id="rId32"/>
    <p:sldId id="582" r:id="rId33"/>
    <p:sldId id="583" r:id="rId34"/>
    <p:sldId id="584" r:id="rId35"/>
    <p:sldId id="585" r:id="rId36"/>
    <p:sldId id="586" r:id="rId37"/>
    <p:sldId id="588" r:id="rId38"/>
    <p:sldId id="443" r:id="rId39"/>
    <p:sldId id="386" r:id="rId40"/>
    <p:sldId id="370" r:id="rId41"/>
    <p:sldId id="444" r:id="rId42"/>
    <p:sldId id="604" r:id="rId43"/>
    <p:sldId id="603" r:id="rId44"/>
    <p:sldId id="376" r:id="rId45"/>
    <p:sldId id="377" r:id="rId46"/>
    <p:sldId id="599" r:id="rId47"/>
    <p:sldId id="606" r:id="rId48"/>
    <p:sldId id="379" r:id="rId49"/>
    <p:sldId id="380" r:id="rId50"/>
    <p:sldId id="381" r:id="rId51"/>
    <p:sldId id="382" r:id="rId52"/>
    <p:sldId id="383" r:id="rId53"/>
    <p:sldId id="390" r:id="rId54"/>
    <p:sldId id="389" r:id="rId55"/>
    <p:sldId id="591" r:id="rId56"/>
    <p:sldId id="510" r:id="rId57"/>
    <p:sldId id="387" r:id="rId58"/>
    <p:sldId id="511" r:id="rId59"/>
    <p:sldId id="601" r:id="rId60"/>
    <p:sldId id="392" r:id="rId61"/>
    <p:sldId id="509" r:id="rId62"/>
    <p:sldId id="391" r:id="rId63"/>
    <p:sldId id="512" r:id="rId64"/>
    <p:sldId id="393" r:id="rId65"/>
    <p:sldId id="448" r:id="rId66"/>
    <p:sldId id="590" r:id="rId67"/>
    <p:sldId id="384" r:id="rId68"/>
    <p:sldId id="592" r:id="rId69"/>
    <p:sldId id="593" r:id="rId70"/>
    <p:sldId id="595" r:id="rId71"/>
    <p:sldId id="596" r:id="rId72"/>
    <p:sldId id="597" r:id="rId73"/>
    <p:sldId id="589" r:id="rId74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FF7"/>
    <a:srgbClr val="F9E6E6"/>
    <a:srgbClr val="E6F5F0"/>
    <a:srgbClr val="FFFBD6"/>
    <a:srgbClr val="C6FEE1"/>
    <a:srgbClr val="CCCCFF"/>
    <a:srgbClr val="A4A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9" autoAdjust="0"/>
    <p:restoredTop sz="88696" autoAdjust="0"/>
  </p:normalViewPr>
  <p:slideViewPr>
    <p:cSldViewPr>
      <p:cViewPr varScale="1">
        <p:scale>
          <a:sx n="186" d="100"/>
          <a:sy n="186" d="100"/>
        </p:scale>
        <p:origin x="222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472" y="-84"/>
      </p:cViewPr>
      <p:guideLst>
        <p:guide orient="horz" pos="3223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2172"/>
          </a:xfrm>
          <a:prstGeom prst="rect">
            <a:avLst/>
          </a:prstGeom>
        </p:spPr>
        <p:txBody>
          <a:bodyPr vert="horz" lIns="98700" tIns="49350" rIns="98700" bIns="49350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1"/>
            <a:ext cx="3076363" cy="512172"/>
          </a:xfrm>
          <a:prstGeom prst="rect">
            <a:avLst/>
          </a:prstGeom>
        </p:spPr>
        <p:txBody>
          <a:bodyPr vert="horz" lIns="98700" tIns="49350" rIns="98700" bIns="49350" rtlCol="0"/>
          <a:lstStyle>
            <a:lvl1pPr algn="r">
              <a:defRPr sz="1300"/>
            </a:lvl1pPr>
          </a:lstStyle>
          <a:p>
            <a:fld id="{CCC26614-1D04-4396-B6E2-C19B947215A2}" type="datetimeFigureOut">
              <a:rPr lang="en-SG" smtClean="0"/>
              <a:pPr/>
              <a:t>15/4/22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675"/>
            <a:ext cx="3076363" cy="512172"/>
          </a:xfrm>
          <a:prstGeom prst="rect">
            <a:avLst/>
          </a:prstGeom>
        </p:spPr>
        <p:txBody>
          <a:bodyPr vert="horz" lIns="98700" tIns="49350" rIns="98700" bIns="49350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0675"/>
            <a:ext cx="3076363" cy="512172"/>
          </a:xfrm>
          <a:prstGeom prst="rect">
            <a:avLst/>
          </a:prstGeom>
        </p:spPr>
        <p:txBody>
          <a:bodyPr vert="horz" lIns="98700" tIns="49350" rIns="98700" bIns="49350" rtlCol="0" anchor="b"/>
          <a:lstStyle>
            <a:lvl1pPr algn="r">
              <a:defRPr sz="1300"/>
            </a:lvl1pPr>
          </a:lstStyle>
          <a:p>
            <a:fld id="{C7EFE5A2-1568-429C-BE8E-2E6DC0D943AC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9322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0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0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6F432B6D-A944-402B-96B6-E632575D7E79}" type="datetimeFigureOut">
              <a:rPr lang="zh-CN" altLang="en-US" smtClean="0"/>
              <a:pPr/>
              <a:t>2022/4/15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5" tIns="49517" rIns="99035" bIns="49517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3"/>
            <a:ext cx="5679440" cy="4605575"/>
          </a:xfrm>
          <a:prstGeom prst="rect">
            <a:avLst/>
          </a:prstGeom>
        </p:spPr>
        <p:txBody>
          <a:bodyPr vert="horz" lIns="99035" tIns="49517" rIns="99035" bIns="49517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AAC2F60A-152F-48D0-9141-43BF58F8A6C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25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614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071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286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673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400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98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44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29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174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033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934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015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093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451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623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9684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52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282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830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834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241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1405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2262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2932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7905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258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4961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6468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7852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4668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3999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3953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7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3198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5411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1315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8732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1728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0334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0879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4063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4798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8692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3994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801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0240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606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3073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3672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6673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47365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6815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41994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9433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03518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7068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90401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3753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22624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24598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34658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768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1B9A-E6E9-40BD-AB45-02F7B361E448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ngsana New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  <a:cs typeface="Angsana New" pitchFamily="18" charset="-34"/>
              </a:defRPr>
            </a:lvl1pPr>
            <a:lvl2pPr>
              <a:defRPr sz="2400">
                <a:latin typeface="+mj-lt"/>
                <a:cs typeface="Angsana New" pitchFamily="18" charset="-34"/>
              </a:defRPr>
            </a:lvl2pPr>
            <a:lvl3pPr>
              <a:defRPr sz="2000">
                <a:latin typeface="+mj-lt"/>
                <a:cs typeface="Angsana New" pitchFamily="18" charset="-34"/>
              </a:defRPr>
            </a:lvl3pPr>
            <a:lvl4pPr>
              <a:defRPr sz="1800">
                <a:latin typeface="+mj-lt"/>
                <a:cs typeface="Angsana New" pitchFamily="18" charset="-34"/>
              </a:defRPr>
            </a:lvl4pPr>
            <a:lvl5pPr>
              <a:defRPr sz="1800">
                <a:latin typeface="+mj-lt"/>
                <a:cs typeface="Angsana New" pitchFamily="18" charset="-34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>
                <a:latin typeface="+mj-lt"/>
                <a:cs typeface="Angsana New" pitchFamily="18" charset="-34"/>
              </a:defRPr>
            </a:lvl1pPr>
          </a:lstStyle>
          <a:p>
            <a:fld id="{3A54F689-37E2-4F27-9396-B6464EACF2ED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latin typeface="+mj-lt"/>
                <a:cs typeface="Angsana New" pitchFamily="18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latin typeface="+mj-lt"/>
                <a:cs typeface="Angsana New" pitchFamily="18" charset="-34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1324-85EF-43B5-B913-F6869D5AA6A9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81C05-8AD2-444A-B900-853AA69F0259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204-EBB1-4322-BFB3-7A1AA1EEECDF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CA418-7262-4828-80FA-FA46C6F9EB92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1F73-96D6-4881-BD49-28237B3FC7B7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7B802-0F5D-472D-9995-6A46374EE0ED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1B82E-E033-47D0-A174-F7B28D0260B7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D80F-77A2-421A-88FE-2BECDF0FDDCD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8F8A-92C3-4CF8-B3AB-78E94E20ECBA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golian Baiti" pitchFamily="66" charset="0"/>
                <a:cs typeface="Mongolian Baiti" pitchFamily="66" charset="0"/>
              </a:defRPr>
            </a:lvl1pPr>
          </a:lstStyle>
          <a:p>
            <a:fld id="{190A0841-68FC-48E5-AEB7-1EEAF48CF6EC}" type="datetime1">
              <a:rPr lang="en-US" smtClean="0"/>
              <a:pPr/>
              <a:t>4/15/22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golian Baiti" pitchFamily="66" charset="0"/>
                <a:cs typeface="Mongolian Baiti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golian Baiti" pitchFamily="66" charset="0"/>
                <a:cs typeface="Mongolian Baiti" pitchFamily="66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ongolian Baiti" pitchFamily="66" charset="0"/>
          <a:ea typeface="+mj-ea"/>
          <a:cs typeface="Mongolian Baiti" pitchFamily="66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Mongolian Baiti" pitchFamily="66" charset="0"/>
          <a:ea typeface="+mn-ea"/>
          <a:cs typeface="Mongolian Baiti" pitchFamily="66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Mongolian Baiti" pitchFamily="66" charset="0"/>
          <a:ea typeface="+mn-ea"/>
          <a:cs typeface="Mongolian Baiti" pitchFamily="66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Mongolian Baiti" pitchFamily="66" charset="0"/>
          <a:ea typeface="+mn-ea"/>
          <a:cs typeface="Mongolian Baiti" pitchFamily="66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Mongolian Baiti" pitchFamily="66" charset="0"/>
          <a:ea typeface="+mn-ea"/>
          <a:cs typeface="Mongolian Baiti" pitchFamily="66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Mongolian Baiti" pitchFamily="66" charset="0"/>
          <a:ea typeface="+mn-ea"/>
          <a:cs typeface="Mongolian Baiti" pitchFamily="66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011.png"/><Relationship Id="rId7" Type="http://schemas.openxmlformats.org/officeDocument/2006/relationships/image" Target="../media/image410.png"/><Relationship Id="rId12" Type="http://schemas.openxmlformats.org/officeDocument/2006/relationships/image" Target="../media/image13.png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2.png"/><Relationship Id="rId15" Type="http://schemas.openxmlformats.org/officeDocument/2006/relationships/image" Target="../media/image510.png"/><Relationship Id="rId10" Type="http://schemas.openxmlformats.org/officeDocument/2006/relationships/image" Target="../media/image11.png"/><Relationship Id="rId19" Type="http://schemas.openxmlformats.org/officeDocument/2006/relationships/image" Target="../media/image16.png"/><Relationship Id="rId9" Type="http://schemas.openxmlformats.org/officeDocument/2006/relationships/image" Target="../media/image810.png"/><Relationship Id="rId1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3" Type="http://schemas.openxmlformats.org/officeDocument/2006/relationships/image" Target="../media/image168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8.png"/><Relationship Id="rId15" Type="http://schemas.openxmlformats.org/officeDocument/2006/relationships/image" Target="../media/image23.png"/><Relationship Id="rId10" Type="http://schemas.openxmlformats.org/officeDocument/2006/relationships/image" Target="../media/image21.png"/><Relationship Id="rId9" Type="http://schemas.openxmlformats.org/officeDocument/2006/relationships/image" Target="../media/image810.png"/><Relationship Id="rId1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8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mp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81.png"/><Relationship Id="rId7" Type="http://schemas.openxmlformats.org/officeDocument/2006/relationships/image" Target="../media/image38.png"/><Relationship Id="rId12" Type="http://schemas.openxmlformats.org/officeDocument/2006/relationships/image" Target="../media/image3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42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7" Type="http://schemas.openxmlformats.org/officeDocument/2006/relationships/image" Target="../media/image2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310.png"/><Relationship Id="rId4" Type="http://schemas.openxmlformats.org/officeDocument/2006/relationships/image" Target="../media/image12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0.png"/><Relationship Id="rId7" Type="http://schemas.openxmlformats.org/officeDocument/2006/relationships/image" Target="../media/image5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5" Type="http://schemas.openxmlformats.org/officeDocument/2006/relationships/image" Target="../media/image511.png"/><Relationship Id="rId4" Type="http://schemas.openxmlformats.org/officeDocument/2006/relationships/image" Target="../media/image5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4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m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m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tmp"/><Relationship Id="rId4" Type="http://schemas.openxmlformats.org/officeDocument/2006/relationships/image" Target="../media/image16.tm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tmp"/><Relationship Id="rId4" Type="http://schemas.openxmlformats.org/officeDocument/2006/relationships/image" Target="../media/image5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tm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7" Type="http://schemas.openxmlformats.org/officeDocument/2006/relationships/image" Target="../media/image19.tmp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4" Type="http://schemas.openxmlformats.org/officeDocument/2006/relationships/image" Target="../media/image21.tmp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tmp"/><Relationship Id="rId3" Type="http://schemas.openxmlformats.org/officeDocument/2006/relationships/image" Target="../media/image22.tmp"/><Relationship Id="rId7" Type="http://schemas.openxmlformats.org/officeDocument/2006/relationships/image" Target="../media/image24.tmp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tmp"/><Relationship Id="rId5" Type="http://schemas.openxmlformats.org/officeDocument/2006/relationships/image" Target="../media/image67.png"/><Relationship Id="rId9" Type="http://schemas.openxmlformats.org/officeDocument/2006/relationships/image" Target="../media/image19.tm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tmp"/><Relationship Id="rId4" Type="http://schemas.openxmlformats.org/officeDocument/2006/relationships/image" Target="../media/image29.tmp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73.png"/><Relationship Id="rId7" Type="http://schemas.openxmlformats.org/officeDocument/2006/relationships/image" Target="../media/image47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2.png"/><Relationship Id="rId4" Type="http://schemas.openxmlformats.org/officeDocument/2006/relationships/image" Target="../media/image601.png"/><Relationship Id="rId9" Type="http://schemas.openxmlformats.org/officeDocument/2006/relationships/image" Target="../media/image63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4" Type="http://schemas.openxmlformats.org/officeDocument/2006/relationships/image" Target="../media/image6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79.png"/><Relationship Id="rId4" Type="http://schemas.openxmlformats.org/officeDocument/2006/relationships/image" Target="../media/image78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13" Type="http://schemas.openxmlformats.org/officeDocument/2006/relationships/image" Target="../media/image94.png"/><Relationship Id="rId7" Type="http://schemas.openxmlformats.org/officeDocument/2006/relationships/image" Target="../media/image880.png"/><Relationship Id="rId1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0.png"/><Relationship Id="rId11" Type="http://schemas.openxmlformats.org/officeDocument/2006/relationships/image" Target="../media/image920.png"/><Relationship Id="rId5" Type="http://schemas.openxmlformats.org/officeDocument/2006/relationships/image" Target="../media/image860.png"/><Relationship Id="rId15" Type="http://schemas.openxmlformats.org/officeDocument/2006/relationships/image" Target="../media/image89.png"/><Relationship Id="rId10" Type="http://schemas.openxmlformats.org/officeDocument/2006/relationships/image" Target="../media/image910.png"/><Relationship Id="rId4" Type="http://schemas.openxmlformats.org/officeDocument/2006/relationships/image" Target="../media/image850.png"/><Relationship Id="rId9" Type="http://schemas.openxmlformats.org/officeDocument/2006/relationships/image" Target="../media/image900.png"/><Relationship Id="rId14" Type="http://schemas.openxmlformats.org/officeDocument/2006/relationships/image" Target="../media/image30.tmp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98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30.png"/><Relationship Id="rId10" Type="http://schemas.openxmlformats.org/officeDocument/2006/relationships/image" Target="../media/image104.png"/><Relationship Id="rId4" Type="http://schemas.openxmlformats.org/officeDocument/2006/relationships/image" Target="../media/image99.png"/><Relationship Id="rId9" Type="http://schemas.openxmlformats.org/officeDocument/2006/relationships/image" Target="../media/image10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1.png"/><Relationship Id="rId3" Type="http://schemas.openxmlformats.org/officeDocument/2006/relationships/image" Target="../media/image1000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0.png"/><Relationship Id="rId5" Type="http://schemas.openxmlformats.org/officeDocument/2006/relationships/image" Target="../media/image1020.png"/><Relationship Id="rId10" Type="http://schemas.openxmlformats.org/officeDocument/2006/relationships/image" Target="../media/image1071.png"/><Relationship Id="rId4" Type="http://schemas.openxmlformats.org/officeDocument/2006/relationships/image" Target="../media/image1012.png"/><Relationship Id="rId9" Type="http://schemas.openxmlformats.org/officeDocument/2006/relationships/image" Target="../media/image106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8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9" Type="http://schemas.openxmlformats.org/officeDocument/2006/relationships/image" Target="../media/image14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071.png"/><Relationship Id="rId9" Type="http://schemas.openxmlformats.org/officeDocument/2006/relationships/image" Target="../media/image10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0.png"/><Relationship Id="rId3" Type="http://schemas.openxmlformats.org/officeDocument/2006/relationships/image" Target="../media/image970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0.png"/><Relationship Id="rId4" Type="http://schemas.openxmlformats.org/officeDocument/2006/relationships/image" Target="../media/image10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0.png"/><Relationship Id="rId4" Type="http://schemas.openxmlformats.org/officeDocument/2006/relationships/image" Target="../media/image11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3" Type="http://schemas.openxmlformats.org/officeDocument/2006/relationships/image" Target="../media/image730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17.png"/><Relationship Id="rId4" Type="http://schemas.openxmlformats.org/officeDocument/2006/relationships/image" Target="../media/image12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91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721.png"/><Relationship Id="rId5" Type="http://schemas.openxmlformats.org/officeDocument/2006/relationships/image" Target="../media/image95.png"/><Relationship Id="rId10" Type="http://schemas.openxmlformats.org/officeDocument/2006/relationships/image" Target="../media/image124.png"/><Relationship Id="rId4" Type="http://schemas.openxmlformats.org/officeDocument/2006/relationships/image" Target="../media/image92.png"/><Relationship Id="rId9" Type="http://schemas.openxmlformats.org/officeDocument/2006/relationships/image" Target="../media/image12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0.png"/><Relationship Id="rId3" Type="http://schemas.openxmlformats.org/officeDocument/2006/relationships/image" Target="../media/image1250.png"/><Relationship Id="rId7" Type="http://schemas.openxmlformats.org/officeDocument/2006/relationships/image" Target="../media/image1230.png"/><Relationship Id="rId12" Type="http://schemas.openxmlformats.org/officeDocument/2006/relationships/image" Target="../media/image126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27.png"/><Relationship Id="rId5" Type="http://schemas.openxmlformats.org/officeDocument/2006/relationships/image" Target="../media/image1211.png"/><Relationship Id="rId10" Type="http://schemas.openxmlformats.org/officeDocument/2006/relationships/image" Target="../media/image12.tmp"/><Relationship Id="rId4" Type="http://schemas.openxmlformats.org/officeDocument/2006/relationships/image" Target="../media/image136.png"/><Relationship Id="rId9" Type="http://schemas.openxmlformats.org/officeDocument/2006/relationships/image" Target="../media/image12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0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32.tmp"/><Relationship Id="rId4" Type="http://schemas.openxmlformats.org/officeDocument/2006/relationships/image" Target="../media/image13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mp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mp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tmp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0.png"/><Relationship Id="rId4" Type="http://schemas.openxmlformats.org/officeDocument/2006/relationships/image" Target="../media/image36.tmp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37.tmp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0.png"/><Relationship Id="rId4" Type="http://schemas.openxmlformats.org/officeDocument/2006/relationships/image" Target="../media/image149.png"/><Relationship Id="rId9" Type="http://schemas.openxmlformats.org/officeDocument/2006/relationships/image" Target="../media/image15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0.png"/><Relationship Id="rId7" Type="http://schemas.openxmlformats.org/officeDocument/2006/relationships/image" Target="../media/image15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0.png"/><Relationship Id="rId3" Type="http://schemas.openxmlformats.org/officeDocument/2006/relationships/image" Target="../media/image1570.png"/><Relationship Id="rId7" Type="http://schemas.openxmlformats.org/officeDocument/2006/relationships/image" Target="../media/image1400.png"/><Relationship Id="rId12" Type="http://schemas.openxmlformats.org/officeDocument/2006/relationships/image" Target="../media/image16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0.png"/><Relationship Id="rId11" Type="http://schemas.openxmlformats.org/officeDocument/2006/relationships/image" Target="../media/image161.png"/><Relationship Id="rId5" Type="http://schemas.openxmlformats.org/officeDocument/2006/relationships/image" Target="../media/image1350.png"/><Relationship Id="rId10" Type="http://schemas.openxmlformats.org/officeDocument/2006/relationships/image" Target="../media/image160.png"/><Relationship Id="rId4" Type="http://schemas.openxmlformats.org/officeDocument/2006/relationships/image" Target="../media/image1580.png"/><Relationship Id="rId9" Type="http://schemas.openxmlformats.org/officeDocument/2006/relationships/image" Target="../media/image144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tmp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tmp"/><Relationship Id="rId3" Type="http://schemas.openxmlformats.org/officeDocument/2006/relationships/image" Target="../media/image1160.png"/><Relationship Id="rId7" Type="http://schemas.openxmlformats.org/officeDocument/2006/relationships/image" Target="../media/image169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0.png"/><Relationship Id="rId5" Type="http://schemas.openxmlformats.org/officeDocument/2006/relationships/image" Target="../media/image1670.png"/><Relationship Id="rId4" Type="http://schemas.openxmlformats.org/officeDocument/2006/relationships/image" Target="../media/image1661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13" Type="http://schemas.openxmlformats.org/officeDocument/2006/relationships/image" Target="../media/image94.png"/><Relationship Id="rId3" Type="http://schemas.openxmlformats.org/officeDocument/2006/relationships/image" Target="../media/image163.png"/><Relationship Id="rId7" Type="http://schemas.openxmlformats.org/officeDocument/2006/relationships/image" Target="../media/image880.png"/><Relationship Id="rId12" Type="http://schemas.openxmlformats.org/officeDocument/2006/relationships/image" Target="../media/image93.png"/><Relationship Id="rId17" Type="http://schemas.openxmlformats.org/officeDocument/2006/relationships/image" Target="../media/image125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0.png"/><Relationship Id="rId11" Type="http://schemas.openxmlformats.org/officeDocument/2006/relationships/image" Target="../media/image920.png"/><Relationship Id="rId5" Type="http://schemas.openxmlformats.org/officeDocument/2006/relationships/image" Target="../media/image860.png"/><Relationship Id="rId15" Type="http://schemas.openxmlformats.org/officeDocument/2006/relationships/image" Target="../media/image165.png"/><Relationship Id="rId10" Type="http://schemas.openxmlformats.org/officeDocument/2006/relationships/image" Target="../media/image910.png"/><Relationship Id="rId4" Type="http://schemas.openxmlformats.org/officeDocument/2006/relationships/image" Target="../media/image850.png"/><Relationship Id="rId9" Type="http://schemas.openxmlformats.org/officeDocument/2006/relationships/image" Target="../media/image900.png"/><Relationship Id="rId14" Type="http://schemas.openxmlformats.org/officeDocument/2006/relationships/image" Target="../media/image16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mp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5" Type="http://schemas.openxmlformats.org/officeDocument/2006/relationships/image" Target="../media/image180.png"/><Relationship Id="rId10" Type="http://schemas.openxmlformats.org/officeDocument/2006/relationships/image" Target="../media/image185.png"/><Relationship Id="rId4" Type="http://schemas.openxmlformats.org/officeDocument/2006/relationships/image" Target="../media/image179.png"/><Relationship Id="rId9" Type="http://schemas.openxmlformats.org/officeDocument/2006/relationships/image" Target="../media/image18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0894" y="2546256"/>
            <a:ext cx="889628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b="1" dirty="0"/>
              <a:t>Machine Learning &amp; Pattern Recognition</a:t>
            </a:r>
            <a:endParaRPr lang="zh-CN" altLang="en-US" sz="405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C3A05547-7B6C-504E-BB27-7D22DEF0AA5C}"/>
              </a:ext>
            </a:extLst>
          </p:cNvPr>
          <p:cNvSpPr/>
          <p:nvPr/>
        </p:nvSpPr>
        <p:spPr>
          <a:xfrm>
            <a:off x="2438400" y="3880339"/>
            <a:ext cx="3821239" cy="1495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 Xin(</a:t>
            </a:r>
            <a:r>
              <a:rPr lang="zh-CN" altLang="en-US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辛鑫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xinxin@sdu.edu.cn</a:t>
            </a:r>
            <a:endParaRPr lang="en-US" altLang="zh-CN" sz="2400" b="1" dirty="0">
              <a:solidFill>
                <a:prstClr val="black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https://</a:t>
            </a: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xinxin-me.github.io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51825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28800" y="2971800"/>
            <a:ext cx="5560305" cy="920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Support Vector Machines</a:t>
            </a:r>
          </a:p>
        </p:txBody>
      </p:sp>
    </p:spTree>
    <p:extLst>
      <p:ext uri="{BB962C8B-B14F-4D97-AF65-F5344CB8AC3E}">
        <p14:creationId xmlns:p14="http://schemas.microsoft.com/office/powerpoint/2010/main" val="192400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4072269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A Brief History of SVM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4800" y="990600"/>
            <a:ext cx="807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SVM is related to statistical learning theory [3].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SVM is first introduced in 1992 [1].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Success in handwritten digit recognition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1.1% test error rate for SVM. The same as that of a carefully constructed neural network, </a:t>
            </a:r>
            <a:r>
              <a:rPr lang="en-US" sz="2400" dirty="0" err="1"/>
              <a:t>LeNet</a:t>
            </a:r>
            <a:r>
              <a:rPr lang="en-US" sz="2400" dirty="0"/>
              <a:t> 4 [2].</a:t>
            </a:r>
          </a:p>
        </p:txBody>
      </p:sp>
      <p:sp>
        <p:nvSpPr>
          <p:cNvPr id="2" name="矩形 1"/>
          <p:cNvSpPr/>
          <p:nvPr/>
        </p:nvSpPr>
        <p:spPr>
          <a:xfrm>
            <a:off x="304800" y="5301906"/>
            <a:ext cx="8610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1600" dirty="0">
                <a:solidFill>
                  <a:srgbClr val="000000"/>
                </a:solidFill>
              </a:rPr>
              <a:t>[1] B.E. </a:t>
            </a:r>
            <a:r>
              <a:rPr lang="en-US" altLang="zh-CN" sz="1600" dirty="0" err="1">
                <a:solidFill>
                  <a:srgbClr val="000000"/>
                </a:solidFill>
              </a:rPr>
              <a:t>Boser</a:t>
            </a:r>
            <a:r>
              <a:rPr lang="en-US" altLang="zh-CN" sz="1600" dirty="0">
                <a:solidFill>
                  <a:srgbClr val="000000"/>
                </a:solidFill>
              </a:rPr>
              <a:t> et al. A Training Algorithm for Optimal Margin Classifiers. Proceedings of the Fifth Annual Workshop on Computational Learning Theory 5 144-152, Pittsburgh, 1992.</a:t>
            </a:r>
            <a:br>
              <a:rPr lang="en-US" altLang="zh-CN" sz="1600" dirty="0">
                <a:solidFill>
                  <a:srgbClr val="000000"/>
                </a:solidFill>
              </a:rPr>
            </a:br>
            <a:r>
              <a:rPr lang="en-US" altLang="zh-CN" sz="1600" dirty="0">
                <a:solidFill>
                  <a:srgbClr val="000000"/>
                </a:solidFill>
              </a:rPr>
              <a:t>[2] L. </a:t>
            </a:r>
            <a:r>
              <a:rPr lang="en-US" altLang="zh-CN" sz="1600" dirty="0" err="1">
                <a:solidFill>
                  <a:srgbClr val="000000"/>
                </a:solidFill>
              </a:rPr>
              <a:t>Bottou</a:t>
            </a:r>
            <a:r>
              <a:rPr lang="en-US" altLang="zh-CN" sz="1600" dirty="0">
                <a:solidFill>
                  <a:srgbClr val="000000"/>
                </a:solidFill>
              </a:rPr>
              <a:t> et al. Comparison of classifier methods: a case study in handwritten digit recognition. Proceedings of the 12</a:t>
            </a:r>
            <a:r>
              <a:rPr lang="en-US" altLang="zh-CN" sz="1600" baseline="30000" dirty="0">
                <a:solidFill>
                  <a:srgbClr val="000000"/>
                </a:solidFill>
              </a:rPr>
              <a:t>th</a:t>
            </a:r>
            <a:r>
              <a:rPr lang="en-US" altLang="zh-CN" sz="1600" dirty="0">
                <a:solidFill>
                  <a:srgbClr val="000000"/>
                </a:solidFill>
              </a:rPr>
              <a:t> IAPR International Conference on Pattern Recognition, vol. 2, pp. 77-82, 1994.</a:t>
            </a:r>
            <a:br>
              <a:rPr lang="en-US" altLang="zh-CN" sz="1600" dirty="0">
                <a:solidFill>
                  <a:srgbClr val="000000"/>
                </a:solidFill>
              </a:rPr>
            </a:br>
            <a:r>
              <a:rPr lang="en-US" altLang="zh-CN" sz="1600" dirty="0">
                <a:solidFill>
                  <a:srgbClr val="000000"/>
                </a:solidFill>
              </a:rPr>
              <a:t>[3] V. </a:t>
            </a:r>
            <a:r>
              <a:rPr lang="en-US" altLang="zh-CN" sz="1600" dirty="0" err="1">
                <a:solidFill>
                  <a:srgbClr val="000000"/>
                </a:solidFill>
              </a:rPr>
              <a:t>Vapnik</a:t>
            </a:r>
            <a:r>
              <a:rPr lang="en-US" altLang="zh-CN" sz="1600" dirty="0">
                <a:solidFill>
                  <a:srgbClr val="000000"/>
                </a:solidFill>
              </a:rPr>
              <a:t>. The Nature of Statistical Learning Theory. 2nd edition, Springer, 1999</a:t>
            </a:r>
            <a:r>
              <a:rPr lang="en-US" altLang="zh-CN" sz="1600" dirty="0"/>
              <a:t> </a:t>
            </a: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78" y="3089298"/>
            <a:ext cx="2428875" cy="19431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79004C0-DE39-4E9B-9824-D5F286167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36706"/>
            <a:ext cx="4318222" cy="148597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5C6E96E-784D-46D5-A1B5-51C5D869CEAD}"/>
              </a:ext>
            </a:extLst>
          </p:cNvPr>
          <p:cNvSpPr/>
          <p:nvPr/>
        </p:nvSpPr>
        <p:spPr>
          <a:xfrm>
            <a:off x="3405630" y="4378576"/>
            <a:ext cx="54401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Architecture of LeNet1.  </a:t>
            </a:r>
            <a:r>
              <a:rPr lang="en-US" altLang="zh-CN" dirty="0" err="1"/>
              <a:t>LeNet</a:t>
            </a:r>
            <a:r>
              <a:rPr lang="en-US" altLang="zh-CN" dirty="0"/>
              <a:t> 4 is an expanded version of </a:t>
            </a:r>
            <a:r>
              <a:rPr lang="en-US" altLang="zh-CN" dirty="0" err="1"/>
              <a:t>LeNet</a:t>
            </a:r>
            <a:r>
              <a:rPr lang="en-US" altLang="zh-CN" dirty="0"/>
              <a:t> 1, consisting of about 260,000 connections, and about 17,000 free parameters.</a:t>
            </a:r>
          </a:p>
        </p:txBody>
      </p:sp>
    </p:spTree>
    <p:extLst>
      <p:ext uri="{BB962C8B-B14F-4D97-AF65-F5344CB8AC3E}">
        <p14:creationId xmlns:p14="http://schemas.microsoft.com/office/powerpoint/2010/main" val="246605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4072269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A Brief History of SVM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4800" y="990600"/>
            <a:ext cx="807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SVM is related to statistical learning theory [3].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SVM is first introduced in 1992 [1].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Success in handwritten digit recognition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1.1% test error rate for SVM. The same as that of a carefully constructed neural network, </a:t>
            </a:r>
            <a:r>
              <a:rPr lang="en-US" sz="2400" dirty="0" err="1"/>
              <a:t>LeNet</a:t>
            </a:r>
            <a:r>
              <a:rPr lang="en-US" sz="2400" dirty="0"/>
              <a:t> 4 [2].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D2B3724-54B1-4CFE-A1BE-64A1B8D60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879104"/>
            <a:ext cx="6095999" cy="390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462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2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04800" y="76200"/>
            <a:ext cx="4072269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A Brief History of SVM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04800" y="1143000"/>
            <a:ext cx="5257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Vapnik</a:t>
            </a:r>
            <a:r>
              <a:rPr lang="en-US" altLang="zh-CN" sz="2400" dirty="0"/>
              <a:t> born in the Soviet Union (1936)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</a:rPr>
              <a:t>Master</a:t>
            </a:r>
            <a:r>
              <a:rPr lang="en-US" altLang="zh-CN" sz="2400" dirty="0"/>
              <a:t>: mathematics, the Uzbek State University (1958)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</a:rPr>
              <a:t>Ph.D</a:t>
            </a:r>
            <a:r>
              <a:rPr lang="en-US" sz="2400" dirty="0"/>
              <a:t>: statistics at the Institute of Control Sciences, Moscow (1964)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Worked at the Institute of Control Sciences (until 1990)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Then joined </a:t>
            </a:r>
            <a:r>
              <a:rPr lang="en-US" altLang="zh-CN" sz="2400" dirty="0">
                <a:solidFill>
                  <a:srgbClr val="FF0000"/>
                </a:solidFill>
              </a:rPr>
              <a:t>AT&amp;T Bell Labs </a:t>
            </a:r>
            <a:r>
              <a:rPr lang="en-US" altLang="zh-CN" sz="2400" dirty="0"/>
              <a:t>(1991)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While at AT&amp;T, </a:t>
            </a:r>
            <a:r>
              <a:rPr lang="en-US" altLang="zh-CN" sz="2400" dirty="0" err="1"/>
              <a:t>Vapnik</a:t>
            </a:r>
            <a:r>
              <a:rPr lang="en-US" altLang="zh-CN" sz="2400" dirty="0"/>
              <a:t> and colleagues developed the </a:t>
            </a:r>
            <a:r>
              <a:rPr lang="en-US" altLang="zh-CN" sz="2400" dirty="0">
                <a:solidFill>
                  <a:srgbClr val="FF0000"/>
                </a:solidFill>
              </a:rPr>
              <a:t>SVM </a:t>
            </a:r>
            <a:r>
              <a:rPr lang="en-US" altLang="zh-CN" sz="2400" dirty="0"/>
              <a:t>(1995)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Inducted into </a:t>
            </a:r>
            <a:r>
              <a:rPr lang="en-US" altLang="zh-CN" sz="2400" dirty="0">
                <a:solidFill>
                  <a:srgbClr val="FF0000"/>
                </a:solidFill>
              </a:rPr>
              <a:t>U.S. National Academy of Engineering</a:t>
            </a:r>
            <a:r>
              <a:rPr lang="en-US" altLang="zh-CN" sz="2400" dirty="0"/>
              <a:t> (2006)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Joined </a:t>
            </a:r>
            <a:r>
              <a:rPr lang="en-US" altLang="zh-CN" sz="2400" dirty="0">
                <a:solidFill>
                  <a:srgbClr val="FF0000"/>
                </a:solidFill>
              </a:rPr>
              <a:t>Facebook AI Research </a:t>
            </a:r>
            <a:r>
              <a:rPr lang="en-US" altLang="zh-CN" sz="2400" dirty="0"/>
              <a:t>(2014)</a:t>
            </a: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447800"/>
            <a:ext cx="3124200" cy="470504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5791200" y="1437503"/>
            <a:ext cx="3206578" cy="60960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35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7A6F2457-2F06-4D96-8B9F-AC700C4CC0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29"/>
          <a:stretch/>
        </p:blipFill>
        <p:spPr>
          <a:xfrm>
            <a:off x="1497418" y="5477717"/>
            <a:ext cx="7281869" cy="576698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04800" y="76200"/>
            <a:ext cx="134344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/>
              <a:t>V</a:t>
            </a:r>
            <a:r>
              <a:rPr lang="en-US" altLang="zh-CN" sz="3200" b="1" dirty="0" err="1"/>
              <a:t>apnik</a:t>
            </a:r>
            <a:endParaRPr lang="en-US" sz="3200" b="1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64"/>
          <a:stretch/>
        </p:blipFill>
        <p:spPr>
          <a:xfrm>
            <a:off x="2191830" y="41367"/>
            <a:ext cx="6935168" cy="37338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196582" y="3165567"/>
            <a:ext cx="6963747" cy="60960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A734EF-69EF-4555-B680-F1BF33D15E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797"/>
          <a:stretch/>
        </p:blipFill>
        <p:spPr>
          <a:xfrm>
            <a:off x="1668118" y="4240405"/>
            <a:ext cx="7374398" cy="612441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436787" y="5436124"/>
            <a:ext cx="7374398" cy="60960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55503D-10F3-4936-8236-8B2C68A23628}"/>
              </a:ext>
            </a:extLst>
          </p:cNvPr>
          <p:cNvSpPr txBox="1"/>
          <p:nvPr/>
        </p:nvSpPr>
        <p:spPr>
          <a:xfrm>
            <a:off x="1296225" y="3185163"/>
            <a:ext cx="704039" cy="506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2017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0DA72E-D0D8-4701-BC56-895C3E1F0F66}"/>
              </a:ext>
            </a:extLst>
          </p:cNvPr>
          <p:cNvSpPr txBox="1"/>
          <p:nvPr/>
        </p:nvSpPr>
        <p:spPr>
          <a:xfrm>
            <a:off x="603895" y="4293479"/>
            <a:ext cx="704039" cy="506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2019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FDDC95-65AE-453F-AF1E-E4C50C239FEF}"/>
              </a:ext>
            </a:extLst>
          </p:cNvPr>
          <p:cNvSpPr txBox="1"/>
          <p:nvPr/>
        </p:nvSpPr>
        <p:spPr>
          <a:xfrm>
            <a:off x="299993" y="5389390"/>
            <a:ext cx="704039" cy="506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2021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E234E5-9E3F-4414-B43C-52FF10CC89B5}"/>
              </a:ext>
            </a:extLst>
          </p:cNvPr>
          <p:cNvSpPr/>
          <p:nvPr/>
        </p:nvSpPr>
        <p:spPr>
          <a:xfrm>
            <a:off x="1676400" y="4267200"/>
            <a:ext cx="7374398" cy="60960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66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  <p:bldP spid="16" grpId="0"/>
      <p:bldP spid="14" grpId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剪辑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136"/>
          <a:stretch/>
        </p:blipFill>
        <p:spPr>
          <a:xfrm>
            <a:off x="1875453" y="796099"/>
            <a:ext cx="6963747" cy="3013902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1875453" y="3215088"/>
            <a:ext cx="6963747" cy="651847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04800" y="76200"/>
            <a:ext cx="4072269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A Brief History of SVM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895334-D287-44FB-8E2E-644C40FA5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013023"/>
            <a:ext cx="7904290" cy="240512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05558E4-AFC2-411C-B45C-FE61F317F930}"/>
              </a:ext>
            </a:extLst>
          </p:cNvPr>
          <p:cNvSpPr/>
          <p:nvPr/>
        </p:nvSpPr>
        <p:spPr>
          <a:xfrm>
            <a:off x="990600" y="5773384"/>
            <a:ext cx="8047546" cy="651847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283A31-52FB-480D-9203-2FB4975CC6B3}"/>
              </a:ext>
            </a:extLst>
          </p:cNvPr>
          <p:cNvSpPr txBox="1"/>
          <p:nvPr/>
        </p:nvSpPr>
        <p:spPr>
          <a:xfrm>
            <a:off x="865122" y="3208005"/>
            <a:ext cx="704039" cy="506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2017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DF3F71-8399-4486-A6AA-6AF9C1A0EBC8}"/>
              </a:ext>
            </a:extLst>
          </p:cNvPr>
          <p:cNvSpPr txBox="1"/>
          <p:nvPr/>
        </p:nvSpPr>
        <p:spPr>
          <a:xfrm>
            <a:off x="247849" y="5806041"/>
            <a:ext cx="704039" cy="506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322143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62000" y="2895600"/>
            <a:ext cx="7793224" cy="920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/>
              <a:t>What Is a Good Decision Boundary?</a:t>
            </a:r>
          </a:p>
        </p:txBody>
      </p:sp>
    </p:spTree>
    <p:extLst>
      <p:ext uri="{BB962C8B-B14F-4D97-AF65-F5344CB8AC3E}">
        <p14:creationId xmlns:p14="http://schemas.microsoft.com/office/powerpoint/2010/main" val="2450040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7">
            <a:extLst>
              <a:ext uri="{FF2B5EF4-FFF2-40B4-BE49-F238E27FC236}">
                <a16:creationId xmlns:a16="http://schemas.microsoft.com/office/drawing/2014/main" id="{8EDF8272-25F9-407B-94F8-4EE0E8283C3B}"/>
              </a:ext>
            </a:extLst>
          </p:cNvPr>
          <p:cNvSpPr/>
          <p:nvPr/>
        </p:nvSpPr>
        <p:spPr>
          <a:xfrm>
            <a:off x="325254" y="990600"/>
            <a:ext cx="8534400" cy="165306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636866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What Is a Good Decision Boundary?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04800" y="990600"/>
                <a:ext cx="86106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Consider a </a:t>
                </a:r>
                <a:r>
                  <a:rPr lang="en-US" altLang="zh-CN" sz="2400" dirty="0"/>
                  <a:t>binary</a:t>
                </a:r>
                <a:r>
                  <a:rPr lang="en-US" sz="2400" dirty="0"/>
                  <a:t>, linearly separable classification problem.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400" dirty="0"/>
                  <a:t>: our data set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∈{1,−1}</m:t>
                    </m:r>
                  </m:oMath>
                </a14:m>
                <a:r>
                  <a:rPr lang="en-US" altLang="zh-CN" sz="2400" dirty="0"/>
                  <a:t>: the class label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Many decision boundaries!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Are all decision boundaries equally good?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990600"/>
                <a:ext cx="8610600" cy="1569660"/>
              </a:xfrm>
              <a:prstGeom prst="rect">
                <a:avLst/>
              </a:prstGeom>
              <a:blipFill>
                <a:blip r:embed="rId3"/>
                <a:stretch>
                  <a:fillRect l="-920" t="-3113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3075752"/>
            <a:ext cx="6858000" cy="276415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7184618-4194-4346-8FB5-3DB1EC70F0EC}"/>
              </a:ext>
            </a:extLst>
          </p:cNvPr>
          <p:cNvSpPr/>
          <p:nvPr/>
        </p:nvSpPr>
        <p:spPr>
          <a:xfrm>
            <a:off x="2286000" y="610766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ahoma" panose="020B0604030504040204" pitchFamily="34" charset="0"/>
              </a:rPr>
              <a:t>Examples of Bad Decision Boundaries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6071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7">
            <a:extLst>
              <a:ext uri="{FF2B5EF4-FFF2-40B4-BE49-F238E27FC236}">
                <a16:creationId xmlns:a16="http://schemas.microsoft.com/office/drawing/2014/main" id="{8EDF8272-25F9-407B-94F8-4EE0E8283C3B}"/>
              </a:ext>
            </a:extLst>
          </p:cNvPr>
          <p:cNvSpPr/>
          <p:nvPr/>
        </p:nvSpPr>
        <p:spPr>
          <a:xfrm>
            <a:off x="325254" y="990600"/>
            <a:ext cx="8534400" cy="165306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636866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What Is a Good Decision Boundary?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04800" y="990600"/>
                <a:ext cx="86106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Consider a </a:t>
                </a:r>
                <a:r>
                  <a:rPr lang="en-US" altLang="zh-CN" sz="2400" dirty="0"/>
                  <a:t>binary</a:t>
                </a:r>
                <a:r>
                  <a:rPr lang="en-US" sz="2400" dirty="0"/>
                  <a:t>, linearly separable classification problem.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400" dirty="0"/>
                  <a:t>: our data set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∈{1,−1}</m:t>
                    </m:r>
                  </m:oMath>
                </a14:m>
                <a:r>
                  <a:rPr lang="en-US" altLang="zh-CN" sz="2400" dirty="0"/>
                  <a:t>: the class label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Many decision boundaries!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Are all decision boundaries equally good?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990600"/>
                <a:ext cx="8610600" cy="1569660"/>
              </a:xfrm>
              <a:prstGeom prst="rect">
                <a:avLst/>
              </a:prstGeom>
              <a:blipFill>
                <a:blip r:embed="rId3"/>
                <a:stretch>
                  <a:fillRect l="-920" t="-3113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E01AF723-A51B-4C7F-9417-5F4F6AE385FB}"/>
              </a:ext>
            </a:extLst>
          </p:cNvPr>
          <p:cNvSpPr/>
          <p:nvPr/>
        </p:nvSpPr>
        <p:spPr>
          <a:xfrm>
            <a:off x="344746" y="3657600"/>
            <a:ext cx="8342053" cy="1200329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Given a training set, we aim to find a decision boundary that allows us to make all correct and confident (meaning far from the decision boundary) predictions on the training examples.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55293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7">
            <a:extLst>
              <a:ext uri="{FF2B5EF4-FFF2-40B4-BE49-F238E27FC236}">
                <a16:creationId xmlns:a16="http://schemas.microsoft.com/office/drawing/2014/main" id="{11E175BB-C841-4339-933B-F3E941C4B2C5}"/>
              </a:ext>
            </a:extLst>
          </p:cNvPr>
          <p:cNvSpPr/>
          <p:nvPr/>
        </p:nvSpPr>
        <p:spPr>
          <a:xfrm>
            <a:off x="303483" y="5740430"/>
            <a:ext cx="8667732" cy="768096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9" name="矩形: 圆角 7">
            <a:extLst>
              <a:ext uri="{FF2B5EF4-FFF2-40B4-BE49-F238E27FC236}">
                <a16:creationId xmlns:a16="http://schemas.microsoft.com/office/drawing/2014/main" id="{2FEAC61E-CA9A-4921-8460-6E3B6EF32417}"/>
              </a:ext>
            </a:extLst>
          </p:cNvPr>
          <p:cNvSpPr/>
          <p:nvPr/>
        </p:nvSpPr>
        <p:spPr>
          <a:xfrm>
            <a:off x="325254" y="914399"/>
            <a:ext cx="8667732" cy="137293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800" y="76200"/>
            <a:ext cx="2244910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Preliminary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457200" y="1592933"/>
                <a:ext cx="15757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92933"/>
                <a:ext cx="1575752" cy="369332"/>
              </a:xfrm>
              <a:prstGeom prst="rect">
                <a:avLst/>
              </a:prstGeom>
              <a:blipFill>
                <a:blip r:embed="rId6"/>
                <a:stretch>
                  <a:fillRect l="-2713" r="-271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895600" y="1592933"/>
                <a:ext cx="29783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(−1)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1592933"/>
                <a:ext cx="2978316" cy="369332"/>
              </a:xfrm>
              <a:prstGeom prst="rect">
                <a:avLst/>
              </a:prstGeom>
              <a:blipFill>
                <a:blip r:embed="rId7"/>
                <a:stretch>
                  <a:fillRect l="-818" r="-1840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6328474" y="1470143"/>
                <a:ext cx="2664512" cy="614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−1]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474" y="1470143"/>
                <a:ext cx="2664512" cy="614912"/>
              </a:xfrm>
              <a:prstGeom prst="rect">
                <a:avLst/>
              </a:prstGeom>
              <a:blipFill>
                <a:blip r:embed="rId8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355032" y="937551"/>
                <a:ext cx="28016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Consider a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b="1" dirty="0"/>
                  <a:t>:</a:t>
                </a: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32" y="937551"/>
                <a:ext cx="2801601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826" t="-10526" r="-2391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: 圆角 7">
            <a:extLst>
              <a:ext uri="{FF2B5EF4-FFF2-40B4-BE49-F238E27FC236}">
                <a16:creationId xmlns:a16="http://schemas.microsoft.com/office/drawing/2014/main" id="{8B201862-06E9-484B-A9F9-EC23DB6D82AF}"/>
              </a:ext>
            </a:extLst>
          </p:cNvPr>
          <p:cNvSpPr/>
          <p:nvPr/>
        </p:nvSpPr>
        <p:spPr>
          <a:xfrm>
            <a:off x="325254" y="2681773"/>
            <a:ext cx="8667732" cy="285638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173307" y="3352800"/>
                <a:ext cx="1757532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307" y="3352800"/>
                <a:ext cx="1757532" cy="375872"/>
              </a:xfrm>
              <a:prstGeom prst="rect">
                <a:avLst/>
              </a:prstGeom>
              <a:blipFill>
                <a:blip r:embed="rId10"/>
                <a:stretch>
                  <a:fillRect l="-1730" t="-3226" r="-3460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764107" y="3352800"/>
                <a:ext cx="3711722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107" y="3352800"/>
                <a:ext cx="3711722" cy="375872"/>
              </a:xfrm>
              <a:prstGeom prst="rect">
                <a:avLst/>
              </a:prstGeom>
              <a:blipFill>
                <a:blip r:embed="rId11"/>
                <a:stretch>
                  <a:fillRect l="-164" t="-3226"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650070" y="3895502"/>
                <a:ext cx="1969898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 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070" y="3895502"/>
                <a:ext cx="1969898" cy="4682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355032" y="2776225"/>
            <a:ext cx="340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Vector representation: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1173307" y="3957930"/>
                <a:ext cx="15297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307" y="3957930"/>
                <a:ext cx="1529714" cy="369332"/>
              </a:xfrm>
              <a:prstGeom prst="rect">
                <a:avLst/>
              </a:prstGeom>
              <a:blipFill>
                <a:blip r:embed="rId13"/>
                <a:stretch>
                  <a:fillRect l="-4382" r="-3984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2145469" y="5822726"/>
                <a:ext cx="491936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What is the meaning of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zh-CN" sz="3200" dirty="0"/>
                  <a:t>? </a:t>
                </a: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469" y="5822726"/>
                <a:ext cx="4919360" cy="584775"/>
              </a:xfrm>
              <a:prstGeom prst="rect">
                <a:avLst/>
              </a:prstGeom>
              <a:blipFill>
                <a:blip r:embed="rId14"/>
                <a:stretch>
                  <a:fillRect l="-3222" t="-12500" b="-34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CB0FFED-EC23-4AF9-BE7D-31EB7E713FA9}"/>
                  </a:ext>
                </a:extLst>
              </p:cNvPr>
              <p:cNvSpPr txBox="1"/>
              <p:nvPr/>
            </p:nvSpPr>
            <p:spPr>
              <a:xfrm>
                <a:off x="2325562" y="1620751"/>
                <a:ext cx="4312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CB0FFED-EC23-4AF9-BE7D-31EB7E713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562" y="1620751"/>
                <a:ext cx="431207" cy="369332"/>
              </a:xfrm>
              <a:prstGeom prst="rect">
                <a:avLst/>
              </a:prstGeom>
              <a:blipFill>
                <a:blip r:embed="rId15"/>
                <a:stretch>
                  <a:fillRect l="-11268" r="-12676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02A19D4-2585-4058-83B1-E23373400C86}"/>
                  </a:ext>
                </a:extLst>
              </p:cNvPr>
              <p:cNvSpPr/>
              <p:nvPr/>
            </p:nvSpPr>
            <p:spPr>
              <a:xfrm>
                <a:off x="2132163" y="1351125"/>
                <a:ext cx="99110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02A19D4-2585-4058-83B1-E23373400C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163" y="1351125"/>
                <a:ext cx="991105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46DB11F6-5C57-4C74-A0A3-B222346CAEC2}"/>
                  </a:ext>
                </a:extLst>
              </p:cNvPr>
              <p:cNvSpPr/>
              <p:nvPr/>
            </p:nvSpPr>
            <p:spPr>
              <a:xfrm>
                <a:off x="2126874" y="1869507"/>
                <a:ext cx="10016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46DB11F6-5C57-4C74-A0A3-B222346CAE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874" y="1869507"/>
                <a:ext cx="1001684" cy="400110"/>
              </a:xfrm>
              <a:prstGeom prst="rect">
                <a:avLst/>
              </a:prstGeom>
              <a:blipFill>
                <a:blip r:embed="rId1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6748E36-32F0-49FB-9C6A-DEC3160C677F}"/>
                  </a:ext>
                </a:extLst>
              </p:cNvPr>
              <p:cNvSpPr txBox="1"/>
              <p:nvPr/>
            </p:nvSpPr>
            <p:spPr>
              <a:xfrm>
                <a:off x="5902557" y="1592933"/>
                <a:ext cx="4312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6748E36-32F0-49FB-9C6A-DEC3160C6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557" y="1592933"/>
                <a:ext cx="431207" cy="369332"/>
              </a:xfrm>
              <a:prstGeom prst="rect">
                <a:avLst/>
              </a:prstGeom>
              <a:blipFill>
                <a:blip r:embed="rId18"/>
                <a:stretch>
                  <a:fillRect l="-11268" r="-12676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132DF44E-401D-4597-9815-A52B7BDFEB58}"/>
              </a:ext>
            </a:extLst>
          </p:cNvPr>
          <p:cNvGrpSpPr/>
          <p:nvPr/>
        </p:nvGrpSpPr>
        <p:grpSpPr>
          <a:xfrm>
            <a:off x="1043580" y="4363707"/>
            <a:ext cx="6252417" cy="932974"/>
            <a:chOff x="1043580" y="4363707"/>
            <a:chExt cx="6252417" cy="9329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A92A782D-A714-4B82-B1A8-53C031E3AB6F}"/>
                    </a:ext>
                  </a:extLst>
                </p:cNvPr>
                <p:cNvSpPr/>
                <p:nvPr/>
              </p:nvSpPr>
              <p:spPr>
                <a:xfrm>
                  <a:off x="1043580" y="4698825"/>
                  <a:ext cx="6252417" cy="5978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 dirty="0" err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 dirty="0" err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𝛻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𝛻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oMath>
                    </m:oMathPara>
                  </a14:m>
                  <a:endParaRPr lang="zh-CN" altLang="en-US" sz="2400" i="1" dirty="0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A92A782D-A714-4B82-B1A8-53C031E3AB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580" y="4698825"/>
                  <a:ext cx="6252417" cy="597856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8A1D74A-6DC5-45B5-A930-FEE3009C52F1}"/>
                </a:ext>
              </a:extLst>
            </p:cNvPr>
            <p:cNvCxnSpPr/>
            <p:nvPr/>
          </p:nvCxnSpPr>
          <p:spPr>
            <a:xfrm>
              <a:off x="5029200" y="4363707"/>
              <a:ext cx="0" cy="387220"/>
            </a:xfrm>
            <a:prstGeom prst="straightConnector1">
              <a:avLst/>
            </a:prstGeom>
            <a:ln w="38100">
              <a:solidFill>
                <a:srgbClr val="3B3FF7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373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7">
            <a:extLst>
              <a:ext uri="{FF2B5EF4-FFF2-40B4-BE49-F238E27FC236}">
                <a16:creationId xmlns:a16="http://schemas.microsoft.com/office/drawing/2014/main" id="{8B201862-06E9-484B-A9F9-EC23DB6D82AF}"/>
              </a:ext>
            </a:extLst>
          </p:cNvPr>
          <p:cNvSpPr/>
          <p:nvPr/>
        </p:nvSpPr>
        <p:spPr>
          <a:xfrm>
            <a:off x="325254" y="2362200"/>
            <a:ext cx="8667732" cy="747226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9" name="矩形: 圆角 7">
            <a:extLst>
              <a:ext uri="{FF2B5EF4-FFF2-40B4-BE49-F238E27FC236}">
                <a16:creationId xmlns:a16="http://schemas.microsoft.com/office/drawing/2014/main" id="{2FEAC61E-CA9A-4921-8460-6E3B6EF32417}"/>
              </a:ext>
            </a:extLst>
          </p:cNvPr>
          <p:cNvSpPr/>
          <p:nvPr/>
        </p:nvSpPr>
        <p:spPr>
          <a:xfrm>
            <a:off x="325254" y="914399"/>
            <a:ext cx="8667732" cy="119905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800" y="76200"/>
            <a:ext cx="2244910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Preliminary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711156" y="1447263"/>
                <a:ext cx="1969898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 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156" y="1447263"/>
                <a:ext cx="1969898" cy="468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355032" y="937551"/>
                <a:ext cx="28016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Consider a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b="1" dirty="0"/>
                  <a:t>:</a:t>
                </a: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32" y="937551"/>
                <a:ext cx="2801601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826" t="-10526" r="-2391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355032" y="2456651"/>
                <a:ext cx="75755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Consider 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2400" dirty="0"/>
                  <a:t> should be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parallel</a:t>
                </a:r>
                <a:r>
                  <a:rPr lang="en-US" sz="2400" dirty="0"/>
                  <a:t> to the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32" y="2456651"/>
                <a:ext cx="7575535" cy="461665"/>
              </a:xfrm>
              <a:prstGeom prst="rect">
                <a:avLst/>
              </a:prstGeom>
              <a:blipFill>
                <a:blip r:embed="rId10"/>
                <a:stretch>
                  <a:fillRect l="-1046" t="-10526" r="-32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2234393" y="1509691"/>
                <a:ext cx="15297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393" y="1509691"/>
                <a:ext cx="1529714" cy="369332"/>
              </a:xfrm>
              <a:prstGeom prst="rect">
                <a:avLst/>
              </a:prstGeom>
              <a:blipFill>
                <a:blip r:embed="rId11"/>
                <a:stretch>
                  <a:fillRect l="-4400" r="-44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401E877-070A-414D-B83E-38536941EF8C}"/>
              </a:ext>
            </a:extLst>
          </p:cNvPr>
          <p:cNvCxnSpPr/>
          <p:nvPr/>
        </p:nvCxnSpPr>
        <p:spPr>
          <a:xfrm>
            <a:off x="835210" y="5012404"/>
            <a:ext cx="3429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B4DFBAB-2E39-49EC-A4EB-5E38D92DC2BE}"/>
              </a:ext>
            </a:extLst>
          </p:cNvPr>
          <p:cNvCxnSpPr>
            <a:cxnSpLocks/>
          </p:cNvCxnSpPr>
          <p:nvPr/>
        </p:nvCxnSpPr>
        <p:spPr>
          <a:xfrm flipV="1">
            <a:off x="2580347" y="3564604"/>
            <a:ext cx="0" cy="28361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BB4E36D-6F67-4C0E-AD5D-CEAB4A2EB49E}"/>
              </a:ext>
            </a:extLst>
          </p:cNvPr>
          <p:cNvCxnSpPr/>
          <p:nvPr/>
        </p:nvCxnSpPr>
        <p:spPr>
          <a:xfrm flipV="1">
            <a:off x="1219200" y="3793204"/>
            <a:ext cx="2392507" cy="15179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CB266BB-FAA3-47D7-BD4D-0F12E25CD5BF}"/>
                  </a:ext>
                </a:extLst>
              </p:cNvPr>
              <p:cNvSpPr/>
              <p:nvPr/>
            </p:nvSpPr>
            <p:spPr>
              <a:xfrm>
                <a:off x="2234393" y="4038600"/>
                <a:ext cx="38587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CB266BB-FAA3-47D7-BD4D-0F12E25CD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393" y="4038600"/>
                <a:ext cx="385875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0A87B694-47FF-479D-A922-558CF9468201}"/>
                  </a:ext>
                </a:extLst>
              </p:cNvPr>
              <p:cNvSpPr/>
              <p:nvPr/>
            </p:nvSpPr>
            <p:spPr>
              <a:xfrm>
                <a:off x="1467689" y="5012404"/>
                <a:ext cx="626454" cy="6767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0A87B694-47FF-479D-A922-558CF94682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689" y="5012404"/>
                <a:ext cx="626454" cy="6767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0F9A42F-1EA8-4E4A-B614-1579802441D1}"/>
              </a:ext>
            </a:extLst>
          </p:cNvPr>
          <p:cNvCxnSpPr>
            <a:cxnSpLocks/>
          </p:cNvCxnSpPr>
          <p:nvPr/>
        </p:nvCxnSpPr>
        <p:spPr>
          <a:xfrm flipV="1">
            <a:off x="2589296" y="4455508"/>
            <a:ext cx="889201" cy="54009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33886A9-01E8-49A8-BD45-96601A600AC0}"/>
                  </a:ext>
                </a:extLst>
              </p:cNvPr>
              <p:cNvSpPr/>
              <p:nvPr/>
            </p:nvSpPr>
            <p:spPr>
              <a:xfrm>
                <a:off x="3135762" y="4593355"/>
                <a:ext cx="7786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(1,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33886A9-01E8-49A8-BD45-96601A600A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762" y="4593355"/>
                <a:ext cx="778610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C49401F-6C77-4FD8-B82D-3D0ABBD852B4}"/>
                  </a:ext>
                </a:extLst>
              </p:cNvPr>
              <p:cNvSpPr/>
              <p:nvPr/>
            </p:nvSpPr>
            <p:spPr>
              <a:xfrm>
                <a:off x="3454988" y="4281335"/>
                <a:ext cx="3946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C49401F-6C77-4FD8-B82D-3D0ABBD852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988" y="4281335"/>
                <a:ext cx="394659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543FCE7-0AAA-4B36-98DF-E7B9BDDBC84D}"/>
                  </a:ext>
                </a:extLst>
              </p:cNvPr>
              <p:cNvSpPr/>
              <p:nvPr/>
            </p:nvSpPr>
            <p:spPr>
              <a:xfrm>
                <a:off x="2869318" y="5628005"/>
                <a:ext cx="41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543FCE7-0AAA-4B36-98DF-E7B9BDDBC8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318" y="5628005"/>
                <a:ext cx="41870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3938E12-9F0C-4C87-8A63-8549B722F229}"/>
              </a:ext>
            </a:extLst>
          </p:cNvPr>
          <p:cNvCxnSpPr>
            <a:cxnSpLocks/>
          </p:cNvCxnSpPr>
          <p:nvPr/>
        </p:nvCxnSpPr>
        <p:spPr>
          <a:xfrm>
            <a:off x="2589296" y="5022560"/>
            <a:ext cx="375042" cy="602994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7">
            <a:extLst>
              <a:ext uri="{FF2B5EF4-FFF2-40B4-BE49-F238E27FC236}">
                <a16:creationId xmlns:a16="http://schemas.microsoft.com/office/drawing/2014/main" id="{53E77CE6-1762-4CC0-B291-1D53BA16EDAB}"/>
              </a:ext>
            </a:extLst>
          </p:cNvPr>
          <p:cNvSpPr/>
          <p:nvPr/>
        </p:nvSpPr>
        <p:spPr>
          <a:xfrm>
            <a:off x="5105400" y="3662974"/>
            <a:ext cx="3887586" cy="1823426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31678FF-E81F-45E2-BEE7-BB23E5B0373F}"/>
                  </a:ext>
                </a:extLst>
              </p:cNvPr>
              <p:cNvSpPr txBox="1"/>
              <p:nvPr/>
            </p:nvSpPr>
            <p:spPr>
              <a:xfrm>
                <a:off x="5158156" y="3657600"/>
                <a:ext cx="3844681" cy="1945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found that</a:t>
                </a:r>
              </a:p>
              <a:p>
                <a:r>
                  <a:rPr lang="en-US" altLang="zh-CN" sz="2400" b="1" dirty="0"/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r>
                      <a:rPr lang="zh-CN" alt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zh-CN" alt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400" b="1" i="1" dirty="0"/>
                  <a:t>.</a:t>
                </a:r>
                <a:r>
                  <a:rPr lang="en-US" sz="2400" i="1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Vector 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perpendicular</a:t>
                </a:r>
                <a:r>
                  <a:rPr lang="en-US" altLang="zh-CN" sz="2400" dirty="0"/>
                  <a:t> to the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.</a:t>
                </a:r>
                <a:br>
                  <a:rPr lang="en-US" altLang="zh-CN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31678FF-E81F-45E2-BEE7-BB23E5B03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56" y="3657600"/>
                <a:ext cx="3844681" cy="1945533"/>
              </a:xfrm>
              <a:prstGeom prst="rect">
                <a:avLst/>
              </a:prstGeom>
              <a:blipFill>
                <a:blip r:embed="rId17"/>
                <a:stretch>
                  <a:fillRect l="-2060" t="-2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273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7">
            <a:extLst>
              <a:ext uri="{FF2B5EF4-FFF2-40B4-BE49-F238E27FC236}">
                <a16:creationId xmlns:a16="http://schemas.microsoft.com/office/drawing/2014/main" id="{AA003E3D-9D0B-4D69-9D72-0DCC11E046FC}"/>
              </a:ext>
            </a:extLst>
          </p:cNvPr>
          <p:cNvSpPr/>
          <p:nvPr/>
        </p:nvSpPr>
        <p:spPr>
          <a:xfrm>
            <a:off x="325254" y="914399"/>
            <a:ext cx="8463714" cy="199609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5032" y="937551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304800" y="76200"/>
            <a:ext cx="2244910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Preliminary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316932" y="1128422"/>
                <a:ext cx="86010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Given a point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the distance from the point to the line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𝐵𝑦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: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32" y="1128422"/>
                <a:ext cx="8601075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992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67388" y="1959419"/>
                <a:ext cx="3983463" cy="8754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88" y="1959419"/>
                <a:ext cx="3983463" cy="8754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03D77F55-DA14-464A-9E9A-E7DA77ED3EAC}"/>
              </a:ext>
            </a:extLst>
          </p:cNvPr>
          <p:cNvGrpSpPr/>
          <p:nvPr/>
        </p:nvGrpSpPr>
        <p:grpSpPr>
          <a:xfrm>
            <a:off x="316932" y="3168963"/>
            <a:ext cx="8609397" cy="1996099"/>
            <a:chOff x="316932" y="3168963"/>
            <a:chExt cx="8609397" cy="1996099"/>
          </a:xfrm>
        </p:grpSpPr>
        <p:sp>
          <p:nvSpPr>
            <p:cNvPr id="11" name="矩形: 圆角 7">
              <a:extLst>
                <a:ext uri="{FF2B5EF4-FFF2-40B4-BE49-F238E27FC236}">
                  <a16:creationId xmlns:a16="http://schemas.microsoft.com/office/drawing/2014/main" id="{1C6E435B-6C0A-48FE-8EF2-92B283590010}"/>
                </a:ext>
              </a:extLst>
            </p:cNvPr>
            <p:cNvSpPr/>
            <p:nvPr/>
          </p:nvSpPr>
          <p:spPr>
            <a:xfrm>
              <a:off x="316932" y="3168963"/>
              <a:ext cx="8463714" cy="1996099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325254" y="3285991"/>
                  <a:ext cx="860107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altLang="zh-CN" sz="2400" dirty="0"/>
                    <a:t>Given a point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, the distance from the point to the hyperplane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sz="2400" i="1" dirty="0"/>
                    <a:t> </a:t>
                  </a:r>
                  <a:r>
                    <a:rPr lang="en-US" altLang="zh-CN" sz="2400" i="1" dirty="0"/>
                    <a:t>:</a:t>
                  </a:r>
                  <a:endParaRPr lang="zh-CN" altLang="en-US" sz="2400" i="1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254" y="3285991"/>
                  <a:ext cx="8601075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921" t="-5882" b="-169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/>
                <p:cNvSpPr/>
                <p:nvPr/>
              </p:nvSpPr>
              <p:spPr>
                <a:xfrm>
                  <a:off x="2895600" y="4035728"/>
                  <a:ext cx="3148426" cy="9039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𝑑𝑖𝑠𝑡𝑎𝑛𝑐𝑒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p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zh-CN" altLang="en-US" sz="2400" i="1" dirty="0"/>
                </a:p>
              </p:txBody>
            </p:sp>
          </mc:Choice>
          <mc:Fallback xmlns=""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600" y="4035728"/>
                  <a:ext cx="3148426" cy="9039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5100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16104B4B-C1DC-435B-9C14-D076CCE86EBC}"/>
              </a:ext>
            </a:extLst>
          </p:cNvPr>
          <p:cNvSpPr/>
          <p:nvPr/>
        </p:nvSpPr>
        <p:spPr>
          <a:xfrm>
            <a:off x="3842736" y="4343400"/>
            <a:ext cx="4946232" cy="1735805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矩形: 圆角 7">
            <a:extLst>
              <a:ext uri="{FF2B5EF4-FFF2-40B4-BE49-F238E27FC236}">
                <a16:creationId xmlns:a16="http://schemas.microsoft.com/office/drawing/2014/main" id="{5393643F-B2F4-472C-BFF7-DFB58AC07736}"/>
              </a:ext>
            </a:extLst>
          </p:cNvPr>
          <p:cNvSpPr/>
          <p:nvPr/>
        </p:nvSpPr>
        <p:spPr>
          <a:xfrm>
            <a:off x="3857625" y="2438400"/>
            <a:ext cx="4946232" cy="1735805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矩形: 圆角 7">
            <a:extLst>
              <a:ext uri="{FF2B5EF4-FFF2-40B4-BE49-F238E27FC236}">
                <a16:creationId xmlns:a16="http://schemas.microsoft.com/office/drawing/2014/main" id="{8C4A7A63-C4AF-4CD4-ADC7-0E6F7DC69C54}"/>
              </a:ext>
            </a:extLst>
          </p:cNvPr>
          <p:cNvSpPr/>
          <p:nvPr/>
        </p:nvSpPr>
        <p:spPr>
          <a:xfrm>
            <a:off x="325254" y="914399"/>
            <a:ext cx="8463714" cy="137160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626767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What Is a Good Decision Boundary?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4800" y="931196"/>
            <a:ext cx="861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aim to find the hyperplane (i.e., decision boundary) linearly separating our classes.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Our boundary will have equation:  </a:t>
            </a:r>
          </a:p>
        </p:txBody>
      </p:sp>
      <p:pic>
        <p:nvPicPr>
          <p:cNvPr id="9" name="图片 8" descr="屏幕剪辑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11"/>
          <a:stretch/>
        </p:blipFill>
        <p:spPr>
          <a:xfrm>
            <a:off x="581025" y="3320691"/>
            <a:ext cx="3009900" cy="276415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11417" y="3053991"/>
            <a:ext cx="1937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3B3FF7"/>
                </a:solidFill>
              </a:rPr>
              <a:t>Decision boundary</a:t>
            </a:r>
            <a:endParaRPr lang="zh-CN" altLang="en-US" dirty="0">
              <a:solidFill>
                <a:srgbClr val="3B3FF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5105400" y="1704690"/>
                <a:ext cx="1757532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1704690"/>
                <a:ext cx="1757532" cy="375872"/>
              </a:xfrm>
              <a:prstGeom prst="rect">
                <a:avLst/>
              </a:prstGeom>
              <a:blipFill>
                <a:blip r:embed="rId4"/>
                <a:stretch>
                  <a:fillRect l="-1736" t="-3279" r="-3472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3857625" y="2501824"/>
                <a:ext cx="5029200" cy="1206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Above the decision boundary should have label 1, i.e., 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0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, then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25" y="2501824"/>
                <a:ext cx="5029200" cy="1206869"/>
              </a:xfrm>
              <a:prstGeom prst="rect">
                <a:avLst/>
              </a:prstGeom>
              <a:blipFill>
                <a:blip r:embed="rId5"/>
                <a:stretch>
                  <a:fillRect l="-1697" t="-4040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4457113" y="6250757"/>
                <a:ext cx="3054106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113" y="6250757"/>
                <a:ext cx="3054106" cy="375872"/>
              </a:xfrm>
              <a:prstGeom prst="rect">
                <a:avLst/>
              </a:prstGeom>
              <a:blipFill>
                <a:blip r:embed="rId6"/>
                <a:stretch>
                  <a:fillRect l="-2994" t="-1613" r="-3194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7F1B21A-F7F3-47BE-96A3-0722AFB35B06}"/>
                  </a:ext>
                </a:extLst>
              </p:cNvPr>
              <p:cNvSpPr/>
              <p:nvPr/>
            </p:nvSpPr>
            <p:spPr>
              <a:xfrm>
                <a:off x="3842736" y="4419155"/>
                <a:ext cx="4946232" cy="157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Below the decision boundary should have label -1, i.e., 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, then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altLang="zh-CN" sz="2400" dirty="0"/>
                  <a:t>.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7F1B21A-F7F3-47BE-96A3-0722AFB35B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736" y="4419155"/>
                <a:ext cx="4946232" cy="1576201"/>
              </a:xfrm>
              <a:prstGeom prst="rect">
                <a:avLst/>
              </a:prstGeom>
              <a:blipFill>
                <a:blip r:embed="rId7"/>
                <a:stretch>
                  <a:fillRect l="-1601" t="-3101" b="-8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3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11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7">
            <a:extLst>
              <a:ext uri="{FF2B5EF4-FFF2-40B4-BE49-F238E27FC236}">
                <a16:creationId xmlns:a16="http://schemas.microsoft.com/office/drawing/2014/main" id="{C8B77D82-2291-4668-9225-A5E01259B624}"/>
              </a:ext>
            </a:extLst>
          </p:cNvPr>
          <p:cNvSpPr/>
          <p:nvPr/>
        </p:nvSpPr>
        <p:spPr>
          <a:xfrm>
            <a:off x="325254" y="914399"/>
            <a:ext cx="8463714" cy="182925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626767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What Is a Good Decision Boundary?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4800" y="990600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Moreover, we hope the </a:t>
            </a:r>
            <a:r>
              <a:rPr lang="en-US" altLang="zh-CN" sz="2400" dirty="0"/>
              <a:t>hyperplane </a:t>
            </a:r>
            <a:r>
              <a:rPr lang="en-US" sz="2400" dirty="0"/>
              <a:t>lies in the middle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762000" y="1487895"/>
                <a:ext cx="3333541" cy="1179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)/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)/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zh-CN" altLang="en-US" sz="2400" i="1" dirty="0"/>
                  <a:t> 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487895"/>
                <a:ext cx="3333541" cy="1179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033101" y="1560131"/>
                <a:ext cx="1346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101" y="1560131"/>
                <a:ext cx="1346201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033101" y="2077447"/>
                <a:ext cx="15754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101" y="2077447"/>
                <a:ext cx="1575431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2060911" y="3164294"/>
            <a:ext cx="4511567" cy="3254502"/>
            <a:chOff x="304800" y="4080936"/>
            <a:chExt cx="3758274" cy="2507982"/>
          </a:xfrm>
        </p:grpSpPr>
        <p:pic>
          <p:nvPicPr>
            <p:cNvPr id="12" name="图片 11" descr="屏幕剪辑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2" t="1399" r="1162" b="-1399"/>
            <a:stretch/>
          </p:blipFill>
          <p:spPr>
            <a:xfrm>
              <a:off x="304800" y="4080936"/>
              <a:ext cx="3758274" cy="2507982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2362200" y="4080936"/>
              <a:ext cx="1700874" cy="7958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cv</a:t>
              </a:r>
              <a:endParaRPr lang="zh-CN" altLang="en-US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4727911" y="4880717"/>
            <a:ext cx="1676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56511" y="5795116"/>
            <a:ext cx="1676400" cy="6236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997595" y="5189806"/>
                <a:ext cx="16538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margin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595" y="5189806"/>
                <a:ext cx="1653851" cy="369332"/>
              </a:xfrm>
              <a:prstGeom prst="rect">
                <a:avLst/>
              </a:prstGeom>
              <a:blipFill rotWithShape="0">
                <a:blip r:embed="rId7"/>
                <a:stretch>
                  <a:fillRect t="-8197" r="-2214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6049012" y="1611742"/>
                <a:ext cx="2299476" cy="927370"/>
              </a:xfrm>
              <a:prstGeom prst="rect">
                <a:avLst/>
              </a:prstGeom>
              <a:ln w="19050">
                <a:solidFill>
                  <a:srgbClr val="FF0000"/>
                </a:solidFill>
                <a:prstDash val="dash"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𝑑𝑖𝑠𝑡𝑎𝑛𝑐𝑒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000" i="1" dirty="0"/>
                  <a:t> </a:t>
                </a:r>
                <a:endParaRPr lang="en-US" altLang="zh-CN" sz="2000" i="1" dirty="0"/>
              </a:p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is the margin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12" y="1611742"/>
                <a:ext cx="2299476" cy="927370"/>
              </a:xfrm>
              <a:prstGeom prst="rect">
                <a:avLst/>
              </a:prstGeom>
              <a:blipFill rotWithShape="0">
                <a:blip r:embed="rId8"/>
                <a:stretch>
                  <a:fillRect b="-8974"/>
                </a:stretch>
              </a:blipFill>
              <a:ln w="19050">
                <a:solidFill>
                  <a:srgbClr val="FF0000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325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7">
            <a:extLst>
              <a:ext uri="{FF2B5EF4-FFF2-40B4-BE49-F238E27FC236}">
                <a16:creationId xmlns:a16="http://schemas.microsoft.com/office/drawing/2014/main" id="{62B928BA-05F2-4052-ABE7-3A5A059B7273}"/>
              </a:ext>
            </a:extLst>
          </p:cNvPr>
          <p:cNvSpPr/>
          <p:nvPr/>
        </p:nvSpPr>
        <p:spPr>
          <a:xfrm>
            <a:off x="304800" y="5157909"/>
            <a:ext cx="8463714" cy="1295596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" name="矩形: 圆角 7">
            <a:extLst>
              <a:ext uri="{FF2B5EF4-FFF2-40B4-BE49-F238E27FC236}">
                <a16:creationId xmlns:a16="http://schemas.microsoft.com/office/drawing/2014/main" id="{4A7CEFE2-10B5-45E8-8DD0-937BF35E6F22}"/>
              </a:ext>
            </a:extLst>
          </p:cNvPr>
          <p:cNvSpPr/>
          <p:nvPr/>
        </p:nvSpPr>
        <p:spPr>
          <a:xfrm>
            <a:off x="325254" y="3006978"/>
            <a:ext cx="8463714" cy="182925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9" name="矩形: 圆角 7">
            <a:extLst>
              <a:ext uri="{FF2B5EF4-FFF2-40B4-BE49-F238E27FC236}">
                <a16:creationId xmlns:a16="http://schemas.microsoft.com/office/drawing/2014/main" id="{C8B77D82-2291-4668-9225-A5E01259B624}"/>
              </a:ext>
            </a:extLst>
          </p:cNvPr>
          <p:cNvSpPr/>
          <p:nvPr/>
        </p:nvSpPr>
        <p:spPr>
          <a:xfrm>
            <a:off x="325254" y="914399"/>
            <a:ext cx="8463714" cy="182925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626767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What Is a Good Decision Boundary?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4800" y="990600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Moreover, we hope the </a:t>
            </a:r>
            <a:r>
              <a:rPr lang="en-US" altLang="zh-CN" sz="2400" dirty="0"/>
              <a:t>hyperplane </a:t>
            </a:r>
            <a:r>
              <a:rPr lang="en-US" sz="2400" dirty="0"/>
              <a:t>lies in the middle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762000" y="1487895"/>
                <a:ext cx="3333541" cy="1179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)/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)/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zh-CN" altLang="en-US" sz="2400" i="1" dirty="0"/>
                  <a:t> 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487895"/>
                <a:ext cx="3333541" cy="1179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304800" y="3069541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Can be re-written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033101" y="1560131"/>
                <a:ext cx="1346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101" y="1560131"/>
                <a:ext cx="1346201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033101" y="2077447"/>
                <a:ext cx="15754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101" y="2077447"/>
                <a:ext cx="1575431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607381" y="3621495"/>
                <a:ext cx="2499274" cy="959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81" y="3621495"/>
                <a:ext cx="2499274" cy="9592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3025954" y="3701251"/>
                <a:ext cx="1346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954" y="3701251"/>
                <a:ext cx="1346201" cy="461665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3035479" y="4110335"/>
                <a:ext cx="15754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479" y="4110335"/>
                <a:ext cx="1575431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947161" y="3794203"/>
                <a:ext cx="1530868" cy="7179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altLang="zh-CN" sz="2000" b="0" i="1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161" y="3794203"/>
                <a:ext cx="1530868" cy="7179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5257800" y="3794203"/>
                <a:ext cx="1603131" cy="711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altLang="zh-CN" sz="2000" b="0" i="1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3794203"/>
                <a:ext cx="1603131" cy="7117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/>
          <p:cNvSpPr txBox="1"/>
          <p:nvPr/>
        </p:nvSpPr>
        <p:spPr>
          <a:xfrm>
            <a:off x="304800" y="5241327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Interestingly, we found that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002976" y="5786410"/>
                <a:ext cx="7635680" cy="5096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/>
                  <a:t> is the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same</a:t>
                </a:r>
                <a:r>
                  <a:rPr lang="en-US" altLang="zh-CN" sz="2400" dirty="0"/>
                  <a:t> hyperplane.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976" y="5786410"/>
                <a:ext cx="7635680" cy="509627"/>
              </a:xfrm>
              <a:prstGeom prst="rect">
                <a:avLst/>
              </a:prstGeom>
              <a:blipFill>
                <a:blip r:embed="rId11"/>
                <a:stretch>
                  <a:fillRect t="-5952" r="-240" b="-20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6049012" y="1611742"/>
                <a:ext cx="2299476" cy="927370"/>
              </a:xfrm>
              <a:prstGeom prst="rect">
                <a:avLst/>
              </a:prstGeom>
              <a:ln w="19050">
                <a:solidFill>
                  <a:srgbClr val="FF0000"/>
                </a:solidFill>
                <a:prstDash val="dash"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𝑑𝑖𝑠𝑡𝑎𝑛𝑐𝑒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000" i="1" dirty="0"/>
                  <a:t> </a:t>
                </a:r>
                <a:endParaRPr lang="en-US" altLang="zh-CN" sz="2000" i="1" dirty="0"/>
              </a:p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is the margin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12" y="1611742"/>
                <a:ext cx="2299476" cy="927370"/>
              </a:xfrm>
              <a:prstGeom prst="rect">
                <a:avLst/>
              </a:prstGeom>
              <a:blipFill rotWithShape="0">
                <a:blip r:embed="rId12"/>
                <a:stretch>
                  <a:fillRect b="-8974"/>
                </a:stretch>
              </a:blipFill>
              <a:ln w="19050">
                <a:solidFill>
                  <a:srgbClr val="FF0000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633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/>
      <p:bldP spid="27" grpId="0"/>
      <p:bldP spid="28" grpId="0"/>
      <p:bldP spid="7" grpId="0"/>
      <p:bldP spid="30" grpId="0"/>
      <p:bldP spid="31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7">
            <a:extLst>
              <a:ext uri="{FF2B5EF4-FFF2-40B4-BE49-F238E27FC236}">
                <a16:creationId xmlns:a16="http://schemas.microsoft.com/office/drawing/2014/main" id="{BD9F374C-8CBF-40DA-B15F-139B37382A18}"/>
              </a:ext>
            </a:extLst>
          </p:cNvPr>
          <p:cNvSpPr/>
          <p:nvPr/>
        </p:nvSpPr>
        <p:spPr>
          <a:xfrm>
            <a:off x="325254" y="914399"/>
            <a:ext cx="8463714" cy="167640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626767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What Is a Good Decision Boundary?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4800" y="990600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Therefore,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387080" y="3048000"/>
            <a:ext cx="4511567" cy="3254502"/>
            <a:chOff x="304800" y="4080936"/>
            <a:chExt cx="3758274" cy="2507982"/>
          </a:xfrm>
        </p:grpSpPr>
        <p:pic>
          <p:nvPicPr>
            <p:cNvPr id="14" name="图片 13" descr="屏幕剪辑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2" t="1399" r="1162" b="-1399"/>
            <a:stretch/>
          </p:blipFill>
          <p:spPr>
            <a:xfrm>
              <a:off x="304800" y="4080936"/>
              <a:ext cx="3758274" cy="2507982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2362200" y="4080936"/>
              <a:ext cx="1700874" cy="7958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cv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931371" y="1524000"/>
                <a:ext cx="2269916" cy="959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1  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71" y="1524000"/>
                <a:ext cx="2269916" cy="959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3084082" y="1524000"/>
                <a:ext cx="1346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082" y="1524000"/>
                <a:ext cx="1346201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3093607" y="1933084"/>
                <a:ext cx="15754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607" y="1933084"/>
                <a:ext cx="1575431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5CD705EF-DC78-4BFE-A98A-A27E00053B36}"/>
              </a:ext>
            </a:extLst>
          </p:cNvPr>
          <p:cNvGrpSpPr/>
          <p:nvPr/>
        </p:nvGrpSpPr>
        <p:grpSpPr>
          <a:xfrm>
            <a:off x="4953000" y="1695712"/>
            <a:ext cx="3516638" cy="468205"/>
            <a:chOff x="4953000" y="1695712"/>
            <a:chExt cx="3516638" cy="4682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/>
                <p:cNvSpPr/>
                <p:nvPr/>
              </p:nvSpPr>
              <p:spPr>
                <a:xfrm>
                  <a:off x="6019800" y="1695712"/>
                  <a:ext cx="2449838" cy="4682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400" i="1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zh-CN" altLang="en-US" sz="2400" i="1" dirty="0"/>
                </a:p>
              </p:txBody>
            </p:sp>
          </mc:Choice>
          <mc:Fallback xmlns=""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1695712"/>
                  <a:ext cx="2449838" cy="468205"/>
                </a:xfrm>
                <a:prstGeom prst="rect">
                  <a:avLst/>
                </a:prstGeom>
                <a:blipFill>
                  <a:blip r:embed="rId7"/>
                  <a:stretch>
                    <a:fillRect l="-748" r="-499" b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右箭头 6"/>
            <p:cNvSpPr/>
            <p:nvPr/>
          </p:nvSpPr>
          <p:spPr>
            <a:xfrm>
              <a:off x="4953000" y="1870670"/>
              <a:ext cx="762000" cy="293247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</p:grpSp>
    </p:spTree>
    <p:extLst>
      <p:ext uri="{BB962C8B-B14F-4D97-AF65-F5344CB8AC3E}">
        <p14:creationId xmlns:p14="http://schemas.microsoft.com/office/powerpoint/2010/main" val="173222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6F139966-9A8D-4598-8846-2EE3EF067FA3}"/>
              </a:ext>
            </a:extLst>
          </p:cNvPr>
          <p:cNvSpPr/>
          <p:nvPr/>
        </p:nvSpPr>
        <p:spPr>
          <a:xfrm>
            <a:off x="304800" y="3078092"/>
            <a:ext cx="3966744" cy="3132800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矩形: 圆角 7">
            <a:extLst>
              <a:ext uri="{FF2B5EF4-FFF2-40B4-BE49-F238E27FC236}">
                <a16:creationId xmlns:a16="http://schemas.microsoft.com/office/drawing/2014/main" id="{3FFA19D9-F9EC-404B-A020-4BD182BA9C82}"/>
              </a:ext>
            </a:extLst>
          </p:cNvPr>
          <p:cNvSpPr/>
          <p:nvPr/>
        </p:nvSpPr>
        <p:spPr>
          <a:xfrm>
            <a:off x="325254" y="914400"/>
            <a:ext cx="8463714" cy="157597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569636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Large-margin Decision Boundary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04800" y="990600"/>
                <a:ext cx="8610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decision boundary should be as far away from the data of both classes as possible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should maximize the margin,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990600"/>
                <a:ext cx="8610600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920" t="-4082"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6400800" y="3352800"/>
            <a:ext cx="762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cv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4435216" y="2956390"/>
            <a:ext cx="4511567" cy="3254502"/>
            <a:chOff x="304800" y="4080936"/>
            <a:chExt cx="3758274" cy="2507982"/>
          </a:xfrm>
        </p:grpSpPr>
        <p:pic>
          <p:nvPicPr>
            <p:cNvPr id="11" name="图片 10" descr="屏幕剪辑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2" t="1399" r="1162" b="-1399"/>
            <a:stretch/>
          </p:blipFill>
          <p:spPr>
            <a:xfrm>
              <a:off x="304800" y="4080936"/>
              <a:ext cx="3758274" cy="2507982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2362200" y="4080936"/>
              <a:ext cx="1700874" cy="7958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cv</a:t>
              </a:r>
              <a:endParaRPr lang="zh-CN" altLang="en-US" dirty="0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25255" y="3124200"/>
            <a:ext cx="3946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For the </a:t>
            </a:r>
            <a:r>
              <a:rPr lang="en-US" altLang="zh-CN" sz="2400" b="1" dirty="0">
                <a:solidFill>
                  <a:srgbClr val="3B3FF7"/>
                </a:solidFill>
              </a:rPr>
              <a:t>support vectors</a:t>
            </a:r>
            <a:r>
              <a:rPr lang="en-US" altLang="zh-CN" sz="2400" dirty="0"/>
              <a:t> (data points nearest to the hyperplane)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585342" y="4392627"/>
                <a:ext cx="3686202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0" i="1" dirty="0"/>
                  <a:t>Distance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42" y="4392627"/>
                <a:ext cx="3686202" cy="509178"/>
              </a:xfrm>
              <a:prstGeom prst="rect">
                <a:avLst/>
              </a:prstGeom>
              <a:blipFill>
                <a:blip r:embed="rId5"/>
                <a:stretch>
                  <a:fillRect l="-2479" t="-3614" b="-240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514358" y="4935436"/>
                <a:ext cx="253364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                =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8" y="4935436"/>
                <a:ext cx="2533642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219200" y="5558135"/>
                <a:ext cx="180478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=2/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5558135"/>
                <a:ext cx="1804789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3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/>
      <p:bldP spid="16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7">
            <a:extLst>
              <a:ext uri="{FF2B5EF4-FFF2-40B4-BE49-F238E27FC236}">
                <a16:creationId xmlns:a16="http://schemas.microsoft.com/office/drawing/2014/main" id="{42C128E6-B3E9-44BB-9837-8919D1D4F632}"/>
              </a:ext>
            </a:extLst>
          </p:cNvPr>
          <p:cNvSpPr/>
          <p:nvPr/>
        </p:nvSpPr>
        <p:spPr>
          <a:xfrm>
            <a:off x="304800" y="5341205"/>
            <a:ext cx="8463714" cy="99260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矩形: 圆角 7">
            <a:extLst>
              <a:ext uri="{FF2B5EF4-FFF2-40B4-BE49-F238E27FC236}">
                <a16:creationId xmlns:a16="http://schemas.microsoft.com/office/drawing/2014/main" id="{D0B0AFCB-A9C6-4C71-BE48-A5E49B4ACDF7}"/>
              </a:ext>
            </a:extLst>
          </p:cNvPr>
          <p:cNvSpPr/>
          <p:nvPr/>
        </p:nvSpPr>
        <p:spPr>
          <a:xfrm>
            <a:off x="325254" y="914399"/>
            <a:ext cx="8463714" cy="205310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3932936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2706130" y="2434720"/>
                <a:ext cx="3878882" cy="405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i="1" dirty="0"/>
                  <a:t>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130" y="2434720"/>
                <a:ext cx="3878882" cy="405624"/>
              </a:xfrm>
              <a:prstGeom prst="rect">
                <a:avLst/>
              </a:prstGeom>
              <a:blipFill rotWithShape="0">
                <a:blip r:embed="rId3"/>
                <a:stretch>
                  <a:fillRect l="-1730" t="-5970" b="-25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706130" y="1860076"/>
                <a:ext cx="1527534" cy="4947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2/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130" y="1860076"/>
                <a:ext cx="1527534" cy="49475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304800" y="9906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decision boundary can be found by solving the following </a:t>
            </a:r>
            <a:r>
              <a:rPr lang="en-US" sz="2400" dirty="0">
                <a:solidFill>
                  <a:srgbClr val="FF0000"/>
                </a:solidFill>
              </a:rPr>
              <a:t>constraint</a:t>
            </a:r>
            <a:r>
              <a:rPr lang="en-US" sz="2400" dirty="0"/>
              <a:t> optimization problem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275A277-E638-48F4-8874-149E9F15D813}"/>
              </a:ext>
            </a:extLst>
          </p:cNvPr>
          <p:cNvGrpSpPr/>
          <p:nvPr/>
        </p:nvGrpSpPr>
        <p:grpSpPr>
          <a:xfrm>
            <a:off x="304800" y="3247445"/>
            <a:ext cx="8610600" cy="1857955"/>
            <a:chOff x="304800" y="3247445"/>
            <a:chExt cx="8610600" cy="1857955"/>
          </a:xfrm>
        </p:grpSpPr>
        <p:sp>
          <p:nvSpPr>
            <p:cNvPr id="11" name="矩形: 圆角 7">
              <a:extLst>
                <a:ext uri="{FF2B5EF4-FFF2-40B4-BE49-F238E27FC236}">
                  <a16:creationId xmlns:a16="http://schemas.microsoft.com/office/drawing/2014/main" id="{6B2297BD-F5ED-400A-AF59-61BA14B1786F}"/>
                </a:ext>
              </a:extLst>
            </p:cNvPr>
            <p:cNvSpPr/>
            <p:nvPr/>
          </p:nvSpPr>
          <p:spPr>
            <a:xfrm>
              <a:off x="304800" y="3247445"/>
              <a:ext cx="8463714" cy="1857955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2706130" y="4616372"/>
                  <a:ext cx="3878882" cy="4056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i="1" dirty="0"/>
                    <a:t>s.t.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000" i="1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6130" y="4616372"/>
                  <a:ext cx="3878882" cy="405624"/>
                </a:xfrm>
                <a:prstGeom prst="rect">
                  <a:avLst/>
                </a:prstGeom>
                <a:blipFill>
                  <a:blip r:embed="rId5"/>
                  <a:stretch>
                    <a:fillRect l="-1730" t="-5970" b="-253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/>
                <p:cNvSpPr/>
                <p:nvPr/>
              </p:nvSpPr>
              <p:spPr>
                <a:xfrm>
                  <a:off x="2706130" y="3855625"/>
                  <a:ext cx="2557303" cy="6685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zh-CN" altLang="en-US" sz="2000" b="1" i="1" dirty="0"/>
                </a:p>
              </p:txBody>
            </p:sp>
          </mc:Choice>
          <mc:Fallback xmlns="">
            <p:sp>
              <p:nvSpPr>
                <p:cNvPr id="20" name="矩形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6130" y="3855625"/>
                  <a:ext cx="2557303" cy="66851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304800" y="3341297"/>
              <a:ext cx="8610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To solve the problem efficiently, we transformed it into a form:</a:t>
              </a: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322868" y="54102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above is an optimization problem with a </a:t>
            </a:r>
            <a:r>
              <a:rPr lang="en-US" sz="2400" dirty="0">
                <a:solidFill>
                  <a:srgbClr val="FF0000"/>
                </a:solidFill>
              </a:rPr>
              <a:t>convex quadratic</a:t>
            </a:r>
            <a:r>
              <a:rPr lang="en-US" sz="2400" dirty="0"/>
              <a:t> objective and only </a:t>
            </a:r>
            <a:r>
              <a:rPr lang="en-US" sz="2400" dirty="0">
                <a:solidFill>
                  <a:srgbClr val="FF0000"/>
                </a:solidFill>
              </a:rPr>
              <a:t>linear</a:t>
            </a:r>
            <a:r>
              <a:rPr lang="en-US" sz="2400" dirty="0"/>
              <a:t> constraints. </a:t>
            </a:r>
          </a:p>
        </p:txBody>
      </p:sp>
    </p:spTree>
    <p:extLst>
      <p:ext uri="{BB962C8B-B14F-4D97-AF65-F5344CB8AC3E}">
        <p14:creationId xmlns:p14="http://schemas.microsoft.com/office/powerpoint/2010/main" val="149083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7">
            <a:extLst>
              <a:ext uri="{FF2B5EF4-FFF2-40B4-BE49-F238E27FC236}">
                <a16:creationId xmlns:a16="http://schemas.microsoft.com/office/drawing/2014/main" id="{D0B0AFCB-A9C6-4C71-BE48-A5E49B4ACDF7}"/>
              </a:ext>
            </a:extLst>
          </p:cNvPr>
          <p:cNvSpPr/>
          <p:nvPr/>
        </p:nvSpPr>
        <p:spPr>
          <a:xfrm>
            <a:off x="366986" y="1521871"/>
            <a:ext cx="8463714" cy="137160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155401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346532" y="1598072"/>
                <a:ext cx="8610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Given the dataset consist of two positive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(3,3)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altLang="zh-CN" sz="2400" dirty="0"/>
                          <m:t>,3)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/>
                  <a:t>and one negative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altLang="zh-CN" sz="2400" dirty="0"/>
                          <m:t>,</m:t>
                        </m:r>
                        <m:r>
                          <m:rPr>
                            <m:nor/>
                          </m:rPr>
                          <a:rPr lang="en-US" altLang="zh-CN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altLang="zh-CN" sz="2400" dirty="0"/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/>
                  <a:t>. Please write the objective function with SVM.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32" y="1598072"/>
                <a:ext cx="8610600" cy="1200329"/>
              </a:xfrm>
              <a:prstGeom prst="rect">
                <a:avLst/>
              </a:prstGeom>
              <a:blipFill>
                <a:blip r:embed="rId3"/>
                <a:stretch>
                  <a:fillRect l="-992" t="-4061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B7EFC019-8EC7-45FA-A6D5-34BBB9AADCE7}"/>
              </a:ext>
            </a:extLst>
          </p:cNvPr>
          <p:cNvGrpSpPr/>
          <p:nvPr/>
        </p:nvGrpSpPr>
        <p:grpSpPr>
          <a:xfrm>
            <a:off x="346532" y="3326156"/>
            <a:ext cx="8463714" cy="2489325"/>
            <a:chOff x="322868" y="2692275"/>
            <a:chExt cx="8463714" cy="248932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D90C324-768C-45DE-A427-F39640B0C73B}"/>
                </a:ext>
              </a:extLst>
            </p:cNvPr>
            <p:cNvGrpSpPr/>
            <p:nvPr/>
          </p:nvGrpSpPr>
          <p:grpSpPr>
            <a:xfrm>
              <a:off x="322868" y="2692275"/>
              <a:ext cx="8463714" cy="2489325"/>
              <a:chOff x="322868" y="2692275"/>
              <a:chExt cx="8463714" cy="2489325"/>
            </a:xfrm>
          </p:grpSpPr>
          <p:sp>
            <p:nvSpPr>
              <p:cNvPr id="11" name="矩形: 圆角 7">
                <a:extLst>
                  <a:ext uri="{FF2B5EF4-FFF2-40B4-BE49-F238E27FC236}">
                    <a16:creationId xmlns:a16="http://schemas.microsoft.com/office/drawing/2014/main" id="{6B2297BD-F5ED-400A-AF59-61BA14B1786F}"/>
                  </a:ext>
                </a:extLst>
              </p:cNvPr>
              <p:cNvSpPr/>
              <p:nvPr/>
            </p:nvSpPr>
            <p:spPr>
              <a:xfrm>
                <a:off x="322868" y="2692275"/>
                <a:ext cx="8463714" cy="2489325"/>
              </a:xfrm>
              <a:prstGeom prst="roundRect">
                <a:avLst>
                  <a:gd name="adj" fmla="val 3573"/>
                </a:avLst>
              </a:prstGeom>
              <a:solidFill>
                <a:srgbClr val="F9E6E6"/>
              </a:solidFill>
              <a:ln>
                <a:solidFill>
                  <a:srgbClr val="FFFBD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矩形 18"/>
                  <p:cNvSpPr/>
                  <p:nvPr/>
                </p:nvSpPr>
                <p:spPr>
                  <a:xfrm>
                    <a:off x="3048000" y="3677160"/>
                    <a:ext cx="2473049" cy="63453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 i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+3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a14:m>
                    <a:endParaRPr lang="zh-CN" altLang="en-US" sz="2000" i="1" dirty="0"/>
                  </a:p>
                </p:txBody>
              </p:sp>
            </mc:Choice>
            <mc:Fallback xmlns="">
              <p:sp>
                <p:nvSpPr>
                  <p:cNvPr id="19" name="矩形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8000" y="3677160"/>
                    <a:ext cx="2473049" cy="63453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矩形 19"/>
                  <p:cNvSpPr/>
                  <p:nvPr/>
                </p:nvSpPr>
                <p:spPr>
                  <a:xfrm>
                    <a:off x="2514600" y="2843048"/>
                    <a:ext cx="3172792" cy="10775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e>
                                <m:lim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func>
                        </m:oMath>
                      </m:oMathPara>
                    </a14:m>
                    <a:endParaRPr lang="zh-CN" altLang="en-US" sz="2000" b="1" i="1" dirty="0"/>
                  </a:p>
                </p:txBody>
              </p:sp>
            </mc:Choice>
            <mc:Fallback xmlns="">
              <p:sp>
                <p:nvSpPr>
                  <p:cNvPr id="20" name="矩形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4600" y="2843048"/>
                    <a:ext cx="3172792" cy="10775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矩形 13">
                    <a:extLst>
                      <a:ext uri="{FF2B5EF4-FFF2-40B4-BE49-F238E27FC236}">
                        <a16:creationId xmlns:a16="http://schemas.microsoft.com/office/drawing/2014/main" id="{3E248881-3351-4459-BD57-5466653EE8FA}"/>
                      </a:ext>
                    </a:extLst>
                  </p:cNvPr>
                  <p:cNvSpPr/>
                  <p:nvPr/>
                </p:nvSpPr>
                <p:spPr>
                  <a:xfrm>
                    <a:off x="3080061" y="4111638"/>
                    <a:ext cx="2408929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 i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+3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a14:m>
                    <a:endParaRPr lang="zh-CN" altLang="en-US" sz="2000" i="1" dirty="0"/>
                  </a:p>
                </p:txBody>
              </p:sp>
            </mc:Choice>
            <mc:Fallback xmlns="">
              <p:sp>
                <p:nvSpPr>
                  <p:cNvPr id="14" name="矩形 13">
                    <a:extLst>
                      <a:ext uri="{FF2B5EF4-FFF2-40B4-BE49-F238E27FC236}">
                        <a16:creationId xmlns:a16="http://schemas.microsoft.com/office/drawing/2014/main" id="{3E248881-3351-4459-BD57-5466653EE8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0061" y="4111638"/>
                    <a:ext cx="2408929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F8FAE11F-C9C4-4786-AEE0-532B03BB97F3}"/>
                      </a:ext>
                    </a:extLst>
                  </p:cNvPr>
                  <p:cNvSpPr/>
                  <p:nvPr/>
                </p:nvSpPr>
                <p:spPr>
                  <a:xfrm>
                    <a:off x="3101832" y="4556395"/>
                    <a:ext cx="2315955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 i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a14:m>
                    <a:endParaRPr lang="zh-CN" altLang="en-US" sz="2000" i="1" dirty="0"/>
                  </a:p>
                </p:txBody>
              </p:sp>
            </mc:Choice>
            <mc:Fallback xmlns=""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F8FAE11F-C9C4-4786-AEE0-532B03BB97F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1832" y="4556395"/>
                    <a:ext cx="2315955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0A7EE0F-9C4D-47CF-B30B-1A0FCC661220}"/>
                  </a:ext>
                </a:extLst>
              </p:cNvPr>
              <p:cNvSpPr/>
              <p:nvPr/>
            </p:nvSpPr>
            <p:spPr>
              <a:xfrm>
                <a:off x="2692824" y="3677160"/>
                <a:ext cx="5526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 err="1"/>
                  <a:t>s.t.</a:t>
                </a:r>
                <a:r>
                  <a:rPr lang="en-US" altLang="zh-CN" sz="2000" dirty="0"/>
                  <a:t> </a:t>
                </a:r>
                <a:endParaRPr lang="zh-CN" altLang="en-US" sz="2000" dirty="0"/>
              </a:p>
            </p:txBody>
          </p:sp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9C75AC-470C-4B55-AA53-6A1A3BE50101}"/>
                </a:ext>
              </a:extLst>
            </p:cNvPr>
            <p:cNvSpPr/>
            <p:nvPr/>
          </p:nvSpPr>
          <p:spPr>
            <a:xfrm>
              <a:off x="609600" y="2910695"/>
              <a:ext cx="121789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/>
                <a:t>Answer </a:t>
              </a:r>
              <a:endParaRPr lang="zh-CN" altLang="en-US" sz="2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36448B3-2AC9-46A4-B5DB-65DC4453574A}"/>
                  </a:ext>
                </a:extLst>
              </p:cNvPr>
              <p:cNvSpPr/>
              <p:nvPr/>
            </p:nvSpPr>
            <p:spPr>
              <a:xfrm>
                <a:off x="5122286" y="781535"/>
                <a:ext cx="3878882" cy="405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i="1" dirty="0"/>
                  <a:t>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36448B3-2AC9-46A4-B5DB-65DC445357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286" y="781535"/>
                <a:ext cx="3878882" cy="405624"/>
              </a:xfrm>
              <a:prstGeom prst="rect">
                <a:avLst/>
              </a:prstGeom>
              <a:blipFill>
                <a:blip r:embed="rId8"/>
                <a:stretch>
                  <a:fillRect l="-1570" t="-5970" b="-25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84120B5-5688-48B8-B0F4-2DC6606AE068}"/>
                  </a:ext>
                </a:extLst>
              </p:cNvPr>
              <p:cNvSpPr/>
              <p:nvPr/>
            </p:nvSpPr>
            <p:spPr>
              <a:xfrm>
                <a:off x="5122286" y="20788"/>
                <a:ext cx="2557303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zh-CN" altLang="en-US" sz="2000" b="1" i="1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84120B5-5688-48B8-B0F4-2DC6606AE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286" y="20788"/>
                <a:ext cx="2557303" cy="6685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54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7">
            <a:extLst>
              <a:ext uri="{FF2B5EF4-FFF2-40B4-BE49-F238E27FC236}">
                <a16:creationId xmlns:a16="http://schemas.microsoft.com/office/drawing/2014/main" id="{B632AF92-6520-4BB9-8658-EE07F9BB3764}"/>
              </a:ext>
            </a:extLst>
          </p:cNvPr>
          <p:cNvSpPr/>
          <p:nvPr/>
        </p:nvSpPr>
        <p:spPr>
          <a:xfrm>
            <a:off x="325254" y="2286000"/>
            <a:ext cx="8463714" cy="281940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569636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Large-margin Decision Boundary</a:t>
            </a:r>
            <a:endParaRPr lang="en-US" sz="32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04800" y="2362200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However, here we will turn to the </a:t>
            </a:r>
            <a:r>
              <a:rPr lang="en-US" sz="2400" b="1" dirty="0">
                <a:solidFill>
                  <a:srgbClr val="3B3FF7"/>
                </a:solidFill>
              </a:rPr>
              <a:t>Lagrange duality</a:t>
            </a:r>
            <a:r>
              <a:rPr lang="en-US" sz="2400" dirty="0"/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 dual form will allow us to derive an </a:t>
            </a:r>
            <a:r>
              <a:rPr lang="en-US" altLang="zh-CN" sz="2400" dirty="0">
                <a:solidFill>
                  <a:srgbClr val="3B3FF7"/>
                </a:solidFill>
              </a:rPr>
              <a:t>efficient</a:t>
            </a:r>
            <a:r>
              <a:rPr lang="en-US" altLang="zh-CN" sz="2400" dirty="0"/>
              <a:t> algorithm to solve the optimization problem.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Typically do much better than generic QP software.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 dual form will allow us to use </a:t>
            </a:r>
            <a:r>
              <a:rPr lang="en-US" altLang="zh-CN" sz="2400" dirty="0">
                <a:solidFill>
                  <a:srgbClr val="3B3FF7"/>
                </a:solidFill>
              </a:rPr>
              <a:t>kernels</a:t>
            </a:r>
            <a:r>
              <a:rPr lang="en-US" altLang="zh-CN" sz="2400" dirty="0"/>
              <a:t> to get optimal margin classifiers to work efficiently in very high dimensional spaces.</a:t>
            </a:r>
          </a:p>
          <a:p>
            <a:pPr lvl="1"/>
            <a:r>
              <a:rPr lang="en-US" sz="2400" dirty="0"/>
              <a:t>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矩形: 圆角 7">
            <a:extLst>
              <a:ext uri="{FF2B5EF4-FFF2-40B4-BE49-F238E27FC236}">
                <a16:creationId xmlns:a16="http://schemas.microsoft.com/office/drawing/2014/main" id="{3D1AC0CF-7AAE-41CA-B4C2-ECD3D5FB305B}"/>
              </a:ext>
            </a:extLst>
          </p:cNvPr>
          <p:cNvSpPr/>
          <p:nvPr/>
        </p:nvSpPr>
        <p:spPr>
          <a:xfrm>
            <a:off x="304800" y="1064799"/>
            <a:ext cx="8463714" cy="992601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F3D59C-6A95-41EE-8316-C2A1FEEEAA29}"/>
              </a:ext>
            </a:extLst>
          </p:cNvPr>
          <p:cNvSpPr txBox="1"/>
          <p:nvPr/>
        </p:nvSpPr>
        <p:spPr>
          <a:xfrm>
            <a:off x="322868" y="1133794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optimization problem can be solved using commercial quadratic programming (QP </a:t>
            </a:r>
            <a:r>
              <a:rPr lang="zh-CN" altLang="en-US" sz="2400" dirty="0"/>
              <a:t>二次规划</a:t>
            </a:r>
            <a:r>
              <a:rPr lang="en-US" altLang="zh-CN" sz="2400" dirty="0"/>
              <a:t>) code.</a:t>
            </a:r>
            <a:endParaRPr 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FBB84E-46C4-459E-A142-BF7681410087}"/>
              </a:ext>
            </a:extLst>
          </p:cNvPr>
          <p:cNvSpPr/>
          <p:nvPr/>
        </p:nvSpPr>
        <p:spPr>
          <a:xfrm>
            <a:off x="322868" y="5487160"/>
            <a:ext cx="81353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Let’s temporarily put aside SVM, and talk about solving constrained optimization problems.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2038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7">
            <a:extLst>
              <a:ext uri="{FF2B5EF4-FFF2-40B4-BE49-F238E27FC236}">
                <a16:creationId xmlns:a16="http://schemas.microsoft.com/office/drawing/2014/main" id="{C4A1FF06-75A7-49BE-B21E-B6A190F32F19}"/>
              </a:ext>
            </a:extLst>
          </p:cNvPr>
          <p:cNvSpPr/>
          <p:nvPr/>
        </p:nvSpPr>
        <p:spPr>
          <a:xfrm>
            <a:off x="325254" y="914400"/>
            <a:ext cx="8463714" cy="164627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463120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Constrained Optimization</a:t>
            </a:r>
            <a:endParaRPr lang="en-US" sz="3200" b="1" dirty="0"/>
          </a:p>
        </p:txBody>
      </p:sp>
      <p:sp>
        <p:nvSpPr>
          <p:cNvPr id="3" name="矩形 2"/>
          <p:cNvSpPr/>
          <p:nvPr/>
        </p:nvSpPr>
        <p:spPr>
          <a:xfrm>
            <a:off x="361317" y="1003286"/>
            <a:ext cx="5412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 dirty="0"/>
              <a:t>Consider a problem of the following form: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010892" y="1435745"/>
                <a:ext cx="1273682" cy="4927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892" y="1435745"/>
                <a:ext cx="1273682" cy="4927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010892" y="2052935"/>
                <a:ext cx="290278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/>
                  <a:t>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892" y="2052935"/>
                <a:ext cx="2902782" cy="400110"/>
              </a:xfrm>
              <a:prstGeom prst="rect">
                <a:avLst/>
              </a:prstGeom>
              <a:blipFill>
                <a:blip r:embed="rId4"/>
                <a:stretch>
                  <a:fillRect l="-2311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B0BDA02E-9802-448C-9649-1B2CF66E9407}"/>
              </a:ext>
            </a:extLst>
          </p:cNvPr>
          <p:cNvGrpSpPr/>
          <p:nvPr/>
        </p:nvGrpSpPr>
        <p:grpSpPr>
          <a:xfrm>
            <a:off x="304799" y="4593248"/>
            <a:ext cx="8479456" cy="1646274"/>
            <a:chOff x="304799" y="4593248"/>
            <a:chExt cx="8479456" cy="1646274"/>
          </a:xfrm>
        </p:grpSpPr>
        <p:sp>
          <p:nvSpPr>
            <p:cNvPr id="16" name="矩形: 圆角 7">
              <a:extLst>
                <a:ext uri="{FF2B5EF4-FFF2-40B4-BE49-F238E27FC236}">
                  <a16:creationId xmlns:a16="http://schemas.microsoft.com/office/drawing/2014/main" id="{9F7546C2-1C09-468B-9081-D0E9ABD0E694}"/>
                </a:ext>
              </a:extLst>
            </p:cNvPr>
            <p:cNvSpPr/>
            <p:nvPr/>
          </p:nvSpPr>
          <p:spPr>
            <a:xfrm>
              <a:off x="320541" y="4593248"/>
              <a:ext cx="8463714" cy="1646274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>
                <a:xfrm>
                  <a:off x="2450804" y="5266876"/>
                  <a:ext cx="1676549" cy="7764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f>
                              <m:f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𝒘</m:t>
                                    </m:r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fNam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func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804" y="5266876"/>
                  <a:ext cx="1676549" cy="7764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/>
                <p:cNvSpPr/>
                <p:nvPr/>
              </p:nvSpPr>
              <p:spPr>
                <a:xfrm>
                  <a:off x="4648051" y="5266876"/>
                  <a:ext cx="1676549" cy="74161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f>
                              <m:f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𝒘</m:t>
                                    </m:r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fNam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func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8051" y="5266876"/>
                  <a:ext cx="1676549" cy="7416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304799" y="4674249"/>
              <a:ext cx="438004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0" dirty="0"/>
                <a:t>Set the partial derivatives to zero:</a:t>
              </a:r>
              <a:endParaRPr lang="zh-CN" altLang="en-US" sz="2400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236A15C-FE28-4AE6-BF39-E49FDE4FC221}"/>
              </a:ext>
            </a:extLst>
          </p:cNvPr>
          <p:cNvGrpSpPr/>
          <p:nvPr/>
        </p:nvGrpSpPr>
        <p:grpSpPr>
          <a:xfrm>
            <a:off x="304799" y="2752209"/>
            <a:ext cx="8479456" cy="1646274"/>
            <a:chOff x="304799" y="2752209"/>
            <a:chExt cx="8479456" cy="1646274"/>
          </a:xfrm>
        </p:grpSpPr>
        <p:sp>
          <p:nvSpPr>
            <p:cNvPr id="15" name="矩形: 圆角 7">
              <a:extLst>
                <a:ext uri="{FF2B5EF4-FFF2-40B4-BE49-F238E27FC236}">
                  <a16:creationId xmlns:a16="http://schemas.microsoft.com/office/drawing/2014/main" id="{A67B3541-44FD-4C7A-BC8B-651C14936458}"/>
                </a:ext>
              </a:extLst>
            </p:cNvPr>
            <p:cNvSpPr/>
            <p:nvPr/>
          </p:nvSpPr>
          <p:spPr>
            <a:xfrm>
              <a:off x="320541" y="2752209"/>
              <a:ext cx="8463714" cy="1646274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04799" y="2769331"/>
              <a:ext cx="37215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0" dirty="0"/>
                <a:t>Lagrange multiplier method: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/>
                <p:cNvSpPr/>
                <p:nvPr/>
              </p:nvSpPr>
              <p:spPr>
                <a:xfrm>
                  <a:off x="1315007" y="3290371"/>
                  <a:ext cx="3504806" cy="96404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d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fNam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5007" y="3290371"/>
                  <a:ext cx="3504806" cy="96404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/>
                <p:cNvSpPr/>
                <p:nvPr/>
              </p:nvSpPr>
              <p:spPr>
                <a:xfrm>
                  <a:off x="5181600" y="3441014"/>
                  <a:ext cx="359149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solidFill>
                        <a:srgbClr val="FF0000"/>
                      </a:solidFill>
                    </a:rPr>
                    <a:t>’s are the Lagrange multipliers.</a:t>
                  </a:r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3441014"/>
                  <a:ext cx="3591496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679" t="-7576" r="-1188" b="-257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5181600" y="3853625"/>
              <a:ext cx="214552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No constraint now.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436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7">
            <a:extLst>
              <a:ext uri="{FF2B5EF4-FFF2-40B4-BE49-F238E27FC236}">
                <a16:creationId xmlns:a16="http://schemas.microsoft.com/office/drawing/2014/main" id="{1C548678-1B14-4D84-8CCE-45C197360C5B}"/>
              </a:ext>
            </a:extLst>
          </p:cNvPr>
          <p:cNvSpPr/>
          <p:nvPr/>
        </p:nvSpPr>
        <p:spPr>
          <a:xfrm>
            <a:off x="329915" y="951764"/>
            <a:ext cx="8463714" cy="1073299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矩形: 圆角 7">
            <a:extLst>
              <a:ext uri="{FF2B5EF4-FFF2-40B4-BE49-F238E27FC236}">
                <a16:creationId xmlns:a16="http://schemas.microsoft.com/office/drawing/2014/main" id="{315BE538-CB29-4EFF-AADD-28F8ED6C5708}"/>
              </a:ext>
            </a:extLst>
          </p:cNvPr>
          <p:cNvSpPr/>
          <p:nvPr/>
        </p:nvSpPr>
        <p:spPr>
          <a:xfrm>
            <a:off x="350371" y="2301658"/>
            <a:ext cx="8463714" cy="164627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702833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sp>
        <p:nvSpPr>
          <p:cNvPr id="3" name="矩形 2"/>
          <p:cNvSpPr/>
          <p:nvPr/>
        </p:nvSpPr>
        <p:spPr>
          <a:xfrm>
            <a:off x="329917" y="2301658"/>
            <a:ext cx="6714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 dirty="0"/>
              <a:t>Consider </a:t>
            </a:r>
            <a:r>
              <a:rPr lang="en-US" altLang="zh-CN" sz="2400" dirty="0"/>
              <a:t>t</a:t>
            </a:r>
            <a:r>
              <a:rPr lang="en-US" altLang="zh-CN" sz="2400" b="0" dirty="0"/>
              <a:t>he following </a:t>
            </a:r>
            <a:r>
              <a:rPr lang="en-US" altLang="zh-CN" sz="2400" b="0" dirty="0">
                <a:solidFill>
                  <a:srgbClr val="FF0000"/>
                </a:solidFill>
              </a:rPr>
              <a:t>primal</a:t>
            </a:r>
            <a:r>
              <a:rPr lang="en-US" altLang="zh-CN" sz="2400" b="0" dirty="0"/>
              <a:t> optimization problem: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036009" y="2717330"/>
                <a:ext cx="1273682" cy="4927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009" y="2717330"/>
                <a:ext cx="1273682" cy="4927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036009" y="3193972"/>
                <a:ext cx="291419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/>
                  <a:t>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zh-CN" sz="2000" dirty="0"/>
              </a:p>
              <a:p>
                <a:r>
                  <a:rPr lang="en-US" altLang="zh-CN" sz="20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009" y="3193972"/>
                <a:ext cx="2914196" cy="707886"/>
              </a:xfrm>
              <a:prstGeom prst="rect">
                <a:avLst/>
              </a:prstGeom>
              <a:blipFill>
                <a:blip r:embed="rId4"/>
                <a:stretch>
                  <a:fillRect l="-2092" t="-5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41B01687-4241-4C48-8AB0-5D7FBA4E6A90}"/>
              </a:ext>
            </a:extLst>
          </p:cNvPr>
          <p:cNvGrpSpPr/>
          <p:nvPr/>
        </p:nvGrpSpPr>
        <p:grpSpPr>
          <a:xfrm>
            <a:off x="329915" y="4142792"/>
            <a:ext cx="8484170" cy="1600719"/>
            <a:chOff x="304798" y="2755534"/>
            <a:chExt cx="8484170" cy="1600719"/>
          </a:xfrm>
        </p:grpSpPr>
        <p:sp>
          <p:nvSpPr>
            <p:cNvPr id="15" name="矩形: 圆角 7">
              <a:extLst>
                <a:ext uri="{FF2B5EF4-FFF2-40B4-BE49-F238E27FC236}">
                  <a16:creationId xmlns:a16="http://schemas.microsoft.com/office/drawing/2014/main" id="{1C830C95-FC30-40AB-91DB-20913992BD35}"/>
                </a:ext>
              </a:extLst>
            </p:cNvPr>
            <p:cNvSpPr/>
            <p:nvPr/>
          </p:nvSpPr>
          <p:spPr>
            <a:xfrm>
              <a:off x="304798" y="2755534"/>
              <a:ext cx="8463714" cy="1600719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04799" y="2814935"/>
              <a:ext cx="309386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0" dirty="0"/>
                <a:t>Generalized </a:t>
              </a:r>
              <a:r>
                <a:rPr lang="en-US" altLang="zh-CN" sz="2400" b="0" dirty="0" err="1"/>
                <a:t>Lagrangian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/>
                <p:cNvSpPr/>
                <p:nvPr/>
              </p:nvSpPr>
              <p:spPr>
                <a:xfrm>
                  <a:off x="1818735" y="3275567"/>
                  <a:ext cx="5302734" cy="96404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d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fNam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nary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8735" y="3275567"/>
                  <a:ext cx="5302734" cy="96404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/>
                <p:cNvSpPr/>
                <p:nvPr/>
              </p:nvSpPr>
              <p:spPr>
                <a:xfrm>
                  <a:off x="4303188" y="2787234"/>
                  <a:ext cx="448578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solidFill>
                        <a:srgbClr val="FF0000"/>
                      </a:solidFill>
                    </a:rPr>
                    <a:t>’s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solidFill>
                        <a:srgbClr val="FF0000"/>
                      </a:solidFill>
                    </a:rPr>
                    <a:t>’s are the Lagrange multipliers.</a:t>
                  </a:r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3188" y="2787234"/>
                  <a:ext cx="4485780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7576" r="-679" b="-257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05F0FF5-18D8-4308-8185-C9B9BB65C4D0}"/>
                  </a:ext>
                </a:extLst>
              </p:cNvPr>
              <p:cNvSpPr/>
              <p:nvPr/>
            </p:nvSpPr>
            <p:spPr>
              <a:xfrm>
                <a:off x="2888661" y="5982095"/>
                <a:ext cx="14210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rgbClr val="3B3FF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3B3FF7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3B3FF7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3200" dirty="0">
                          <a:solidFill>
                            <a:srgbClr val="3B3F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3200" b="0" i="0" dirty="0" smtClean="0">
                          <a:solidFill>
                            <a:srgbClr val="3B3F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3200" dirty="0">
                  <a:solidFill>
                    <a:srgbClr val="3B3FF7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05F0FF5-18D8-4308-8185-C9B9BB65C4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661" y="5982095"/>
                <a:ext cx="142103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EB465A2A-3062-40FA-B9C4-4F77785107B2}"/>
              </a:ext>
            </a:extLst>
          </p:cNvPr>
          <p:cNvSpPr/>
          <p:nvPr/>
        </p:nvSpPr>
        <p:spPr>
          <a:xfrm>
            <a:off x="5151439" y="5982094"/>
            <a:ext cx="11534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B3F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Why?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948220-2E7F-4A21-A97B-F3D7B4D7AE3F}"/>
              </a:ext>
            </a:extLst>
          </p:cNvPr>
          <p:cNvSpPr/>
          <p:nvPr/>
        </p:nvSpPr>
        <p:spPr>
          <a:xfrm>
            <a:off x="361317" y="1003286"/>
            <a:ext cx="83254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Generalize this to constrained optimization problems in which we may have inequality as well as equality constraints.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4924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3EFD950-242B-43D3-809D-764AFF576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52" y="3359133"/>
            <a:ext cx="7199170" cy="1063641"/>
          </a:xfrm>
          <a:prstGeom prst="rect">
            <a:avLst/>
          </a:prstGeom>
        </p:spPr>
      </p:pic>
      <p:sp>
        <p:nvSpPr>
          <p:cNvPr id="18" name="矩形: 圆角 7">
            <a:extLst>
              <a:ext uri="{FF2B5EF4-FFF2-40B4-BE49-F238E27FC236}">
                <a16:creationId xmlns:a16="http://schemas.microsoft.com/office/drawing/2014/main" id="{33F877AC-3327-4617-8AD4-58B61E381A71}"/>
              </a:ext>
            </a:extLst>
          </p:cNvPr>
          <p:cNvSpPr/>
          <p:nvPr/>
        </p:nvSpPr>
        <p:spPr>
          <a:xfrm>
            <a:off x="325254" y="914400"/>
            <a:ext cx="8463714" cy="164627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265294-9052-482E-9D5B-2090F959CC80}"/>
              </a:ext>
            </a:extLst>
          </p:cNvPr>
          <p:cNvSpPr/>
          <p:nvPr/>
        </p:nvSpPr>
        <p:spPr>
          <a:xfrm>
            <a:off x="304800" y="914400"/>
            <a:ext cx="6714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 dirty="0"/>
              <a:t>Consider </a:t>
            </a:r>
            <a:r>
              <a:rPr lang="en-US" altLang="zh-CN" sz="2400" dirty="0"/>
              <a:t>t</a:t>
            </a:r>
            <a:r>
              <a:rPr lang="en-US" altLang="zh-CN" sz="2400" b="0" dirty="0"/>
              <a:t>he following primal optimization problem: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D28AAAD-5653-4FED-9FCB-A795498F97D0}"/>
                  </a:ext>
                </a:extLst>
              </p:cNvPr>
              <p:cNvSpPr/>
              <p:nvPr/>
            </p:nvSpPr>
            <p:spPr>
              <a:xfrm>
                <a:off x="2978235" y="1313630"/>
                <a:ext cx="1474186" cy="598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D28AAAD-5653-4FED-9FCB-A795498F97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235" y="1313630"/>
                <a:ext cx="1474186" cy="598434"/>
              </a:xfrm>
              <a:prstGeom prst="rect">
                <a:avLst/>
              </a:prstGeom>
              <a:blipFill>
                <a:blip r:embed="rId4"/>
                <a:stretch>
                  <a:fillRect r="-830" b="-40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65CEC71-6EE4-4F4E-BAB5-6FD929D5AE4A}"/>
                  </a:ext>
                </a:extLst>
              </p:cNvPr>
              <p:cNvSpPr/>
              <p:nvPr/>
            </p:nvSpPr>
            <p:spPr>
              <a:xfrm>
                <a:off x="2978235" y="1984688"/>
                <a:ext cx="18371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s.t.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65CEC71-6EE4-4F4E-BAB5-6FD929D5AE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235" y="1984688"/>
                <a:ext cx="1837170" cy="461665"/>
              </a:xfrm>
              <a:prstGeom prst="rect">
                <a:avLst/>
              </a:prstGeom>
              <a:blipFill>
                <a:blip r:embed="rId5"/>
                <a:stretch>
                  <a:fillRect l="-5316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E47C422A-4903-429F-9AA6-5803541BB97E}"/>
              </a:ext>
            </a:extLst>
          </p:cNvPr>
          <p:cNvSpPr/>
          <p:nvPr/>
        </p:nvSpPr>
        <p:spPr>
          <a:xfrm>
            <a:off x="358191" y="2729071"/>
            <a:ext cx="1479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 dirty="0"/>
              <a:t>Example1: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2707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3EFD950-242B-43D3-809D-764AFF576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0894"/>
            <a:ext cx="7199170" cy="106364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D6C4CD1-8787-469A-9915-75F2C6827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668" y="1894535"/>
            <a:ext cx="5384860" cy="460423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E858FFF-A0D0-4ACE-9309-6D58887D5B64}"/>
              </a:ext>
            </a:extLst>
          </p:cNvPr>
          <p:cNvSpPr/>
          <p:nvPr/>
        </p:nvSpPr>
        <p:spPr>
          <a:xfrm>
            <a:off x="2057400" y="48768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223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3EFD950-242B-43D3-809D-764AFF576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0894"/>
            <a:ext cx="7199170" cy="1063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5A27F1-11BE-480F-A83F-6244A83CD7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59" y="1894535"/>
            <a:ext cx="6912041" cy="465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42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3EFD950-242B-43D3-809D-764AFF576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0894"/>
            <a:ext cx="7199170" cy="106364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58B069B-00B1-4324-B07C-D1E0F37729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94535"/>
            <a:ext cx="8242305" cy="450626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EAB3581-2976-4049-9404-E14A04FBE14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46"/>
          <a:stretch/>
        </p:blipFill>
        <p:spPr>
          <a:xfrm>
            <a:off x="838201" y="5867400"/>
            <a:ext cx="7620000" cy="79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17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F1BF81-91E5-4B99-B40A-224D5B703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76135"/>
            <a:ext cx="80759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5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sp>
        <p:nvSpPr>
          <p:cNvPr id="18" name="矩形: 圆角 7">
            <a:extLst>
              <a:ext uri="{FF2B5EF4-FFF2-40B4-BE49-F238E27FC236}">
                <a16:creationId xmlns:a16="http://schemas.microsoft.com/office/drawing/2014/main" id="{33F877AC-3327-4617-8AD4-58B61E381A71}"/>
              </a:ext>
            </a:extLst>
          </p:cNvPr>
          <p:cNvSpPr/>
          <p:nvPr/>
        </p:nvSpPr>
        <p:spPr>
          <a:xfrm>
            <a:off x="325254" y="914400"/>
            <a:ext cx="8463714" cy="164627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265294-9052-482E-9D5B-2090F959CC80}"/>
              </a:ext>
            </a:extLst>
          </p:cNvPr>
          <p:cNvSpPr/>
          <p:nvPr/>
        </p:nvSpPr>
        <p:spPr>
          <a:xfrm>
            <a:off x="304800" y="914400"/>
            <a:ext cx="6714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 dirty="0"/>
              <a:t>Consider </a:t>
            </a:r>
            <a:r>
              <a:rPr lang="en-US" altLang="zh-CN" sz="2400" dirty="0"/>
              <a:t>t</a:t>
            </a:r>
            <a:r>
              <a:rPr lang="en-US" altLang="zh-CN" sz="2400" b="0" dirty="0"/>
              <a:t>he following primal optimization problem: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D28AAAD-5653-4FED-9FCB-A795498F97D0}"/>
                  </a:ext>
                </a:extLst>
              </p:cNvPr>
              <p:cNvSpPr/>
              <p:nvPr/>
            </p:nvSpPr>
            <p:spPr>
              <a:xfrm>
                <a:off x="2978235" y="1313630"/>
                <a:ext cx="1474186" cy="598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D28AAAD-5653-4FED-9FCB-A795498F97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235" y="1313630"/>
                <a:ext cx="1474186" cy="598434"/>
              </a:xfrm>
              <a:prstGeom prst="rect">
                <a:avLst/>
              </a:prstGeom>
              <a:blipFill>
                <a:blip r:embed="rId3"/>
                <a:stretch>
                  <a:fillRect r="-830" b="-40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65CEC71-6EE4-4F4E-BAB5-6FD929D5AE4A}"/>
                  </a:ext>
                </a:extLst>
              </p:cNvPr>
              <p:cNvSpPr/>
              <p:nvPr/>
            </p:nvSpPr>
            <p:spPr>
              <a:xfrm>
                <a:off x="2978235" y="1984688"/>
                <a:ext cx="18371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s.t.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65CEC71-6EE4-4F4E-BAB5-6FD929D5AE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235" y="1984688"/>
                <a:ext cx="1837170" cy="461665"/>
              </a:xfrm>
              <a:prstGeom prst="rect">
                <a:avLst/>
              </a:prstGeom>
              <a:blipFill>
                <a:blip r:embed="rId4"/>
                <a:stretch>
                  <a:fillRect l="-5316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E47C422A-4903-429F-9AA6-5803541BB97E}"/>
              </a:ext>
            </a:extLst>
          </p:cNvPr>
          <p:cNvSpPr/>
          <p:nvPr/>
        </p:nvSpPr>
        <p:spPr>
          <a:xfrm>
            <a:off x="358191" y="2729071"/>
            <a:ext cx="1510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Example2:</a:t>
            </a:r>
            <a:endParaRPr lang="zh-CN" altLang="en-US" sz="2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8B109F-C421-411B-8811-A8E2BC866B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581400"/>
            <a:ext cx="8354206" cy="930292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32E67BB-2011-4641-BC5A-FD516E677C27}"/>
              </a:ext>
            </a:extLst>
          </p:cNvPr>
          <p:cNvCxnSpPr/>
          <p:nvPr/>
        </p:nvCxnSpPr>
        <p:spPr>
          <a:xfrm>
            <a:off x="4267200" y="3962400"/>
            <a:ext cx="0" cy="2286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644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8B109F-C421-411B-8811-A8E2BC866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22308"/>
            <a:ext cx="8354206" cy="93029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D2255F1-3374-4340-B6C4-B49149EE9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676400"/>
            <a:ext cx="5994520" cy="501715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5300396-B38D-4852-B8D9-FFE1742F8389}"/>
              </a:ext>
            </a:extLst>
          </p:cNvPr>
          <p:cNvSpPr/>
          <p:nvPr/>
        </p:nvSpPr>
        <p:spPr>
          <a:xfrm>
            <a:off x="1981200" y="42672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1DBE33A-A601-47E4-9D69-088B21DFF72A}"/>
              </a:ext>
            </a:extLst>
          </p:cNvPr>
          <p:cNvCxnSpPr/>
          <p:nvPr/>
        </p:nvCxnSpPr>
        <p:spPr>
          <a:xfrm>
            <a:off x="4191000" y="1219200"/>
            <a:ext cx="0" cy="2286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449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2255F1-3374-4340-B6C4-B49149EE9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676400"/>
            <a:ext cx="5994520" cy="5017153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24A0AF83-8887-4126-90F9-E6BA5F8F52BB}"/>
              </a:ext>
            </a:extLst>
          </p:cNvPr>
          <p:cNvSpPr/>
          <p:nvPr/>
        </p:nvSpPr>
        <p:spPr>
          <a:xfrm>
            <a:off x="5867400" y="4370794"/>
            <a:ext cx="177680" cy="177680"/>
          </a:xfrm>
          <a:prstGeom prst="ellipse">
            <a:avLst/>
          </a:prstGeom>
          <a:solidFill>
            <a:srgbClr val="3B3FF7"/>
          </a:solidFill>
          <a:ln>
            <a:solidFill>
              <a:srgbClr val="3B3F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E2B6EF3-749D-4EB9-BC08-96813765DF74}"/>
              </a:ext>
            </a:extLst>
          </p:cNvPr>
          <p:cNvCxnSpPr>
            <a:cxnSpLocks/>
          </p:cNvCxnSpPr>
          <p:nvPr/>
        </p:nvCxnSpPr>
        <p:spPr>
          <a:xfrm flipH="1">
            <a:off x="6045080" y="3048000"/>
            <a:ext cx="660520" cy="13227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7536058A-C236-4EB8-985D-CDA954B73D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904941"/>
            <a:ext cx="1835244" cy="1143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34D8A6E-A3C3-4545-89B2-0E6442AA92F2}"/>
                  </a:ext>
                </a:extLst>
              </p:cNvPr>
              <p:cNvSpPr/>
              <p:nvPr/>
            </p:nvSpPr>
            <p:spPr>
              <a:xfrm>
                <a:off x="533400" y="4876800"/>
                <a:ext cx="41148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The constrained local minimum occurs on the surface of the constraint surface.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34D8A6E-A3C3-4545-89B2-0E6442AA92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876800"/>
                <a:ext cx="4114800" cy="1200329"/>
              </a:xfrm>
              <a:prstGeom prst="rect">
                <a:avLst/>
              </a:prstGeom>
              <a:blipFill>
                <a:blip r:embed="rId6"/>
                <a:stretch>
                  <a:fillRect l="-2370" t="-4061" r="-2222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15E7BE8E-CD78-46B4-B39A-474B7BD6BD13}"/>
              </a:ext>
            </a:extLst>
          </p:cNvPr>
          <p:cNvSpPr/>
          <p:nvPr/>
        </p:nvSpPr>
        <p:spPr>
          <a:xfrm>
            <a:off x="1981200" y="42672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0C4FCAB-D1D2-4BB4-9B89-122D5FC881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22308"/>
            <a:ext cx="8354206" cy="930292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ED21E95-BFD5-452B-B0C2-860D7D37DD31}"/>
              </a:ext>
            </a:extLst>
          </p:cNvPr>
          <p:cNvCxnSpPr/>
          <p:nvPr/>
        </p:nvCxnSpPr>
        <p:spPr>
          <a:xfrm>
            <a:off x="4191000" y="1219200"/>
            <a:ext cx="0" cy="2286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294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6DFE6F-1D67-48A2-A3B5-C4B795A857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442"/>
          <a:stretch/>
        </p:blipFill>
        <p:spPr>
          <a:xfrm>
            <a:off x="1007417" y="1761186"/>
            <a:ext cx="6901381" cy="35728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B77133D-48EF-44EA-9D3F-F4F526460EBC}"/>
                  </a:ext>
                </a:extLst>
              </p:cNvPr>
              <p:cNvSpPr txBox="1"/>
              <p:nvPr/>
            </p:nvSpPr>
            <p:spPr>
              <a:xfrm>
                <a:off x="405783" y="2035067"/>
                <a:ext cx="207646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</a:rPr>
                  <a:t>Red</a:t>
                </a:r>
                <a:r>
                  <a:rPr lang="en-US" altLang="zh-CN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r>
                  <a:rPr lang="en-US" altLang="zh-CN" sz="2400" b="1" dirty="0">
                    <a:solidFill>
                      <a:srgbClr val="3B3FF7"/>
                    </a:solidFill>
                  </a:rPr>
                  <a:t>Blue</a:t>
                </a:r>
                <a:r>
                  <a:rPr lang="en-US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B77133D-48EF-44EA-9D3F-F4F526460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83" y="2035067"/>
                <a:ext cx="2076466" cy="830997"/>
              </a:xfrm>
              <a:prstGeom prst="rect">
                <a:avLst/>
              </a:prstGeom>
              <a:blipFill>
                <a:blip r:embed="rId5"/>
                <a:stretch>
                  <a:fillRect l="-4706" t="-5882" r="-1471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185CBC99-17C4-40C4-A0D9-3C25D5126F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318" y="1905000"/>
            <a:ext cx="1733639" cy="80014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4F1ABC9-E70E-465B-A7A5-849586A3F3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374" y="2581687"/>
            <a:ext cx="1682836" cy="825542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5C2F7E9-B959-4F14-8FD4-C16BC1AB83FA}"/>
              </a:ext>
            </a:extLst>
          </p:cNvPr>
          <p:cNvCxnSpPr/>
          <p:nvPr/>
        </p:nvCxnSpPr>
        <p:spPr>
          <a:xfrm flipH="1">
            <a:off x="4191000" y="2362200"/>
            <a:ext cx="76200" cy="8260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B7F18BB-E8A9-48C3-9967-ECE9D053EA97}"/>
              </a:ext>
            </a:extLst>
          </p:cNvPr>
          <p:cNvCxnSpPr>
            <a:cxnSpLocks/>
          </p:cNvCxnSpPr>
          <p:nvPr/>
        </p:nvCxnSpPr>
        <p:spPr>
          <a:xfrm flipH="1">
            <a:off x="5029200" y="3276600"/>
            <a:ext cx="2253592" cy="745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8ABD8B82-CB22-4EBF-BAFD-BEB11F37F8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681" y="5272988"/>
            <a:ext cx="7102788" cy="143379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31303C2-F594-42F7-83A2-9423265305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22308"/>
            <a:ext cx="8354206" cy="930292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E8A1011-5443-4820-A5D8-0F6CEBCE28B8}"/>
              </a:ext>
            </a:extLst>
          </p:cNvPr>
          <p:cNvCxnSpPr/>
          <p:nvPr/>
        </p:nvCxnSpPr>
        <p:spPr>
          <a:xfrm>
            <a:off x="4191000" y="1219200"/>
            <a:ext cx="0" cy="2286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275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5CC2AC-FE5F-4D33-BC75-345366643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990600"/>
            <a:ext cx="8563477" cy="48006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A0994DA-B11A-4E4F-AFA8-3AE43D227AA0}"/>
              </a:ext>
            </a:extLst>
          </p:cNvPr>
          <p:cNvSpPr/>
          <p:nvPr/>
        </p:nvSpPr>
        <p:spPr>
          <a:xfrm>
            <a:off x="533400" y="5638800"/>
            <a:ext cx="3581400" cy="3121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359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70848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Optimization with Inequality Constraints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7A9808-3DE3-4EA5-9AB3-43A126F39FFE}"/>
              </a:ext>
            </a:extLst>
          </p:cNvPr>
          <p:cNvSpPr/>
          <p:nvPr/>
        </p:nvSpPr>
        <p:spPr>
          <a:xfrm>
            <a:off x="304799" y="5562600"/>
            <a:ext cx="3962401" cy="3883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F4CBB6-41BA-4676-A821-AC45132E9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928865"/>
            <a:ext cx="8305801" cy="56518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696A05D-DA50-4AFC-B4A1-AAC71EE3CFAF}"/>
              </a:ext>
            </a:extLst>
          </p:cNvPr>
          <p:cNvSpPr txBox="1"/>
          <p:nvPr/>
        </p:nvSpPr>
        <p:spPr>
          <a:xfrm>
            <a:off x="2285999" y="6475400"/>
            <a:ext cx="7001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http://www.csc.kth.se/utbildning/kth/kurser/DD3364/Lectures/KKT.pdf</a:t>
            </a:r>
          </a:p>
        </p:txBody>
      </p:sp>
    </p:spTree>
    <p:extLst>
      <p:ext uri="{BB962C8B-B14F-4D97-AF65-F5344CB8AC3E}">
        <p14:creationId xmlns:p14="http://schemas.microsoft.com/office/powerpoint/2010/main" val="3977047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301973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Lagrange Duality</a:t>
            </a:r>
            <a:endParaRPr lang="en-US" sz="32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7A9808-3DE3-4EA5-9AB3-43A126F39FFE}"/>
              </a:ext>
            </a:extLst>
          </p:cNvPr>
          <p:cNvSpPr/>
          <p:nvPr/>
        </p:nvSpPr>
        <p:spPr>
          <a:xfrm>
            <a:off x="228600" y="5791200"/>
            <a:ext cx="3962401" cy="3883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E97FB7-BB1F-44AE-85EC-FBCA1F990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00200"/>
            <a:ext cx="8534402" cy="51071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65A662-90D8-4F6B-9F1C-20CBC85FD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6200"/>
            <a:ext cx="2232294" cy="168005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441FF5AC-6F42-4BA2-9BEE-0EB6B8EB3EC8}"/>
              </a:ext>
            </a:extLst>
          </p:cNvPr>
          <p:cNvGrpSpPr/>
          <p:nvPr/>
        </p:nvGrpSpPr>
        <p:grpSpPr>
          <a:xfrm>
            <a:off x="206106" y="0"/>
            <a:ext cx="5506034" cy="1633967"/>
            <a:chOff x="3505200" y="4754197"/>
            <a:chExt cx="5506034" cy="1633967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DF3F37B-6854-4C53-AF0F-5ADB29BD6B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619"/>
            <a:stretch/>
          </p:blipFill>
          <p:spPr>
            <a:xfrm>
              <a:off x="3505200" y="4754197"/>
              <a:ext cx="5506034" cy="1616805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C22E3FA-8A3D-491C-991D-06C697D63DA5}"/>
                </a:ext>
              </a:extLst>
            </p:cNvPr>
            <p:cNvSpPr/>
            <p:nvPr/>
          </p:nvSpPr>
          <p:spPr>
            <a:xfrm>
              <a:off x="3657600" y="6212800"/>
              <a:ext cx="2075421" cy="1753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3883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1C830C95-FC30-40AB-91DB-20913992BD35}"/>
              </a:ext>
            </a:extLst>
          </p:cNvPr>
          <p:cNvSpPr/>
          <p:nvPr/>
        </p:nvSpPr>
        <p:spPr>
          <a:xfrm>
            <a:off x="304798" y="2755534"/>
            <a:ext cx="8463714" cy="1600719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矩形: 圆角 7">
            <a:extLst>
              <a:ext uri="{FF2B5EF4-FFF2-40B4-BE49-F238E27FC236}">
                <a16:creationId xmlns:a16="http://schemas.microsoft.com/office/drawing/2014/main" id="{315BE538-CB29-4EFF-AADD-28F8ED6C5708}"/>
              </a:ext>
            </a:extLst>
          </p:cNvPr>
          <p:cNvSpPr/>
          <p:nvPr/>
        </p:nvSpPr>
        <p:spPr>
          <a:xfrm>
            <a:off x="325254" y="914400"/>
            <a:ext cx="8463714" cy="164627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301973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Lagrange Duality</a:t>
            </a:r>
            <a:endParaRPr lang="en-US" sz="3200" b="1" dirty="0"/>
          </a:p>
        </p:txBody>
      </p:sp>
      <p:sp>
        <p:nvSpPr>
          <p:cNvPr id="3" name="矩形 2"/>
          <p:cNvSpPr/>
          <p:nvPr/>
        </p:nvSpPr>
        <p:spPr>
          <a:xfrm>
            <a:off x="304800" y="914400"/>
            <a:ext cx="6714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 dirty="0"/>
              <a:t>Consider </a:t>
            </a:r>
            <a:r>
              <a:rPr lang="en-US" altLang="zh-CN" sz="2400" dirty="0"/>
              <a:t>t</a:t>
            </a:r>
            <a:r>
              <a:rPr lang="en-US" altLang="zh-CN" sz="2400" b="0" dirty="0"/>
              <a:t>he following primal optimization problem: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010892" y="1330072"/>
                <a:ext cx="1273682" cy="4927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892" y="1330072"/>
                <a:ext cx="1273682" cy="4927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010892" y="1806714"/>
                <a:ext cx="291419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/>
                  <a:t>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zh-CN" sz="2000" dirty="0"/>
              </a:p>
              <a:p>
                <a:r>
                  <a:rPr lang="en-US" altLang="zh-CN" sz="20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892" y="1806714"/>
                <a:ext cx="2914196" cy="707886"/>
              </a:xfrm>
              <a:prstGeom prst="rect">
                <a:avLst/>
              </a:prstGeom>
              <a:blipFill>
                <a:blip r:embed="rId4"/>
                <a:stretch>
                  <a:fillRect l="-2301" t="-4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304799" y="2814935"/>
            <a:ext cx="30938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 dirty="0"/>
              <a:t>Generalized </a:t>
            </a:r>
            <a:r>
              <a:rPr lang="en-US" altLang="zh-CN" sz="2400" b="0" dirty="0" err="1"/>
              <a:t>Lagrangian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818735" y="3275567"/>
                <a:ext cx="5302734" cy="964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735" y="3275567"/>
                <a:ext cx="5302734" cy="9640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303188" y="2787234"/>
                <a:ext cx="448578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’s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’s are the Lagrange multipliers.</a:t>
                </a: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88" y="2787234"/>
                <a:ext cx="4485780" cy="400110"/>
              </a:xfrm>
              <a:prstGeom prst="rect">
                <a:avLst/>
              </a:prstGeom>
              <a:blipFill>
                <a:blip r:embed="rId6"/>
                <a:stretch>
                  <a:fillRect t="-7576" r="-679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C0CCA404-9C8B-48B3-8E17-6208E7AB67A2}"/>
              </a:ext>
            </a:extLst>
          </p:cNvPr>
          <p:cNvGrpSpPr/>
          <p:nvPr/>
        </p:nvGrpSpPr>
        <p:grpSpPr>
          <a:xfrm>
            <a:off x="304798" y="4512773"/>
            <a:ext cx="8534402" cy="2116627"/>
            <a:chOff x="304798" y="4512773"/>
            <a:chExt cx="8534402" cy="2116627"/>
          </a:xfrm>
        </p:grpSpPr>
        <p:sp>
          <p:nvSpPr>
            <p:cNvPr id="16" name="矩形: 圆角 7">
              <a:extLst>
                <a:ext uri="{FF2B5EF4-FFF2-40B4-BE49-F238E27FC236}">
                  <a16:creationId xmlns:a16="http://schemas.microsoft.com/office/drawing/2014/main" id="{66768DC6-2FEA-4435-8857-7413656695CC}"/>
                </a:ext>
              </a:extLst>
            </p:cNvPr>
            <p:cNvSpPr/>
            <p:nvPr/>
          </p:nvSpPr>
          <p:spPr>
            <a:xfrm>
              <a:off x="304829" y="4551113"/>
              <a:ext cx="8463714" cy="2078287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>
                <a:xfrm>
                  <a:off x="2450804" y="5105400"/>
                  <a:ext cx="3773597" cy="6236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sz="2400" i="1" smtClean="0">
                                <a:latin typeface="Cambria Math" panose="02040503050406030204" pitchFamily="18" charset="0"/>
                              </a:rPr>
                              <m:t>𝒫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804" y="5105400"/>
                  <a:ext cx="3773597" cy="623632"/>
                </a:xfrm>
                <a:prstGeom prst="rect">
                  <a:avLst/>
                </a:prstGeom>
                <a:blipFill>
                  <a:blip r:embed="rId7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304799" y="4512773"/>
              <a:ext cx="295657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0" dirty="0"/>
                <a:t>Consider the quantity: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/>
                <p:cNvSpPr/>
                <p:nvPr/>
              </p:nvSpPr>
              <p:spPr>
                <a:xfrm>
                  <a:off x="304798" y="5722203"/>
                  <a:ext cx="8534402" cy="83099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0" dirty="0"/>
                    <a:t>If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𝒘</m:t>
                      </m:r>
                    </m:oMath>
                  </a14:m>
                  <a:r>
                    <a:rPr lang="en-US" altLang="zh-CN" sz="2400" b="0" dirty="0"/>
                    <a:t> </a:t>
                  </a:r>
                  <a:r>
                    <a:rPr lang="en-US" altLang="zh-CN" sz="2400" dirty="0"/>
                    <a:t>is given and </a:t>
                  </a:r>
                  <a:r>
                    <a:rPr lang="en-US" altLang="zh-CN" sz="2400" dirty="0">
                      <a:solidFill>
                        <a:srgbClr val="FF0000"/>
                      </a:solidFill>
                    </a:rPr>
                    <a:t>violates</a:t>
                  </a:r>
                  <a:r>
                    <a:rPr lang="en-US" altLang="zh-CN" sz="2400" dirty="0"/>
                    <a:t> any primal constraint (i.e.,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n-US" altLang="zh-CN" sz="2400" dirty="0"/>
                    <a:t> 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CN" sz="2400" dirty="0"/>
                    <a:t> for some </a:t>
                  </a:r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altLang="zh-CN" sz="2400" dirty="0"/>
                    <a:t>), then </a:t>
                  </a:r>
                  <a:r>
                    <a:rPr lang="en-US" altLang="zh-CN" sz="2400" dirty="0">
                      <a:solidFill>
                        <a:srgbClr val="FF0000"/>
                      </a:solidFill>
                    </a:rPr>
                    <a:t>what happens</a:t>
                  </a:r>
                  <a:r>
                    <a:rPr lang="en-US" altLang="zh-CN" sz="2400" dirty="0"/>
                    <a:t>?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sz="2400" dirty="0"/>
                    <a:t>?</a:t>
                  </a:r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798" y="5722203"/>
                  <a:ext cx="8534402" cy="830997"/>
                </a:xfrm>
                <a:prstGeom prst="rect">
                  <a:avLst/>
                </a:prstGeom>
                <a:blipFill>
                  <a:blip r:embed="rId8"/>
                  <a:stretch>
                    <a:fillRect l="-1071" t="-5882" b="-161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05F0FF5-18D8-4308-8185-C9B9BB65C4D0}"/>
                  </a:ext>
                </a:extLst>
              </p:cNvPr>
              <p:cNvSpPr/>
              <p:nvPr/>
            </p:nvSpPr>
            <p:spPr>
              <a:xfrm>
                <a:off x="7696200" y="3187344"/>
                <a:ext cx="95654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05F0FF5-18D8-4308-8185-C9B9BB65C4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3187344"/>
                <a:ext cx="956544" cy="400110"/>
              </a:xfrm>
              <a:prstGeom prst="rect">
                <a:avLst/>
              </a:prstGeom>
              <a:blipFill>
                <a:blip r:embed="rId9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99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7">
            <a:extLst>
              <a:ext uri="{FF2B5EF4-FFF2-40B4-BE49-F238E27FC236}">
                <a16:creationId xmlns:a16="http://schemas.microsoft.com/office/drawing/2014/main" id="{11ACEDD5-D679-4A6D-A635-6B540DCC4FF9}"/>
              </a:ext>
            </a:extLst>
          </p:cNvPr>
          <p:cNvSpPr/>
          <p:nvPr/>
        </p:nvSpPr>
        <p:spPr>
          <a:xfrm>
            <a:off x="322082" y="3634587"/>
            <a:ext cx="8463714" cy="1231418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2" name="矩形: 圆角 7">
            <a:extLst>
              <a:ext uri="{FF2B5EF4-FFF2-40B4-BE49-F238E27FC236}">
                <a16:creationId xmlns:a16="http://schemas.microsoft.com/office/drawing/2014/main" id="{B366D529-B7DE-4B34-A014-0D33AE37305F}"/>
              </a:ext>
            </a:extLst>
          </p:cNvPr>
          <p:cNvSpPr/>
          <p:nvPr/>
        </p:nvSpPr>
        <p:spPr>
          <a:xfrm>
            <a:off x="325254" y="914400"/>
            <a:ext cx="8463714" cy="251460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04801" y="922991"/>
                <a:ext cx="861059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zh-CN" sz="2400" dirty="0"/>
                  <a:t> is given and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violates</a:t>
                </a:r>
                <a:r>
                  <a:rPr lang="en-US" altLang="zh-CN" sz="2400" dirty="0"/>
                  <a:t> ay primal constraint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dirty="0"/>
                  <a:t> for some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/>
                  <a:t>),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1" y="922991"/>
                <a:ext cx="8610599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1062" t="-5839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304800" y="76200"/>
            <a:ext cx="301973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Lagrange Duality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118140" y="2740483"/>
                <a:ext cx="4435060" cy="6236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140" y="2740483"/>
                <a:ext cx="4435060" cy="623632"/>
              </a:xfrm>
              <a:prstGeom prst="rect">
                <a:avLst/>
              </a:prstGeom>
              <a:blipFill>
                <a:blip r:embed="rId3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04800" y="3829420"/>
                <a:ext cx="853440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b="0" dirty="0"/>
                  <a:t>Therefore, if the constraints are indeed satisfied for a given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zh-CN" sz="2400" b="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𝒫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829420"/>
                <a:ext cx="8534402" cy="830997"/>
              </a:xfrm>
              <a:prstGeom prst="rect">
                <a:avLst/>
              </a:prstGeom>
              <a:blipFill>
                <a:blip r:embed="rId4"/>
                <a:stretch>
                  <a:fillRect l="-857" t="-5839" r="-1714" b="-8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860066" y="1676400"/>
                <a:ext cx="5302734" cy="964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066" y="1676400"/>
                <a:ext cx="5302734" cy="96404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29ACBFD8-319E-4F19-AB29-6542913D514C}"/>
              </a:ext>
            </a:extLst>
          </p:cNvPr>
          <p:cNvGrpSpPr/>
          <p:nvPr/>
        </p:nvGrpSpPr>
        <p:grpSpPr>
          <a:xfrm>
            <a:off x="340143" y="5060836"/>
            <a:ext cx="8543049" cy="1417912"/>
            <a:chOff x="340143" y="5060836"/>
            <a:chExt cx="8543049" cy="1417912"/>
          </a:xfrm>
        </p:grpSpPr>
        <p:sp>
          <p:nvSpPr>
            <p:cNvPr id="16" name="矩形: 圆角 7">
              <a:extLst>
                <a:ext uri="{FF2B5EF4-FFF2-40B4-BE49-F238E27FC236}">
                  <a16:creationId xmlns:a16="http://schemas.microsoft.com/office/drawing/2014/main" id="{CC451FB6-0E1B-43B8-AF67-AD50B36D59AC}"/>
                </a:ext>
              </a:extLst>
            </p:cNvPr>
            <p:cNvSpPr/>
            <p:nvPr/>
          </p:nvSpPr>
          <p:spPr>
            <a:xfrm>
              <a:off x="340143" y="5060836"/>
              <a:ext cx="8463714" cy="1366689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8790" y="5075107"/>
              <a:ext cx="85344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0" dirty="0"/>
                <a:t>Consequently…</a:t>
              </a:r>
              <a:endParaRPr lang="zh-CN" altLang="en-US" sz="240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3701064" y="5966293"/>
              <a:ext cx="15152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/>
                <a:t>otherwise.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/>
                <p:cNvSpPr/>
                <p:nvPr/>
              </p:nvSpPr>
              <p:spPr>
                <a:xfrm>
                  <a:off x="1389127" y="5562600"/>
                  <a:ext cx="2327753" cy="9161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𝒫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" name="矩形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9127" y="5562600"/>
                  <a:ext cx="2327753" cy="91614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3701063" y="5626247"/>
                  <a:ext cx="411830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dirty="0"/>
                    <a:t>if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dirty="0"/>
                    <a:t>satisfies primal constraints</a:t>
                  </a:r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063" y="5626247"/>
                  <a:ext cx="4118307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219" t="-10526" b="-2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9956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7">
            <a:extLst>
              <a:ext uri="{FF2B5EF4-FFF2-40B4-BE49-F238E27FC236}">
                <a16:creationId xmlns:a16="http://schemas.microsoft.com/office/drawing/2014/main" id="{2AFFED20-697A-4830-8939-50CBB10D0666}"/>
              </a:ext>
            </a:extLst>
          </p:cNvPr>
          <p:cNvSpPr/>
          <p:nvPr/>
        </p:nvSpPr>
        <p:spPr>
          <a:xfrm>
            <a:off x="322081" y="3634586"/>
            <a:ext cx="8558449" cy="1547013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" name="矩形: 圆角 7">
            <a:extLst>
              <a:ext uri="{FF2B5EF4-FFF2-40B4-BE49-F238E27FC236}">
                <a16:creationId xmlns:a16="http://schemas.microsoft.com/office/drawing/2014/main" id="{DAFE576A-C692-4A96-B32A-1BF6F39F7334}"/>
              </a:ext>
            </a:extLst>
          </p:cNvPr>
          <p:cNvSpPr/>
          <p:nvPr/>
        </p:nvSpPr>
        <p:spPr>
          <a:xfrm>
            <a:off x="299285" y="1024562"/>
            <a:ext cx="8558449" cy="2299406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04800" y="76200"/>
            <a:ext cx="301973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Lagrange Duality</a:t>
            </a:r>
            <a:endParaRPr lang="en-US" sz="3200" b="1" dirty="0"/>
          </a:p>
        </p:txBody>
      </p:sp>
      <p:sp>
        <p:nvSpPr>
          <p:cNvPr id="19" name="矩形 18"/>
          <p:cNvSpPr/>
          <p:nvPr/>
        </p:nvSpPr>
        <p:spPr>
          <a:xfrm>
            <a:off x="286265" y="1143000"/>
            <a:ext cx="8534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0" dirty="0"/>
              <a:t>Consequently…</a:t>
            </a:r>
            <a:endParaRPr lang="zh-CN" altLang="en-US" sz="2400" dirty="0"/>
          </a:p>
        </p:txBody>
      </p:sp>
      <p:grpSp>
        <p:nvGrpSpPr>
          <p:cNvPr id="21" name="组合 20"/>
          <p:cNvGrpSpPr/>
          <p:nvPr/>
        </p:nvGrpSpPr>
        <p:grpSpPr>
          <a:xfrm>
            <a:off x="914400" y="1759127"/>
            <a:ext cx="2943884" cy="1240385"/>
            <a:chOff x="1107989" y="5136889"/>
            <a:chExt cx="2943884" cy="12403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/>
                <p:cNvSpPr/>
                <p:nvPr/>
              </p:nvSpPr>
              <p:spPr>
                <a:xfrm>
                  <a:off x="1107989" y="5136889"/>
                  <a:ext cx="1273682" cy="4926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989" y="5136889"/>
                  <a:ext cx="1273682" cy="492699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/>
                <p:cNvSpPr/>
                <p:nvPr/>
              </p:nvSpPr>
              <p:spPr>
                <a:xfrm>
                  <a:off x="1143000" y="5669388"/>
                  <a:ext cx="2908873" cy="707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dirty="0"/>
                    <a:t>s.t.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0, 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endParaRPr lang="en-US" altLang="zh-CN" sz="2000" dirty="0"/>
                </a:p>
                <a:p>
                  <a:r>
                    <a:rPr lang="en-US" altLang="zh-CN" sz="2000" dirty="0"/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3" name="矩形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000" y="5669388"/>
                  <a:ext cx="2908873" cy="707886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2306" t="-51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4724400" y="2132045"/>
                <a:ext cx="4073295" cy="5349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𝒫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132045"/>
                <a:ext cx="4073295" cy="534955"/>
              </a:xfrm>
              <a:prstGeom prst="rect">
                <a:avLst/>
              </a:prstGeom>
              <a:blipFill>
                <a:blip r:embed="rId4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381000" y="1676400"/>
            <a:ext cx="4038600" cy="14478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730263" y="1676400"/>
            <a:ext cx="4038600" cy="14478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4419600" y="2291626"/>
            <a:ext cx="304800" cy="25908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86265" y="3700503"/>
            <a:ext cx="26215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How to optimize it?</a:t>
            </a:r>
            <a:endParaRPr lang="zh-CN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3242690" y="3729335"/>
            <a:ext cx="15486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DIFFICULT!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304800" y="4198203"/>
                <a:ext cx="826700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It is hard to explicitly express the objective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𝒫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altLang="zh-CN" sz="2400" dirty="0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Thus it is hard to calculate the derivative with respect with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zh-CN" sz="2400" dirty="0"/>
                  <a:t>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198203"/>
                <a:ext cx="8267007" cy="830997"/>
              </a:xfrm>
              <a:prstGeom prst="rect">
                <a:avLst/>
              </a:prstGeom>
              <a:blipFill>
                <a:blip r:embed="rId5"/>
                <a:stretch>
                  <a:fillRect l="-959" t="-5882" r="-74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C66F023B-1613-4524-83A1-28C1A22261B3}"/>
              </a:ext>
            </a:extLst>
          </p:cNvPr>
          <p:cNvSpPr/>
          <p:nvPr/>
        </p:nvSpPr>
        <p:spPr>
          <a:xfrm>
            <a:off x="4953000" y="557718"/>
            <a:ext cx="3429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The primal problem which is the same problem as our original optimization problem.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597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7" grpId="0"/>
      <p:bldP spid="28" grpId="0"/>
      <p:bldP spid="3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7">
            <a:extLst>
              <a:ext uri="{FF2B5EF4-FFF2-40B4-BE49-F238E27FC236}">
                <a16:creationId xmlns:a16="http://schemas.microsoft.com/office/drawing/2014/main" id="{149E571F-9675-4373-B870-244B9D01B0D4}"/>
              </a:ext>
            </a:extLst>
          </p:cNvPr>
          <p:cNvSpPr/>
          <p:nvPr/>
        </p:nvSpPr>
        <p:spPr>
          <a:xfrm>
            <a:off x="381000" y="5410200"/>
            <a:ext cx="8394025" cy="577850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9" name="矩形: 圆角 7">
            <a:extLst>
              <a:ext uri="{FF2B5EF4-FFF2-40B4-BE49-F238E27FC236}">
                <a16:creationId xmlns:a16="http://schemas.microsoft.com/office/drawing/2014/main" id="{AA1C13FB-2E1B-4CD9-B3DF-8697E5B251CF}"/>
              </a:ext>
            </a:extLst>
          </p:cNvPr>
          <p:cNvSpPr/>
          <p:nvPr/>
        </p:nvSpPr>
        <p:spPr>
          <a:xfrm>
            <a:off x="387510" y="3731953"/>
            <a:ext cx="8387515" cy="1297247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" name="矩形: 圆角 7">
            <a:extLst>
              <a:ext uri="{FF2B5EF4-FFF2-40B4-BE49-F238E27FC236}">
                <a16:creationId xmlns:a16="http://schemas.microsoft.com/office/drawing/2014/main" id="{DCB799CD-8A9F-49E6-8605-A74DF08D1F89}"/>
              </a:ext>
            </a:extLst>
          </p:cNvPr>
          <p:cNvSpPr/>
          <p:nvPr/>
        </p:nvSpPr>
        <p:spPr>
          <a:xfrm>
            <a:off x="387510" y="1024562"/>
            <a:ext cx="8387515" cy="239284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539031" y="2860036"/>
                <a:ext cx="3091487" cy="4927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031" y="2860036"/>
                <a:ext cx="3091487" cy="4927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387510" y="2322306"/>
            <a:ext cx="678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 dirty="0"/>
              <a:t>Let us look at a slightly different problem. We define: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11557" y="3805535"/>
            <a:ext cx="8534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We can now pose the </a:t>
            </a:r>
            <a:r>
              <a:rPr lang="en-US" altLang="zh-CN" sz="2400" dirty="0">
                <a:solidFill>
                  <a:srgbClr val="FF0000"/>
                </a:solidFill>
              </a:rPr>
              <a:t>dual </a:t>
            </a:r>
            <a:r>
              <a:rPr lang="en-US" altLang="zh-CN" sz="2400" dirty="0"/>
              <a:t>optimization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problem: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304800" y="76200"/>
            <a:ext cx="301973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Lagrange Duality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271392" y="4341845"/>
                <a:ext cx="4665188" cy="5349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fun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lim>
                      </m:limLow>
                      <m:limLow>
                        <m:limLow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li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lim>
                      </m:limLow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392" y="4341845"/>
                <a:ext cx="4665188" cy="534955"/>
              </a:xfrm>
              <a:prstGeom prst="rect">
                <a:avLst/>
              </a:prstGeom>
              <a:blipFill>
                <a:blip r:embed="rId3"/>
                <a:stretch>
                  <a:fillRect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5803225" y="2854970"/>
                <a:ext cx="243489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refers to “dual”.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225" y="2854970"/>
                <a:ext cx="2434897" cy="461665"/>
              </a:xfrm>
              <a:prstGeom prst="rect">
                <a:avLst/>
              </a:prstGeom>
              <a:blipFill>
                <a:blip r:embed="rId4"/>
                <a:stretch>
                  <a:fillRect l="-752" t="-10526" r="-300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2526625" y="1696901"/>
                <a:ext cx="4117281" cy="5349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𝒫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625" y="1696901"/>
                <a:ext cx="4117281" cy="534955"/>
              </a:xfrm>
              <a:prstGeom prst="rect">
                <a:avLst/>
              </a:prstGeom>
              <a:blipFill>
                <a:blip r:embed="rId5"/>
                <a:stretch>
                  <a:fillRect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387697" y="1066800"/>
            <a:ext cx="374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3B3FF7"/>
                </a:solidFill>
              </a:rPr>
              <a:t>Primal</a:t>
            </a:r>
            <a:r>
              <a:rPr lang="en-US" altLang="zh-CN" sz="2400" dirty="0"/>
              <a:t> optimization problem</a:t>
            </a:r>
            <a:endParaRPr lang="zh-CN" altLang="en-US" sz="2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817654-67D5-4C7B-AC12-57364DA1EDF1}"/>
              </a:ext>
            </a:extLst>
          </p:cNvPr>
          <p:cNvSpPr/>
          <p:nvPr/>
        </p:nvSpPr>
        <p:spPr>
          <a:xfrm>
            <a:off x="393025" y="5450184"/>
            <a:ext cx="8534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How are the primal and the dual problems related?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3319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7">
            <a:extLst>
              <a:ext uri="{FF2B5EF4-FFF2-40B4-BE49-F238E27FC236}">
                <a16:creationId xmlns:a16="http://schemas.microsoft.com/office/drawing/2014/main" id="{3EDA423B-044F-444B-9576-AC07ECDE85B1}"/>
              </a:ext>
            </a:extLst>
          </p:cNvPr>
          <p:cNvSpPr/>
          <p:nvPr/>
        </p:nvSpPr>
        <p:spPr>
          <a:xfrm>
            <a:off x="276377" y="5688032"/>
            <a:ext cx="8558449" cy="921465"/>
          </a:xfrm>
          <a:prstGeom prst="roundRect">
            <a:avLst>
              <a:gd name="adj" fmla="val 3573"/>
            </a:avLst>
          </a:prstGeom>
          <a:solidFill>
            <a:srgbClr val="C6FEE1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9" name="矩形: 圆角 7">
            <a:extLst>
              <a:ext uri="{FF2B5EF4-FFF2-40B4-BE49-F238E27FC236}">
                <a16:creationId xmlns:a16="http://schemas.microsoft.com/office/drawing/2014/main" id="{6C0D0686-FB91-48B6-BFA9-91F34E1DB865}"/>
              </a:ext>
            </a:extLst>
          </p:cNvPr>
          <p:cNvSpPr/>
          <p:nvPr/>
        </p:nvSpPr>
        <p:spPr>
          <a:xfrm>
            <a:off x="309190" y="1730375"/>
            <a:ext cx="8558449" cy="1637906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" name="矩形: 圆角 7">
            <a:extLst>
              <a:ext uri="{FF2B5EF4-FFF2-40B4-BE49-F238E27FC236}">
                <a16:creationId xmlns:a16="http://schemas.microsoft.com/office/drawing/2014/main" id="{DCB799CD-8A9F-49E6-8605-A74DF08D1F89}"/>
              </a:ext>
            </a:extLst>
          </p:cNvPr>
          <p:cNvSpPr/>
          <p:nvPr/>
        </p:nvSpPr>
        <p:spPr>
          <a:xfrm>
            <a:off x="299285" y="1024562"/>
            <a:ext cx="8558449" cy="53495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04800" y="76200"/>
            <a:ext cx="301973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Lagrange Duality</a:t>
            </a:r>
            <a:endParaRPr lang="en-US" sz="3200" b="1" dirty="0"/>
          </a:p>
        </p:txBody>
      </p:sp>
      <p:sp>
        <p:nvSpPr>
          <p:cNvPr id="10" name="矩形 9"/>
          <p:cNvSpPr/>
          <p:nvPr/>
        </p:nvSpPr>
        <p:spPr>
          <a:xfrm>
            <a:off x="344542" y="1056431"/>
            <a:ext cx="8534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How are the primal and the dual problems related?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066800" y="2146416"/>
                <a:ext cx="6432787" cy="5349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lim>
                      </m:limLow>
                      <m:limLow>
                        <m:limLow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lim>
                      </m:limLow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fun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46416"/>
                <a:ext cx="6432787" cy="534955"/>
              </a:xfrm>
              <a:prstGeom prst="rect">
                <a:avLst/>
              </a:prstGeom>
              <a:blipFill>
                <a:blip r:embed="rId2"/>
                <a:stretch>
                  <a:fillRect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276361" y="2793993"/>
            <a:ext cx="8548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“max min” is always less than or equal to the “min max”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290502" y="5778500"/>
                <a:ext cx="853440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Under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certain</a:t>
                </a:r>
                <a:r>
                  <a:rPr lang="en-US" altLang="zh-CN" sz="2400" dirty="0"/>
                  <a:t> conditions (</a:t>
                </a:r>
                <a:r>
                  <a:rPr lang="en-US" altLang="zh-CN" sz="2400" dirty="0" err="1"/>
                  <a:t>Karush</a:t>
                </a:r>
                <a:r>
                  <a:rPr lang="en-US" altLang="zh-CN" sz="2400" dirty="0"/>
                  <a:t>-Kuhn-Tucker or KKT), we will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/>
                  <a:t>(strong duality).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02" y="5778500"/>
                <a:ext cx="8534402" cy="830997"/>
              </a:xfrm>
              <a:prstGeom prst="rect">
                <a:avLst/>
              </a:prstGeom>
              <a:blipFill>
                <a:blip r:embed="rId3"/>
                <a:stretch>
                  <a:fillRect l="-1143" t="-5882" r="-1500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CF3BD5D9-35C2-4284-A9D7-9D1D6FBD714E}"/>
              </a:ext>
            </a:extLst>
          </p:cNvPr>
          <p:cNvGrpSpPr/>
          <p:nvPr/>
        </p:nvGrpSpPr>
        <p:grpSpPr>
          <a:xfrm>
            <a:off x="276361" y="3566922"/>
            <a:ext cx="8591278" cy="1965960"/>
            <a:chOff x="276361" y="3566922"/>
            <a:chExt cx="8591278" cy="1965960"/>
          </a:xfrm>
        </p:grpSpPr>
        <p:sp>
          <p:nvSpPr>
            <p:cNvPr id="18" name="矩形: 圆角 7">
              <a:extLst>
                <a:ext uri="{FF2B5EF4-FFF2-40B4-BE49-F238E27FC236}">
                  <a16:creationId xmlns:a16="http://schemas.microsoft.com/office/drawing/2014/main" id="{AF3E0927-C2C0-4E0E-8437-F5CC1F80ED8C}"/>
                </a:ext>
              </a:extLst>
            </p:cNvPr>
            <p:cNvSpPr/>
            <p:nvPr/>
          </p:nvSpPr>
          <p:spPr>
            <a:xfrm>
              <a:off x="276361" y="3581399"/>
              <a:ext cx="8558449" cy="1951483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128D574B-158F-4709-ADB3-396D8CB939D1}"/>
                    </a:ext>
                  </a:extLst>
                </p:cNvPr>
                <p:cNvSpPr/>
                <p:nvPr/>
              </p:nvSpPr>
              <p:spPr>
                <a:xfrm>
                  <a:off x="541104" y="4089877"/>
                  <a:ext cx="8019055" cy="5349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𝒟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lim>
                        </m:limLow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zh-CN" alt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func>
                          <m:func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</m:fName>
                          <m:e>
                            <m:limLow>
                              <m:limLow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lim>
                            </m:limLow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𝒫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oMath>
                    </m:oMathPara>
                  </a14:m>
                  <a:endParaRPr lang="zh-CN" altLang="en-US" sz="2000" b="1" dirty="0"/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128D574B-158F-4709-ADB3-396D8CB939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04" y="4089877"/>
                  <a:ext cx="8019055" cy="534955"/>
                </a:xfrm>
                <a:prstGeom prst="rect">
                  <a:avLst/>
                </a:prstGeom>
                <a:blipFill>
                  <a:blip r:embed="rId4"/>
                  <a:stretch>
                    <a:fillRect b="-6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D177FA30-24CE-4681-AEFD-ECE6C0134590}"/>
                    </a:ext>
                  </a:extLst>
                </p:cNvPr>
                <p:cNvSpPr/>
                <p:nvPr/>
              </p:nvSpPr>
              <p:spPr>
                <a:xfrm>
                  <a:off x="1992500" y="4855454"/>
                  <a:ext cx="5238485" cy="5349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lim>
                        </m:limLow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lim>
                        </m:limLow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func>
                          <m:func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limLow>
                              <m:limLow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lim>
                            </m:limLow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sz="2000" b="1" dirty="0"/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D177FA30-24CE-4681-AEFD-ECE6C01345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2500" y="4855454"/>
                  <a:ext cx="5238485" cy="534955"/>
                </a:xfrm>
                <a:prstGeom prst="rect">
                  <a:avLst/>
                </a:prstGeom>
                <a:blipFill>
                  <a:blip r:embed="rId5"/>
                  <a:stretch>
                    <a:fillRect b="-79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138EFA9E-F01A-4C73-A8DE-4366F7FCF17B}"/>
                    </a:ext>
                  </a:extLst>
                </p:cNvPr>
                <p:cNvSpPr/>
                <p:nvPr/>
              </p:nvSpPr>
              <p:spPr>
                <a:xfrm>
                  <a:off x="297728" y="3566922"/>
                  <a:ext cx="8548543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dirty="0"/>
                    <a:t>For </a:t>
                  </a:r>
                  <a:r>
                    <a:rPr lang="en-US" altLang="zh-CN" sz="2400" dirty="0">
                      <a:solidFill>
                        <a:srgbClr val="FF0000"/>
                      </a:solidFill>
                    </a:rPr>
                    <a:t>any</a:t>
                  </a:r>
                  <a:r>
                    <a:rPr lang="en-US" altLang="zh-CN" sz="24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</m:oMath>
                  </a14:m>
                  <a:r>
                    <a:rPr lang="en-US" altLang="zh-CN" sz="2400" dirty="0"/>
                    <a:t>, we have</a:t>
                  </a:r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138EFA9E-F01A-4C73-A8DE-4366F7FCF1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728" y="3566922"/>
                  <a:ext cx="8548543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141" t="-10526" b="-2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A45A933-6CAC-4BCF-8119-F879F3E37831}"/>
                </a:ext>
              </a:extLst>
            </p:cNvPr>
            <p:cNvSpPr/>
            <p:nvPr/>
          </p:nvSpPr>
          <p:spPr>
            <a:xfrm>
              <a:off x="319096" y="4519084"/>
              <a:ext cx="854854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Then we have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058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7">
            <a:extLst>
              <a:ext uri="{FF2B5EF4-FFF2-40B4-BE49-F238E27FC236}">
                <a16:creationId xmlns:a16="http://schemas.microsoft.com/office/drawing/2014/main" id="{DCB799CD-8A9F-49E6-8605-A74DF08D1F89}"/>
              </a:ext>
            </a:extLst>
          </p:cNvPr>
          <p:cNvSpPr/>
          <p:nvPr/>
        </p:nvSpPr>
        <p:spPr>
          <a:xfrm>
            <a:off x="299285" y="1024563"/>
            <a:ext cx="8558449" cy="862866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04800" y="76200"/>
            <a:ext cx="301973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Lagrange Duality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44542" y="1056431"/>
                <a:ext cx="853440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When strong duality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/>
                  <a:t>), we can solve the primal problem by  solving the dual problem!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42" y="1056431"/>
                <a:ext cx="8534402" cy="830997"/>
              </a:xfrm>
              <a:prstGeom prst="rect">
                <a:avLst/>
              </a:prstGeom>
              <a:blipFill>
                <a:blip r:embed="rId2"/>
                <a:stretch>
                  <a:fillRect l="-1143" t="-5839" r="-2429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39B38636-E746-4DBA-8568-6483D9A6BB8B}"/>
              </a:ext>
            </a:extLst>
          </p:cNvPr>
          <p:cNvSpPr/>
          <p:nvPr/>
        </p:nvSpPr>
        <p:spPr>
          <a:xfrm>
            <a:off x="365807" y="2081098"/>
            <a:ext cx="5020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Sufficient conditions for strong duality: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6BC53151-39CD-4740-9FF1-2B3CBAA10C4C}"/>
                  </a:ext>
                </a:extLst>
              </p:cNvPr>
              <p:cNvSpPr/>
              <p:nvPr/>
            </p:nvSpPr>
            <p:spPr>
              <a:xfrm>
                <a:off x="333909" y="3276600"/>
                <a:ext cx="8382000" cy="1200329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b="1" dirty="0">
                    <a:solidFill>
                      <a:srgbClr val="FF0000"/>
                    </a:solidFill>
                  </a:rPr>
                  <a:t>Condition</a:t>
                </a:r>
                <a:r>
                  <a:rPr lang="en-US" altLang="zh-CN" sz="2400" dirty="0"/>
                  <a:t>: Suppose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dirty="0"/>
                  <a:t> and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’s are convex, and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’s are affine. Suppose further that there exists some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zh-CN" sz="2400" dirty="0"/>
                  <a:t>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zh-CN" sz="2400" dirty="0"/>
                  <a:t> for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 all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/>
                  <a:t> (strictly feasible).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6BC53151-39CD-4740-9FF1-2B3CBAA10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09" y="3276600"/>
                <a:ext cx="8382000" cy="1200329"/>
              </a:xfrm>
              <a:prstGeom prst="rect">
                <a:avLst/>
              </a:prstGeom>
              <a:blipFill>
                <a:blip r:embed="rId3"/>
                <a:stretch>
                  <a:fillRect l="-1014" t="-2985" r="-870" b="-8955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B9C48EE-0067-4EDA-A34E-C4BCC1FA111A}"/>
                  </a:ext>
                </a:extLst>
              </p:cNvPr>
              <p:cNvSpPr/>
              <p:nvPr/>
            </p:nvSpPr>
            <p:spPr>
              <a:xfrm>
                <a:off x="333909" y="5081270"/>
                <a:ext cx="8382000" cy="1569660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Then, there must exist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b="1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b="1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/>
                  <a:t>, so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/>
                  <a:t> is the solution to the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primal</a:t>
                </a:r>
                <a:r>
                  <a:rPr lang="en-US" altLang="zh-CN" sz="2400" dirty="0"/>
                  <a:t> problem,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b="1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/>
                  <a:t> are the solution to the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dual</a:t>
                </a:r>
                <a:r>
                  <a:rPr lang="en-US" altLang="zh-CN" sz="2400" dirty="0"/>
                  <a:t> problem,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400" b="1" dirty="0"/>
                          <m:t>, </m:t>
                        </m:r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400" b="1" dirty="0"/>
                          <m:t>, </m:t>
                        </m:r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b="1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b="1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b="1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/>
                  <a:t> satisfy the </a:t>
                </a:r>
                <a:r>
                  <a:rPr lang="en-US" altLang="zh-CN" sz="2400" dirty="0" err="1"/>
                  <a:t>Karush</a:t>
                </a:r>
                <a:r>
                  <a:rPr lang="en-US" altLang="zh-CN" sz="2400" dirty="0"/>
                  <a:t>-Kuhn-Tucker (KKT) condition.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B9C48EE-0067-4EDA-A34E-C4BCC1FA11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09" y="5081270"/>
                <a:ext cx="8382000" cy="1569660"/>
              </a:xfrm>
              <a:prstGeom prst="rect">
                <a:avLst/>
              </a:prstGeom>
              <a:blipFill>
                <a:blip r:embed="rId4"/>
                <a:stretch>
                  <a:fillRect l="-870" t="-2290" r="-870" b="-687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0E7CAA6-1C0C-4186-B854-8999F7DEB86D}"/>
                  </a:ext>
                </a:extLst>
              </p:cNvPr>
              <p:cNvSpPr txBox="1"/>
              <p:nvPr/>
            </p:nvSpPr>
            <p:spPr>
              <a:xfrm>
                <a:off x="3326069" y="2542763"/>
                <a:ext cx="5624040" cy="7286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The Hessian matrix of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2000" dirty="0"/>
                  <a:t> is positive semi-definite;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b="1" dirty="0"/>
                  <a:t>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0E7CAA6-1C0C-4186-B854-8999F7DEB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069" y="2542763"/>
                <a:ext cx="5624040" cy="728661"/>
              </a:xfrm>
              <a:prstGeom prst="rect">
                <a:avLst/>
              </a:prstGeom>
              <a:blipFill>
                <a:blip r:embed="rId5"/>
                <a:stretch>
                  <a:fillRect l="-1193" t="-4167"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C5372385-882D-4322-9D1C-A6264517568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63928" y="2819400"/>
            <a:ext cx="462141" cy="443950"/>
          </a:xfrm>
          <a:prstGeom prst="bentConnector3">
            <a:avLst>
              <a:gd name="adj1" fmla="val 10182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AEA808D0-14E2-4210-88FF-AEF1940298FB}"/>
              </a:ext>
            </a:extLst>
          </p:cNvPr>
          <p:cNvSpPr/>
          <p:nvPr/>
        </p:nvSpPr>
        <p:spPr>
          <a:xfrm>
            <a:off x="445831" y="4512955"/>
            <a:ext cx="85131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3B3FF7"/>
                </a:solidFill>
              </a:rPr>
              <a:t>These conditions are all satisfied by the SVM optimization problem!</a:t>
            </a:r>
            <a:endParaRPr lang="zh-CN" altLang="en-US" sz="2200" b="1" dirty="0">
              <a:solidFill>
                <a:srgbClr val="3B3FF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56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04800" y="76200"/>
            <a:ext cx="2757486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KKT Conditions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BE35E24-27F3-44ED-A305-48240CF6A2F0}"/>
              </a:ext>
            </a:extLst>
          </p:cNvPr>
          <p:cNvGrpSpPr/>
          <p:nvPr/>
        </p:nvGrpSpPr>
        <p:grpSpPr>
          <a:xfrm>
            <a:off x="3323341" y="81516"/>
            <a:ext cx="3839459" cy="2484938"/>
            <a:chOff x="1316704" y="3077662"/>
            <a:chExt cx="3839459" cy="24849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D69FBFCC-E7DF-4137-8327-13FDC10B3569}"/>
                    </a:ext>
                  </a:extLst>
                </p:cNvPr>
                <p:cNvSpPr/>
                <p:nvPr/>
              </p:nvSpPr>
              <p:spPr>
                <a:xfrm>
                  <a:off x="1316704" y="3077662"/>
                  <a:ext cx="2079800" cy="6767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en-US" altLang="zh-CN" b="1" dirty="0"/>
                                      <m:t>, </m:t>
                                    </m:r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𝜶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en-US" altLang="zh-CN" b="1" dirty="0"/>
                                      <m:t>, </m:t>
                                    </m:r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fun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6704" y="3077662"/>
                  <a:ext cx="2079800" cy="67672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4E15A61E-EE26-4444-A93B-4338D0F7D026}"/>
                    </a:ext>
                  </a:extLst>
                </p:cNvPr>
                <p:cNvSpPr/>
                <p:nvPr/>
              </p:nvSpPr>
              <p:spPr>
                <a:xfrm>
                  <a:off x="1316704" y="3789210"/>
                  <a:ext cx="2079800" cy="6767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en-US" altLang="zh-CN" b="1" dirty="0"/>
                                      <m:t>, </m:t>
                                    </m:r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𝜶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en-US" altLang="zh-CN" b="1" dirty="0"/>
                                      <m:t>, </m:t>
                                    </m:r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fun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" name="矩形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6704" y="3789210"/>
                  <a:ext cx="2079800" cy="67672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7FE708AB-21E0-4EFC-8603-3D2489CF5265}"/>
                    </a:ext>
                  </a:extLst>
                </p:cNvPr>
                <p:cNvSpPr/>
                <p:nvPr/>
              </p:nvSpPr>
              <p:spPr>
                <a:xfrm>
                  <a:off x="1750861" y="4495800"/>
                  <a:ext cx="16456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0861" y="4495800"/>
                  <a:ext cx="1645643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51BADCD8-5B29-49BD-BCC6-85F494B804EA}"/>
                    </a:ext>
                  </a:extLst>
                </p:cNvPr>
                <p:cNvSpPr/>
                <p:nvPr/>
              </p:nvSpPr>
              <p:spPr>
                <a:xfrm>
                  <a:off x="2054663" y="4876800"/>
                  <a:ext cx="134184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4663" y="4876800"/>
                  <a:ext cx="1341841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74734DA7-28FE-4B13-B1C2-1076F1BB0304}"/>
                    </a:ext>
                  </a:extLst>
                </p:cNvPr>
                <p:cNvSpPr/>
                <p:nvPr/>
              </p:nvSpPr>
              <p:spPr>
                <a:xfrm>
                  <a:off x="2425534" y="5193268"/>
                  <a:ext cx="97097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矩形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534" y="5193268"/>
                  <a:ext cx="97097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66A969FF-F720-48D2-B6A4-6E25F0C71B1C}"/>
                    </a:ext>
                  </a:extLst>
                </p:cNvPr>
                <p:cNvSpPr/>
                <p:nvPr/>
              </p:nvSpPr>
              <p:spPr>
                <a:xfrm>
                  <a:off x="3886200" y="3221486"/>
                  <a:ext cx="12699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矩形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3221486"/>
                  <a:ext cx="126996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C075D5A9-C052-4721-B3F6-8864625C64E0}"/>
                    </a:ext>
                  </a:extLst>
                </p:cNvPr>
                <p:cNvSpPr/>
                <p:nvPr/>
              </p:nvSpPr>
              <p:spPr>
                <a:xfrm>
                  <a:off x="3886200" y="3942906"/>
                  <a:ext cx="121238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矩形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3942906"/>
                  <a:ext cx="121238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E489D9D9-9E53-4840-B491-333F5016AFA8}"/>
                    </a:ext>
                  </a:extLst>
                </p:cNvPr>
                <p:cNvSpPr/>
                <p:nvPr/>
              </p:nvSpPr>
              <p:spPr>
                <a:xfrm>
                  <a:off x="3886200" y="4495800"/>
                  <a:ext cx="126630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4495800"/>
                  <a:ext cx="126630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FC28D735-0571-4521-9242-B3CEAF57DBC4}"/>
                    </a:ext>
                  </a:extLst>
                </p:cNvPr>
                <p:cNvSpPr/>
                <p:nvPr/>
              </p:nvSpPr>
              <p:spPr>
                <a:xfrm>
                  <a:off x="3886200" y="4876801"/>
                  <a:ext cx="126630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矩形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4876801"/>
                  <a:ext cx="126630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29EBCFAF-A7CC-469D-AF14-6C7B119B75B6}"/>
                    </a:ext>
                  </a:extLst>
                </p:cNvPr>
                <p:cNvSpPr/>
                <p:nvPr/>
              </p:nvSpPr>
              <p:spPr>
                <a:xfrm>
                  <a:off x="3886200" y="5193268"/>
                  <a:ext cx="126630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" name="矩形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5193268"/>
                  <a:ext cx="126630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B9A7979B-6D31-49AD-95EF-F7E394C6BCA2}"/>
              </a:ext>
            </a:extLst>
          </p:cNvPr>
          <p:cNvSpPr/>
          <p:nvPr/>
        </p:nvSpPr>
        <p:spPr>
          <a:xfrm>
            <a:off x="3676146" y="1469788"/>
            <a:ext cx="3429074" cy="41086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325551-AD84-4733-B2FA-BF9E8A59A0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7" y="2882921"/>
            <a:ext cx="8958346" cy="226765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C3A2483-E530-4B13-8013-496C333533D5}"/>
              </a:ext>
            </a:extLst>
          </p:cNvPr>
          <p:cNvSpPr/>
          <p:nvPr/>
        </p:nvSpPr>
        <p:spPr>
          <a:xfrm>
            <a:off x="4191000" y="2819400"/>
            <a:ext cx="3810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3901574-3F83-43D9-9CA6-2198B7DA746E}"/>
              </a:ext>
            </a:extLst>
          </p:cNvPr>
          <p:cNvSpPr/>
          <p:nvPr/>
        </p:nvSpPr>
        <p:spPr>
          <a:xfrm>
            <a:off x="3998507" y="1898852"/>
            <a:ext cx="62793" cy="996748"/>
          </a:xfrm>
          <a:custGeom>
            <a:avLst/>
            <a:gdLst>
              <a:gd name="connsiteX0" fmla="*/ 0 w 0"/>
              <a:gd name="connsiteY0" fmla="*/ 0 h 574158"/>
              <a:gd name="connsiteX1" fmla="*/ 0 w 0"/>
              <a:gd name="connsiteY1" fmla="*/ 0 h 574158"/>
              <a:gd name="connsiteX2" fmla="*/ 0 w 0"/>
              <a:gd name="connsiteY2" fmla="*/ 574158 h 574158"/>
              <a:gd name="connsiteX0" fmla="*/ 0 w 0"/>
              <a:gd name="connsiteY0" fmla="*/ 0 h 10000"/>
              <a:gd name="connsiteX1" fmla="*/ 0 w 0"/>
              <a:gd name="connsiteY1" fmla="*/ 0 h 10000"/>
              <a:gd name="connsiteX2" fmla="*/ 0 w 0"/>
              <a:gd name="connsiteY2" fmla="*/ 10000 h 10000"/>
              <a:gd name="connsiteX0" fmla="*/ 0 w 0"/>
              <a:gd name="connsiteY0" fmla="*/ 0 h 10000"/>
              <a:gd name="connsiteX1" fmla="*/ 0 w 0"/>
              <a:gd name="connsiteY1" fmla="*/ 0 h 10000"/>
              <a:gd name="connsiteX2" fmla="*/ 0 w 0"/>
              <a:gd name="connsiteY2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h="10000">
                <a:moveTo>
                  <a:pt x="0" y="0"/>
                </a:moveTo>
                <a:lnTo>
                  <a:pt x="0" y="0"/>
                </a:lnTo>
                <a:cubicBezTo>
                  <a:pt x="0" y="3333"/>
                  <a:pt x="-478465" y="6297"/>
                  <a:pt x="0" y="10000"/>
                </a:cubicBezTo>
              </a:path>
            </a:pathLst>
          </a:custGeom>
          <a:noFill/>
          <a:ln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B0F9554-DED4-4C26-909A-1DBD3C318F66}"/>
                  </a:ext>
                </a:extLst>
              </p:cNvPr>
              <p:cNvSpPr/>
              <p:nvPr/>
            </p:nvSpPr>
            <p:spPr>
              <a:xfrm>
                <a:off x="381000" y="5334000"/>
                <a:ext cx="8382000" cy="707886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000" b="1" dirty="0">
                    <a:solidFill>
                      <a:srgbClr val="FF0000"/>
                    </a:solidFill>
                  </a:rPr>
                  <a:t>Note:</a:t>
                </a:r>
                <a:r>
                  <a:rPr lang="en-US" altLang="zh-CN" sz="2000" dirty="0"/>
                  <a:t> If some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b="1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b="1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dirty="0"/>
                  <a:t> satisfy the KKT conditions, then it is also a solution to the primal and dual problems. 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B0F9554-DED4-4C26-909A-1DBD3C318F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334000"/>
                <a:ext cx="8382000" cy="707886"/>
              </a:xfrm>
              <a:prstGeom prst="rect">
                <a:avLst/>
              </a:prstGeom>
              <a:blipFill>
                <a:blip r:embed="rId15"/>
                <a:stretch>
                  <a:fillRect l="-652" t="-2479" r="-507" b="-1157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57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7">
            <a:extLst>
              <a:ext uri="{FF2B5EF4-FFF2-40B4-BE49-F238E27FC236}">
                <a16:creationId xmlns:a16="http://schemas.microsoft.com/office/drawing/2014/main" id="{C1AA50B0-1389-4CB1-ACD4-D527D9A9366D}"/>
              </a:ext>
            </a:extLst>
          </p:cNvPr>
          <p:cNvSpPr/>
          <p:nvPr/>
        </p:nvSpPr>
        <p:spPr>
          <a:xfrm>
            <a:off x="299285" y="2590800"/>
            <a:ext cx="8558449" cy="1026636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" name="矩形: 圆角 7">
            <a:extLst>
              <a:ext uri="{FF2B5EF4-FFF2-40B4-BE49-F238E27FC236}">
                <a16:creationId xmlns:a16="http://schemas.microsoft.com/office/drawing/2014/main" id="{E2BE4B46-1ED4-4D82-9BFC-D5D80204FE22}"/>
              </a:ext>
            </a:extLst>
          </p:cNvPr>
          <p:cNvSpPr/>
          <p:nvPr/>
        </p:nvSpPr>
        <p:spPr>
          <a:xfrm>
            <a:off x="299285" y="1024563"/>
            <a:ext cx="8558449" cy="141383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569636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Large-margin Decision Boundary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378276" y="1861694"/>
                <a:ext cx="3878882" cy="405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i="1" dirty="0"/>
                  <a:t>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76" y="1861694"/>
                <a:ext cx="3878882" cy="405624"/>
              </a:xfrm>
              <a:prstGeom prst="rect">
                <a:avLst/>
              </a:prstGeom>
              <a:blipFill>
                <a:blip r:embed="rId3"/>
                <a:stretch>
                  <a:fillRect l="-1572" t="-5970" b="-25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378276" y="1100947"/>
                <a:ext cx="2557303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zh-CN" altLang="en-US" sz="2000" b="1" i="1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76" y="1100947"/>
                <a:ext cx="2557303" cy="668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300681" y="2604131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 err="1"/>
              <a:t>Lagrangian</a:t>
            </a:r>
            <a:r>
              <a:rPr lang="en-US" sz="24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819400" y="2654330"/>
                <a:ext cx="5202450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654330"/>
                <a:ext cx="5202450" cy="9326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: 圆角 7">
            <a:extLst>
              <a:ext uri="{FF2B5EF4-FFF2-40B4-BE49-F238E27FC236}">
                <a16:creationId xmlns:a16="http://schemas.microsoft.com/office/drawing/2014/main" id="{30E7F68E-51BE-4055-8882-958A8A61A9E0}"/>
              </a:ext>
            </a:extLst>
          </p:cNvPr>
          <p:cNvSpPr/>
          <p:nvPr/>
        </p:nvSpPr>
        <p:spPr>
          <a:xfrm>
            <a:off x="299285" y="3791934"/>
            <a:ext cx="8558449" cy="2869587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0681" y="3887133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Consider the dual optimization problem,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first take the derivative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40305" y="4796265"/>
                <a:ext cx="4074769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05" y="4796265"/>
                <a:ext cx="4074769" cy="9326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536186" y="5716831"/>
                <a:ext cx="3285579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86" y="5716831"/>
                <a:ext cx="3285579" cy="9326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5142784" y="4820659"/>
                <a:ext cx="1982273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784" y="4820659"/>
                <a:ext cx="1982273" cy="9326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5221852" y="5728893"/>
                <a:ext cx="1558632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0=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852" y="5728893"/>
                <a:ext cx="1558632" cy="9326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1A477D3-51C2-4F00-8C2D-DDDE5D6DD4B7}"/>
                  </a:ext>
                </a:extLst>
              </p:cNvPr>
              <p:cNvSpPr txBox="1"/>
              <p:nvPr/>
            </p:nvSpPr>
            <p:spPr>
              <a:xfrm>
                <a:off x="4613245" y="5102307"/>
                <a:ext cx="55022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1A477D3-51C2-4F00-8C2D-DDDE5D6DD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245" y="5102307"/>
                <a:ext cx="55022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D06B6A5-E1EE-468D-8C0F-0D0FC8F04790}"/>
                  </a:ext>
                </a:extLst>
              </p:cNvPr>
              <p:cNvSpPr txBox="1"/>
              <p:nvPr/>
            </p:nvSpPr>
            <p:spPr>
              <a:xfrm>
                <a:off x="4613245" y="5998301"/>
                <a:ext cx="55022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D06B6A5-E1EE-468D-8C0F-0D0FC8F04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245" y="5998301"/>
                <a:ext cx="55022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171FFD5-567B-410F-A93E-A087EAD21476}"/>
                  </a:ext>
                </a:extLst>
              </p:cNvPr>
              <p:cNvSpPr/>
              <p:nvPr/>
            </p:nvSpPr>
            <p:spPr>
              <a:xfrm>
                <a:off x="5009005" y="1486893"/>
                <a:ext cx="3639394" cy="5349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𝒫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171FFD5-567B-410F-A93E-A087EAD214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005" y="1486893"/>
                <a:ext cx="3639394" cy="534955"/>
              </a:xfrm>
              <a:prstGeom prst="rect">
                <a:avLst/>
              </a:prstGeom>
              <a:blipFill>
                <a:blip r:embed="rId12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42">
            <a:extLst>
              <a:ext uri="{FF2B5EF4-FFF2-40B4-BE49-F238E27FC236}">
                <a16:creationId xmlns:a16="http://schemas.microsoft.com/office/drawing/2014/main" id="{7A010658-E687-4386-8386-F4287B8A882F}"/>
              </a:ext>
            </a:extLst>
          </p:cNvPr>
          <p:cNvSpPr/>
          <p:nvPr/>
        </p:nvSpPr>
        <p:spPr>
          <a:xfrm>
            <a:off x="318923" y="1066800"/>
            <a:ext cx="4038600" cy="130894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4D128B9-438B-4BE4-A9E7-504E5F1D2D32}"/>
              </a:ext>
            </a:extLst>
          </p:cNvPr>
          <p:cNvSpPr/>
          <p:nvPr/>
        </p:nvSpPr>
        <p:spPr>
          <a:xfrm>
            <a:off x="5009004" y="1076137"/>
            <a:ext cx="3657347" cy="130878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右箭头 2">
            <a:extLst>
              <a:ext uri="{FF2B5EF4-FFF2-40B4-BE49-F238E27FC236}">
                <a16:creationId xmlns:a16="http://schemas.microsoft.com/office/drawing/2014/main" id="{1A96CC9E-10DB-4737-B274-7F200CF98F53}"/>
              </a:ext>
            </a:extLst>
          </p:cNvPr>
          <p:cNvSpPr/>
          <p:nvPr/>
        </p:nvSpPr>
        <p:spPr>
          <a:xfrm>
            <a:off x="4536619" y="1602611"/>
            <a:ext cx="304800" cy="25908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A6877110-38A3-4F51-809D-B0588F262ECA}"/>
                  </a:ext>
                </a:extLst>
              </p:cNvPr>
              <p:cNvSpPr/>
              <p:nvPr/>
            </p:nvSpPr>
            <p:spPr>
              <a:xfrm>
                <a:off x="4946148" y="4256479"/>
                <a:ext cx="3893052" cy="534955"/>
              </a:xfrm>
              <a:prstGeom prst="rect">
                <a:avLst/>
              </a:prstGeom>
              <a:ln w="28575">
                <a:solidFill>
                  <a:srgbClr val="3B3FF7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e>
                      </m:fun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lim>
                      </m:limLow>
                      <m:limLow>
                        <m:limLow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li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lim>
                      </m:limLow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A6877110-38A3-4F51-809D-B0588F262E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148" y="4256479"/>
                <a:ext cx="3893052" cy="53495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3B3FF7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9070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7">
            <a:extLst>
              <a:ext uri="{FF2B5EF4-FFF2-40B4-BE49-F238E27FC236}">
                <a16:creationId xmlns:a16="http://schemas.microsoft.com/office/drawing/2014/main" id="{9C373B06-9702-43C0-B396-F41037CC213A}"/>
              </a:ext>
            </a:extLst>
          </p:cNvPr>
          <p:cNvSpPr/>
          <p:nvPr/>
        </p:nvSpPr>
        <p:spPr>
          <a:xfrm>
            <a:off x="299285" y="1024563"/>
            <a:ext cx="8643389" cy="3316032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569636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Large-margin Decision Boundary</a:t>
            </a:r>
            <a:endParaRPr lang="en-US" sz="32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304800" y="986301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B3FF7"/>
                </a:solidFill>
              </a:rPr>
              <a:t>Dual</a:t>
            </a:r>
            <a:r>
              <a:rPr lang="en-US" sz="2400" dirty="0"/>
              <a:t>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52400" y="2327590"/>
                <a:ext cx="9071073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zh-CN" alt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fName>
                        <m:e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327590"/>
                <a:ext cx="9071073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71849" y="1468807"/>
                <a:ext cx="4708340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49" y="1468807"/>
                <a:ext cx="4708340" cy="848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28600" y="3389588"/>
                <a:ext cx="4418133" cy="8798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389588"/>
                <a:ext cx="4418133" cy="8798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5632950" y="3393850"/>
                <a:ext cx="1598707" cy="764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600" i="1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950" y="3393850"/>
                <a:ext cx="1598707" cy="764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7449794" y="3393849"/>
                <a:ext cx="1284774" cy="764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600" i="1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794" y="3393849"/>
                <a:ext cx="1284774" cy="7645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/>
          <p:nvPr/>
        </p:nvSpPr>
        <p:spPr>
          <a:xfrm>
            <a:off x="5638800" y="3353141"/>
            <a:ext cx="3095768" cy="80931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i="1"/>
          </a:p>
        </p:txBody>
      </p:sp>
      <p:sp>
        <p:nvSpPr>
          <p:cNvPr id="12" name="矩形: 圆角 7">
            <a:extLst>
              <a:ext uri="{FF2B5EF4-FFF2-40B4-BE49-F238E27FC236}">
                <a16:creationId xmlns:a16="http://schemas.microsoft.com/office/drawing/2014/main" id="{E79C3E0A-35EC-4881-83F7-059B402C5417}"/>
              </a:ext>
            </a:extLst>
          </p:cNvPr>
          <p:cNvSpPr/>
          <p:nvPr/>
        </p:nvSpPr>
        <p:spPr>
          <a:xfrm>
            <a:off x="271849" y="4495800"/>
            <a:ext cx="8643389" cy="1949081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2E18123-F2E6-4423-BDBA-C8166F34C1F2}"/>
              </a:ext>
            </a:extLst>
          </p:cNvPr>
          <p:cNvGrpSpPr/>
          <p:nvPr/>
        </p:nvGrpSpPr>
        <p:grpSpPr>
          <a:xfrm>
            <a:off x="4419600" y="4534264"/>
            <a:ext cx="4161909" cy="1866430"/>
            <a:chOff x="840051" y="4519837"/>
            <a:chExt cx="4161909" cy="18664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62A0F1A-0DCC-40BF-83B0-670F210143F0}"/>
                    </a:ext>
                  </a:extLst>
                </p:cNvPr>
                <p:cNvSpPr/>
                <p:nvPr/>
              </p:nvSpPr>
              <p:spPr>
                <a:xfrm>
                  <a:off x="840051" y="4519837"/>
                  <a:ext cx="4161909" cy="967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e>
                              <m:lim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nary>
                          </m:e>
                        </m:func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oMath>
                    </m:oMathPara>
                  </a14:m>
                  <a:endParaRPr lang="zh-CN" altLang="en-US" sz="2000" b="1" i="1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62A0F1A-0DCC-40BF-83B0-670F210143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051" y="4519837"/>
                  <a:ext cx="4161909" cy="96744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4985DEF5-DAF8-4476-90F5-469B40522A72}"/>
                    </a:ext>
                  </a:extLst>
                </p:cNvPr>
                <p:cNvSpPr/>
                <p:nvPr/>
              </p:nvSpPr>
              <p:spPr>
                <a:xfrm>
                  <a:off x="885567" y="5533743"/>
                  <a:ext cx="2535951" cy="707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b="0" i="1" dirty="0" err="1"/>
                    <a:t>s.t.</a:t>
                  </a:r>
                  <a:r>
                    <a:rPr lang="en-US" altLang="zh-CN" sz="2000" b="0" i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CN" sz="2000" b="1" i="1" dirty="0"/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zh-CN" altLang="en-US" sz="2000" i="1" dirty="0"/>
                </a:p>
                <a:p>
                  <a:r>
                    <a:rPr lang="en-US" altLang="zh-CN" sz="2000" b="1" i="1" dirty="0"/>
                    <a:t> </a:t>
                  </a:r>
                  <a:endParaRPr lang="zh-CN" altLang="en-US" sz="2000" b="1" i="1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4985DEF5-DAF8-4476-90F5-469B40522A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567" y="5533743"/>
                  <a:ext cx="2535951" cy="707886"/>
                </a:xfrm>
                <a:prstGeom prst="rect">
                  <a:avLst/>
                </a:prstGeom>
                <a:blipFill>
                  <a:blip r:embed="rId9"/>
                  <a:stretch>
                    <a:fillRect l="-2404" t="-51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CB61DE1-50CA-42F8-8CEB-FB91661D023C}"/>
                    </a:ext>
                  </a:extLst>
                </p:cNvPr>
                <p:cNvSpPr/>
                <p:nvPr/>
              </p:nvSpPr>
              <p:spPr>
                <a:xfrm>
                  <a:off x="1250035" y="5985195"/>
                  <a:ext cx="1717714" cy="40107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sz="2000" i="1" dirty="0"/>
                    <a:t> </a:t>
                  </a:r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CB61DE1-50CA-42F8-8CEB-FB91661D02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035" y="5985195"/>
                  <a:ext cx="1717714" cy="401072"/>
                </a:xfrm>
                <a:prstGeom prst="rect">
                  <a:avLst/>
                </a:prstGeom>
                <a:blipFill>
                  <a:blip r:embed="rId10"/>
                  <a:stretch>
                    <a:fillRect l="-21631" t="-122727" b="-18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9E3ABAD-2099-4968-96B2-09C3BEEB95C2}"/>
                  </a:ext>
                </a:extLst>
              </p:cNvPr>
              <p:cNvSpPr/>
              <p:nvPr/>
            </p:nvSpPr>
            <p:spPr>
              <a:xfrm>
                <a:off x="4913491" y="1031159"/>
                <a:ext cx="3893052" cy="5349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e>
                      </m:fun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lim>
                      </m:limLow>
                      <m:limLow>
                        <m:limLow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li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lim>
                      </m:limLow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9E3ABAD-2099-4968-96B2-09C3BEEB95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491" y="1031159"/>
                <a:ext cx="3893052" cy="534955"/>
              </a:xfrm>
              <a:prstGeom prst="rect">
                <a:avLst/>
              </a:prstGeom>
              <a:blipFill>
                <a:blip r:embed="rId11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57EA25A3-7E1C-4872-B452-F5A3D1227144}"/>
              </a:ext>
            </a:extLst>
          </p:cNvPr>
          <p:cNvSpPr/>
          <p:nvPr/>
        </p:nvSpPr>
        <p:spPr>
          <a:xfrm>
            <a:off x="350351" y="4535125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Dual optimization problem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7719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7">
            <a:extLst>
              <a:ext uri="{FF2B5EF4-FFF2-40B4-BE49-F238E27FC236}">
                <a16:creationId xmlns:a16="http://schemas.microsoft.com/office/drawing/2014/main" id="{D0B0AFCB-A9C6-4C71-BE48-A5E49B4ACDF7}"/>
              </a:ext>
            </a:extLst>
          </p:cNvPr>
          <p:cNvSpPr/>
          <p:nvPr/>
        </p:nvSpPr>
        <p:spPr>
          <a:xfrm>
            <a:off x="325254" y="914399"/>
            <a:ext cx="8463714" cy="137160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304800" y="990600"/>
                <a:ext cx="8610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Given the dataset consist of two positive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(3,3)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altLang="zh-CN" sz="2400" dirty="0"/>
                          <m:t>,3)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/>
                  <a:t>and one negative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altLang="zh-CN" sz="2400" dirty="0"/>
                          <m:t>,</m:t>
                        </m:r>
                        <m:r>
                          <m:rPr>
                            <m:nor/>
                          </m:rPr>
                          <a:rPr lang="en-US" altLang="zh-CN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altLang="zh-CN" sz="2400" dirty="0"/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/>
                  <a:t>. Please write the objective function of the dual optimization problem of SVM.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990600"/>
                <a:ext cx="8610600" cy="1200329"/>
              </a:xfrm>
              <a:prstGeom prst="rect">
                <a:avLst/>
              </a:prstGeom>
              <a:blipFill>
                <a:blip r:embed="rId3"/>
                <a:stretch>
                  <a:fillRect l="-920" t="-4082"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26E2CFDB-EA91-47A6-93AF-FDB3A05F0663}"/>
              </a:ext>
            </a:extLst>
          </p:cNvPr>
          <p:cNvSpPr txBox="1"/>
          <p:nvPr/>
        </p:nvSpPr>
        <p:spPr>
          <a:xfrm>
            <a:off x="304800" y="76200"/>
            <a:ext cx="155401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Exercise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BD97E66-6306-4F62-86B3-33601966F5E0}"/>
              </a:ext>
            </a:extLst>
          </p:cNvPr>
          <p:cNvGrpSpPr/>
          <p:nvPr/>
        </p:nvGrpSpPr>
        <p:grpSpPr>
          <a:xfrm>
            <a:off x="314061" y="2692275"/>
            <a:ext cx="8493799" cy="4013325"/>
            <a:chOff x="314061" y="2692275"/>
            <a:chExt cx="8493799" cy="4013325"/>
          </a:xfrm>
        </p:grpSpPr>
        <p:sp>
          <p:nvSpPr>
            <p:cNvPr id="11" name="矩形: 圆角 7">
              <a:extLst>
                <a:ext uri="{FF2B5EF4-FFF2-40B4-BE49-F238E27FC236}">
                  <a16:creationId xmlns:a16="http://schemas.microsoft.com/office/drawing/2014/main" id="{6B2297BD-F5ED-400A-AF59-61BA14B1786F}"/>
                </a:ext>
              </a:extLst>
            </p:cNvPr>
            <p:cNvSpPr/>
            <p:nvPr/>
          </p:nvSpPr>
          <p:spPr>
            <a:xfrm>
              <a:off x="325254" y="2692275"/>
              <a:ext cx="8463714" cy="4013325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9C75AC-470C-4B55-AA53-6A1A3BE50101}"/>
                </a:ext>
              </a:extLst>
            </p:cNvPr>
            <p:cNvSpPr/>
            <p:nvPr/>
          </p:nvSpPr>
          <p:spPr>
            <a:xfrm>
              <a:off x="609600" y="2910695"/>
              <a:ext cx="121789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/>
                <a:t>Answer </a:t>
              </a:r>
              <a:endParaRPr lang="zh-CN" altLang="en-US" sz="2400" b="1" dirty="0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155A1A4-49FD-47DD-945A-1614B8F9C594}"/>
                </a:ext>
              </a:extLst>
            </p:cNvPr>
            <p:cNvGrpSpPr/>
            <p:nvPr/>
          </p:nvGrpSpPr>
          <p:grpSpPr>
            <a:xfrm>
              <a:off x="2111844" y="2750913"/>
              <a:ext cx="4156201" cy="1858217"/>
              <a:chOff x="744481" y="4545362"/>
              <a:chExt cx="4156201" cy="185821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064491D4-A6BC-40BB-ACB0-C224A6382562}"/>
                      </a:ext>
                    </a:extLst>
                  </p:cNvPr>
                  <p:cNvSpPr/>
                  <p:nvPr/>
                </p:nvSpPr>
                <p:spPr>
                  <a:xfrm>
                    <a:off x="744481" y="4545362"/>
                    <a:ext cx="4156201" cy="99245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e>
                                <m:lim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e>
                              </m:nary>
                            </m:e>
                          </m:func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oMath>
                      </m:oMathPara>
                    </a14:m>
                    <a:endParaRPr lang="zh-CN" altLang="en-US" sz="2000" b="1" i="1" dirty="0"/>
                  </a:p>
                </p:txBody>
              </p:sp>
            </mc:Choice>
            <mc:Fallback xmlns=""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064491D4-A6BC-40BB-ACB0-C224A638256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481" y="4545362"/>
                    <a:ext cx="4156201" cy="99245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矩形 21">
                    <a:extLst>
                      <a:ext uri="{FF2B5EF4-FFF2-40B4-BE49-F238E27FC236}">
                        <a16:creationId xmlns:a16="http://schemas.microsoft.com/office/drawing/2014/main" id="{9AC58C2B-3D13-48F7-B8CD-21852766C429}"/>
                      </a:ext>
                    </a:extLst>
                  </p:cNvPr>
                  <p:cNvSpPr/>
                  <p:nvPr/>
                </p:nvSpPr>
                <p:spPr>
                  <a:xfrm>
                    <a:off x="885567" y="5533743"/>
                    <a:ext cx="2525178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 b="0" i="1" dirty="0"/>
                      <a:t>s.t.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altLang="zh-CN" sz="2000" b="1" i="1" dirty="0"/>
                      <a:t>, </a:t>
                    </a:r>
                    <a14:m>
                      <m:oMath xmlns:m="http://schemas.openxmlformats.org/officeDocument/2006/math"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=1,…,3</m:t>
                        </m:r>
                      </m:oMath>
                    </a14:m>
                    <a:endParaRPr lang="zh-CN" altLang="en-US" sz="2000" i="1" dirty="0"/>
                  </a:p>
                  <a:p>
                    <a:r>
                      <a:rPr lang="en-US" altLang="zh-CN" sz="2000" b="1" i="1" dirty="0"/>
                      <a:t> </a:t>
                    </a:r>
                    <a:endParaRPr lang="zh-CN" altLang="en-US" sz="2000" b="1" i="1" dirty="0"/>
                  </a:p>
                </p:txBody>
              </p:sp>
            </mc:Choice>
            <mc:Fallback xmlns="">
              <p:sp>
                <p:nvSpPr>
                  <p:cNvPr id="22" name="矩形 21">
                    <a:extLst>
                      <a:ext uri="{FF2B5EF4-FFF2-40B4-BE49-F238E27FC236}">
                        <a16:creationId xmlns:a16="http://schemas.microsoft.com/office/drawing/2014/main" id="{9AC58C2B-3D13-48F7-B8CD-21852766C42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5567" y="5533743"/>
                    <a:ext cx="2525178" cy="70788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657" t="-427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B7EFBA14-0390-4627-B153-16AB4E55C5BE}"/>
                      </a:ext>
                    </a:extLst>
                  </p:cNvPr>
                  <p:cNvSpPr/>
                  <p:nvPr/>
                </p:nvSpPr>
                <p:spPr>
                  <a:xfrm>
                    <a:off x="1250035" y="5985195"/>
                    <a:ext cx="1717714" cy="41838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r>
                      <a:rPr lang="zh-CN" altLang="en-US" sz="2000" i="1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B7EFBA14-0390-4627-B153-16AB4E55C5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0035" y="5985195"/>
                    <a:ext cx="1717714" cy="41838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631" t="-113043" b="-17391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F782F4A-56B2-498D-B5EB-7013B8D36077}"/>
                </a:ext>
              </a:extLst>
            </p:cNvPr>
            <p:cNvGrpSpPr/>
            <p:nvPr/>
          </p:nvGrpSpPr>
          <p:grpSpPr>
            <a:xfrm>
              <a:off x="314061" y="4852482"/>
              <a:ext cx="8493799" cy="1636880"/>
              <a:chOff x="744481" y="4545362"/>
              <a:chExt cx="8493799" cy="163688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矩形 25">
                    <a:extLst>
                      <a:ext uri="{FF2B5EF4-FFF2-40B4-BE49-F238E27FC236}">
                        <a16:creationId xmlns:a16="http://schemas.microsoft.com/office/drawing/2014/main" id="{8ED1A521-01FB-4BC5-B8C2-4E9C8AD1FD67}"/>
                      </a:ext>
                    </a:extLst>
                  </p:cNvPr>
                  <p:cNvSpPr/>
                  <p:nvPr/>
                </p:nvSpPr>
                <p:spPr>
                  <a:xfrm>
                    <a:off x="744481" y="4545362"/>
                    <a:ext cx="8493799" cy="66851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e>
                                <m:lim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func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sz="2000" b="1" i="1" dirty="0"/>
                  </a:p>
                </p:txBody>
              </p:sp>
            </mc:Choice>
            <mc:Fallback xmlns="">
              <p:sp>
                <p:nvSpPr>
                  <p:cNvPr id="26" name="矩形 25">
                    <a:extLst>
                      <a:ext uri="{FF2B5EF4-FFF2-40B4-BE49-F238E27FC236}">
                        <a16:creationId xmlns:a16="http://schemas.microsoft.com/office/drawing/2014/main" id="{8ED1A521-01FB-4BC5-B8C2-4E9C8AD1FD6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481" y="4545362"/>
                    <a:ext cx="8493799" cy="66851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矩形 26">
                    <a:extLst>
                      <a:ext uri="{FF2B5EF4-FFF2-40B4-BE49-F238E27FC236}">
                        <a16:creationId xmlns:a16="http://schemas.microsoft.com/office/drawing/2014/main" id="{8FE8FE24-B117-4589-8FBB-35D9B66B002D}"/>
                      </a:ext>
                    </a:extLst>
                  </p:cNvPr>
                  <p:cNvSpPr/>
                  <p:nvPr/>
                </p:nvSpPr>
                <p:spPr>
                  <a:xfrm>
                    <a:off x="785452" y="5338383"/>
                    <a:ext cx="2525178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 b="0" i="1" dirty="0"/>
                      <a:t>s.t.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altLang="zh-CN" sz="2000" b="1" i="1" dirty="0"/>
                      <a:t>, </a:t>
                    </a:r>
                    <a14:m>
                      <m:oMath xmlns:m="http://schemas.openxmlformats.org/officeDocument/2006/math"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=1,…,3</m:t>
                        </m:r>
                      </m:oMath>
                    </a14:m>
                    <a:endParaRPr lang="zh-CN" altLang="en-US" sz="2000" i="1" dirty="0"/>
                  </a:p>
                  <a:p>
                    <a:r>
                      <a:rPr lang="en-US" altLang="zh-CN" sz="2000" b="1" i="1" dirty="0"/>
                      <a:t> </a:t>
                    </a:r>
                    <a:endParaRPr lang="zh-CN" altLang="en-US" sz="2000" b="1" i="1" dirty="0"/>
                  </a:p>
                </p:txBody>
              </p:sp>
            </mc:Choice>
            <mc:Fallback xmlns="">
              <p:sp>
                <p:nvSpPr>
                  <p:cNvPr id="27" name="矩形 26">
                    <a:extLst>
                      <a:ext uri="{FF2B5EF4-FFF2-40B4-BE49-F238E27FC236}">
                        <a16:creationId xmlns:a16="http://schemas.microsoft.com/office/drawing/2014/main" id="{8FE8FE24-B117-4589-8FBB-35D9B66B002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5452" y="5338383"/>
                    <a:ext cx="2525178" cy="70788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415" t="-431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矩形 27">
                    <a:extLst>
                      <a:ext uri="{FF2B5EF4-FFF2-40B4-BE49-F238E27FC236}">
                        <a16:creationId xmlns:a16="http://schemas.microsoft.com/office/drawing/2014/main" id="{7AEC0D80-90E0-4671-8384-6407D6F84379}"/>
                      </a:ext>
                    </a:extLst>
                  </p:cNvPr>
                  <p:cNvSpPr/>
                  <p:nvPr/>
                </p:nvSpPr>
                <p:spPr>
                  <a:xfrm>
                    <a:off x="1122266" y="5782132"/>
                    <a:ext cx="2232214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r>
                      <a:rPr lang="zh-CN" altLang="en-US" sz="2000" i="1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28" name="矩形 27">
                    <a:extLst>
                      <a:ext uri="{FF2B5EF4-FFF2-40B4-BE49-F238E27FC236}">
                        <a16:creationId xmlns:a16="http://schemas.microsoft.com/office/drawing/2014/main" id="{7AEC0D80-90E0-4671-8384-6407D6F8437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2266" y="5782132"/>
                    <a:ext cx="2232214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27715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4752070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Dual optimization problem</a:t>
            </a:r>
          </a:p>
        </p:txBody>
      </p:sp>
      <p:sp>
        <p:nvSpPr>
          <p:cNvPr id="12" name="矩形: 圆角 7">
            <a:extLst>
              <a:ext uri="{FF2B5EF4-FFF2-40B4-BE49-F238E27FC236}">
                <a16:creationId xmlns:a16="http://schemas.microsoft.com/office/drawing/2014/main" id="{E79C3E0A-35EC-4881-83F7-059B402C5417}"/>
              </a:ext>
            </a:extLst>
          </p:cNvPr>
          <p:cNvSpPr/>
          <p:nvPr/>
        </p:nvSpPr>
        <p:spPr>
          <a:xfrm>
            <a:off x="294167" y="1066800"/>
            <a:ext cx="8643389" cy="2286000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2E18123-F2E6-4423-BDBA-C8166F34C1F2}"/>
              </a:ext>
            </a:extLst>
          </p:cNvPr>
          <p:cNvGrpSpPr/>
          <p:nvPr/>
        </p:nvGrpSpPr>
        <p:grpSpPr>
          <a:xfrm>
            <a:off x="2680835" y="1190852"/>
            <a:ext cx="4161909" cy="1866430"/>
            <a:chOff x="840051" y="4519837"/>
            <a:chExt cx="4161909" cy="18664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62A0F1A-0DCC-40BF-83B0-670F210143F0}"/>
                    </a:ext>
                  </a:extLst>
                </p:cNvPr>
                <p:cNvSpPr/>
                <p:nvPr/>
              </p:nvSpPr>
              <p:spPr>
                <a:xfrm>
                  <a:off x="840051" y="4519837"/>
                  <a:ext cx="4161909" cy="967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e>
                              <m:lim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nary>
                          </m:e>
                        </m:func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oMath>
                    </m:oMathPara>
                  </a14:m>
                  <a:endParaRPr lang="zh-CN" altLang="en-US" sz="2000" b="1" i="1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62A0F1A-0DCC-40BF-83B0-670F210143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051" y="4519837"/>
                  <a:ext cx="4161909" cy="96744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4985DEF5-DAF8-4476-90F5-469B40522A72}"/>
                    </a:ext>
                  </a:extLst>
                </p:cNvPr>
                <p:cNvSpPr/>
                <p:nvPr/>
              </p:nvSpPr>
              <p:spPr>
                <a:xfrm>
                  <a:off x="885567" y="5533743"/>
                  <a:ext cx="2535951" cy="707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b="0" i="1" dirty="0" err="1"/>
                    <a:t>s.t.</a:t>
                  </a:r>
                  <a:r>
                    <a:rPr lang="en-US" altLang="zh-CN" sz="2000" b="0" i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CN" sz="2000" b="1" i="1" dirty="0"/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zh-CN" altLang="en-US" sz="2000" i="1" dirty="0"/>
                </a:p>
                <a:p>
                  <a:r>
                    <a:rPr lang="en-US" altLang="zh-CN" sz="2000" b="1" i="1" dirty="0"/>
                    <a:t> </a:t>
                  </a:r>
                  <a:endParaRPr lang="zh-CN" altLang="en-US" sz="2000" b="1" i="1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4985DEF5-DAF8-4476-90F5-469B40522A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567" y="5533743"/>
                  <a:ext cx="2535951" cy="707886"/>
                </a:xfrm>
                <a:prstGeom prst="rect">
                  <a:avLst/>
                </a:prstGeom>
                <a:blipFill>
                  <a:blip r:embed="rId9"/>
                  <a:stretch>
                    <a:fillRect l="-2404" t="-51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CB61DE1-50CA-42F8-8CEB-FB91661D023C}"/>
                    </a:ext>
                  </a:extLst>
                </p:cNvPr>
                <p:cNvSpPr/>
                <p:nvPr/>
              </p:nvSpPr>
              <p:spPr>
                <a:xfrm>
                  <a:off x="1250035" y="5985195"/>
                  <a:ext cx="1717714" cy="40107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sz="2000" i="1" dirty="0"/>
                    <a:t> </a:t>
                  </a:r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CB61DE1-50CA-42F8-8CEB-FB91661D02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035" y="5985195"/>
                  <a:ext cx="1717714" cy="401072"/>
                </a:xfrm>
                <a:prstGeom prst="rect">
                  <a:avLst/>
                </a:prstGeom>
                <a:blipFill>
                  <a:blip r:embed="rId10"/>
                  <a:stretch>
                    <a:fillRect l="-21631" t="-122727" b="-18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690C174F-F6B4-4882-8127-0FFBF176786A}"/>
              </a:ext>
            </a:extLst>
          </p:cNvPr>
          <p:cNvSpPr/>
          <p:nvPr/>
        </p:nvSpPr>
        <p:spPr>
          <a:xfrm>
            <a:off x="3090819" y="3804252"/>
            <a:ext cx="2379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3B3FF7"/>
                </a:solidFill>
              </a:rPr>
              <a:t>How to optimize?</a:t>
            </a:r>
          </a:p>
        </p:txBody>
      </p:sp>
    </p:spTree>
    <p:extLst>
      <p:ext uri="{BB962C8B-B14F-4D97-AF65-F5344CB8AC3E}">
        <p14:creationId xmlns:p14="http://schemas.microsoft.com/office/powerpoint/2010/main" val="188405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7">
            <a:extLst>
              <a:ext uri="{FF2B5EF4-FFF2-40B4-BE49-F238E27FC236}">
                <a16:creationId xmlns:a16="http://schemas.microsoft.com/office/drawing/2014/main" id="{C1143485-D86B-4EFD-B9CD-DA064BE2921C}"/>
              </a:ext>
            </a:extLst>
          </p:cNvPr>
          <p:cNvSpPr/>
          <p:nvPr/>
        </p:nvSpPr>
        <p:spPr>
          <a:xfrm>
            <a:off x="299285" y="2471075"/>
            <a:ext cx="8643389" cy="4082125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9" name="矩形: 圆角 7">
            <a:extLst>
              <a:ext uri="{FF2B5EF4-FFF2-40B4-BE49-F238E27FC236}">
                <a16:creationId xmlns:a16="http://schemas.microsoft.com/office/drawing/2014/main" id="{BEE35E13-B3C5-47B4-97FF-957378BC7F85}"/>
              </a:ext>
            </a:extLst>
          </p:cNvPr>
          <p:cNvSpPr/>
          <p:nvPr/>
        </p:nvSpPr>
        <p:spPr>
          <a:xfrm>
            <a:off x="299285" y="1024563"/>
            <a:ext cx="8643389" cy="125284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3310586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Coordinate Ascent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3110341" y="1561772"/>
                <a:ext cx="2887265" cy="5752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341" y="1561772"/>
                <a:ext cx="2887265" cy="575286"/>
              </a:xfrm>
              <a:prstGeom prst="rect">
                <a:avLst/>
              </a:prstGeom>
              <a:blipFill>
                <a:blip r:embed="rId3"/>
                <a:stretch>
                  <a:fillRect r="-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304800" y="1062335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Consider trying to solve the </a:t>
            </a:r>
            <a:r>
              <a:rPr lang="en-US" altLang="zh-CN" sz="2400" dirty="0">
                <a:solidFill>
                  <a:srgbClr val="FF0000"/>
                </a:solidFill>
              </a:rPr>
              <a:t>unconstrained</a:t>
            </a:r>
            <a:r>
              <a:rPr lang="en-US" altLang="zh-CN" sz="2400" dirty="0"/>
              <a:t>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85800" y="3061059"/>
                <a:ext cx="8077200" cy="2100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Loop until convergence: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endParaRPr lang="en-US" altLang="zh-CN" sz="2400" dirty="0"/>
              </a:p>
              <a:p>
                <a:r>
                  <a:rPr lang="en-US" altLang="zh-CN" sz="2400" dirty="0"/>
                  <a:t>          For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=1,…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sz="2400" dirty="0"/>
              </a:p>
              <a:p>
                <a:r>
                  <a:rPr lang="en-US" altLang="zh-CN" sz="2400" dirty="0"/>
                  <a:t>      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061059"/>
                <a:ext cx="8077200" cy="2100960"/>
              </a:xfrm>
              <a:prstGeom prst="rect">
                <a:avLst/>
              </a:prstGeom>
              <a:blipFill>
                <a:blip r:embed="rId4"/>
                <a:stretch>
                  <a:fillRect l="-1208" t="-2319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304800" y="2510135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Coordinate Ascent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57200" y="5257800"/>
                <a:ext cx="836964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>
                    <a:solidFill>
                      <a:srgbClr val="000000"/>
                    </a:solidFill>
                  </a:rPr>
                  <a:t>In the innermost loop of this algorithm, we will hold all the variables except for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fixed, and re-optimize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with respect to just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.</a:t>
                </a:r>
                <a:r>
                  <a:rPr lang="en-US" altLang="zh-CN" sz="2400" dirty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257800"/>
                <a:ext cx="8369643" cy="1200329"/>
              </a:xfrm>
              <a:prstGeom prst="rect">
                <a:avLst/>
              </a:prstGeom>
              <a:blipFill>
                <a:blip r:embed="rId5"/>
                <a:stretch>
                  <a:fillRect l="-1092" t="-4082" r="-1092"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D7180214-D6B9-4821-A034-F94C1924CCC1}"/>
              </a:ext>
            </a:extLst>
          </p:cNvPr>
          <p:cNvSpPr/>
          <p:nvPr/>
        </p:nvSpPr>
        <p:spPr>
          <a:xfrm>
            <a:off x="3838466" y="357321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坐标上升法</a:t>
            </a:r>
          </a:p>
        </p:txBody>
      </p:sp>
    </p:spTree>
    <p:extLst>
      <p:ext uri="{BB962C8B-B14F-4D97-AF65-F5344CB8AC3E}">
        <p14:creationId xmlns:p14="http://schemas.microsoft.com/office/powerpoint/2010/main" val="37001199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37213708-8F67-4DA8-8312-44A64710C371}"/>
              </a:ext>
            </a:extLst>
          </p:cNvPr>
          <p:cNvSpPr/>
          <p:nvPr/>
        </p:nvSpPr>
        <p:spPr>
          <a:xfrm>
            <a:off x="299285" y="1024564"/>
            <a:ext cx="8643389" cy="219220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3310586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Coordinate Ascent</a:t>
            </a:r>
            <a:endParaRPr lang="en-US" sz="3200" b="1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410434"/>
            <a:ext cx="4267200" cy="330996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10283" y="1066800"/>
            <a:ext cx="86323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The ellipses are the contours of the objective function.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Coordinate ascent was initialized at (2, -2).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The path that it took on its way to the global maximum is plotted.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FF0000"/>
                </a:solidFill>
              </a:rPr>
              <a:t>Note</a:t>
            </a:r>
            <a:r>
              <a:rPr lang="en-US" altLang="zh-CN" sz="2400" dirty="0">
                <a:solidFill>
                  <a:srgbClr val="000000"/>
                </a:solidFill>
              </a:rPr>
              <a:t>: Coordinate ascent takes a step that’s </a:t>
            </a:r>
            <a:r>
              <a:rPr lang="en-US" altLang="zh-CN" sz="2400" dirty="0">
                <a:solidFill>
                  <a:srgbClr val="FF0000"/>
                </a:solidFill>
              </a:rPr>
              <a:t>parallel</a:t>
            </a:r>
            <a:r>
              <a:rPr lang="en-US" altLang="zh-CN" sz="2400" dirty="0">
                <a:solidFill>
                  <a:srgbClr val="000000"/>
                </a:solidFill>
              </a:rPr>
              <a:t> to one of the axes, since only one variable is being optimized at a time.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069171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00AD0A3-0E04-42AF-89A4-E8156E33332D}"/>
              </a:ext>
            </a:extLst>
          </p:cNvPr>
          <p:cNvSpPr/>
          <p:nvPr/>
        </p:nvSpPr>
        <p:spPr>
          <a:xfrm>
            <a:off x="299285" y="3768831"/>
            <a:ext cx="8643389" cy="2471945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66E688B-1368-4CD8-8073-E70114A9F76F}"/>
              </a:ext>
            </a:extLst>
          </p:cNvPr>
          <p:cNvSpPr/>
          <p:nvPr/>
        </p:nvSpPr>
        <p:spPr>
          <a:xfrm>
            <a:off x="299285" y="1024563"/>
            <a:ext cx="8643389" cy="247194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581127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Sequential Minimal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859484" y="1560021"/>
                <a:ext cx="4156202" cy="967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</m:e>
                      </m:func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b="1" i="1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484" y="1560021"/>
                <a:ext cx="4156202" cy="96744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905000" y="2538919"/>
                <a:ext cx="2535951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0" i="1" dirty="0" err="1"/>
                  <a:t>s.t.</a:t>
                </a:r>
                <a:r>
                  <a:rPr lang="en-US" altLang="zh-CN" sz="2000" b="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000" b="1" i="1" dirty="0"/>
                  <a:t>,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000" i="1" dirty="0"/>
              </a:p>
              <a:p>
                <a:r>
                  <a:rPr lang="en-US" altLang="zh-CN" sz="2000" b="1" i="1" dirty="0"/>
                  <a:t> </a:t>
                </a:r>
                <a:endParaRPr lang="zh-CN" altLang="en-US" sz="2000" b="1" i="1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538919"/>
                <a:ext cx="2535951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2644" t="-4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304800" y="1066800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Dual optimization problem: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304800" y="3907984"/>
                <a:ext cx="853991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Let’s say we have a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’s that satisfy the constraints.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Suppose we 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/>
                  <a:t> fixed, can we take a coordinate ascent step and optimize the function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?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907984"/>
                <a:ext cx="8539915" cy="1200329"/>
              </a:xfrm>
              <a:prstGeom prst="rect">
                <a:avLst/>
              </a:prstGeom>
              <a:blipFill>
                <a:blip r:embed="rId5"/>
                <a:stretch>
                  <a:fillRect l="-92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B9A352DE-0D93-4450-ADF5-C3874FC2DA86}"/>
              </a:ext>
            </a:extLst>
          </p:cNvPr>
          <p:cNvGrpSpPr/>
          <p:nvPr/>
        </p:nvGrpSpPr>
        <p:grpSpPr>
          <a:xfrm>
            <a:off x="304800" y="5163372"/>
            <a:ext cx="8839200" cy="932628"/>
            <a:chOff x="304800" y="5163372"/>
            <a:chExt cx="8839200" cy="932628"/>
          </a:xfrm>
        </p:grpSpPr>
        <p:sp>
          <p:nvSpPr>
            <p:cNvPr id="12" name="文本框 11"/>
            <p:cNvSpPr txBox="1"/>
            <p:nvPr/>
          </p:nvSpPr>
          <p:spPr>
            <a:xfrm>
              <a:off x="304800" y="5412391"/>
              <a:ext cx="883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400" b="1" dirty="0">
                  <a:solidFill>
                    <a:srgbClr val="FF0000"/>
                  </a:solidFill>
                </a:rPr>
                <a:t>NO!!!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/>
                <p:cNvSpPr/>
                <p:nvPr/>
              </p:nvSpPr>
              <p:spPr>
                <a:xfrm>
                  <a:off x="2154195" y="5163372"/>
                  <a:ext cx="1558632" cy="9326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13" name="矩形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195" y="5163372"/>
                  <a:ext cx="1558632" cy="9326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/>
                <p:cNvSpPr/>
                <p:nvPr/>
              </p:nvSpPr>
              <p:spPr>
                <a:xfrm>
                  <a:off x="4592595" y="5163372"/>
                  <a:ext cx="2168863" cy="9326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nary>
                          <m:naryPr>
                            <m:chr m:val="∑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595" y="5163372"/>
                  <a:ext cx="2168863" cy="93262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209800" y="2971800"/>
                <a:ext cx="1717714" cy="4010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i="1" dirty="0"/>
                  <a:t> </a:t>
                </a: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971800"/>
                <a:ext cx="1717714" cy="401072"/>
              </a:xfrm>
              <a:prstGeom prst="rect">
                <a:avLst/>
              </a:prstGeom>
              <a:blipFill rotWithShape="0">
                <a:blip r:embed="rId8"/>
                <a:stretch>
                  <a:fillRect l="-22064" t="-124615" b="-18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0A0DECDA-6064-456D-8F58-ADB45E2D0B4B}"/>
              </a:ext>
            </a:extLst>
          </p:cNvPr>
          <p:cNvSpPr/>
          <p:nvPr/>
        </p:nvSpPr>
        <p:spPr>
          <a:xfrm>
            <a:off x="6248400" y="365180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序列最小最优化</a:t>
            </a:r>
          </a:p>
        </p:txBody>
      </p:sp>
    </p:spTree>
    <p:extLst>
      <p:ext uri="{BB962C8B-B14F-4D97-AF65-F5344CB8AC3E}">
        <p14:creationId xmlns:p14="http://schemas.microsoft.com/office/powerpoint/2010/main" val="127631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3A515FC-E581-467D-AE36-7B67F96612F6}"/>
              </a:ext>
            </a:extLst>
          </p:cNvPr>
          <p:cNvSpPr/>
          <p:nvPr/>
        </p:nvSpPr>
        <p:spPr>
          <a:xfrm>
            <a:off x="299285" y="1024563"/>
            <a:ext cx="8643389" cy="537623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581127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Sequential Minimal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04800" y="1062335"/>
                <a:ext cx="861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We must update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at least two </a:t>
                </a:r>
                <a:r>
                  <a:rPr lang="en-US" altLang="zh-CN" sz="2400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’s simultaneously.  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062335"/>
                <a:ext cx="861060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20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304800" y="1592409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609600" y="2122483"/>
                <a:ext cx="8235115" cy="3106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400" dirty="0"/>
                  <a:t>Repeat until convergence: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endParaRPr lang="en-US" altLang="zh-CN" sz="2400" dirty="0"/>
              </a:p>
              <a:p>
                <a:pPr algn="just"/>
                <a:r>
                  <a:rPr lang="en-US" altLang="zh-CN" sz="2400" dirty="0"/>
                  <a:t>       1. Select some pair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/>
                  <a:t> to update next (using a heuristic manner that tries to pick the two that will allow us to make the biggest progress towards the global maximum).</a:t>
                </a:r>
              </a:p>
              <a:p>
                <a:pPr algn="just"/>
                <a:endParaRPr lang="en-US" altLang="zh-CN" sz="2400" dirty="0"/>
              </a:p>
              <a:p>
                <a:pPr algn="just"/>
                <a:r>
                  <a:rPr lang="en-US" altLang="zh-CN" sz="2400" dirty="0"/>
                  <a:t>       2. Re-optimize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/>
                  <a:t>, while holding                  </a:t>
                </a:r>
              </a:p>
              <a:p>
                <a:pPr algn="just"/>
                <a:r>
                  <a:rPr lang="en-US" altLang="zh-CN" sz="2400" dirty="0"/>
                  <a:t>           all the other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/>
                  <a:t>’s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400" dirty="0"/>
                  <a:t>fixed. 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122483"/>
                <a:ext cx="8235115" cy="3106491"/>
              </a:xfrm>
              <a:prstGeom prst="rect">
                <a:avLst/>
              </a:prstGeom>
              <a:blipFill>
                <a:blip r:embed="rId4"/>
                <a:stretch>
                  <a:fillRect l="-1110" t="-1569" r="-1110" b="-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293914" y="5311452"/>
                <a:ext cx="8839200" cy="86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SMO is efficient as that the update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/>
                  <a:t> can be computed very efficiently. </a:t>
                </a: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14" y="5311452"/>
                <a:ext cx="8839200" cy="860748"/>
              </a:xfrm>
              <a:prstGeom prst="rect">
                <a:avLst/>
              </a:prstGeom>
              <a:blipFill>
                <a:blip r:embed="rId5"/>
                <a:stretch>
                  <a:fillRect l="-897" t="-4930" b="-14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C3F358F4-6DE6-4B0D-8154-C126FC5CF2C5}"/>
              </a:ext>
            </a:extLst>
          </p:cNvPr>
          <p:cNvSpPr/>
          <p:nvPr/>
        </p:nvSpPr>
        <p:spPr>
          <a:xfrm>
            <a:off x="6248400" y="365180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序列最小最优化</a:t>
            </a:r>
          </a:p>
        </p:txBody>
      </p:sp>
    </p:spTree>
    <p:extLst>
      <p:ext uri="{BB962C8B-B14F-4D97-AF65-F5344CB8AC3E}">
        <p14:creationId xmlns:p14="http://schemas.microsoft.com/office/powerpoint/2010/main" val="19520777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D1E1D1-764C-418E-A4D1-B17D58F58F02}"/>
              </a:ext>
            </a:extLst>
          </p:cNvPr>
          <p:cNvSpPr/>
          <p:nvPr/>
        </p:nvSpPr>
        <p:spPr>
          <a:xfrm>
            <a:off x="299285" y="1024563"/>
            <a:ext cx="8643389" cy="522383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515121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Deriving The Efficient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304800" y="1094471"/>
                <a:ext cx="88392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Suppose we have a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’s that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satisfy the constraints.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And we decided to 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/>
                  <a:t> fixed,  and optimize the objective function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Based on the constraint, we have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094471"/>
                <a:ext cx="8839200" cy="1569660"/>
              </a:xfrm>
              <a:prstGeom prst="rect">
                <a:avLst/>
              </a:prstGeom>
              <a:blipFill>
                <a:blip r:embed="rId3"/>
                <a:stretch>
                  <a:fillRect l="-897" t="-3113" b="-8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437709" y="2661271"/>
                <a:ext cx="3471591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709" y="2661271"/>
                <a:ext cx="3471591" cy="9326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5909300" y="2937374"/>
            <a:ext cx="12966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Constant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981200" y="4629090"/>
                <a:ext cx="515243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b="1" i="1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4629090"/>
                <a:ext cx="5152436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381000" y="5100935"/>
                <a:ext cx="8839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This is some quadratic function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100935"/>
                <a:ext cx="8839200" cy="461665"/>
              </a:xfrm>
              <a:prstGeom prst="rect">
                <a:avLst/>
              </a:prstGeom>
              <a:blipFill>
                <a:blip r:embed="rId6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1981200" y="3631312"/>
                <a:ext cx="5653984" cy="967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b="1" i="1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631312"/>
                <a:ext cx="5653984" cy="967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1CC909D-1EF7-41C4-9198-FC1551AAB240}"/>
                  </a:ext>
                </a:extLst>
              </p:cNvPr>
              <p:cNvSpPr txBox="1"/>
              <p:nvPr/>
            </p:nvSpPr>
            <p:spPr>
              <a:xfrm>
                <a:off x="381000" y="5634335"/>
                <a:ext cx="85616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Once we have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400" dirty="0"/>
                  <a:t>we can obtain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bSup>
                  </m:oMath>
                </a14:m>
                <a:r>
                  <a:rPr lang="en-US" altLang="zh-CN" sz="24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endParaRPr lang="en-US" altLang="zh-CN" sz="2400" i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1CC909D-1EF7-41C4-9198-FC1551AAB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634335"/>
                <a:ext cx="8561674" cy="461665"/>
              </a:xfrm>
              <a:prstGeom prst="rect">
                <a:avLst/>
              </a:prstGeom>
              <a:blipFill>
                <a:blip r:embed="rId8"/>
                <a:stretch>
                  <a:fillRect l="-99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09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888D2C3-0B6E-4E6D-A019-7CB480145198}"/>
              </a:ext>
            </a:extLst>
          </p:cNvPr>
          <p:cNvSpPr/>
          <p:nvPr/>
        </p:nvSpPr>
        <p:spPr>
          <a:xfrm>
            <a:off x="299285" y="4759830"/>
            <a:ext cx="8643389" cy="100827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10A01BC-2432-4A27-886E-7CE5010F316F}"/>
              </a:ext>
            </a:extLst>
          </p:cNvPr>
          <p:cNvSpPr/>
          <p:nvPr/>
        </p:nvSpPr>
        <p:spPr>
          <a:xfrm>
            <a:off x="299285" y="1024563"/>
            <a:ext cx="8643389" cy="331883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04800" y="76200"/>
                <a:ext cx="2922980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How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3200" b="1" dirty="0"/>
                  <a:t>?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76200"/>
                <a:ext cx="2922980" cy="753411"/>
              </a:xfrm>
              <a:prstGeom prst="rect">
                <a:avLst/>
              </a:prstGeom>
              <a:blipFill>
                <a:blip r:embed="rId3"/>
                <a:stretch>
                  <a:fillRect l="-5219" r="-4384" b="-260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304800" y="1074003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Remember that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789655" y="1011837"/>
                <a:ext cx="5459123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fName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m:rPr>
                              <m:nor/>
                            </m:rPr>
                            <a:rPr lang="zh-CN" altLang="en-US" sz="2000" b="1" i="1" dirty="0"/>
                            <m:t> </m:t>
                          </m:r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655" y="1011837"/>
                <a:ext cx="5459123" cy="9326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500553" y="2041941"/>
                <a:ext cx="4018664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553" y="2041941"/>
                <a:ext cx="4018664" cy="9326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496434" y="2962507"/>
                <a:ext cx="3285579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434" y="2962507"/>
                <a:ext cx="3285579" cy="9326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103032" y="2041941"/>
                <a:ext cx="1848198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032" y="2041941"/>
                <a:ext cx="1848198" cy="9326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6173599" y="2988985"/>
                <a:ext cx="1558632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0=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599" y="2988985"/>
                <a:ext cx="1558632" cy="9326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5931930" y="1981021"/>
            <a:ext cx="2146669" cy="203517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762000" y="4766592"/>
                <a:ext cx="3477619" cy="9330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𝒮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766592"/>
                <a:ext cx="3477619" cy="93301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D5A116F-2D4F-4CE5-BA33-C409E509FDCF}"/>
                  </a:ext>
                </a:extLst>
              </p:cNvPr>
              <p:cNvSpPr/>
              <p:nvPr/>
            </p:nvSpPr>
            <p:spPr>
              <a:xfrm>
                <a:off x="4607564" y="4874977"/>
                <a:ext cx="432679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𝒮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&gt;0,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2400" dirty="0"/>
                  <a:t> is the set of index of </a:t>
                </a:r>
                <a:r>
                  <a:rPr lang="en-US" altLang="zh-CN" sz="2400" dirty="0">
                    <a:solidFill>
                      <a:srgbClr val="3B3FF7"/>
                    </a:solidFill>
                  </a:rPr>
                  <a:t>support vectors</a:t>
                </a:r>
                <a:r>
                  <a:rPr lang="en-US" altLang="zh-CN" sz="2400" dirty="0"/>
                  <a:t>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D5A116F-2D4F-4CE5-BA33-C409E509FD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564" y="4874977"/>
                <a:ext cx="4326797" cy="830997"/>
              </a:xfrm>
              <a:prstGeom prst="rect">
                <a:avLst/>
              </a:prstGeom>
              <a:blipFill>
                <a:blip r:embed="rId10"/>
                <a:stretch>
                  <a:fillRect l="-2254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27DF799-E2A1-4253-80AD-77FD325D7EDE}"/>
                  </a:ext>
                </a:extLst>
              </p:cNvPr>
              <p:cNvSpPr/>
              <p:nvPr/>
            </p:nvSpPr>
            <p:spPr>
              <a:xfrm>
                <a:off x="6041358" y="226969"/>
                <a:ext cx="2863156" cy="691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KKT: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p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zh-CN" sz="2400" b="1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p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zh-CN" sz="2400" b="1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p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zh-CN" altLang="en-US" sz="240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27DF799-E2A1-4253-80AD-77FD325D7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358" y="226969"/>
                <a:ext cx="2863156" cy="691664"/>
              </a:xfrm>
              <a:prstGeom prst="rect">
                <a:avLst/>
              </a:prstGeom>
              <a:blipFill>
                <a:blip r:embed="rId11"/>
                <a:stretch>
                  <a:fillRect l="-3191" b="-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29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/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CEA47B0-EE29-4A83-8769-0D81FA6F0CF8}"/>
              </a:ext>
            </a:extLst>
          </p:cNvPr>
          <p:cNvSpPr/>
          <p:nvPr/>
        </p:nvSpPr>
        <p:spPr>
          <a:xfrm>
            <a:off x="2513354" y="5474558"/>
            <a:ext cx="4193492" cy="1052029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5F80760-F58E-449A-9580-DDB31D8D9045}"/>
              </a:ext>
            </a:extLst>
          </p:cNvPr>
          <p:cNvSpPr/>
          <p:nvPr/>
        </p:nvSpPr>
        <p:spPr>
          <a:xfrm>
            <a:off x="1447800" y="2072171"/>
            <a:ext cx="4193492" cy="105202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04800" y="76200"/>
                <a:ext cx="2833468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How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3200" b="1" dirty="0"/>
                  <a:t>?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76200"/>
                <a:ext cx="2833468" cy="753411"/>
              </a:xfrm>
              <a:prstGeom prst="rect">
                <a:avLst/>
              </a:prstGeom>
              <a:blipFill>
                <a:blip r:embed="rId3"/>
                <a:stretch>
                  <a:fillRect l="-5376" r="-4301" b="-26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304800" y="981164"/>
                <a:ext cx="861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In practice, we can derive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/>
                  <a:t> as follows,</a:t>
                </a: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981164"/>
                <a:ext cx="8610600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920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2787087" y="5550335"/>
                <a:ext cx="3996863" cy="9110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</a:rPr>
                                <m:t>𝒮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𝒮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</a:rPr>
                                    <m:t>𝒮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087" y="5550335"/>
                <a:ext cx="3996863" cy="9110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1518767" y="2139604"/>
                <a:ext cx="4051558" cy="863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: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=−1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: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767" y="2139604"/>
                <a:ext cx="4051558" cy="8638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1015526" y="3810000"/>
                <a:ext cx="3658950" cy="10831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</a:rPr>
                                    <m:t>𝒮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26" y="3810000"/>
                <a:ext cx="3658950" cy="10831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609600" y="1534818"/>
                <a:ext cx="861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3B3FF7"/>
                    </a:solidFill>
                  </a:rPr>
                  <a:t>Option1</a:t>
                </a:r>
                <a:r>
                  <a:rPr lang="en-US" altLang="zh-CN" sz="2400" dirty="0"/>
                  <a:t>: Note that given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34818"/>
                <a:ext cx="8610600" cy="461665"/>
              </a:xfrm>
              <a:prstGeom prst="rect">
                <a:avLst/>
              </a:prstGeom>
              <a:blipFill>
                <a:blip r:embed="rId8"/>
                <a:stretch>
                  <a:fillRect l="-106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/>
            </p:nvSpPr>
            <p:spPr>
              <a:xfrm>
                <a:off x="609600" y="3352800"/>
                <a:ext cx="861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3B3FF7"/>
                    </a:solidFill>
                  </a:rPr>
                  <a:t>Option2</a:t>
                </a:r>
                <a:r>
                  <a:rPr lang="en-US" altLang="zh-CN" sz="2400" dirty="0"/>
                  <a:t>: Note that given any support vector,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352800"/>
                <a:ext cx="8610600" cy="461665"/>
              </a:xfrm>
              <a:prstGeom prst="rect">
                <a:avLst/>
              </a:prstGeom>
              <a:blipFill>
                <a:blip r:embed="rId9"/>
                <a:stretch>
                  <a:fillRect l="-106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组合 29"/>
          <p:cNvGrpSpPr/>
          <p:nvPr/>
        </p:nvGrpSpPr>
        <p:grpSpPr>
          <a:xfrm>
            <a:off x="6096000" y="1243763"/>
            <a:ext cx="2640814" cy="1905000"/>
            <a:chOff x="304800" y="4080936"/>
            <a:chExt cx="3758274" cy="2507982"/>
          </a:xfrm>
        </p:grpSpPr>
        <p:pic>
          <p:nvPicPr>
            <p:cNvPr id="31" name="图片 30" descr="屏幕剪辑"/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2" t="1399" r="1162" b="-1399"/>
            <a:stretch/>
          </p:blipFill>
          <p:spPr>
            <a:xfrm>
              <a:off x="304800" y="4080936"/>
              <a:ext cx="3758274" cy="2507982"/>
            </a:xfrm>
            <a:prstGeom prst="rect">
              <a:avLst/>
            </a:prstGeom>
          </p:spPr>
        </p:pic>
        <p:sp>
          <p:nvSpPr>
            <p:cNvPr id="32" name="矩形 31"/>
            <p:cNvSpPr/>
            <p:nvPr/>
          </p:nvSpPr>
          <p:spPr>
            <a:xfrm>
              <a:off x="2362200" y="4080936"/>
              <a:ext cx="1700874" cy="7958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cv</a:t>
              </a:r>
              <a:endParaRPr lang="zh-CN" altLang="en-US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3A5CADA-1B8C-4237-A31E-5E11B254BE69}"/>
              </a:ext>
            </a:extLst>
          </p:cNvPr>
          <p:cNvGrpSpPr/>
          <p:nvPr/>
        </p:nvGrpSpPr>
        <p:grpSpPr>
          <a:xfrm>
            <a:off x="4752195" y="3980289"/>
            <a:ext cx="3394757" cy="839653"/>
            <a:chOff x="4752195" y="3980289"/>
            <a:chExt cx="3394757" cy="839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4E29A461-92CA-44E9-B00B-23ED46A3EA99}"/>
                    </a:ext>
                  </a:extLst>
                </p:cNvPr>
                <p:cNvSpPr/>
                <p:nvPr/>
              </p:nvSpPr>
              <p:spPr>
                <a:xfrm>
                  <a:off x="5321820" y="3980289"/>
                  <a:ext cx="2825132" cy="83965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2000" i="1" dirty="0">
                                <a:latin typeface="Cambria Math" panose="02040503050406030204" pitchFamily="18" charset="0"/>
                              </a:rPr>
                              <m:t>𝒮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altLang="zh-CN" sz="2000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4E29A461-92CA-44E9-B00B-23ED46A3EA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1820" y="3980289"/>
                  <a:ext cx="2825132" cy="83965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F1E27EF2-F719-400D-81EE-7EF3AA64C83C}"/>
                    </a:ext>
                  </a:extLst>
                </p:cNvPr>
                <p:cNvSpPr txBox="1"/>
                <p:nvPr/>
              </p:nvSpPr>
              <p:spPr>
                <a:xfrm>
                  <a:off x="4752195" y="4213090"/>
                  <a:ext cx="32540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⟹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F1E27EF2-F719-400D-81EE-7EF3AA64C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195" y="4213090"/>
                  <a:ext cx="325409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3208" r="-113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FB9FF9A5-28AC-4E60-BA79-B6C53071F9CC}"/>
              </a:ext>
            </a:extLst>
          </p:cNvPr>
          <p:cNvSpPr txBox="1"/>
          <p:nvPr/>
        </p:nvSpPr>
        <p:spPr>
          <a:xfrm>
            <a:off x="1066800" y="4953000"/>
            <a:ext cx="7015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 reality, we use the following more robust method</a:t>
            </a:r>
          </a:p>
        </p:txBody>
      </p:sp>
    </p:spTree>
    <p:extLst>
      <p:ext uri="{BB962C8B-B14F-4D97-AF65-F5344CB8AC3E}">
        <p14:creationId xmlns:p14="http://schemas.microsoft.com/office/powerpoint/2010/main" val="63831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animBg="1"/>
      <p:bldP spid="24" grpId="0"/>
      <p:bldP spid="25" grpId="0"/>
      <p:bldP spid="26" grpId="0"/>
      <p:bldP spid="27" grpId="0"/>
      <p:bldP spid="29" grpId="0"/>
      <p:bldP spid="1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D6379A8-C857-4DC5-ACC2-1F152F3F352F}"/>
              </a:ext>
            </a:extLst>
          </p:cNvPr>
          <p:cNvSpPr/>
          <p:nvPr/>
        </p:nvSpPr>
        <p:spPr>
          <a:xfrm>
            <a:off x="299285" y="1024563"/>
            <a:ext cx="8643389" cy="75341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04800" y="76200"/>
                <a:ext cx="2833468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How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3200" b="1" dirty="0"/>
                  <a:t>?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76200"/>
                <a:ext cx="2833468" cy="753411"/>
              </a:xfrm>
              <a:prstGeom prst="rect">
                <a:avLst/>
              </a:prstGeom>
              <a:blipFill>
                <a:blip r:embed="rId3"/>
                <a:stretch>
                  <a:fillRect l="-5376" r="-4301" b="-26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304800" y="1138535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Question: can we have no support vector?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6949C94-1079-4457-928D-38A7AD035667}"/>
                  </a:ext>
                </a:extLst>
              </p:cNvPr>
              <p:cNvSpPr txBox="1"/>
              <p:nvPr/>
            </p:nvSpPr>
            <p:spPr>
              <a:xfrm>
                <a:off x="6553200" y="1138535"/>
                <a:ext cx="144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 dirty="0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6949C94-1079-4457-928D-38A7AD035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1138535"/>
                <a:ext cx="14478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C3155BCA-9503-4198-867E-BE6CBB494141}"/>
              </a:ext>
            </a:extLst>
          </p:cNvPr>
          <p:cNvGrpSpPr/>
          <p:nvPr/>
        </p:nvGrpSpPr>
        <p:grpSpPr>
          <a:xfrm>
            <a:off x="299285" y="2091932"/>
            <a:ext cx="8643389" cy="2988095"/>
            <a:chOff x="299285" y="2091932"/>
            <a:chExt cx="8643389" cy="2988095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3FFB4969-1145-4DA4-AC61-4EED2AF44AF8}"/>
                </a:ext>
              </a:extLst>
            </p:cNvPr>
            <p:cNvSpPr/>
            <p:nvPr/>
          </p:nvSpPr>
          <p:spPr>
            <a:xfrm>
              <a:off x="299285" y="2091932"/>
              <a:ext cx="8643389" cy="2988095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0E084B1-5F30-44E3-9DD5-E52D62DD20E9}"/>
                </a:ext>
              </a:extLst>
            </p:cNvPr>
            <p:cNvSpPr txBox="1"/>
            <p:nvPr/>
          </p:nvSpPr>
          <p:spPr>
            <a:xfrm>
              <a:off x="315679" y="2182201"/>
              <a:ext cx="8610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400" dirty="0">
                  <a:solidFill>
                    <a:srgbClr val="FF0000"/>
                  </a:solidFill>
                </a:rPr>
                <a:t>Answer: No.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47B5E40-14F1-437D-837E-485644CAA349}"/>
              </a:ext>
            </a:extLst>
          </p:cNvPr>
          <p:cNvGrpSpPr/>
          <p:nvPr/>
        </p:nvGrpSpPr>
        <p:grpSpPr>
          <a:xfrm>
            <a:off x="332074" y="2771580"/>
            <a:ext cx="8610600" cy="2160156"/>
            <a:chOff x="332074" y="2771580"/>
            <a:chExt cx="8610600" cy="21601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BF1E5DC-9E78-4D8E-BD5D-25F7080AB5BA}"/>
                    </a:ext>
                  </a:extLst>
                </p:cNvPr>
                <p:cNvSpPr txBox="1"/>
                <p:nvPr/>
              </p:nvSpPr>
              <p:spPr>
                <a:xfrm>
                  <a:off x="332074" y="2771580"/>
                  <a:ext cx="8610600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altLang="zh-CN" sz="2400" dirty="0"/>
                    <a:t>If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2400" b="1" dirty="0"/>
                    <a:t>, </a:t>
                  </a:r>
                  <a:r>
                    <a:rPr lang="en-US" altLang="zh-CN" sz="2400" dirty="0"/>
                    <a:t>then</a:t>
                  </a:r>
                  <a:r>
                    <a:rPr lang="en-US" altLang="zh-CN" sz="2400" b="1" dirty="0"/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 i="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US" altLang="zh-CN" sz="2400" b="1" dirty="0"/>
                    <a:t> </a:t>
                  </a:r>
                  <a:r>
                    <a:rPr lang="en-US" altLang="zh-CN" sz="2400" dirty="0"/>
                    <a:t>(This is not the optimal solution for the primal optimization problem)</a:t>
                  </a:r>
                </a:p>
                <a:p>
                  <a:endParaRPr lang="en-US" altLang="zh-CN" sz="24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BF1E5DC-9E78-4D8E-BD5D-25F7080AB5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074" y="2771580"/>
                  <a:ext cx="8610600" cy="1200329"/>
                </a:xfrm>
                <a:prstGeom prst="rect">
                  <a:avLst/>
                </a:prstGeom>
                <a:blipFill>
                  <a:blip r:embed="rId5"/>
                  <a:stretch>
                    <a:fillRect l="-920" t="-4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8E595450-CBF2-427D-BED3-5D67E9CA94EB}"/>
                    </a:ext>
                  </a:extLst>
                </p:cNvPr>
                <p:cNvSpPr/>
                <p:nvPr/>
              </p:nvSpPr>
              <p:spPr>
                <a:xfrm>
                  <a:off x="2895600" y="4526112"/>
                  <a:ext cx="3878882" cy="4056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i="1" dirty="0"/>
                    <a:t>s.t.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000" i="1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8E595450-CBF2-427D-BED3-5D67E9CA94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600" y="4526112"/>
                  <a:ext cx="3878882" cy="405624"/>
                </a:xfrm>
                <a:prstGeom prst="rect">
                  <a:avLst/>
                </a:prstGeom>
                <a:blipFill>
                  <a:blip r:embed="rId6"/>
                  <a:stretch>
                    <a:fillRect l="-1572" t="-5970" b="-253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932A4B1D-1B90-41A1-A0F8-67C81D6BB053}"/>
                    </a:ext>
                  </a:extLst>
                </p:cNvPr>
                <p:cNvSpPr/>
                <p:nvPr/>
              </p:nvSpPr>
              <p:spPr>
                <a:xfrm>
                  <a:off x="2895600" y="3765365"/>
                  <a:ext cx="2557303" cy="6685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zh-CN" altLang="en-US" sz="2000" b="1" i="1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932A4B1D-1B90-41A1-A0F8-67C81D6BB0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600" y="3765365"/>
                  <a:ext cx="2557303" cy="6685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2092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B7756-6C8F-4662-8429-A52379D678B3}"/>
              </a:ext>
            </a:extLst>
          </p:cNvPr>
          <p:cNvSpPr/>
          <p:nvPr/>
        </p:nvSpPr>
        <p:spPr>
          <a:xfrm>
            <a:off x="304799" y="3304498"/>
            <a:ext cx="3886201" cy="2576103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D57E19E-4591-4753-A322-34ADF2FF59D3}"/>
              </a:ext>
            </a:extLst>
          </p:cNvPr>
          <p:cNvSpPr/>
          <p:nvPr/>
        </p:nvSpPr>
        <p:spPr>
          <a:xfrm>
            <a:off x="304799" y="977399"/>
            <a:ext cx="8382001" cy="201763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534370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Characteristics of The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304799" y="1066800"/>
                <a:ext cx="86106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Many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’s are zero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(why?)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zh-CN" sz="2400" dirty="0"/>
                  <a:t> is a linear combination of a small number of data points.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lvl="1"/>
                <a:endParaRPr lang="en-US" altLang="zh-CN" sz="2400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1066800"/>
                <a:ext cx="8610600" cy="1569660"/>
              </a:xfrm>
              <a:prstGeom prst="rect">
                <a:avLst/>
              </a:prstGeom>
              <a:blipFill>
                <a:blip r:embed="rId3"/>
                <a:stretch>
                  <a:fillRect l="-921" t="-3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2946195" y="1949946"/>
                <a:ext cx="3416833" cy="9330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𝒮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195" y="1949946"/>
                <a:ext cx="3416833" cy="9330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124200"/>
            <a:ext cx="4630192" cy="3417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04799" y="3505200"/>
                <a:ext cx="528279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Support vectors (SV):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with a non-zero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505200"/>
                <a:ext cx="5282793" cy="830997"/>
              </a:xfrm>
              <a:prstGeom prst="rect">
                <a:avLst/>
              </a:prstGeom>
              <a:blipFill>
                <a:blip r:embed="rId6"/>
                <a:stretch>
                  <a:fillRect l="-1499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-152400" y="480060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decision boundary is determined only by the SV.</a:t>
            </a:r>
          </a:p>
        </p:txBody>
      </p:sp>
    </p:spTree>
    <p:extLst>
      <p:ext uri="{BB962C8B-B14F-4D97-AF65-F5344CB8AC3E}">
        <p14:creationId xmlns:p14="http://schemas.microsoft.com/office/powerpoint/2010/main" val="7423037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D57E19E-4591-4753-A322-34ADF2FF59D3}"/>
              </a:ext>
            </a:extLst>
          </p:cNvPr>
          <p:cNvSpPr/>
          <p:nvPr/>
        </p:nvSpPr>
        <p:spPr>
          <a:xfrm>
            <a:off x="380999" y="2362201"/>
            <a:ext cx="8382001" cy="114300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1963999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Test Phase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80999" y="2451601"/>
            <a:ext cx="8382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Once we have trained a Support Vector Machine, how can we use it? </a:t>
            </a:r>
          </a:p>
        </p:txBody>
      </p:sp>
    </p:spTree>
    <p:extLst>
      <p:ext uri="{BB962C8B-B14F-4D97-AF65-F5344CB8AC3E}">
        <p14:creationId xmlns:p14="http://schemas.microsoft.com/office/powerpoint/2010/main" val="26664601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D57E19E-4591-4753-A322-34ADF2FF59D3}"/>
              </a:ext>
            </a:extLst>
          </p:cNvPr>
          <p:cNvSpPr/>
          <p:nvPr/>
        </p:nvSpPr>
        <p:spPr>
          <a:xfrm>
            <a:off x="304799" y="977399"/>
            <a:ext cx="8382001" cy="146100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1963999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Test Phase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304799" y="1066800"/>
                <a:ext cx="8610600" cy="1206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simply determine on which side of the decision boundary  a given test sample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lies and assign the corresponding class label.</a:t>
                </a:r>
                <a:br>
                  <a:rPr lang="en-US" sz="2400" dirty="0"/>
                </a:br>
                <a:r>
                  <a:rPr lang="en-US" sz="2400" dirty="0"/>
                  <a:t>i.e. we take the class of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to be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𝑔𝑛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1066800"/>
                <a:ext cx="8610600" cy="1206869"/>
              </a:xfrm>
              <a:prstGeom prst="rect">
                <a:avLst/>
              </a:prstGeom>
              <a:blipFill>
                <a:blip r:embed="rId3"/>
                <a:stretch>
                  <a:fillRect l="-921" t="-4040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4B08B754-A344-4CE2-93F9-87D56D36434C}"/>
              </a:ext>
            </a:extLst>
          </p:cNvPr>
          <p:cNvGrpSpPr/>
          <p:nvPr/>
        </p:nvGrpSpPr>
        <p:grpSpPr>
          <a:xfrm>
            <a:off x="2354315" y="3429000"/>
            <a:ext cx="4511567" cy="3254502"/>
            <a:chOff x="304800" y="4080936"/>
            <a:chExt cx="3758274" cy="2507982"/>
          </a:xfrm>
        </p:grpSpPr>
        <p:pic>
          <p:nvPicPr>
            <p:cNvPr id="8" name="图片 7" descr="屏幕剪辑">
              <a:extLst>
                <a:ext uri="{FF2B5EF4-FFF2-40B4-BE49-F238E27FC236}">
                  <a16:creationId xmlns:a16="http://schemas.microsoft.com/office/drawing/2014/main" id="{8237A90A-F113-4118-BDF2-C71D1BA089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2" t="1399" r="1162" b="-1399"/>
            <a:stretch/>
          </p:blipFill>
          <p:spPr>
            <a:xfrm>
              <a:off x="304800" y="4080936"/>
              <a:ext cx="3758274" cy="2507982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079B795-D0E8-4DF7-8BEE-5F511AEF2B89}"/>
                </a:ext>
              </a:extLst>
            </p:cNvPr>
            <p:cNvSpPr/>
            <p:nvPr/>
          </p:nvSpPr>
          <p:spPr>
            <a:xfrm>
              <a:off x="2362200" y="4080936"/>
              <a:ext cx="1700874" cy="7958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cv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656037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2864630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SVM Algorithm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BE16DF-4967-4CA6-B5E4-78F94BD01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984266"/>
            <a:ext cx="6752616" cy="5334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6AE7E9-1C12-4A79-AA90-22688D2B8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508468"/>
            <a:ext cx="4095796" cy="1365266"/>
          </a:xfrm>
          <a:prstGeom prst="rect">
            <a:avLst/>
          </a:prstGeom>
        </p:spPr>
      </p:pic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A33B708E-69EC-461F-8555-016AE155D907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419600" y="5873734"/>
            <a:ext cx="2505098" cy="22226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4497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33E227D-DFF9-4F59-8239-501371E9284A}"/>
              </a:ext>
            </a:extLst>
          </p:cNvPr>
          <p:cNvSpPr/>
          <p:nvPr/>
        </p:nvSpPr>
        <p:spPr>
          <a:xfrm>
            <a:off x="304799" y="977399"/>
            <a:ext cx="8382001" cy="237241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749993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Regularization and The Non-separable Case</a:t>
            </a:r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53"/>
          <a:stretch/>
        </p:blipFill>
        <p:spPr>
          <a:xfrm>
            <a:off x="264917" y="3701086"/>
            <a:ext cx="2439926" cy="223209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04800" y="1047357"/>
            <a:ext cx="838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In some cases </a:t>
            </a:r>
            <a:r>
              <a:rPr lang="en-US" altLang="zh-CN" sz="2400" dirty="0">
                <a:solidFill>
                  <a:srgbClr val="FF0000"/>
                </a:solidFill>
              </a:rPr>
              <a:t>(due to the outliers)</a:t>
            </a:r>
            <a:r>
              <a:rPr lang="en-US" altLang="zh-CN" sz="2400" dirty="0"/>
              <a:t>, it is not clear that finding a separating hyperplane is exactly what we’d want to 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Figure (a) shows an optimal margin classifier, and when a single outlier is added in the upper-left region (F</a:t>
            </a:r>
            <a:r>
              <a:rPr lang="en-US" altLang="zh-CN" sz="2400" dirty="0"/>
              <a:t>i</a:t>
            </a:r>
            <a:r>
              <a:rPr lang="en-US" sz="2400" dirty="0"/>
              <a:t>gure b), it causes the decision boundary to make a dramatic swing, and the resulting classifier has a much smaller margin </a:t>
            </a:r>
            <a:r>
              <a:rPr lang="en-US" sz="2400" dirty="0">
                <a:solidFill>
                  <a:srgbClr val="FF0000"/>
                </a:solidFill>
              </a:rPr>
              <a:t>(sensitive to outliers)</a:t>
            </a:r>
            <a:r>
              <a:rPr lang="en-US" sz="2400" dirty="0"/>
              <a:t>. </a:t>
            </a:r>
            <a:endParaRPr lang="zh-CN" altLang="en-US" sz="2400" dirty="0"/>
          </a:p>
        </p:txBody>
      </p:sp>
      <p:pic>
        <p:nvPicPr>
          <p:cNvPr id="15" name="图片 14" descr="屏幕剪辑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15"/>
          <a:stretch/>
        </p:blipFill>
        <p:spPr>
          <a:xfrm>
            <a:off x="3335059" y="3701086"/>
            <a:ext cx="2473882" cy="223209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76053" y="5874603"/>
            <a:ext cx="24681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(a) Linearly separable</a:t>
            </a:r>
            <a:endParaRPr lang="zh-CN" altLang="en-US" sz="2000" b="1" dirty="0"/>
          </a:p>
        </p:txBody>
      </p:sp>
      <p:sp>
        <p:nvSpPr>
          <p:cNvPr id="16" name="矩形 15"/>
          <p:cNvSpPr/>
          <p:nvPr/>
        </p:nvSpPr>
        <p:spPr>
          <a:xfrm>
            <a:off x="3195433" y="5874603"/>
            <a:ext cx="2646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/>
              <a:t>(b) Linearly separable with outliers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117178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701D9D9-0E61-4E6E-A392-4B13CD007348}"/>
              </a:ext>
            </a:extLst>
          </p:cNvPr>
          <p:cNvSpPr/>
          <p:nvPr/>
        </p:nvSpPr>
        <p:spPr>
          <a:xfrm>
            <a:off x="304799" y="977399"/>
            <a:ext cx="8382001" cy="237241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749993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Regularization and The Non-separable Case</a:t>
            </a:r>
          </a:p>
        </p:txBody>
      </p:sp>
      <p:sp>
        <p:nvSpPr>
          <p:cNvPr id="6" name="矩形 5"/>
          <p:cNvSpPr/>
          <p:nvPr/>
        </p:nvSpPr>
        <p:spPr>
          <a:xfrm>
            <a:off x="304800" y="1047357"/>
            <a:ext cx="838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In some cases</a:t>
            </a:r>
            <a:r>
              <a:rPr lang="en-US" altLang="zh-CN" sz="2400" dirty="0">
                <a:solidFill>
                  <a:srgbClr val="FF0000"/>
                </a:solidFill>
              </a:rPr>
              <a:t> (due to the outliers)</a:t>
            </a:r>
            <a:r>
              <a:rPr lang="en-US" altLang="zh-CN" sz="2400" dirty="0"/>
              <a:t>, it is not clear that finding a separating hyperplane is exactly what we’d want to 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In some cases (Figure c), the data cannot be perfectly linearly separable.</a:t>
            </a:r>
            <a:endParaRPr lang="zh-CN" alt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pic>
        <p:nvPicPr>
          <p:cNvPr id="13" name="图片 12" descr="屏幕剪辑">
            <a:extLst>
              <a:ext uri="{FF2B5EF4-FFF2-40B4-BE49-F238E27FC236}">
                <a16:creationId xmlns:a16="http://schemas.microsoft.com/office/drawing/2014/main" id="{D20C2ACC-3620-463A-B58A-7FBC7CE6DD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53"/>
          <a:stretch/>
        </p:blipFill>
        <p:spPr>
          <a:xfrm>
            <a:off x="264917" y="3701086"/>
            <a:ext cx="2439926" cy="2232094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02EC155E-FD52-427C-937B-89548EBE107A}"/>
              </a:ext>
            </a:extLst>
          </p:cNvPr>
          <p:cNvGrpSpPr/>
          <p:nvPr/>
        </p:nvGrpSpPr>
        <p:grpSpPr>
          <a:xfrm>
            <a:off x="6446439" y="3701086"/>
            <a:ext cx="2431538" cy="2232094"/>
            <a:chOff x="-838200" y="2133600"/>
            <a:chExt cx="2857899" cy="2610214"/>
          </a:xfrm>
        </p:grpSpPr>
        <p:pic>
          <p:nvPicPr>
            <p:cNvPr id="18" name="图片 17" descr="屏幕剪辑">
              <a:extLst>
                <a:ext uri="{FF2B5EF4-FFF2-40B4-BE49-F238E27FC236}">
                  <a16:creationId xmlns:a16="http://schemas.microsoft.com/office/drawing/2014/main" id="{6F74863B-5BEA-4BA1-8871-B1F4AEB9C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38200" y="2133600"/>
              <a:ext cx="2857899" cy="261021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F251AC60-6D81-47D2-944B-F5C594C1FFAD}"/>
                    </a:ext>
                  </a:extLst>
                </p:cNvPr>
                <p:cNvSpPr txBox="1"/>
                <p:nvPr/>
              </p:nvSpPr>
              <p:spPr>
                <a:xfrm>
                  <a:off x="-109004" y="3382834"/>
                  <a:ext cx="13305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100" dirty="0"/>
                </a:p>
              </p:txBody>
            </p:sp>
          </mc:Choice>
          <mc:Fallback xmlns=""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9004" y="3382834"/>
                  <a:ext cx="133050" cy="16927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9048" r="-23810" b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图片 19" descr="屏幕剪辑">
            <a:extLst>
              <a:ext uri="{FF2B5EF4-FFF2-40B4-BE49-F238E27FC236}">
                <a16:creationId xmlns:a16="http://schemas.microsoft.com/office/drawing/2014/main" id="{1E2190EE-948F-47C5-BC57-0C2CFC30E4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15"/>
          <a:stretch/>
        </p:blipFill>
        <p:spPr>
          <a:xfrm>
            <a:off x="3335059" y="3701086"/>
            <a:ext cx="2473882" cy="223209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7D93384-D14D-4C9B-896F-03E5E731D7B9}"/>
              </a:ext>
            </a:extLst>
          </p:cNvPr>
          <p:cNvSpPr/>
          <p:nvPr/>
        </p:nvSpPr>
        <p:spPr>
          <a:xfrm>
            <a:off x="476053" y="5874603"/>
            <a:ext cx="24681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(a) Linearly separable</a:t>
            </a:r>
            <a:endParaRPr lang="zh-CN" altLang="en-US" sz="2000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54AA594-D91B-46FF-8887-8C020B2B49B0}"/>
              </a:ext>
            </a:extLst>
          </p:cNvPr>
          <p:cNvSpPr/>
          <p:nvPr/>
        </p:nvSpPr>
        <p:spPr>
          <a:xfrm>
            <a:off x="3195433" y="5874603"/>
            <a:ext cx="2646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/>
              <a:t>(b) Linearly separable with outliers</a:t>
            </a:r>
            <a:endParaRPr lang="zh-CN" altLang="en-US" sz="2000" b="1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E40268-2A09-4467-8DCC-24336FDC4F4B}"/>
              </a:ext>
            </a:extLst>
          </p:cNvPr>
          <p:cNvSpPr/>
          <p:nvPr/>
        </p:nvSpPr>
        <p:spPr>
          <a:xfrm>
            <a:off x="6222585" y="5874603"/>
            <a:ext cx="2924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(c) Non-linearly separable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490376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714" y="3048000"/>
            <a:ext cx="4653086" cy="3326845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2EDA2F4-A286-4C91-A827-735623290BFC}"/>
              </a:ext>
            </a:extLst>
          </p:cNvPr>
          <p:cNvSpPr/>
          <p:nvPr/>
        </p:nvSpPr>
        <p:spPr>
          <a:xfrm>
            <a:off x="304799" y="2590800"/>
            <a:ext cx="4267201" cy="3903066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11A1122-C554-439B-A8D7-DB71392C917C}"/>
              </a:ext>
            </a:extLst>
          </p:cNvPr>
          <p:cNvSpPr/>
          <p:nvPr/>
        </p:nvSpPr>
        <p:spPr>
          <a:xfrm>
            <a:off x="304799" y="977399"/>
            <a:ext cx="8534401" cy="134459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754886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Regularization and The Non-separable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04800" y="1034482"/>
                <a:ext cx="83820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dirty="0"/>
                  <a:t>To make the algorithm </a:t>
                </a:r>
                <a:r>
                  <a:rPr lang="en-US" sz="2400" dirty="0">
                    <a:solidFill>
                      <a:srgbClr val="3B3FF7"/>
                    </a:solidFill>
                  </a:rPr>
                  <a:t>work for non-linearly separable datasets as well as be less sensitive to outliers</a:t>
                </a:r>
                <a:r>
                  <a:rPr lang="en-US" altLang="zh-CN" sz="2400" dirty="0"/>
                  <a:t>, we introduce the 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positive</a:t>
                </a:r>
                <a:r>
                  <a:rPr lang="en-US" altLang="zh-CN" sz="2400" dirty="0"/>
                  <a:t> 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slack variables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in constraints (hard margin 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 soft margin</a:t>
                </a:r>
                <a:r>
                  <a:rPr lang="en-US" altLang="zh-CN" sz="2400" dirty="0"/>
                  <a:t>):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034482"/>
                <a:ext cx="8382000" cy="1200329"/>
              </a:xfrm>
              <a:prstGeom prst="rect">
                <a:avLst/>
              </a:prstGeom>
              <a:blipFill>
                <a:blip r:embed="rId4"/>
                <a:stretch>
                  <a:fillRect l="-1091" t="-4061" r="-1091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69833" y="2683866"/>
                <a:ext cx="2685672" cy="1232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33" y="2683866"/>
                <a:ext cx="2685672" cy="12320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269313" y="2799074"/>
                <a:ext cx="9391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13" y="2799074"/>
                <a:ext cx="939168" cy="400110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3269313" y="3098948"/>
                <a:ext cx="113152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13" y="3098948"/>
                <a:ext cx="1131528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3269313" y="3468280"/>
                <a:ext cx="5502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13" y="3468280"/>
                <a:ext cx="55027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304800" y="4077020"/>
                <a:ext cx="4267200" cy="27504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/>
                  <a:t>: no error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0000"/>
                    </a:solidFill>
                  </a:rPr>
                  <a:t>For an error to occur, the corresponding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must exceed 1,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is an upper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bound on the number of training errors.</a:t>
                </a:r>
                <a:endParaRPr lang="en-US" sz="24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077020"/>
                <a:ext cx="4267200" cy="2750497"/>
              </a:xfrm>
              <a:prstGeom prst="rect">
                <a:avLst/>
              </a:prstGeom>
              <a:blipFill>
                <a:blip r:embed="rId9"/>
                <a:stretch>
                  <a:fillRect l="-1857" t="-1774" r="-2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4384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2EDA2F4-A286-4C91-A827-735623290BFC}"/>
              </a:ext>
            </a:extLst>
          </p:cNvPr>
          <p:cNvSpPr/>
          <p:nvPr/>
        </p:nvSpPr>
        <p:spPr>
          <a:xfrm>
            <a:off x="304799" y="2590800"/>
            <a:ext cx="8534401" cy="134459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11A1122-C554-439B-A8D7-DB71392C917C}"/>
              </a:ext>
            </a:extLst>
          </p:cNvPr>
          <p:cNvSpPr/>
          <p:nvPr/>
        </p:nvSpPr>
        <p:spPr>
          <a:xfrm>
            <a:off x="304799" y="977399"/>
            <a:ext cx="8534401" cy="134459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754886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Regularization and The Non-separable Case</a:t>
            </a:r>
          </a:p>
        </p:txBody>
      </p:sp>
      <p:sp>
        <p:nvSpPr>
          <p:cNvPr id="4" name="矩形 3"/>
          <p:cNvSpPr/>
          <p:nvPr/>
        </p:nvSpPr>
        <p:spPr>
          <a:xfrm>
            <a:off x="304800" y="1034482"/>
            <a:ext cx="838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A natural way to assign an extra cost for errors as follow, 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326531" y="2684170"/>
                <a:ext cx="836026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/>
                  <a:t> is a parameter to be chosen by the user, a larger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/>
                  <a:t> refers to assigning a higher penalty to errors.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For simplicity, we set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/>
                  <a:t>.</a:t>
                </a: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31" y="2684170"/>
                <a:ext cx="8360269" cy="1200329"/>
              </a:xfrm>
              <a:prstGeom prst="rect">
                <a:avLst/>
              </a:prstGeom>
              <a:blipFill>
                <a:blip r:embed="rId3"/>
                <a:stretch>
                  <a:fillRect l="-1021" t="-4061" r="-1094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0011BA1-30D2-4618-9FCC-07CD10B73C4D}"/>
                  </a:ext>
                </a:extLst>
              </p:cNvPr>
              <p:cNvSpPr/>
              <p:nvPr/>
            </p:nvSpPr>
            <p:spPr>
              <a:xfrm>
                <a:off x="3019469" y="1451126"/>
                <a:ext cx="2762744" cy="8893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0011BA1-30D2-4618-9FCC-07CD10B73C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69" y="1451126"/>
                <a:ext cx="2762744" cy="8893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1F6DAFE7-59AB-4F61-A774-FDB9BA6E4BC3}"/>
              </a:ext>
            </a:extLst>
          </p:cNvPr>
          <p:cNvGrpSpPr/>
          <p:nvPr/>
        </p:nvGrpSpPr>
        <p:grpSpPr>
          <a:xfrm>
            <a:off x="313962" y="4173304"/>
            <a:ext cx="8534401" cy="2379896"/>
            <a:chOff x="313962" y="4173304"/>
            <a:chExt cx="8534401" cy="237989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60CDBC1-DE4A-48D9-933C-97F6FF0A6926}"/>
                </a:ext>
              </a:extLst>
            </p:cNvPr>
            <p:cNvSpPr/>
            <p:nvPr/>
          </p:nvSpPr>
          <p:spPr>
            <a:xfrm>
              <a:off x="313962" y="4173304"/>
              <a:ext cx="8534401" cy="2379896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B946F4D8-627D-435D-B0C5-C9391FF510A5}"/>
                    </a:ext>
                  </a:extLst>
                </p:cNvPr>
                <p:cNvSpPr/>
                <p:nvPr/>
              </p:nvSpPr>
              <p:spPr>
                <a:xfrm>
                  <a:off x="390163" y="4180917"/>
                  <a:ext cx="8382000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42900" indent="-342900" algn="just">
                    <a:buFont typeface="Arial" panose="020B0604020202020204" pitchFamily="34" charset="0"/>
                    <a:buChar char="•"/>
                  </a:pPr>
                  <a:r>
                    <a:rPr lang="en-US" altLang="zh-CN" sz="2400" dirty="0"/>
                    <a:t>We reformulate our optimization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 regularization) as follows,</a:t>
                  </a:r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B946F4D8-627D-435D-B0C5-C9391FF510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163" y="4180917"/>
                  <a:ext cx="838200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945" t="-10526" b="-2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C61222A4-E268-46D9-B621-49322222D0D6}"/>
                    </a:ext>
                  </a:extLst>
                </p:cNvPr>
                <p:cNvSpPr/>
                <p:nvPr/>
              </p:nvSpPr>
              <p:spPr>
                <a:xfrm>
                  <a:off x="2390500" y="5572242"/>
                  <a:ext cx="4396653" cy="4056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i="1" dirty="0"/>
                    <a:t>s.t.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000" i="1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C61222A4-E268-46D9-B621-49322222D0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0500" y="5572242"/>
                  <a:ext cx="4396653" cy="405624"/>
                </a:xfrm>
                <a:prstGeom prst="rect">
                  <a:avLst/>
                </a:prstGeom>
                <a:blipFill>
                  <a:blip r:embed="rId6"/>
                  <a:stretch>
                    <a:fillRect l="-1387" t="-5970" b="-253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608C0DFD-5333-4112-BD62-F2DE99F95C62}"/>
                    </a:ext>
                  </a:extLst>
                </p:cNvPr>
                <p:cNvSpPr/>
                <p:nvPr/>
              </p:nvSpPr>
              <p:spPr>
                <a:xfrm>
                  <a:off x="2388354" y="4643704"/>
                  <a:ext cx="2605009" cy="9326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func>
                        <m:nary>
                          <m:naryPr>
                            <m:chr m:val="∑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000" b="1" i="1" dirty="0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608C0DFD-5333-4112-BD62-F2DE99F95C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8354" y="4643704"/>
                  <a:ext cx="2605009" cy="93262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29B24E4A-045E-498A-A9C2-14FD331C0001}"/>
                    </a:ext>
                  </a:extLst>
                </p:cNvPr>
                <p:cNvSpPr/>
                <p:nvPr/>
              </p:nvSpPr>
              <p:spPr>
                <a:xfrm>
                  <a:off x="2752363" y="5996194"/>
                  <a:ext cx="235449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29B24E4A-045E-498A-A9C2-14FD331C00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363" y="5996194"/>
                  <a:ext cx="2354491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3992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D21A02A5-1757-45D3-9C3F-F7BA9B3B1B72}"/>
              </a:ext>
            </a:extLst>
          </p:cNvPr>
          <p:cNvSpPr/>
          <p:nvPr/>
        </p:nvSpPr>
        <p:spPr>
          <a:xfrm>
            <a:off x="304799" y="3429000"/>
            <a:ext cx="8534401" cy="2895600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905924E-0500-47C6-82E7-015733F9ADC7}"/>
              </a:ext>
            </a:extLst>
          </p:cNvPr>
          <p:cNvSpPr/>
          <p:nvPr/>
        </p:nvSpPr>
        <p:spPr>
          <a:xfrm>
            <a:off x="304799" y="977400"/>
            <a:ext cx="8534401" cy="222300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754886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Regularization and The Non-separable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381337" y="2057400"/>
                <a:ext cx="4396653" cy="405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i="1" dirty="0"/>
                  <a:t>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337" y="2057400"/>
                <a:ext cx="4396653" cy="405624"/>
              </a:xfrm>
              <a:prstGeom prst="rect">
                <a:avLst/>
              </a:prstGeom>
              <a:blipFill>
                <a:blip r:embed="rId3"/>
                <a:stretch>
                  <a:fillRect l="-152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384479" y="1059494"/>
                <a:ext cx="2605009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b="1" i="1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479" y="1059494"/>
                <a:ext cx="2605009" cy="9326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743200" y="2571690"/>
                <a:ext cx="235449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2571690"/>
                <a:ext cx="2354491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55249" y="3505200"/>
                <a:ext cx="8255351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Examples are permitted to have margin less than 1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If an example has margin 1 −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(with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&gt; 0), we pay a cost of the objective function being increased by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controls the relative weighting between the two goals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Making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 small (makes the margin large);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Ensuring that most examples have margin at least 1.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49" y="3505200"/>
                <a:ext cx="8255351" cy="2677656"/>
              </a:xfrm>
              <a:prstGeom prst="rect">
                <a:avLst/>
              </a:prstGeom>
              <a:blipFill>
                <a:blip r:embed="rId6"/>
                <a:stretch>
                  <a:fillRect l="-959" t="-1822" r="-74" b="-4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5883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5FC44AE-B6A7-4A44-BF6A-5C259FBB9735}"/>
              </a:ext>
            </a:extLst>
          </p:cNvPr>
          <p:cNvSpPr/>
          <p:nvPr/>
        </p:nvSpPr>
        <p:spPr>
          <a:xfrm>
            <a:off x="304802" y="977400"/>
            <a:ext cx="8534401" cy="181026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754886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Regularization and The Non-separable Case</a:t>
            </a:r>
          </a:p>
        </p:txBody>
      </p:sp>
      <p:sp>
        <p:nvSpPr>
          <p:cNvPr id="4" name="矩形 3"/>
          <p:cNvSpPr/>
          <p:nvPr/>
        </p:nvSpPr>
        <p:spPr>
          <a:xfrm>
            <a:off x="304800" y="985013"/>
            <a:ext cx="838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As before, we can form the </a:t>
            </a:r>
            <a:r>
              <a:rPr lang="en-US" altLang="zh-CN" sz="2400" dirty="0" err="1"/>
              <a:t>Lagrangian</a:t>
            </a:r>
            <a:r>
              <a:rPr lang="en-US" altLang="zh-CN" sz="2400" dirty="0"/>
              <a:t>, 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22677" y="1515682"/>
                <a:ext cx="7823617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7" y="1515682"/>
                <a:ext cx="7823617" cy="848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22677" y="2344114"/>
                <a:ext cx="849915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</a:rPr>
                  <a:t>’s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</a:rPr>
                  <a:t>’s are our Lagrange multipliers (constrained to be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 0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</a:rPr>
                  <a:t>)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7" y="2344114"/>
                <a:ext cx="8499150" cy="400110"/>
              </a:xfrm>
              <a:prstGeom prst="rect">
                <a:avLst/>
              </a:prstGeom>
              <a:blipFill>
                <a:blip r:embed="rId4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65878D1B-F0FC-479D-B458-10535807C0B5}"/>
              </a:ext>
            </a:extLst>
          </p:cNvPr>
          <p:cNvGrpSpPr/>
          <p:nvPr/>
        </p:nvGrpSpPr>
        <p:grpSpPr>
          <a:xfrm>
            <a:off x="304800" y="4648392"/>
            <a:ext cx="8534401" cy="1924880"/>
            <a:chOff x="304800" y="4648392"/>
            <a:chExt cx="8534401" cy="1924880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1C17BBD-B43E-4F77-97B8-5846D60E6A54}"/>
                </a:ext>
              </a:extLst>
            </p:cNvPr>
            <p:cNvSpPr/>
            <p:nvPr/>
          </p:nvSpPr>
          <p:spPr>
            <a:xfrm>
              <a:off x="304800" y="4672195"/>
              <a:ext cx="8534401" cy="1901077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/>
                <p:cNvSpPr/>
                <p:nvPr/>
              </p:nvSpPr>
              <p:spPr>
                <a:xfrm>
                  <a:off x="2260886" y="5029200"/>
                  <a:ext cx="4622227" cy="5567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</m:e>
                      </m:func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a14:m>
                  <a:r>
                    <a:rPr lang="zh-CN" altLang="en-US" sz="2000" b="1" i="1" dirty="0"/>
                    <a:t> </a:t>
                  </a:r>
                </a:p>
              </p:txBody>
            </p:sp>
          </mc:Choice>
          <mc:Fallback xmlns=""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86" y="5029200"/>
                  <a:ext cx="4622227" cy="556755"/>
                </a:xfrm>
                <a:prstGeom prst="rect">
                  <a:avLst/>
                </a:prstGeom>
                <a:blipFill>
                  <a:blip r:embed="rId5"/>
                  <a:stretch>
                    <a:fillRect t="-76923" b="-1164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/>
                <p:cNvSpPr/>
                <p:nvPr/>
              </p:nvSpPr>
              <p:spPr>
                <a:xfrm>
                  <a:off x="2301247" y="5602806"/>
                  <a:ext cx="3032753" cy="707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b="0" i="1" dirty="0"/>
                    <a:t>s.t.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en-US" altLang="zh-CN" sz="2000" b="1" i="1" dirty="0"/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zh-CN" altLang="en-US" sz="2000" i="1" dirty="0"/>
                </a:p>
                <a:p>
                  <a:r>
                    <a:rPr lang="en-US" altLang="zh-CN" sz="2000" b="1" i="1" dirty="0"/>
                    <a:t> </a:t>
                  </a:r>
                  <a:endParaRPr lang="zh-CN" altLang="en-US" sz="2000" b="1" i="1" dirty="0"/>
                </a:p>
              </p:txBody>
            </p:sp>
          </mc:Choice>
          <mc:Fallback xmlns="">
            <p:sp>
              <p:nvSpPr>
                <p:cNvPr id="15" name="矩形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1247" y="5602806"/>
                  <a:ext cx="3032753" cy="707886"/>
                </a:xfrm>
                <a:prstGeom prst="rect">
                  <a:avLst/>
                </a:prstGeom>
                <a:blipFill>
                  <a:blip r:embed="rId6"/>
                  <a:stretch>
                    <a:fillRect l="-2213" t="-43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/>
                <p:cNvSpPr/>
                <p:nvPr/>
              </p:nvSpPr>
              <p:spPr>
                <a:xfrm>
                  <a:off x="2854286" y="6060006"/>
                  <a:ext cx="1717714" cy="40107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sz="2000" i="1" dirty="0"/>
                    <a:t> </a:t>
                  </a:r>
                </a:p>
              </p:txBody>
            </p:sp>
          </mc:Choice>
          <mc:Fallback xmlns="">
            <p:sp>
              <p:nvSpPr>
                <p:cNvPr id="16" name="矩形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4286" y="6060006"/>
                  <a:ext cx="1717714" cy="401072"/>
                </a:xfrm>
                <a:prstGeom prst="rect">
                  <a:avLst/>
                </a:prstGeom>
                <a:blipFill>
                  <a:blip r:embed="rId7"/>
                  <a:stretch>
                    <a:fillRect l="-21631" t="-122727" b="-18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E7A300D-7B81-4B4A-B9FB-0074325D420C}"/>
                </a:ext>
              </a:extLst>
            </p:cNvPr>
            <p:cNvSpPr/>
            <p:nvPr/>
          </p:nvSpPr>
          <p:spPr>
            <a:xfrm>
              <a:off x="304800" y="4648392"/>
              <a:ext cx="83820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400" dirty="0"/>
                <a:t>Then the dual problem,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CF8F61F0-88EC-4CE7-82C0-825DC07EC24C}"/>
                    </a:ext>
                  </a:extLst>
                </p:cNvPr>
                <p:cNvSpPr/>
                <p:nvPr/>
              </p:nvSpPr>
              <p:spPr>
                <a:xfrm>
                  <a:off x="5715000" y="5562600"/>
                  <a:ext cx="3065695" cy="923330"/>
                </a:xfrm>
                <a:prstGeom prst="rect">
                  <a:avLst/>
                </a:prstGeom>
                <a:ln w="28575">
                  <a:solidFill>
                    <a:srgbClr val="FF000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just"/>
                  <a:r>
                    <a:rPr lang="en-US" altLang="zh-CN" dirty="0"/>
                    <a:t>Similar to the linear separable case, except that there is an upper bound 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dirty="0"/>
                    <a:t>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CF8F61F0-88EC-4CE7-82C0-825DC07EC2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5562600"/>
                  <a:ext cx="3065695" cy="923330"/>
                </a:xfrm>
                <a:prstGeom prst="rect">
                  <a:avLst/>
                </a:prstGeom>
                <a:blipFill>
                  <a:blip r:embed="rId8"/>
                  <a:stretch>
                    <a:fillRect l="-1381" t="-2564" r="-1183" b="-7051"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FFC38A1-831C-411F-9C79-8D21A42D3B6F}"/>
              </a:ext>
            </a:extLst>
          </p:cNvPr>
          <p:cNvGrpSpPr/>
          <p:nvPr/>
        </p:nvGrpSpPr>
        <p:grpSpPr>
          <a:xfrm>
            <a:off x="304800" y="2971800"/>
            <a:ext cx="8594978" cy="1500895"/>
            <a:chOff x="304800" y="2971800"/>
            <a:chExt cx="8594978" cy="1500895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A4E21B3-4D63-459B-862B-3088661ED935}"/>
                </a:ext>
              </a:extLst>
            </p:cNvPr>
            <p:cNvSpPr/>
            <p:nvPr/>
          </p:nvSpPr>
          <p:spPr>
            <a:xfrm>
              <a:off x="304801" y="2971800"/>
              <a:ext cx="8534401" cy="1500895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/>
                <p:cNvSpPr/>
                <p:nvPr/>
              </p:nvSpPr>
              <p:spPr>
                <a:xfrm>
                  <a:off x="304800" y="3045805"/>
                  <a:ext cx="8594978" cy="120032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altLang="zh-CN" sz="2400" dirty="0"/>
                    <a:t>Setting the derivatives with respect to </a:t>
                  </a:r>
                  <a14:m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altLang="zh-CN" sz="2400" dirty="0"/>
                    <a:t>,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 to zero;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altLang="zh-CN" sz="2400" dirty="0"/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altLang="zh-CN" sz="2400" dirty="0"/>
                </a:p>
              </p:txBody>
            </p:sp>
          </mc:Choice>
          <mc:Fallback xmlns=""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" y="3045805"/>
                  <a:ext cx="8594978" cy="1200329"/>
                </a:xfrm>
                <a:prstGeom prst="rect">
                  <a:avLst/>
                </a:prstGeom>
                <a:blipFill>
                  <a:blip r:embed="rId9"/>
                  <a:stretch>
                    <a:fillRect l="-922" t="-4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/>
                <p:cNvSpPr/>
                <p:nvPr/>
              </p:nvSpPr>
              <p:spPr>
                <a:xfrm>
                  <a:off x="643036" y="3433020"/>
                  <a:ext cx="3316421" cy="93301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𝒮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036" y="3433020"/>
                  <a:ext cx="3316421" cy="93301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/>
                <p:cNvSpPr/>
                <p:nvPr/>
              </p:nvSpPr>
              <p:spPr>
                <a:xfrm>
                  <a:off x="4186311" y="3451756"/>
                  <a:ext cx="1558632" cy="9326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nary>
                          <m:naryPr>
                            <m:chr m:val="∑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13" name="矩形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6311" y="3451756"/>
                  <a:ext cx="1558632" cy="93262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1680E982-3CAC-492E-BAFB-142916FFDB72}"/>
                    </a:ext>
                  </a:extLst>
                </p:cNvPr>
                <p:cNvSpPr/>
                <p:nvPr/>
              </p:nvSpPr>
              <p:spPr>
                <a:xfrm>
                  <a:off x="6112000" y="3722247"/>
                  <a:ext cx="19093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1680E982-3CAC-492E-BAFB-142916FFDB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2000" y="3722247"/>
                  <a:ext cx="190930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1322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D1E1D1-764C-418E-A4D1-B17D58F58F02}"/>
              </a:ext>
            </a:extLst>
          </p:cNvPr>
          <p:cNvSpPr/>
          <p:nvPr/>
        </p:nvSpPr>
        <p:spPr>
          <a:xfrm>
            <a:off x="299285" y="1024563"/>
            <a:ext cx="8643389" cy="248349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581127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Sequential Minimal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D4D37B5-D63B-4386-8C21-415FCBB68F51}"/>
                  </a:ext>
                </a:extLst>
              </p:cNvPr>
              <p:cNvSpPr/>
              <p:nvPr/>
            </p:nvSpPr>
            <p:spPr>
              <a:xfrm>
                <a:off x="381000" y="1143000"/>
                <a:ext cx="8561674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Now, we know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/>
                  <a:t> must lie within the box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]×[0,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400" dirty="0"/>
                  <a:t> shown. Also plotted is the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US" altLang="zh-CN" sz="2400" dirty="0"/>
                  <a:t>, on which we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/>
                  <a:t>  must lie. </a:t>
                </a:r>
              </a:p>
              <a:p>
                <a:pPr algn="just"/>
                <a:r>
                  <a:rPr lang="en-US" altLang="zh-CN" sz="2400" dirty="0"/>
                  <a:t>Note, from these constraints, we know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sz="2400" dirty="0"/>
                  <a:t>; otherwise,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can’t simultaneously satisfy both the box and the straight line constraint. In this example,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altLang="zh-CN" sz="2400" dirty="0"/>
                  <a:t>. 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D4D37B5-D63B-4386-8C21-415FCBB68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561674" cy="2308324"/>
              </a:xfrm>
              <a:prstGeom prst="rect">
                <a:avLst/>
              </a:prstGeom>
              <a:blipFill>
                <a:blip r:embed="rId3"/>
                <a:stretch>
                  <a:fillRect l="-1140" t="-2116" r="-1068" b="-5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屏幕剪辑">
            <a:extLst>
              <a:ext uri="{FF2B5EF4-FFF2-40B4-BE49-F238E27FC236}">
                <a16:creationId xmlns:a16="http://schemas.microsoft.com/office/drawing/2014/main" id="{AA06BCF6-6B5A-456A-92FD-33CAEEDEEA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604724"/>
            <a:ext cx="3744992" cy="321286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C03D546-B2F8-42BD-891E-4CECCD752E9F}"/>
              </a:ext>
            </a:extLst>
          </p:cNvPr>
          <p:cNvSpPr/>
          <p:nvPr/>
        </p:nvSpPr>
        <p:spPr>
          <a:xfrm>
            <a:off x="6248400" y="365180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序列最小最优化</a:t>
            </a:r>
          </a:p>
        </p:txBody>
      </p:sp>
    </p:spTree>
    <p:extLst>
      <p:ext uri="{BB962C8B-B14F-4D97-AF65-F5344CB8AC3E}">
        <p14:creationId xmlns:p14="http://schemas.microsoft.com/office/powerpoint/2010/main" val="12376146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17D49F4-F282-4772-AA4D-53BAD831C716}"/>
              </a:ext>
            </a:extLst>
          </p:cNvPr>
          <p:cNvSpPr/>
          <p:nvPr/>
        </p:nvSpPr>
        <p:spPr>
          <a:xfrm>
            <a:off x="299285" y="1024564"/>
            <a:ext cx="8643389" cy="2404436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515121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Deriving The Efficient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304799" y="1088454"/>
                <a:ext cx="8839200" cy="1278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If we ignore the box constraint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/>
                  <a:t> then we can easily  maximize the quadratic function. 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unclipped</m:t>
                        </m:r>
                      </m:sup>
                    </m:sSubSup>
                  </m:oMath>
                </a14:m>
                <a:r>
                  <a:rPr lang="en-US" altLang="zh-CN" sz="2400" dirty="0"/>
                  <a:t> denote the resulting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1088454"/>
                <a:ext cx="8839200" cy="1278683"/>
              </a:xfrm>
              <a:prstGeom prst="rect">
                <a:avLst/>
              </a:prstGeom>
              <a:blipFill rotWithShape="0">
                <a:blip r:embed="rId3"/>
                <a:stretch>
                  <a:fillRect l="-897" t="-3828" b="-1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304800" y="2584181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Then we have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541630" y="2264945"/>
                <a:ext cx="2819811" cy="1074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𝑛𝑒𝑤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𝑢𝑛𝑐𝑙𝑖𝑝𝑝𝑒𝑑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i="1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630" y="2264945"/>
                <a:ext cx="2819811" cy="10749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5513430" y="2209800"/>
                <a:ext cx="2439835" cy="4653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i="1" dirty="0"/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𝑛𝑒𝑤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𝑢𝑛𝑐𝑙𝑖𝑝𝑝𝑒𝑑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altLang="zh-CN" sz="2000" i="1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430" y="2209800"/>
                <a:ext cx="2439835" cy="465320"/>
              </a:xfrm>
              <a:prstGeom prst="rect">
                <a:avLst/>
              </a:prstGeom>
              <a:blipFill>
                <a:blip r:embed="rId5"/>
                <a:stretch>
                  <a:fillRect l="-2494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510719" y="2528162"/>
                <a:ext cx="2916183" cy="4653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i="1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𝑛𝑒𝑤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𝑢𝑛𝑐𝑙𝑖𝑝𝑝𝑒𝑑</m:t>
                        </m:r>
                      </m:sup>
                    </m:sSub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altLang="zh-CN" sz="2000" i="1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719" y="2528162"/>
                <a:ext cx="2916183" cy="465320"/>
              </a:xfrm>
              <a:prstGeom prst="rect">
                <a:avLst/>
              </a:prstGeom>
              <a:blipFill>
                <a:blip r:embed="rId6"/>
                <a:stretch>
                  <a:fillRect l="-2301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5508008" y="2874535"/>
                <a:ext cx="2387898" cy="4653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i="1" dirty="0"/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𝑛𝑒𝑤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𝑢𝑛𝑐𝑙𝑖𝑝𝑝𝑒𝑑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altLang="zh-CN" sz="2000" i="1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008" y="2874535"/>
                <a:ext cx="2387898" cy="465320"/>
              </a:xfrm>
              <a:prstGeom prst="rect">
                <a:avLst/>
              </a:prstGeom>
              <a:blipFill>
                <a:blip r:embed="rId7"/>
                <a:stretch>
                  <a:fillRect l="-2813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 descr="屏幕剪辑">
            <a:extLst>
              <a:ext uri="{FF2B5EF4-FFF2-40B4-BE49-F238E27FC236}">
                <a16:creationId xmlns:a16="http://schemas.microsoft.com/office/drawing/2014/main" id="{94862641-6CAA-4543-8083-C63F9CF13C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604724"/>
            <a:ext cx="3744992" cy="321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62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FC44C0F-4C75-4FA7-A55C-1FD5C1E6D7AB}"/>
              </a:ext>
            </a:extLst>
          </p:cNvPr>
          <p:cNvSpPr/>
          <p:nvPr/>
        </p:nvSpPr>
        <p:spPr>
          <a:xfrm>
            <a:off x="304798" y="4905840"/>
            <a:ext cx="8534401" cy="1762768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1C17BBD-B43E-4F77-97B8-5846D60E6A54}"/>
              </a:ext>
            </a:extLst>
          </p:cNvPr>
          <p:cNvSpPr/>
          <p:nvPr/>
        </p:nvSpPr>
        <p:spPr>
          <a:xfrm>
            <a:off x="304798" y="2850177"/>
            <a:ext cx="8534401" cy="1901077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307225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Soft-margin SVM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7A300D-7B81-4B4A-B9FB-0074325D420C}"/>
              </a:ext>
            </a:extLst>
          </p:cNvPr>
          <p:cNvSpPr/>
          <p:nvPr/>
        </p:nvSpPr>
        <p:spPr>
          <a:xfrm>
            <a:off x="304798" y="2826374"/>
            <a:ext cx="838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KKT conditions are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B21CAF1F-76AC-4D53-A3B4-ECFDF80B648E}"/>
                  </a:ext>
                </a:extLst>
              </p:cNvPr>
              <p:cNvSpPr/>
              <p:nvPr/>
            </p:nvSpPr>
            <p:spPr>
              <a:xfrm>
                <a:off x="2572812" y="3286804"/>
                <a:ext cx="3901709" cy="14026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;</a:t>
                </a:r>
                <a:endParaRPr lang="en-US" altLang="zh-CN" sz="2000" i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−1+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B21CAF1F-76AC-4D53-A3B4-ECFDF80B64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812" y="3286804"/>
                <a:ext cx="3901709" cy="1402692"/>
              </a:xfrm>
              <a:prstGeom prst="rect">
                <a:avLst/>
              </a:prstGeom>
              <a:blipFill>
                <a:blip r:embed="rId3"/>
                <a:stretch>
                  <a:fillRect t="-3043" b="-3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4CAF82D5-7F63-4269-B296-B8EC6E24D810}"/>
              </a:ext>
            </a:extLst>
          </p:cNvPr>
          <p:cNvGrpSpPr/>
          <p:nvPr/>
        </p:nvGrpSpPr>
        <p:grpSpPr>
          <a:xfrm>
            <a:off x="5105400" y="78414"/>
            <a:ext cx="3839459" cy="2484938"/>
            <a:chOff x="1316704" y="3077662"/>
            <a:chExt cx="3839459" cy="24849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AA1DC210-BC61-4875-A2A9-CBB0ABDCCC93}"/>
                    </a:ext>
                  </a:extLst>
                </p:cNvPr>
                <p:cNvSpPr/>
                <p:nvPr/>
              </p:nvSpPr>
              <p:spPr>
                <a:xfrm>
                  <a:off x="1316704" y="3077662"/>
                  <a:ext cx="2079800" cy="6767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en-US" altLang="zh-CN" b="1" dirty="0"/>
                                      <m:t>, </m:t>
                                    </m:r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𝜶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en-US" altLang="zh-CN" b="1" dirty="0"/>
                                      <m:t>, </m:t>
                                    </m:r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fun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6704" y="3077662"/>
                  <a:ext cx="2079800" cy="67672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E0079529-8C78-4D5D-8307-0E18CDD0F32F}"/>
                    </a:ext>
                  </a:extLst>
                </p:cNvPr>
                <p:cNvSpPr/>
                <p:nvPr/>
              </p:nvSpPr>
              <p:spPr>
                <a:xfrm>
                  <a:off x="1316704" y="3789210"/>
                  <a:ext cx="2079800" cy="6767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en-US" altLang="zh-CN" b="1" dirty="0"/>
                                      <m:t>, </m:t>
                                    </m:r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𝜶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en-US" altLang="zh-CN" b="1" dirty="0"/>
                                      <m:t>, </m:t>
                                    </m:r>
                                    <m:sSup>
                                      <m:sSup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  <m:sup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fun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" name="矩形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6704" y="3789210"/>
                  <a:ext cx="2079800" cy="67672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D80EE261-EB7D-4913-B778-A7A0E329B623}"/>
                    </a:ext>
                  </a:extLst>
                </p:cNvPr>
                <p:cNvSpPr/>
                <p:nvPr/>
              </p:nvSpPr>
              <p:spPr>
                <a:xfrm>
                  <a:off x="1750861" y="4495800"/>
                  <a:ext cx="16456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0861" y="4495800"/>
                  <a:ext cx="1645643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71F617D5-52E7-4050-9B9F-6CCE0B459E8C}"/>
                    </a:ext>
                  </a:extLst>
                </p:cNvPr>
                <p:cNvSpPr/>
                <p:nvPr/>
              </p:nvSpPr>
              <p:spPr>
                <a:xfrm>
                  <a:off x="2054663" y="4876800"/>
                  <a:ext cx="134184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4663" y="4876800"/>
                  <a:ext cx="1341841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43E9BFA9-AB4B-49AD-A857-8782F680D345}"/>
                    </a:ext>
                  </a:extLst>
                </p:cNvPr>
                <p:cNvSpPr/>
                <p:nvPr/>
              </p:nvSpPr>
              <p:spPr>
                <a:xfrm>
                  <a:off x="2425534" y="5193268"/>
                  <a:ext cx="97097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矩形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534" y="5193268"/>
                  <a:ext cx="97097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DD6BEAD6-E2F7-4661-BC7B-A0A3EA19B724}"/>
                    </a:ext>
                  </a:extLst>
                </p:cNvPr>
                <p:cNvSpPr/>
                <p:nvPr/>
              </p:nvSpPr>
              <p:spPr>
                <a:xfrm>
                  <a:off x="3886200" y="3221486"/>
                  <a:ext cx="12699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矩形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3221486"/>
                  <a:ext cx="126996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686E9272-23D6-4991-85DF-FAB9F94D5FCF}"/>
                    </a:ext>
                  </a:extLst>
                </p:cNvPr>
                <p:cNvSpPr/>
                <p:nvPr/>
              </p:nvSpPr>
              <p:spPr>
                <a:xfrm>
                  <a:off x="3886200" y="3942906"/>
                  <a:ext cx="121238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矩形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3942906"/>
                  <a:ext cx="121238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CF3FD3C5-F025-46A2-97A7-1D017D100946}"/>
                    </a:ext>
                  </a:extLst>
                </p:cNvPr>
                <p:cNvSpPr/>
                <p:nvPr/>
              </p:nvSpPr>
              <p:spPr>
                <a:xfrm>
                  <a:off x="3886200" y="4495800"/>
                  <a:ext cx="126630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4495800"/>
                  <a:ext cx="126630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33BDAB00-48D3-4C1E-892F-28964D4A964E}"/>
                    </a:ext>
                  </a:extLst>
                </p:cNvPr>
                <p:cNvSpPr/>
                <p:nvPr/>
              </p:nvSpPr>
              <p:spPr>
                <a:xfrm>
                  <a:off x="3886200" y="4876801"/>
                  <a:ext cx="126630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矩形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4876801"/>
                  <a:ext cx="126630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5A0ADBB6-519F-4EF8-942E-9C24218E7293}"/>
                    </a:ext>
                  </a:extLst>
                </p:cNvPr>
                <p:cNvSpPr/>
                <p:nvPr/>
              </p:nvSpPr>
              <p:spPr>
                <a:xfrm>
                  <a:off x="3886200" y="5193268"/>
                  <a:ext cx="126630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" name="矩形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5193268"/>
                  <a:ext cx="126630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C27A7A7-FBBD-414E-B4D8-BAC49D8ED73E}"/>
              </a:ext>
            </a:extLst>
          </p:cNvPr>
          <p:cNvSpPr/>
          <p:nvPr/>
        </p:nvSpPr>
        <p:spPr>
          <a:xfrm>
            <a:off x="304800" y="733027"/>
            <a:ext cx="4579566" cy="188205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69163617-35C4-4977-8626-F799DCF1EDE8}"/>
                  </a:ext>
                </a:extLst>
              </p:cNvPr>
              <p:cNvSpPr/>
              <p:nvPr/>
            </p:nvSpPr>
            <p:spPr>
              <a:xfrm>
                <a:off x="304798" y="1739190"/>
                <a:ext cx="4396653" cy="405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i="1" dirty="0"/>
                  <a:t>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69163617-35C4-4977-8626-F799DCF1ED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8" y="1739190"/>
                <a:ext cx="4396653" cy="405624"/>
              </a:xfrm>
              <a:prstGeom prst="rect">
                <a:avLst/>
              </a:prstGeom>
              <a:blipFill>
                <a:blip r:embed="rId14"/>
                <a:stretch>
                  <a:fillRect l="-1387" t="-5970" b="-25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DBE114D2-2E37-4554-BC5C-9D69C3E17D09}"/>
                  </a:ext>
                </a:extLst>
              </p:cNvPr>
              <p:cNvSpPr/>
              <p:nvPr/>
            </p:nvSpPr>
            <p:spPr>
              <a:xfrm>
                <a:off x="307940" y="741284"/>
                <a:ext cx="2605009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b="1" i="1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DBE114D2-2E37-4554-BC5C-9D69C3E17D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40" y="741284"/>
                <a:ext cx="2605009" cy="93262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0B27B4A-22E9-4542-A7CD-568C00C1860E}"/>
                  </a:ext>
                </a:extLst>
              </p:cNvPr>
              <p:cNvSpPr/>
              <p:nvPr/>
            </p:nvSpPr>
            <p:spPr>
              <a:xfrm>
                <a:off x="609600" y="2133600"/>
                <a:ext cx="235449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0B27B4A-22E9-4542-A7CD-568C00C186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133600"/>
                <a:ext cx="2354491" cy="400110"/>
              </a:xfrm>
              <a:prstGeom prst="rect">
                <a:avLst/>
              </a:prstGeom>
              <a:blipFill>
                <a:blip r:embed="rId1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A9C1E90E-B12C-448B-BBA3-94C9876BB60F}"/>
                  </a:ext>
                </a:extLst>
              </p:cNvPr>
              <p:cNvSpPr/>
              <p:nvPr/>
            </p:nvSpPr>
            <p:spPr>
              <a:xfrm>
                <a:off x="332666" y="4957048"/>
                <a:ext cx="8382000" cy="17104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Support vectors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000" dirty="0"/>
                  <a:t>) are examples for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000" b="0" dirty="0">
                  <a:ea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0=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i="1" dirty="0"/>
                  <a:t>, </a:t>
                </a:r>
                <a:r>
                  <a:rPr lang="en-US" altLang="zh-CN" sz="200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000" dirty="0"/>
                  <a:t>. These are called </a:t>
                </a:r>
                <a:r>
                  <a:rPr lang="en-US" altLang="zh-CN" sz="2000" b="1" dirty="0"/>
                  <a:t>unbound SV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000" dirty="0"/>
                  <a:t>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/>
                  <a:t> (</a:t>
                </a:r>
                <a:r>
                  <a:rPr lang="en-US" altLang="zh-CN" sz="2000" b="1" dirty="0"/>
                  <a:t>bound SV</a:t>
                </a:r>
                <a:r>
                  <a:rPr lang="en-US" altLang="zh-CN" sz="2000" dirty="0"/>
                  <a:t>),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/>
                  <a:t>can be greater the zero, in which case the SV are margin errors.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A9C1E90E-B12C-448B-BBA3-94C9876BB6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66" y="4957048"/>
                <a:ext cx="8382000" cy="1710468"/>
              </a:xfrm>
              <a:prstGeom prst="rect">
                <a:avLst/>
              </a:prstGeom>
              <a:blipFill>
                <a:blip r:embed="rId17"/>
                <a:stretch>
                  <a:fillRect l="-655" t="-356" r="-1309" b="-53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16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5" grpId="0"/>
      <p:bldP spid="4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307225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Soft-margin SVM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9C6A6B-BC86-468A-9C31-C65FCE17B3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448068"/>
            <a:ext cx="5778829" cy="43405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E68084F-B4A7-4FCB-B0DF-E4B307E04AF1}"/>
                  </a:ext>
                </a:extLst>
              </p:cNvPr>
              <p:cNvSpPr/>
              <p:nvPr/>
            </p:nvSpPr>
            <p:spPr>
              <a:xfrm>
                <a:off x="304800" y="830894"/>
                <a:ext cx="8382000" cy="16171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(</a:t>
                </a:r>
                <a:r>
                  <a:rPr lang="en-US" altLang="zh-CN" sz="2400" b="1" dirty="0"/>
                  <a:t>bound SV</a:t>
                </a:r>
                <a:r>
                  <a:rPr lang="en-US" altLang="zh-CN" sz="2400" dirty="0"/>
                  <a:t>),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=1−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is correctly classified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is misclassified.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is on the decision boundary.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E68084F-B4A7-4FCB-B0DF-E4B307E04A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830894"/>
                <a:ext cx="8382000" cy="1617174"/>
              </a:xfrm>
              <a:prstGeom prst="rect">
                <a:avLst/>
              </a:prstGeom>
              <a:blipFill>
                <a:blip r:embed="rId4"/>
                <a:stretch>
                  <a:fillRect l="-1091" t="-1128" b="-7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2953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CFC183C-6F89-42D9-BB7F-8AC7588D5E2C}"/>
              </a:ext>
            </a:extLst>
          </p:cNvPr>
          <p:cNvSpPr/>
          <p:nvPr/>
        </p:nvSpPr>
        <p:spPr>
          <a:xfrm>
            <a:off x="304799" y="2873383"/>
            <a:ext cx="8534401" cy="1126074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6563079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Alternative Objective with Hinge loss 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AD52275-C3C9-45CB-819E-99E477116D97}"/>
              </a:ext>
            </a:extLst>
          </p:cNvPr>
          <p:cNvSpPr/>
          <p:nvPr/>
        </p:nvSpPr>
        <p:spPr>
          <a:xfrm>
            <a:off x="304800" y="1067502"/>
            <a:ext cx="8534401" cy="156927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750C72B-9E40-4766-BBD2-87FE5A815EF3}"/>
                  </a:ext>
                </a:extLst>
              </p:cNvPr>
              <p:cNvSpPr/>
              <p:nvPr/>
            </p:nvSpPr>
            <p:spPr>
              <a:xfrm>
                <a:off x="2590800" y="1622993"/>
                <a:ext cx="4233082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[1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)]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750C72B-9E40-4766-BBD2-87FE5A815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1622993"/>
                <a:ext cx="4233082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9EB7EECC-C93B-46F1-B3CE-6794CD9FF7C3}"/>
              </a:ext>
            </a:extLst>
          </p:cNvPr>
          <p:cNvSpPr/>
          <p:nvPr/>
        </p:nvSpPr>
        <p:spPr>
          <a:xfrm>
            <a:off x="381000" y="1143000"/>
            <a:ext cx="85616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In a sense, we can formulate the soft-margin SVM with hinge loss,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31EC721-27F5-4952-9E8F-9753970E58A4}"/>
                  </a:ext>
                </a:extLst>
              </p:cNvPr>
              <p:cNvSpPr/>
              <p:nvPr/>
            </p:nvSpPr>
            <p:spPr>
              <a:xfrm>
                <a:off x="5714716" y="2966244"/>
                <a:ext cx="2908360" cy="916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, 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0 ,  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31EC721-27F5-4952-9E8F-9753970E58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716" y="2966244"/>
                <a:ext cx="2908360" cy="916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206C0747-C0BA-4655-A3B6-BD5A9D0BE538}"/>
              </a:ext>
            </a:extLst>
          </p:cNvPr>
          <p:cNvGrpSpPr/>
          <p:nvPr/>
        </p:nvGrpSpPr>
        <p:grpSpPr>
          <a:xfrm>
            <a:off x="304799" y="4256538"/>
            <a:ext cx="8632373" cy="2296661"/>
            <a:chOff x="304799" y="4256538"/>
            <a:chExt cx="8632373" cy="2296661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F0F9D8E1-157C-432B-A9B0-00F6B66BC645}"/>
                </a:ext>
              </a:extLst>
            </p:cNvPr>
            <p:cNvSpPr/>
            <p:nvPr/>
          </p:nvSpPr>
          <p:spPr>
            <a:xfrm>
              <a:off x="304799" y="4256538"/>
              <a:ext cx="8534401" cy="2296661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C9A2B39F-1BAC-45F2-BB4B-92E66A9D0D5D}"/>
                    </a:ext>
                  </a:extLst>
                </p:cNvPr>
                <p:cNvSpPr/>
                <p:nvPr/>
              </p:nvSpPr>
              <p:spPr>
                <a:xfrm>
                  <a:off x="383146" y="5348138"/>
                  <a:ext cx="3068725" cy="71340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i="1" dirty="0"/>
                    <a:t>s.t.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000" i="1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a14:m>
                  <a:endParaRPr lang="en-US" altLang="zh-CN" sz="20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C9A2B39F-1BAC-45F2-BB4B-92E66A9D0D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146" y="5348138"/>
                  <a:ext cx="3068725" cy="713400"/>
                </a:xfrm>
                <a:prstGeom prst="rect">
                  <a:avLst/>
                </a:prstGeom>
                <a:blipFill>
                  <a:blip r:embed="rId5"/>
                  <a:stretch>
                    <a:fillRect l="-2187" t="-34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03CF35F0-96AF-45E4-BCA4-BB2327160D0B}"/>
                    </a:ext>
                  </a:extLst>
                </p:cNvPr>
                <p:cNvSpPr/>
                <p:nvPr/>
              </p:nvSpPr>
              <p:spPr>
                <a:xfrm>
                  <a:off x="381000" y="4419600"/>
                  <a:ext cx="2583015" cy="9326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func>
                      </m:oMath>
                    </m:oMathPara>
                  </a14:m>
                  <a:endParaRPr lang="zh-CN" altLang="en-US" sz="2000" b="1" i="1" dirty="0"/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03CF35F0-96AF-45E4-BCA4-BB2327160D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4419600"/>
                  <a:ext cx="2583015" cy="9326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FF6B9F1-E1AF-4AE7-9225-51BC61D7AC16}"/>
                    </a:ext>
                  </a:extLst>
                </p:cNvPr>
                <p:cNvSpPr/>
                <p:nvPr/>
              </p:nvSpPr>
              <p:spPr>
                <a:xfrm>
                  <a:off x="745009" y="6019800"/>
                  <a:ext cx="235449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FF6B9F1-E1AF-4AE7-9225-51BC61D7AC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009" y="6019800"/>
                  <a:ext cx="2354491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138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1ABC2482-5B99-414D-82B9-D061569FC04C}"/>
                    </a:ext>
                  </a:extLst>
                </p:cNvPr>
                <p:cNvSpPr/>
                <p:nvPr/>
              </p:nvSpPr>
              <p:spPr>
                <a:xfrm>
                  <a:off x="4704090" y="4938554"/>
                  <a:ext cx="4233082" cy="9326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[1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)]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nary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</m:oMath>
                    </m:oMathPara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1ABC2482-5B99-414D-82B9-D061569FC0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4090" y="4938554"/>
                  <a:ext cx="4233082" cy="93262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箭头: 左右 30">
              <a:extLst>
                <a:ext uri="{FF2B5EF4-FFF2-40B4-BE49-F238E27FC236}">
                  <a16:creationId xmlns:a16="http://schemas.microsoft.com/office/drawing/2014/main" id="{979FA622-CE70-41A8-BED8-9D79982DAA22}"/>
                </a:ext>
              </a:extLst>
            </p:cNvPr>
            <p:cNvSpPr/>
            <p:nvPr/>
          </p:nvSpPr>
          <p:spPr>
            <a:xfrm>
              <a:off x="3793168" y="5348138"/>
              <a:ext cx="757061" cy="242738"/>
            </a:xfrm>
            <a:prstGeom prst="leftRight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D4830EA-6515-4995-B0C6-910514467324}"/>
                  </a:ext>
                </a:extLst>
              </p:cNvPr>
              <p:cNvSpPr/>
              <p:nvPr/>
            </p:nvSpPr>
            <p:spPr>
              <a:xfrm>
                <a:off x="895595" y="3418988"/>
                <a:ext cx="4407810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[1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D4830EA-6515-4995-B0C6-9105144673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95" y="3418988"/>
                <a:ext cx="4407810" cy="439736"/>
              </a:xfrm>
              <a:prstGeom prst="rect">
                <a:avLst/>
              </a:prstGeom>
              <a:blipFill>
                <a:blip r:embed="rId9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>
            <a:extLst>
              <a:ext uri="{FF2B5EF4-FFF2-40B4-BE49-F238E27FC236}">
                <a16:creationId xmlns:a16="http://schemas.microsoft.com/office/drawing/2014/main" id="{47DB9879-1EE8-4D09-ABE7-1FE63C595F41}"/>
              </a:ext>
            </a:extLst>
          </p:cNvPr>
          <p:cNvSpPr/>
          <p:nvPr/>
        </p:nvSpPr>
        <p:spPr>
          <a:xfrm>
            <a:off x="447592" y="2935843"/>
            <a:ext cx="14468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Hinge loss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3579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76200"/>
            <a:ext cx="199644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Hinge loss 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AD52275-C3C9-45CB-819E-99E477116D97}"/>
              </a:ext>
            </a:extLst>
          </p:cNvPr>
          <p:cNvSpPr/>
          <p:nvPr/>
        </p:nvSpPr>
        <p:spPr>
          <a:xfrm>
            <a:off x="250969" y="3409915"/>
            <a:ext cx="8534401" cy="2000285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9A2B39F-1BAC-45F2-BB4B-92E66A9D0D5D}"/>
                  </a:ext>
                </a:extLst>
              </p:cNvPr>
              <p:cNvSpPr/>
              <p:nvPr/>
            </p:nvSpPr>
            <p:spPr>
              <a:xfrm>
                <a:off x="383570" y="3594010"/>
                <a:ext cx="4494948" cy="4687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Let</a:t>
                </a:r>
                <a:r>
                  <a:rPr lang="en-US" altLang="zh-CN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[1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i="1" dirty="0"/>
                  <a:t>,</a:t>
                </a:r>
                <a:endParaRPr lang="zh-CN" altLang="en-US" sz="2400" i="1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9A2B39F-1BAC-45F2-BB4B-92E66A9D0D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70" y="3594010"/>
                <a:ext cx="4494948" cy="468718"/>
              </a:xfrm>
              <a:prstGeom prst="rect">
                <a:avLst/>
              </a:prstGeom>
              <a:blipFill>
                <a:blip r:embed="rId3"/>
                <a:stretch>
                  <a:fillRect l="-2171" t="-9211" r="-1085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0D58B88-3CFE-4635-BB6F-F8675647087E}"/>
                  </a:ext>
                </a:extLst>
              </p:cNvPr>
              <p:cNvSpPr/>
              <p:nvPr/>
            </p:nvSpPr>
            <p:spPr>
              <a:xfrm>
                <a:off x="399996" y="4179314"/>
                <a:ext cx="6704528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When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000" dirty="0"/>
                  <a:t>, then</a:t>
                </a:r>
                <a:r>
                  <a:rPr lang="en-US" altLang="zh-CN" sz="20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0D58B88-3CFE-4635-BB6F-F867564708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96" y="4179314"/>
                <a:ext cx="6704528" cy="439736"/>
              </a:xfrm>
              <a:prstGeom prst="rect">
                <a:avLst/>
              </a:prstGeom>
              <a:blipFill>
                <a:blip r:embed="rId4"/>
                <a:stretch>
                  <a:fillRect l="-819" t="-2778" b="-2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6633D08-F6D9-4B04-8103-A1EC53326C0A}"/>
                  </a:ext>
                </a:extLst>
              </p:cNvPr>
              <p:cNvSpPr/>
              <p:nvPr/>
            </p:nvSpPr>
            <p:spPr>
              <a:xfrm>
                <a:off x="399996" y="4777347"/>
                <a:ext cx="7501541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When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000" dirty="0"/>
                  <a:t>, then</a:t>
                </a:r>
                <a:r>
                  <a:rPr lang="en-US" altLang="zh-CN" sz="20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6633D08-F6D9-4B04-8103-A1EC53326C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96" y="4777347"/>
                <a:ext cx="7501541" cy="439736"/>
              </a:xfrm>
              <a:prstGeom prst="rect">
                <a:avLst/>
              </a:prstGeom>
              <a:blipFill>
                <a:blip r:embed="rId5"/>
                <a:stretch>
                  <a:fillRect l="-732" t="-2778" b="-2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EC53892-7F76-4A0C-826C-44F9B71ED7CC}"/>
              </a:ext>
            </a:extLst>
          </p:cNvPr>
          <p:cNvSpPr/>
          <p:nvPr/>
        </p:nvSpPr>
        <p:spPr>
          <a:xfrm>
            <a:off x="250969" y="924808"/>
            <a:ext cx="8534401" cy="229666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599050F-A0FD-492D-9B8F-F267DE4F168E}"/>
                  </a:ext>
                </a:extLst>
              </p:cNvPr>
              <p:cNvSpPr/>
              <p:nvPr/>
            </p:nvSpPr>
            <p:spPr>
              <a:xfrm>
                <a:off x="329316" y="2016408"/>
                <a:ext cx="3068725" cy="7134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i="1" dirty="0"/>
                  <a:t>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zh-CN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599050F-A0FD-492D-9B8F-F267DE4F16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16" y="2016408"/>
                <a:ext cx="3068725" cy="713400"/>
              </a:xfrm>
              <a:prstGeom prst="rect">
                <a:avLst/>
              </a:prstGeom>
              <a:blipFill>
                <a:blip r:embed="rId6"/>
                <a:stretch>
                  <a:fillRect l="-1988" t="-4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AF24963-45A8-4CB8-A22C-5A340CBD520F}"/>
                  </a:ext>
                </a:extLst>
              </p:cNvPr>
              <p:cNvSpPr/>
              <p:nvPr/>
            </p:nvSpPr>
            <p:spPr>
              <a:xfrm>
                <a:off x="327170" y="1087870"/>
                <a:ext cx="2583015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b="1" i="1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AF24963-45A8-4CB8-A22C-5A340CBD52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70" y="1087870"/>
                <a:ext cx="2583015" cy="9326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08178661-8604-4F02-B6AF-459C4F9135AA}"/>
                  </a:ext>
                </a:extLst>
              </p:cNvPr>
              <p:cNvSpPr/>
              <p:nvPr/>
            </p:nvSpPr>
            <p:spPr>
              <a:xfrm>
                <a:off x="691179" y="2688070"/>
                <a:ext cx="235449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08178661-8604-4F02-B6AF-459C4F913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79" y="2688070"/>
                <a:ext cx="2354491" cy="400110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FACC94F8-4E95-4A27-8D62-46184B09804D}"/>
                  </a:ext>
                </a:extLst>
              </p:cNvPr>
              <p:cNvSpPr/>
              <p:nvPr/>
            </p:nvSpPr>
            <p:spPr>
              <a:xfrm>
                <a:off x="4650260" y="1606824"/>
                <a:ext cx="4233082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[1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)]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FACC94F8-4E95-4A27-8D62-46184B0980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260" y="1606824"/>
                <a:ext cx="4233082" cy="9326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箭头: 左右 25">
            <a:extLst>
              <a:ext uri="{FF2B5EF4-FFF2-40B4-BE49-F238E27FC236}">
                <a16:creationId xmlns:a16="http://schemas.microsoft.com/office/drawing/2014/main" id="{BA41D408-9AC1-42FD-90A6-CB8CBE468F58}"/>
              </a:ext>
            </a:extLst>
          </p:cNvPr>
          <p:cNvSpPr/>
          <p:nvPr/>
        </p:nvSpPr>
        <p:spPr>
          <a:xfrm>
            <a:off x="3739338" y="2016408"/>
            <a:ext cx="757061" cy="242738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26EDDAF-5BE8-4A34-A428-28924D761A32}"/>
              </a:ext>
            </a:extLst>
          </p:cNvPr>
          <p:cNvGrpSpPr/>
          <p:nvPr/>
        </p:nvGrpSpPr>
        <p:grpSpPr>
          <a:xfrm>
            <a:off x="581534" y="5562600"/>
            <a:ext cx="7625869" cy="1004782"/>
            <a:chOff x="581534" y="5562600"/>
            <a:chExt cx="7625869" cy="10047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03CF35F0-96AF-45E4-BCA4-BB2327160D0B}"/>
                    </a:ext>
                  </a:extLst>
                </p:cNvPr>
                <p:cNvSpPr/>
                <p:nvPr/>
              </p:nvSpPr>
              <p:spPr>
                <a:xfrm>
                  <a:off x="5105400" y="5634754"/>
                  <a:ext cx="3102003" cy="9326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sz="2000" b="1" i="1" dirty="0"/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03CF35F0-96AF-45E4-BCA4-BB2327160D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0" y="5634754"/>
                  <a:ext cx="3102003" cy="93262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D8B65A41-A581-46F5-A134-68E02EFDE5F1}"/>
                    </a:ext>
                  </a:extLst>
                </p:cNvPr>
                <p:cNvSpPr/>
                <p:nvPr/>
              </p:nvSpPr>
              <p:spPr>
                <a:xfrm>
                  <a:off x="581534" y="5634754"/>
                  <a:ext cx="2328651" cy="9326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func>
                      </m:oMath>
                    </m:oMathPara>
                  </a14:m>
                  <a:endParaRPr lang="zh-CN" altLang="en-US" sz="2000" i="1" dirty="0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D8B65A41-A581-46F5-A134-68E02EFDE5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534" y="5634754"/>
                  <a:ext cx="2328651" cy="93262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89152770-2B89-45C1-9171-BD343F8A3560}"/>
                    </a:ext>
                  </a:extLst>
                </p:cNvPr>
                <p:cNvSpPr/>
                <p:nvPr/>
              </p:nvSpPr>
              <p:spPr>
                <a:xfrm>
                  <a:off x="3234151" y="5562600"/>
                  <a:ext cx="1547283" cy="6162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dirty="0"/>
                    <a:t>Let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a14:m>
                  <a:r>
                    <a:rPr lang="en-US" altLang="zh-CN" sz="2400" i="1" dirty="0"/>
                    <a:t> </a:t>
                  </a:r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89152770-2B89-45C1-9171-BD343F8A35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4151" y="5562600"/>
                  <a:ext cx="1547283" cy="616259"/>
                </a:xfrm>
                <a:prstGeom prst="rect">
                  <a:avLst/>
                </a:prstGeom>
                <a:blipFill>
                  <a:blip r:embed="rId12"/>
                  <a:stretch>
                    <a:fillRect l="-6324" b="-89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903C599A-B77F-4B42-BE37-9041CBB8A2C2}"/>
                </a:ext>
              </a:extLst>
            </p:cNvPr>
            <p:cNvCxnSpPr/>
            <p:nvPr/>
          </p:nvCxnSpPr>
          <p:spPr>
            <a:xfrm>
              <a:off x="3045670" y="6178859"/>
              <a:ext cx="1907330" cy="0"/>
            </a:xfrm>
            <a:prstGeom prst="straightConnector1">
              <a:avLst/>
            </a:prstGeom>
            <a:ln w="38100">
              <a:solidFill>
                <a:srgbClr val="3B3FF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688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1" grpId="0"/>
      <p:bldP spid="1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87E824-5D55-4BEE-B1C1-16A8BA51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47131F-F33D-4661-97EC-E3733C2FC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2" y="1371600"/>
            <a:ext cx="7315200" cy="548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D3BB005-9843-44C6-9BA5-17DD2A47D203}"/>
                  </a:ext>
                </a:extLst>
              </p:cNvPr>
              <p:cNvSpPr/>
              <p:nvPr/>
            </p:nvSpPr>
            <p:spPr>
              <a:xfrm>
                <a:off x="6525699" y="6477000"/>
                <a:ext cx="1399101" cy="3742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D3BB005-9843-44C6-9BA5-17DD2A47D2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699" y="6477000"/>
                <a:ext cx="1399101" cy="374270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9F64C859-5E34-4BCD-80BB-44B488585DB4}"/>
              </a:ext>
            </a:extLst>
          </p:cNvPr>
          <p:cNvSpPr/>
          <p:nvPr/>
        </p:nvSpPr>
        <p:spPr>
          <a:xfrm>
            <a:off x="2321329" y="2571690"/>
            <a:ext cx="1178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Hinge Loss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3BFAB8-A8B0-426D-98E2-A611A9E585AB}"/>
              </a:ext>
            </a:extLst>
          </p:cNvPr>
          <p:cNvSpPr txBox="1"/>
          <p:nvPr/>
        </p:nvSpPr>
        <p:spPr>
          <a:xfrm>
            <a:off x="2002972" y="5010090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0-1 Loss </a:t>
            </a: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2599AC-917F-4D14-89ED-6EE9FAF3831D}"/>
              </a:ext>
            </a:extLst>
          </p:cNvPr>
          <p:cNvSpPr txBox="1"/>
          <p:nvPr/>
        </p:nvSpPr>
        <p:spPr>
          <a:xfrm>
            <a:off x="304800" y="76200"/>
            <a:ext cx="199644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Hinge loss 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7AE22DA-AB76-4743-B32B-55F77C16C1B1}"/>
              </a:ext>
            </a:extLst>
          </p:cNvPr>
          <p:cNvSpPr/>
          <p:nvPr/>
        </p:nvSpPr>
        <p:spPr>
          <a:xfrm>
            <a:off x="304800" y="1067502"/>
            <a:ext cx="8534401" cy="53716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56A121-D673-4ED6-B7D2-FBC306C20E04}"/>
              </a:ext>
            </a:extLst>
          </p:cNvPr>
          <p:cNvSpPr/>
          <p:nvPr/>
        </p:nvSpPr>
        <p:spPr>
          <a:xfrm>
            <a:off x="381000" y="1143000"/>
            <a:ext cx="85616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Hinge loss is the upper bound of the 0-1 loss (misclassification).</a:t>
            </a:r>
          </a:p>
        </p:txBody>
      </p:sp>
    </p:spTree>
    <p:extLst>
      <p:ext uri="{BB962C8B-B14F-4D97-AF65-F5344CB8AC3E}">
        <p14:creationId xmlns:p14="http://schemas.microsoft.com/office/powerpoint/2010/main" val="22029602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5FC44AE-B6A7-4A44-BF6A-5C259FBB9735}"/>
              </a:ext>
            </a:extLst>
          </p:cNvPr>
          <p:cNvSpPr/>
          <p:nvPr/>
        </p:nvSpPr>
        <p:spPr>
          <a:xfrm>
            <a:off x="304802" y="977400"/>
            <a:ext cx="8534401" cy="542340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76200"/>
            <a:ext cx="2807372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Mini-Summary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04800" y="985013"/>
                <a:ext cx="8382000" cy="5663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800" b="1" dirty="0"/>
                  <a:t>Support Vector Machine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800" b="1" dirty="0"/>
                  <a:t>Lagrange Duality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800" b="1" dirty="0"/>
                  <a:t>Constrained Optimization: Inequality Constraint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800" b="1" dirty="0" err="1"/>
                  <a:t>Karush</a:t>
                </a:r>
                <a:r>
                  <a:rPr lang="en-US" altLang="zh-CN" sz="2800" b="1" dirty="0"/>
                  <a:t>-Kuhn-Tucker (KKT) condition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800" b="1" dirty="0"/>
                  <a:t>Coordinate Ascent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800" b="1"/>
                  <a:t>Sequential Minimal Optimization</a:t>
                </a:r>
                <a:endParaRPr lang="en-US" altLang="zh-CN" sz="2800" b="1" dirty="0"/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800" b="1" dirty="0"/>
                  <a:t>Regularization for SVM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b="1" dirty="0"/>
                  <a:t>,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b="1" dirty="0"/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endParaRPr lang="en-US" altLang="zh-CN" sz="2400" b="1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altLang="zh-CN" sz="2400" b="1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985013"/>
                <a:ext cx="8382000" cy="5663089"/>
              </a:xfrm>
              <a:prstGeom prst="rect">
                <a:avLst/>
              </a:prstGeom>
              <a:blipFill>
                <a:blip r:embed="rId3"/>
                <a:stretch>
                  <a:fillRect l="-1309" t="-10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410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3181</TotalTime>
  <Words>4308</Words>
  <Application>Microsoft Macintosh PowerPoint</Application>
  <PresentationFormat>On-screen Show (4:3)</PresentationFormat>
  <Paragraphs>608</Paragraphs>
  <Slides>73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Arial</vt:lpstr>
      <vt:lpstr>Calibri</vt:lpstr>
      <vt:lpstr>Cambria Math</vt:lpstr>
      <vt:lpstr>Mongolian Baiti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Behind Problems Theory, and Prototype</dc:title>
  <dc:creator>Administrator</dc:creator>
  <cp:lastModifiedBy>Microsoft Office User</cp:lastModifiedBy>
  <cp:revision>1804</cp:revision>
  <dcterms:created xsi:type="dcterms:W3CDTF">2006-08-16T00:00:00Z</dcterms:created>
  <dcterms:modified xsi:type="dcterms:W3CDTF">2022-04-17T10:03:25Z</dcterms:modified>
</cp:coreProperties>
</file>