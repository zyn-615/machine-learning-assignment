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58"/>
  </p:notesMasterIdLst>
  <p:handoutMasterIdLst>
    <p:handoutMasterId r:id="rId59"/>
  </p:handoutMasterIdLst>
  <p:sldIdLst>
    <p:sldId id="262" r:id="rId2"/>
    <p:sldId id="358" r:id="rId3"/>
    <p:sldId id="453" r:id="rId4"/>
    <p:sldId id="454" r:id="rId5"/>
    <p:sldId id="480" r:id="rId6"/>
    <p:sldId id="483" r:id="rId7"/>
    <p:sldId id="475" r:id="rId8"/>
    <p:sldId id="455" r:id="rId9"/>
    <p:sldId id="456" r:id="rId10"/>
    <p:sldId id="457" r:id="rId11"/>
    <p:sldId id="476" r:id="rId12"/>
    <p:sldId id="479" r:id="rId13"/>
    <p:sldId id="458" r:id="rId14"/>
    <p:sldId id="484" r:id="rId15"/>
    <p:sldId id="474" r:id="rId16"/>
    <p:sldId id="478" r:id="rId17"/>
    <p:sldId id="360" r:id="rId18"/>
    <p:sldId id="377" r:id="rId19"/>
    <p:sldId id="379" r:id="rId20"/>
    <p:sldId id="363" r:id="rId21"/>
    <p:sldId id="382" r:id="rId22"/>
    <p:sldId id="495" r:id="rId23"/>
    <p:sldId id="485" r:id="rId24"/>
    <p:sldId id="496" r:id="rId25"/>
    <p:sldId id="486" r:id="rId26"/>
    <p:sldId id="487" r:id="rId27"/>
    <p:sldId id="488" r:id="rId28"/>
    <p:sldId id="498" r:id="rId29"/>
    <p:sldId id="490" r:id="rId30"/>
    <p:sldId id="481" r:id="rId31"/>
    <p:sldId id="364" r:id="rId32"/>
    <p:sldId id="497" r:id="rId33"/>
    <p:sldId id="482" r:id="rId34"/>
    <p:sldId id="491" r:id="rId35"/>
    <p:sldId id="381" r:id="rId36"/>
    <p:sldId id="383" r:id="rId37"/>
    <p:sldId id="494" r:id="rId38"/>
    <p:sldId id="384" r:id="rId39"/>
    <p:sldId id="385" r:id="rId40"/>
    <p:sldId id="386" r:id="rId41"/>
    <p:sldId id="387" r:id="rId42"/>
    <p:sldId id="389" r:id="rId43"/>
    <p:sldId id="492" r:id="rId44"/>
    <p:sldId id="493" r:id="rId45"/>
    <p:sldId id="390" r:id="rId46"/>
    <p:sldId id="391" r:id="rId47"/>
    <p:sldId id="499" r:id="rId48"/>
    <p:sldId id="467" r:id="rId49"/>
    <p:sldId id="472" r:id="rId50"/>
    <p:sldId id="473" r:id="rId51"/>
    <p:sldId id="501" r:id="rId52"/>
    <p:sldId id="500" r:id="rId53"/>
    <p:sldId id="469" r:id="rId54"/>
    <p:sldId id="470" r:id="rId55"/>
    <p:sldId id="471" r:id="rId56"/>
    <p:sldId id="392" r:id="rId57"/>
  </p:sldIdLst>
  <p:sldSz cx="9144000" cy="6858000" type="screen4x3"/>
  <p:notesSz cx="7099300" cy="102346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223">
          <p15:clr>
            <a:srgbClr val="A4A3A4"/>
          </p15:clr>
        </p15:guide>
        <p15:guide id="2" pos="2236">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E9EBF5"/>
    <a:srgbClr val="CFD5EA"/>
    <a:srgbClr val="E6F5F0"/>
    <a:srgbClr val="F9E6E6"/>
    <a:srgbClr val="FFFBD6"/>
    <a:srgbClr val="B2D4E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06799F8-075E-4A3A-A7F6-7FBC6576F1A4}" styleName="Themed Style 2 - Acc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43" autoAdjust="0"/>
    <p:restoredTop sz="93897" autoAdjust="0"/>
  </p:normalViewPr>
  <p:slideViewPr>
    <p:cSldViewPr>
      <p:cViewPr varScale="1">
        <p:scale>
          <a:sx n="140" d="100"/>
          <a:sy n="140" d="100"/>
        </p:scale>
        <p:origin x="1888" y="20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57" d="100"/>
          <a:sy n="57" d="100"/>
        </p:scale>
        <p:origin x="-2472" y="-84"/>
      </p:cViewPr>
      <p:guideLst>
        <p:guide orient="horz" pos="3223"/>
        <p:guide pos="2236"/>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handoutMaster" Target="handoutMasters/handout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3076363" cy="512172"/>
          </a:xfrm>
          <a:prstGeom prst="rect">
            <a:avLst/>
          </a:prstGeom>
        </p:spPr>
        <p:txBody>
          <a:bodyPr vert="horz" lIns="98700" tIns="49350" rIns="98700" bIns="49350" rtlCol="0"/>
          <a:lstStyle>
            <a:lvl1pPr algn="l">
              <a:defRPr sz="1300"/>
            </a:lvl1pPr>
          </a:lstStyle>
          <a:p>
            <a:endParaRPr lang="en-SG"/>
          </a:p>
        </p:txBody>
      </p:sp>
      <p:sp>
        <p:nvSpPr>
          <p:cNvPr id="3" name="Date Placeholder 2"/>
          <p:cNvSpPr>
            <a:spLocks noGrp="1"/>
          </p:cNvSpPr>
          <p:nvPr>
            <p:ph type="dt" sz="quarter" idx="1"/>
          </p:nvPr>
        </p:nvSpPr>
        <p:spPr>
          <a:xfrm>
            <a:off x="4021294" y="1"/>
            <a:ext cx="3076363" cy="512172"/>
          </a:xfrm>
          <a:prstGeom prst="rect">
            <a:avLst/>
          </a:prstGeom>
        </p:spPr>
        <p:txBody>
          <a:bodyPr vert="horz" lIns="98700" tIns="49350" rIns="98700" bIns="49350" rtlCol="0"/>
          <a:lstStyle>
            <a:lvl1pPr algn="r">
              <a:defRPr sz="1300"/>
            </a:lvl1pPr>
          </a:lstStyle>
          <a:p>
            <a:fld id="{CCC26614-1D04-4396-B6E2-C19B947215A2}" type="datetimeFigureOut">
              <a:rPr lang="en-SG" smtClean="0"/>
              <a:pPr/>
              <a:t>27/9/22</a:t>
            </a:fld>
            <a:endParaRPr lang="en-SG"/>
          </a:p>
        </p:txBody>
      </p:sp>
      <p:sp>
        <p:nvSpPr>
          <p:cNvPr id="4" name="Footer Placeholder 3"/>
          <p:cNvSpPr>
            <a:spLocks noGrp="1"/>
          </p:cNvSpPr>
          <p:nvPr>
            <p:ph type="ftr" sz="quarter" idx="2"/>
          </p:nvPr>
        </p:nvSpPr>
        <p:spPr>
          <a:xfrm>
            <a:off x="0" y="9720675"/>
            <a:ext cx="3076363" cy="512172"/>
          </a:xfrm>
          <a:prstGeom prst="rect">
            <a:avLst/>
          </a:prstGeom>
        </p:spPr>
        <p:txBody>
          <a:bodyPr vert="horz" lIns="98700" tIns="49350" rIns="98700" bIns="49350" rtlCol="0" anchor="b"/>
          <a:lstStyle>
            <a:lvl1pPr algn="l">
              <a:defRPr sz="1300"/>
            </a:lvl1pPr>
          </a:lstStyle>
          <a:p>
            <a:endParaRPr lang="en-SG"/>
          </a:p>
        </p:txBody>
      </p:sp>
      <p:sp>
        <p:nvSpPr>
          <p:cNvPr id="5" name="Slide Number Placeholder 4"/>
          <p:cNvSpPr>
            <a:spLocks noGrp="1"/>
          </p:cNvSpPr>
          <p:nvPr>
            <p:ph type="sldNum" sz="quarter" idx="3"/>
          </p:nvPr>
        </p:nvSpPr>
        <p:spPr>
          <a:xfrm>
            <a:off x="4021294" y="9720675"/>
            <a:ext cx="3076363" cy="512172"/>
          </a:xfrm>
          <a:prstGeom prst="rect">
            <a:avLst/>
          </a:prstGeom>
        </p:spPr>
        <p:txBody>
          <a:bodyPr vert="horz" lIns="98700" tIns="49350" rIns="98700" bIns="49350" rtlCol="0" anchor="b"/>
          <a:lstStyle>
            <a:lvl1pPr algn="r">
              <a:defRPr sz="1300"/>
            </a:lvl1pPr>
          </a:lstStyle>
          <a:p>
            <a:fld id="{C7EFE5A2-1568-429C-BE8E-2E6DC0D943AC}" type="slidenum">
              <a:rPr lang="en-SG" smtClean="0"/>
              <a:pPr/>
              <a:t>‹#›</a:t>
            </a:fld>
            <a:endParaRPr lang="en-SG"/>
          </a:p>
        </p:txBody>
      </p:sp>
    </p:spTree>
    <p:extLst>
      <p:ext uri="{BB962C8B-B14F-4D97-AF65-F5344CB8AC3E}">
        <p14:creationId xmlns:p14="http://schemas.microsoft.com/office/powerpoint/2010/main" val="193932208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3076363" cy="511730"/>
          </a:xfrm>
          <a:prstGeom prst="rect">
            <a:avLst/>
          </a:prstGeom>
        </p:spPr>
        <p:txBody>
          <a:bodyPr vert="horz" lIns="99035" tIns="49517" rIns="99035" bIns="49517" rtlCol="0"/>
          <a:lstStyle>
            <a:lvl1pPr algn="l">
              <a:defRPr sz="1300"/>
            </a:lvl1pPr>
          </a:lstStyle>
          <a:p>
            <a:endParaRPr lang="zh-CN" altLang="en-US"/>
          </a:p>
        </p:txBody>
      </p:sp>
      <p:sp>
        <p:nvSpPr>
          <p:cNvPr id="3" name="Date Placeholder 2"/>
          <p:cNvSpPr>
            <a:spLocks noGrp="1"/>
          </p:cNvSpPr>
          <p:nvPr>
            <p:ph type="dt" idx="1"/>
          </p:nvPr>
        </p:nvSpPr>
        <p:spPr>
          <a:xfrm>
            <a:off x="4021295" y="0"/>
            <a:ext cx="3076363" cy="511730"/>
          </a:xfrm>
          <a:prstGeom prst="rect">
            <a:avLst/>
          </a:prstGeom>
        </p:spPr>
        <p:txBody>
          <a:bodyPr vert="horz" lIns="99035" tIns="49517" rIns="99035" bIns="49517" rtlCol="0"/>
          <a:lstStyle>
            <a:lvl1pPr algn="r">
              <a:defRPr sz="1300"/>
            </a:lvl1pPr>
          </a:lstStyle>
          <a:p>
            <a:fld id="{6F432B6D-A944-402B-96B6-E632575D7E79}" type="datetimeFigureOut">
              <a:rPr lang="zh-CN" altLang="en-US" smtClean="0"/>
              <a:pPr/>
              <a:t>2022/9/27</a:t>
            </a:fld>
            <a:endParaRPr lang="zh-CN" altLang="en-US"/>
          </a:p>
        </p:txBody>
      </p:sp>
      <p:sp>
        <p:nvSpPr>
          <p:cNvPr id="4" name="Slide Image Placeholder 3"/>
          <p:cNvSpPr>
            <a:spLocks noGrp="1" noRot="1" noChangeAspect="1"/>
          </p:cNvSpPr>
          <p:nvPr>
            <p:ph type="sldImg" idx="2"/>
          </p:nvPr>
        </p:nvSpPr>
        <p:spPr>
          <a:xfrm>
            <a:off x="992188" y="768350"/>
            <a:ext cx="5114925" cy="3836988"/>
          </a:xfrm>
          <a:prstGeom prst="rect">
            <a:avLst/>
          </a:prstGeom>
          <a:noFill/>
          <a:ln w="12700">
            <a:solidFill>
              <a:prstClr val="black"/>
            </a:solidFill>
          </a:ln>
        </p:spPr>
        <p:txBody>
          <a:bodyPr vert="horz" lIns="99035" tIns="49517" rIns="99035" bIns="49517" rtlCol="0" anchor="ctr"/>
          <a:lstStyle/>
          <a:p>
            <a:endParaRPr lang="zh-CN" altLang="en-US"/>
          </a:p>
        </p:txBody>
      </p:sp>
      <p:sp>
        <p:nvSpPr>
          <p:cNvPr id="5" name="Notes Placeholder 4"/>
          <p:cNvSpPr>
            <a:spLocks noGrp="1"/>
          </p:cNvSpPr>
          <p:nvPr>
            <p:ph type="body" sz="quarter" idx="3"/>
          </p:nvPr>
        </p:nvSpPr>
        <p:spPr>
          <a:xfrm>
            <a:off x="709930" y="4861443"/>
            <a:ext cx="5679440" cy="4605575"/>
          </a:xfrm>
          <a:prstGeom prst="rect">
            <a:avLst/>
          </a:prstGeom>
        </p:spPr>
        <p:txBody>
          <a:bodyPr vert="horz" lIns="99035" tIns="49517" rIns="99035" bIns="49517" rtlCol="0">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6" name="Footer Placeholder 5"/>
          <p:cNvSpPr>
            <a:spLocks noGrp="1"/>
          </p:cNvSpPr>
          <p:nvPr>
            <p:ph type="ftr" sz="quarter" idx="4"/>
          </p:nvPr>
        </p:nvSpPr>
        <p:spPr>
          <a:xfrm>
            <a:off x="1" y="9721106"/>
            <a:ext cx="3076363" cy="511730"/>
          </a:xfrm>
          <a:prstGeom prst="rect">
            <a:avLst/>
          </a:prstGeom>
        </p:spPr>
        <p:txBody>
          <a:bodyPr vert="horz" lIns="99035" tIns="49517" rIns="99035" bIns="49517" rtlCol="0" anchor="b"/>
          <a:lstStyle>
            <a:lvl1pPr algn="l">
              <a:defRPr sz="1300"/>
            </a:lvl1pPr>
          </a:lstStyle>
          <a:p>
            <a:endParaRPr lang="zh-CN" altLang="en-US"/>
          </a:p>
        </p:txBody>
      </p:sp>
      <p:sp>
        <p:nvSpPr>
          <p:cNvPr id="7" name="Slide Number Placeholder 6"/>
          <p:cNvSpPr>
            <a:spLocks noGrp="1"/>
          </p:cNvSpPr>
          <p:nvPr>
            <p:ph type="sldNum" sz="quarter" idx="5"/>
          </p:nvPr>
        </p:nvSpPr>
        <p:spPr>
          <a:xfrm>
            <a:off x="4021295" y="9721106"/>
            <a:ext cx="3076363" cy="511730"/>
          </a:xfrm>
          <a:prstGeom prst="rect">
            <a:avLst/>
          </a:prstGeom>
        </p:spPr>
        <p:txBody>
          <a:bodyPr vert="horz" lIns="99035" tIns="49517" rIns="99035" bIns="49517" rtlCol="0" anchor="b"/>
          <a:lstStyle>
            <a:lvl1pPr algn="r">
              <a:defRPr sz="1300"/>
            </a:lvl1pPr>
          </a:lstStyle>
          <a:p>
            <a:fld id="{AAC2F60A-152F-48D0-9141-43BF58F8A6C4}" type="slidenum">
              <a:rPr lang="zh-CN" altLang="en-US" smtClean="0"/>
              <a:pPr/>
              <a:t>‹#›</a:t>
            </a:fld>
            <a:endParaRPr lang="zh-CN" altLang="en-US"/>
          </a:p>
        </p:txBody>
      </p:sp>
    </p:spTree>
    <p:extLst>
      <p:ext uri="{BB962C8B-B14F-4D97-AF65-F5344CB8AC3E}">
        <p14:creationId xmlns:p14="http://schemas.microsoft.com/office/powerpoint/2010/main" val="40982573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04616FD-8EF1-4A9A-AF4E-7A1BA5EADBEC}" type="slidenum">
              <a:rPr lang="zh-CN" altLang="en-US" smtClean="0"/>
              <a:t>1</a:t>
            </a:fld>
            <a:endParaRPr lang="zh-CN" altLang="en-US"/>
          </a:p>
        </p:txBody>
      </p:sp>
    </p:spTree>
    <p:extLst>
      <p:ext uri="{BB962C8B-B14F-4D97-AF65-F5344CB8AC3E}">
        <p14:creationId xmlns:p14="http://schemas.microsoft.com/office/powerpoint/2010/main" val="29866146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49F3AD4-3AF9-45C6-A444-F10C73317975}" type="slidenum">
              <a:rPr lang="zh-CN" altLang="en-US" smtClean="0"/>
              <a:t>2</a:t>
            </a:fld>
            <a:endParaRPr lang="zh-CN" altLang="en-US"/>
          </a:p>
        </p:txBody>
      </p:sp>
    </p:spTree>
    <p:extLst>
      <p:ext uri="{BB962C8B-B14F-4D97-AF65-F5344CB8AC3E}">
        <p14:creationId xmlns:p14="http://schemas.microsoft.com/office/powerpoint/2010/main" val="38620714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49F3AD4-3AF9-45C6-A444-F10C73317975}" type="slidenum">
              <a:rPr lang="zh-CN" altLang="en-US" smtClean="0"/>
              <a:t>16</a:t>
            </a:fld>
            <a:endParaRPr lang="zh-CN" altLang="en-US"/>
          </a:p>
        </p:txBody>
      </p:sp>
    </p:spTree>
    <p:extLst>
      <p:ext uri="{BB962C8B-B14F-4D97-AF65-F5344CB8AC3E}">
        <p14:creationId xmlns:p14="http://schemas.microsoft.com/office/powerpoint/2010/main" val="38620714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49F3AD4-3AF9-45C6-A444-F10C73317975}" type="slidenum">
              <a:rPr lang="zh-CN" altLang="en-US" smtClean="0"/>
              <a:t>17</a:t>
            </a:fld>
            <a:endParaRPr lang="zh-CN" altLang="en-US"/>
          </a:p>
        </p:txBody>
      </p:sp>
    </p:spTree>
    <p:extLst>
      <p:ext uri="{BB962C8B-B14F-4D97-AF65-F5344CB8AC3E}">
        <p14:creationId xmlns:p14="http://schemas.microsoft.com/office/powerpoint/2010/main" val="20109753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49F3AD4-3AF9-45C6-A444-F10C73317975}" type="slidenum">
              <a:rPr lang="zh-CN" altLang="en-US" smtClean="0"/>
              <a:t>18</a:t>
            </a:fld>
            <a:endParaRPr lang="zh-CN" altLang="en-US"/>
          </a:p>
        </p:txBody>
      </p:sp>
    </p:spTree>
    <p:extLst>
      <p:ext uri="{BB962C8B-B14F-4D97-AF65-F5344CB8AC3E}">
        <p14:creationId xmlns:p14="http://schemas.microsoft.com/office/powerpoint/2010/main" val="338901279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49F3AD4-3AF9-45C6-A444-F10C73317975}" type="slidenum">
              <a:rPr lang="zh-CN" altLang="en-US" smtClean="0"/>
              <a:t>19</a:t>
            </a:fld>
            <a:endParaRPr lang="zh-CN" altLang="en-US"/>
          </a:p>
        </p:txBody>
      </p:sp>
    </p:spTree>
    <p:extLst>
      <p:ext uri="{BB962C8B-B14F-4D97-AF65-F5344CB8AC3E}">
        <p14:creationId xmlns:p14="http://schemas.microsoft.com/office/powerpoint/2010/main" val="24085926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AC2F60A-152F-48D0-9141-43BF58F8A6C4}" type="slidenum">
              <a:rPr lang="zh-CN" altLang="en-US" smtClean="0"/>
              <a:pPr/>
              <a:t>30</a:t>
            </a:fld>
            <a:endParaRPr lang="zh-CN" altLang="en-US"/>
          </a:p>
        </p:txBody>
      </p:sp>
    </p:spTree>
    <p:extLst>
      <p:ext uri="{BB962C8B-B14F-4D97-AF65-F5344CB8AC3E}">
        <p14:creationId xmlns:p14="http://schemas.microsoft.com/office/powerpoint/2010/main" val="12865099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kern="1200" dirty="0">
                <a:solidFill>
                  <a:schemeClr val="tx1"/>
                </a:solidFill>
                <a:effectLst/>
                <a:latin typeface="+mn-lt"/>
                <a:ea typeface="+mn-ea"/>
                <a:cs typeface="+mn-cs"/>
              </a:rPr>
              <a:t>Receiver Operating Characteristics (ROC) graphs have long</a:t>
            </a:r>
            <a:br>
              <a:rPr lang="en-US" altLang="zh-CN" sz="1200" b="0" i="0" kern="1200" dirty="0">
                <a:solidFill>
                  <a:schemeClr val="tx1"/>
                </a:solidFill>
                <a:effectLst/>
                <a:latin typeface="+mn-lt"/>
                <a:ea typeface="+mn-ea"/>
                <a:cs typeface="+mn-cs"/>
              </a:rPr>
            </a:br>
            <a:r>
              <a:rPr lang="en-US" altLang="zh-CN" sz="1200" b="0" i="0" kern="1200" dirty="0">
                <a:solidFill>
                  <a:schemeClr val="tx1"/>
                </a:solidFill>
                <a:effectLst/>
                <a:latin typeface="+mn-lt"/>
                <a:ea typeface="+mn-ea"/>
                <a:cs typeface="+mn-cs"/>
              </a:rPr>
              <a:t>been used in signal detection theory to depict the tradeoff</a:t>
            </a:r>
            <a:br>
              <a:rPr lang="en-US" altLang="zh-CN" sz="1200" b="0" i="0" kern="1200" dirty="0">
                <a:solidFill>
                  <a:schemeClr val="tx1"/>
                </a:solidFill>
                <a:effectLst/>
                <a:latin typeface="+mn-lt"/>
                <a:ea typeface="+mn-ea"/>
                <a:cs typeface="+mn-cs"/>
              </a:rPr>
            </a:br>
            <a:r>
              <a:rPr lang="en-US" altLang="zh-CN" sz="1200" b="0" i="0" kern="1200" dirty="0">
                <a:solidFill>
                  <a:schemeClr val="tx1"/>
                </a:solidFill>
                <a:effectLst/>
                <a:latin typeface="+mn-lt"/>
                <a:ea typeface="+mn-ea"/>
                <a:cs typeface="+mn-cs"/>
              </a:rPr>
              <a:t>between hit rates and false alarm rates over noisy channel</a:t>
            </a:r>
            <a:br>
              <a:rPr lang="en-US" altLang="zh-CN" dirty="0"/>
            </a:br>
            <a:br>
              <a:rPr lang="en-US" altLang="zh-CN" dirty="0"/>
            </a:br>
            <a:r>
              <a:rPr lang="en-US" altLang="zh-CN" sz="1200" b="0" i="0" kern="1200" dirty="0">
                <a:solidFill>
                  <a:schemeClr val="tx1"/>
                </a:solidFill>
                <a:effectLst/>
                <a:latin typeface="+mn-lt"/>
                <a:ea typeface="+mn-ea"/>
                <a:cs typeface="+mn-cs"/>
              </a:rPr>
              <a:t>Recent years have seen an increase in the use of ROC</a:t>
            </a:r>
            <a:br>
              <a:rPr lang="en-US" altLang="zh-CN" sz="1200" b="0" i="0" kern="1200" dirty="0">
                <a:solidFill>
                  <a:schemeClr val="tx1"/>
                </a:solidFill>
                <a:effectLst/>
                <a:latin typeface="+mn-lt"/>
                <a:ea typeface="+mn-ea"/>
                <a:cs typeface="+mn-cs"/>
              </a:rPr>
            </a:br>
            <a:r>
              <a:rPr lang="en-US" altLang="zh-CN" sz="1200" b="0" i="0" kern="1200" dirty="0">
                <a:solidFill>
                  <a:schemeClr val="tx1"/>
                </a:solidFill>
                <a:effectLst/>
                <a:latin typeface="+mn-lt"/>
                <a:ea typeface="+mn-ea"/>
                <a:cs typeface="+mn-cs"/>
              </a:rPr>
              <a:t>graphs in the machine learning community</a:t>
            </a:r>
            <a:br>
              <a:rPr lang="en-US" altLang="zh-CN" dirty="0"/>
            </a:br>
            <a:br>
              <a:rPr lang="en-US" altLang="zh-CN" dirty="0"/>
            </a:br>
            <a:endParaRPr lang="zh-CN" altLang="en-US" dirty="0"/>
          </a:p>
        </p:txBody>
      </p:sp>
      <p:sp>
        <p:nvSpPr>
          <p:cNvPr id="4" name="灯片编号占位符 3"/>
          <p:cNvSpPr>
            <a:spLocks noGrp="1"/>
          </p:cNvSpPr>
          <p:nvPr>
            <p:ph type="sldNum" sz="quarter" idx="10"/>
          </p:nvPr>
        </p:nvSpPr>
        <p:spPr/>
        <p:txBody>
          <a:bodyPr/>
          <a:lstStyle/>
          <a:p>
            <a:fld id="{AAC2F60A-152F-48D0-9141-43BF58F8A6C4}" type="slidenum">
              <a:rPr lang="zh-CN" altLang="en-US" smtClean="0"/>
              <a:pPr/>
              <a:t>31</a:t>
            </a:fld>
            <a:endParaRPr lang="zh-CN" altLang="en-US"/>
          </a:p>
        </p:txBody>
      </p:sp>
    </p:spTree>
    <p:extLst>
      <p:ext uri="{BB962C8B-B14F-4D97-AF65-F5344CB8AC3E}">
        <p14:creationId xmlns:p14="http://schemas.microsoft.com/office/powerpoint/2010/main" val="50923410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kern="1200" dirty="0">
                <a:solidFill>
                  <a:schemeClr val="tx1"/>
                </a:solidFill>
                <a:effectLst/>
                <a:latin typeface="+mn-lt"/>
                <a:ea typeface="+mn-ea"/>
                <a:cs typeface="+mn-cs"/>
              </a:rPr>
              <a:t>Receiver Operating Characteristics (ROC) graphs have long</a:t>
            </a:r>
            <a:br>
              <a:rPr lang="en-US" altLang="zh-CN" sz="1200" b="0" i="0" kern="1200" dirty="0">
                <a:solidFill>
                  <a:schemeClr val="tx1"/>
                </a:solidFill>
                <a:effectLst/>
                <a:latin typeface="+mn-lt"/>
                <a:ea typeface="+mn-ea"/>
                <a:cs typeface="+mn-cs"/>
              </a:rPr>
            </a:br>
            <a:r>
              <a:rPr lang="en-US" altLang="zh-CN" sz="1200" b="0" i="0" kern="1200" dirty="0">
                <a:solidFill>
                  <a:schemeClr val="tx1"/>
                </a:solidFill>
                <a:effectLst/>
                <a:latin typeface="+mn-lt"/>
                <a:ea typeface="+mn-ea"/>
                <a:cs typeface="+mn-cs"/>
              </a:rPr>
              <a:t>been used in signal detection theory to depict the tradeoff</a:t>
            </a:r>
            <a:br>
              <a:rPr lang="en-US" altLang="zh-CN" sz="1200" b="0" i="0" kern="1200" dirty="0">
                <a:solidFill>
                  <a:schemeClr val="tx1"/>
                </a:solidFill>
                <a:effectLst/>
                <a:latin typeface="+mn-lt"/>
                <a:ea typeface="+mn-ea"/>
                <a:cs typeface="+mn-cs"/>
              </a:rPr>
            </a:br>
            <a:r>
              <a:rPr lang="en-US" altLang="zh-CN" sz="1200" b="0" i="0" kern="1200" dirty="0">
                <a:solidFill>
                  <a:schemeClr val="tx1"/>
                </a:solidFill>
                <a:effectLst/>
                <a:latin typeface="+mn-lt"/>
                <a:ea typeface="+mn-ea"/>
                <a:cs typeface="+mn-cs"/>
              </a:rPr>
              <a:t>between hit rates and false alarm rates over noisy channel</a:t>
            </a:r>
            <a:br>
              <a:rPr lang="en-US" altLang="zh-CN" dirty="0"/>
            </a:br>
            <a:br>
              <a:rPr lang="en-US" altLang="zh-CN" dirty="0"/>
            </a:br>
            <a:r>
              <a:rPr lang="en-US" altLang="zh-CN" sz="1200" b="0" i="0" kern="1200" dirty="0">
                <a:solidFill>
                  <a:schemeClr val="tx1"/>
                </a:solidFill>
                <a:effectLst/>
                <a:latin typeface="+mn-lt"/>
                <a:ea typeface="+mn-ea"/>
                <a:cs typeface="+mn-cs"/>
              </a:rPr>
              <a:t>Recent years have seen an increase in the use of ROC</a:t>
            </a:r>
            <a:br>
              <a:rPr lang="en-US" altLang="zh-CN" sz="1200" b="0" i="0" kern="1200" dirty="0">
                <a:solidFill>
                  <a:schemeClr val="tx1"/>
                </a:solidFill>
                <a:effectLst/>
                <a:latin typeface="+mn-lt"/>
                <a:ea typeface="+mn-ea"/>
                <a:cs typeface="+mn-cs"/>
              </a:rPr>
            </a:br>
            <a:r>
              <a:rPr lang="en-US" altLang="zh-CN" sz="1200" b="0" i="0" kern="1200" dirty="0">
                <a:solidFill>
                  <a:schemeClr val="tx1"/>
                </a:solidFill>
                <a:effectLst/>
                <a:latin typeface="+mn-lt"/>
                <a:ea typeface="+mn-ea"/>
                <a:cs typeface="+mn-cs"/>
              </a:rPr>
              <a:t>graphs in the machine learning community</a:t>
            </a:r>
            <a:br>
              <a:rPr lang="en-US" altLang="zh-CN" dirty="0"/>
            </a:br>
            <a:br>
              <a:rPr lang="en-US" altLang="zh-CN" dirty="0"/>
            </a:br>
            <a:endParaRPr lang="zh-CN" altLang="en-US" dirty="0"/>
          </a:p>
        </p:txBody>
      </p:sp>
      <p:sp>
        <p:nvSpPr>
          <p:cNvPr id="4" name="灯片编号占位符 3"/>
          <p:cNvSpPr>
            <a:spLocks noGrp="1"/>
          </p:cNvSpPr>
          <p:nvPr>
            <p:ph type="sldNum" sz="quarter" idx="10"/>
          </p:nvPr>
        </p:nvSpPr>
        <p:spPr/>
        <p:txBody>
          <a:bodyPr/>
          <a:lstStyle/>
          <a:p>
            <a:fld id="{AAC2F60A-152F-48D0-9141-43BF58F8A6C4}" type="slidenum">
              <a:rPr lang="zh-CN" altLang="en-US" smtClean="0"/>
              <a:pPr/>
              <a:t>32</a:t>
            </a:fld>
            <a:endParaRPr lang="zh-CN" altLang="en-US"/>
          </a:p>
        </p:txBody>
      </p:sp>
    </p:spTree>
    <p:extLst>
      <p:ext uri="{BB962C8B-B14F-4D97-AF65-F5344CB8AC3E}">
        <p14:creationId xmlns:p14="http://schemas.microsoft.com/office/powerpoint/2010/main" val="20838009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kern="1200" dirty="0">
                <a:solidFill>
                  <a:schemeClr val="tx1"/>
                </a:solidFill>
                <a:effectLst/>
                <a:latin typeface="+mn-lt"/>
                <a:ea typeface="+mn-ea"/>
                <a:cs typeface="+mn-cs"/>
              </a:rPr>
              <a:t>Receiver Operating Characteristics (ROC) graphs have long</a:t>
            </a:r>
            <a:br>
              <a:rPr lang="en-US" altLang="zh-CN" sz="1200" b="0" i="0" kern="1200" dirty="0">
                <a:solidFill>
                  <a:schemeClr val="tx1"/>
                </a:solidFill>
                <a:effectLst/>
                <a:latin typeface="+mn-lt"/>
                <a:ea typeface="+mn-ea"/>
                <a:cs typeface="+mn-cs"/>
              </a:rPr>
            </a:br>
            <a:r>
              <a:rPr lang="en-US" altLang="zh-CN" sz="1200" b="0" i="0" kern="1200" dirty="0">
                <a:solidFill>
                  <a:schemeClr val="tx1"/>
                </a:solidFill>
                <a:effectLst/>
                <a:latin typeface="+mn-lt"/>
                <a:ea typeface="+mn-ea"/>
                <a:cs typeface="+mn-cs"/>
              </a:rPr>
              <a:t>been used in signal detection theory to depict the tradeoff</a:t>
            </a:r>
            <a:br>
              <a:rPr lang="en-US" altLang="zh-CN" sz="1200" b="0" i="0" kern="1200" dirty="0">
                <a:solidFill>
                  <a:schemeClr val="tx1"/>
                </a:solidFill>
                <a:effectLst/>
                <a:latin typeface="+mn-lt"/>
                <a:ea typeface="+mn-ea"/>
                <a:cs typeface="+mn-cs"/>
              </a:rPr>
            </a:br>
            <a:r>
              <a:rPr lang="en-US" altLang="zh-CN" sz="1200" b="0" i="0" kern="1200" dirty="0">
                <a:solidFill>
                  <a:schemeClr val="tx1"/>
                </a:solidFill>
                <a:effectLst/>
                <a:latin typeface="+mn-lt"/>
                <a:ea typeface="+mn-ea"/>
                <a:cs typeface="+mn-cs"/>
              </a:rPr>
              <a:t>between hit rates and false alarm rates over noisy channel</a:t>
            </a:r>
            <a:br>
              <a:rPr lang="en-US" altLang="zh-CN" dirty="0"/>
            </a:br>
            <a:br>
              <a:rPr lang="en-US" altLang="zh-CN" dirty="0"/>
            </a:br>
            <a:r>
              <a:rPr lang="en-US" altLang="zh-CN" sz="1200" b="0" i="0" kern="1200" dirty="0">
                <a:solidFill>
                  <a:schemeClr val="tx1"/>
                </a:solidFill>
                <a:effectLst/>
                <a:latin typeface="+mn-lt"/>
                <a:ea typeface="+mn-ea"/>
                <a:cs typeface="+mn-cs"/>
              </a:rPr>
              <a:t>Recent years have seen an increase in the use of ROC</a:t>
            </a:r>
            <a:br>
              <a:rPr lang="en-US" altLang="zh-CN" sz="1200" b="0" i="0" kern="1200" dirty="0">
                <a:solidFill>
                  <a:schemeClr val="tx1"/>
                </a:solidFill>
                <a:effectLst/>
                <a:latin typeface="+mn-lt"/>
                <a:ea typeface="+mn-ea"/>
                <a:cs typeface="+mn-cs"/>
              </a:rPr>
            </a:br>
            <a:r>
              <a:rPr lang="en-US" altLang="zh-CN" sz="1200" b="0" i="0" kern="1200" dirty="0">
                <a:solidFill>
                  <a:schemeClr val="tx1"/>
                </a:solidFill>
                <a:effectLst/>
                <a:latin typeface="+mn-lt"/>
                <a:ea typeface="+mn-ea"/>
                <a:cs typeface="+mn-cs"/>
              </a:rPr>
              <a:t>graphs in the machine learning community</a:t>
            </a:r>
            <a:br>
              <a:rPr lang="en-US" altLang="zh-CN" dirty="0"/>
            </a:br>
            <a:br>
              <a:rPr lang="en-US" altLang="zh-CN" dirty="0"/>
            </a:br>
            <a:endParaRPr lang="zh-CN" altLang="en-US" dirty="0"/>
          </a:p>
        </p:txBody>
      </p:sp>
      <p:sp>
        <p:nvSpPr>
          <p:cNvPr id="4" name="灯片编号占位符 3"/>
          <p:cNvSpPr>
            <a:spLocks noGrp="1"/>
          </p:cNvSpPr>
          <p:nvPr>
            <p:ph type="sldNum" sz="quarter" idx="10"/>
          </p:nvPr>
        </p:nvSpPr>
        <p:spPr/>
        <p:txBody>
          <a:bodyPr/>
          <a:lstStyle/>
          <a:p>
            <a:fld id="{AAC2F60A-152F-48D0-9141-43BF58F8A6C4}" type="slidenum">
              <a:rPr lang="zh-CN" altLang="en-US" smtClean="0"/>
              <a:pPr/>
              <a:t>33</a:t>
            </a:fld>
            <a:endParaRPr lang="zh-CN" altLang="en-US"/>
          </a:p>
        </p:txBody>
      </p:sp>
    </p:spTree>
    <p:extLst>
      <p:ext uri="{BB962C8B-B14F-4D97-AF65-F5344CB8AC3E}">
        <p14:creationId xmlns:p14="http://schemas.microsoft.com/office/powerpoint/2010/main" val="33252236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74DF1B9A-E6E9-40BD-AB45-02F7B361E448}" type="datetime1">
              <a:rPr lang="en-US" smtClean="0"/>
              <a:pPr/>
              <a:t>9/27/22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b="1">
                <a:effectLst>
                  <a:outerShdw blurRad="38100" dist="38100" dir="2700000" algn="tl">
                    <a:srgbClr val="000000">
                      <a:alpha val="43137"/>
                    </a:srgbClr>
                  </a:outerShdw>
                </a:effectLst>
                <a:latin typeface="+mj-lt"/>
                <a:cs typeface="Angsana New" pitchFamily="18" charset="-34"/>
              </a:defRPr>
            </a:lvl1pPr>
          </a:lstStyle>
          <a:p>
            <a:r>
              <a:rPr lang="en-US" dirty="0"/>
              <a:t>Click to edit Master title style</a:t>
            </a:r>
          </a:p>
        </p:txBody>
      </p:sp>
      <p:sp>
        <p:nvSpPr>
          <p:cNvPr id="3" name="Content Placeholder 2"/>
          <p:cNvSpPr>
            <a:spLocks noGrp="1"/>
          </p:cNvSpPr>
          <p:nvPr>
            <p:ph idx="1"/>
          </p:nvPr>
        </p:nvSpPr>
        <p:spPr/>
        <p:txBody>
          <a:bodyPr>
            <a:normAutofit/>
          </a:bodyPr>
          <a:lstStyle>
            <a:lvl1pPr>
              <a:defRPr sz="2800">
                <a:latin typeface="+mj-lt"/>
                <a:cs typeface="Angsana New" pitchFamily="18" charset="-34"/>
              </a:defRPr>
            </a:lvl1pPr>
            <a:lvl2pPr>
              <a:defRPr sz="2400">
                <a:latin typeface="+mj-lt"/>
                <a:cs typeface="Angsana New" pitchFamily="18" charset="-34"/>
              </a:defRPr>
            </a:lvl2pPr>
            <a:lvl3pPr>
              <a:defRPr sz="2000">
                <a:latin typeface="+mj-lt"/>
                <a:cs typeface="Angsana New" pitchFamily="18" charset="-34"/>
              </a:defRPr>
            </a:lvl3pPr>
            <a:lvl4pPr>
              <a:defRPr sz="1800">
                <a:latin typeface="+mj-lt"/>
                <a:cs typeface="Angsana New" pitchFamily="18" charset="-34"/>
              </a:defRPr>
            </a:lvl4pPr>
            <a:lvl5pPr>
              <a:defRPr sz="1800">
                <a:latin typeface="+mj-lt"/>
                <a:cs typeface="Angsana New" pitchFamily="18" charset="-34"/>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lvl1pPr>
              <a:defRPr sz="1200">
                <a:latin typeface="+mj-lt"/>
                <a:cs typeface="Angsana New" pitchFamily="18" charset="-34"/>
              </a:defRPr>
            </a:lvl1pPr>
          </a:lstStyle>
          <a:p>
            <a:fld id="{3A54F689-37E2-4F27-9396-B6464EACF2ED}" type="datetime1">
              <a:rPr lang="en-US" smtClean="0"/>
              <a:pPr/>
              <a:t>9/27/22</a:t>
            </a:fld>
            <a:endParaRPr lang="en-US"/>
          </a:p>
        </p:txBody>
      </p:sp>
      <p:sp>
        <p:nvSpPr>
          <p:cNvPr id="5" name="Footer Placeholder 4"/>
          <p:cNvSpPr>
            <a:spLocks noGrp="1"/>
          </p:cNvSpPr>
          <p:nvPr>
            <p:ph type="ftr" sz="quarter" idx="11"/>
          </p:nvPr>
        </p:nvSpPr>
        <p:spPr/>
        <p:txBody>
          <a:bodyPr/>
          <a:lstStyle>
            <a:lvl1pPr>
              <a:defRPr sz="1200">
                <a:latin typeface="+mj-lt"/>
                <a:cs typeface="Angsana New" pitchFamily="18" charset="-34"/>
              </a:defRPr>
            </a:lvl1pPr>
          </a:lstStyle>
          <a:p>
            <a:endParaRPr lang="en-US"/>
          </a:p>
        </p:txBody>
      </p:sp>
      <p:sp>
        <p:nvSpPr>
          <p:cNvPr id="6" name="Slide Number Placeholder 5"/>
          <p:cNvSpPr>
            <a:spLocks noGrp="1"/>
          </p:cNvSpPr>
          <p:nvPr>
            <p:ph type="sldNum" sz="quarter" idx="12"/>
          </p:nvPr>
        </p:nvSpPr>
        <p:spPr/>
        <p:txBody>
          <a:bodyPr/>
          <a:lstStyle>
            <a:lvl1pPr>
              <a:defRPr sz="1200">
                <a:latin typeface="+mj-lt"/>
                <a:cs typeface="Angsana New" pitchFamily="18" charset="-34"/>
              </a:defRPr>
            </a:lvl1pPr>
          </a:lstStyle>
          <a:p>
            <a:fld id="{B6F15528-21DE-4FAA-801E-634DDDAF4B2B}"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31A1324-85EF-43B5-B913-F6869D5AA6A9}" type="datetime1">
              <a:rPr lang="en-US" smtClean="0"/>
              <a:pPr/>
              <a:t>9/27/22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0CB81C05-8AD2-444A-B900-853AA69F0259}" type="datetime1">
              <a:rPr lang="en-US" smtClean="0"/>
              <a:pPr/>
              <a:t>9/27/22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9DD4204-EBB1-4322-BFB3-7A1AA1EEECDF}" type="datetime1">
              <a:rPr lang="en-US" smtClean="0"/>
              <a:pPr/>
              <a:t>9/27/22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84CA418-7262-4828-80FA-FA46C6F9EB92}" type="datetime1">
              <a:rPr lang="en-US" smtClean="0"/>
              <a:pPr/>
              <a:t>9/27/22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1B51F73-96D6-4881-BD49-28237B3FC7B7}" type="datetime1">
              <a:rPr lang="en-US" smtClean="0"/>
              <a:pPr/>
              <a:t>9/27/22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977B802-0F5D-472D-9995-6A46374EE0ED}" type="datetime1">
              <a:rPr lang="en-US" smtClean="0"/>
              <a:pPr/>
              <a:t>9/27/22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051B82E-E033-47D0-A174-F7B28D0260B7}" type="datetime1">
              <a:rPr lang="en-US" smtClean="0"/>
              <a:pPr/>
              <a:t>9/27/22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EB9D80F-77A2-421A-88FE-2BECDF0FDDCD}" type="datetime1">
              <a:rPr lang="en-US" smtClean="0"/>
              <a:pPr/>
              <a:t>9/27/22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1EF8F8A-92C3-4CF8-B3AB-78E94E20ECBA}" type="datetime1">
              <a:rPr lang="en-US" smtClean="0"/>
              <a:pPr/>
              <a:t>9/27/22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latin typeface="Mongolian Baiti" pitchFamily="66" charset="0"/>
                <a:cs typeface="Mongolian Baiti" pitchFamily="66" charset="0"/>
              </a:defRPr>
            </a:lvl1pPr>
          </a:lstStyle>
          <a:p>
            <a:fld id="{190A0841-68FC-48E5-AEB7-1EEAF48CF6EC}" type="datetime1">
              <a:rPr lang="en-US" smtClean="0"/>
              <a:pPr/>
              <a:t>9/27/22</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latin typeface="Mongolian Baiti" pitchFamily="66" charset="0"/>
                <a:cs typeface="Mongolian Baiti" pitchFamily="66" charset="0"/>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latin typeface="Mongolian Baiti" pitchFamily="66" charset="0"/>
                <a:cs typeface="Mongolian Baiti" pitchFamily="66" charset="0"/>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ongolian Baiti" pitchFamily="66" charset="0"/>
          <a:ea typeface="+mj-ea"/>
          <a:cs typeface="Mongolian Baiti" pitchFamily="66" charset="0"/>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ongolian Baiti" pitchFamily="66" charset="0"/>
          <a:ea typeface="+mn-ea"/>
          <a:cs typeface="Mongolian Baiti" pitchFamily="66"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ongolian Baiti" pitchFamily="66" charset="0"/>
          <a:ea typeface="+mn-ea"/>
          <a:cs typeface="Mongolian Baiti" pitchFamily="66"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ongolian Baiti" pitchFamily="66" charset="0"/>
          <a:ea typeface="+mn-ea"/>
          <a:cs typeface="Mongolian Baiti" pitchFamily="66"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ongolian Baiti" pitchFamily="66" charset="0"/>
          <a:ea typeface="+mn-ea"/>
          <a:cs typeface="Mongolian Baiti" pitchFamily="66"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ongolian Baiti" pitchFamily="66" charset="0"/>
          <a:ea typeface="+mn-ea"/>
          <a:cs typeface="Mongolian Baiti" pitchFamily="66"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740.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750.png"/><Relationship Id="rId2" Type="http://schemas.openxmlformats.org/officeDocument/2006/relationships/image" Target="../media/image2.tmp"/><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3.tmp"/><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hyperlink" Target="https://en.wikipedia.org/wiki/Bradley_Efron" TargetMode="Externa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780.png"/><Relationship Id="rId2" Type="http://schemas.openxmlformats.org/officeDocument/2006/relationships/image" Target="../media/image770.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5.tmp"/><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5.tmp"/><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5.tmp"/><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22.xml.rels><?xml version="1.0" encoding="UTF-8" standalone="yes"?>
<Relationships xmlns="http://schemas.openxmlformats.org/package/2006/relationships"><Relationship Id="rId3" Type="http://schemas.openxmlformats.org/officeDocument/2006/relationships/image" Target="../media/image5.tmp"/><Relationship Id="rId2" Type="http://schemas.openxmlformats.org/officeDocument/2006/relationships/image" Target="../media/image16.png"/><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7.png"/></Relationships>
</file>

<file path=ppt/slides/_rels/slide23.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5.tmp"/><Relationship Id="rId7" Type="http://schemas.openxmlformats.org/officeDocument/2006/relationships/image" Target="../media/image23.png"/><Relationship Id="rId2" Type="http://schemas.openxmlformats.org/officeDocument/2006/relationships/image" Target="../media/image19.png"/><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10" Type="http://schemas.openxmlformats.org/officeDocument/2006/relationships/image" Target="../media/image26.png"/><Relationship Id="rId4" Type="http://schemas.openxmlformats.org/officeDocument/2006/relationships/image" Target="../media/image20.png"/><Relationship Id="rId9" Type="http://schemas.openxmlformats.org/officeDocument/2006/relationships/image" Target="../media/image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5.tmp"/><Relationship Id="rId2" Type="http://schemas.openxmlformats.org/officeDocument/2006/relationships/image" Target="../media/image7.tmp"/><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7.tmp"/><Relationship Id="rId2" Type="http://schemas.openxmlformats.org/officeDocument/2006/relationships/image" Target="../media/image8.tmp"/><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8.tmp"/><Relationship Id="rId2" Type="http://schemas.openxmlformats.org/officeDocument/2006/relationships/image" Target="../media/image9.tmp"/><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0.tmp"/><Relationship Id="rId2" Type="http://schemas.openxmlformats.org/officeDocument/2006/relationships/image" Target="../media/image9.tmp"/><Relationship Id="rId1" Type="http://schemas.openxmlformats.org/officeDocument/2006/relationships/slideLayout" Target="../slideLayouts/slideLayout2.xml"/><Relationship Id="rId6" Type="http://schemas.openxmlformats.org/officeDocument/2006/relationships/image" Target="../media/image8.tmp"/><Relationship Id="rId5" Type="http://schemas.openxmlformats.org/officeDocument/2006/relationships/image" Target="../media/image7.tmp"/><Relationship Id="rId4" Type="http://schemas.openxmlformats.org/officeDocument/2006/relationships/image" Target="../media/image11.tmp"/></Relationships>
</file>

<file path=ppt/slides/_rels/slide2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8.tmp"/><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90.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5.tmp"/></Relationships>
</file>

<file path=ppt/slides/_rels/slide31.xml.rels><?xml version="1.0" encoding="UTF-8" standalone="yes"?>
<Relationships xmlns="http://schemas.openxmlformats.org/package/2006/relationships"><Relationship Id="rId3" Type="http://schemas.openxmlformats.org/officeDocument/2006/relationships/image" Target="../media/image5.tmp"/><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hyperlink" Target="https://www.ncbi.nlm.nih.gov/books/NBK22319/" TargetMode="External"/></Relationships>
</file>

<file path=ppt/slides/_rels/slide32.xml.rels><?xml version="1.0" encoding="UTF-8" standalone="yes"?>
<Relationships xmlns="http://schemas.openxmlformats.org/package/2006/relationships"><Relationship Id="rId3" Type="http://schemas.openxmlformats.org/officeDocument/2006/relationships/image" Target="../media/image5.tmp"/><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34.png"/><Relationship Id="rId4" Type="http://schemas.openxmlformats.org/officeDocument/2006/relationships/image" Target="../media/image12.tmp"/></Relationships>
</file>

<file path=ppt/slides/_rels/slide33.xml.rels><?xml version="1.0" encoding="UTF-8" standalone="yes"?>
<Relationships xmlns="http://schemas.openxmlformats.org/package/2006/relationships"><Relationship Id="rId3" Type="http://schemas.openxmlformats.org/officeDocument/2006/relationships/image" Target="../media/image5.tmp"/><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12.tmp"/><Relationship Id="rId4" Type="http://schemas.openxmlformats.org/officeDocument/2006/relationships/image" Target="../media/image220.png"/></Relationships>
</file>

<file path=ppt/slides/_rels/slide3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3.tmp"/><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40.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5.tmp"/><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5.tmp"/><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7.tmp"/><Relationship Id="rId2" Type="http://schemas.openxmlformats.org/officeDocument/2006/relationships/image" Target="../media/image16.tmp"/><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9.tmp"/><Relationship Id="rId2" Type="http://schemas.openxmlformats.org/officeDocument/2006/relationships/image" Target="../media/image18.tmp"/><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1.tmp"/><Relationship Id="rId2" Type="http://schemas.openxmlformats.org/officeDocument/2006/relationships/image" Target="../media/image20.tmp"/><Relationship Id="rId1" Type="http://schemas.openxmlformats.org/officeDocument/2006/relationships/slideLayout" Target="../slideLayouts/slideLayout2.xml"/><Relationship Id="rId5" Type="http://schemas.openxmlformats.org/officeDocument/2006/relationships/image" Target="../media/image23.tmp"/><Relationship Id="rId4" Type="http://schemas.openxmlformats.org/officeDocument/2006/relationships/image" Target="../media/image22.tmp"/></Relationships>
</file>

<file path=ppt/slides/_rels/slide4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4.tmp"/><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image" Target="../media/image66.png"/><Relationship Id="rId7" Type="http://schemas.openxmlformats.org/officeDocument/2006/relationships/image" Target="../media/image700.png"/><Relationship Id="rId2" Type="http://schemas.openxmlformats.org/officeDocument/2006/relationships/image" Target="../media/image65.png"/><Relationship Id="rId1" Type="http://schemas.openxmlformats.org/officeDocument/2006/relationships/slideLayout" Target="../slideLayouts/slideLayout7.xml"/><Relationship Id="rId6" Type="http://schemas.openxmlformats.org/officeDocument/2006/relationships/image" Target="../media/image69.png"/><Relationship Id="rId5" Type="http://schemas.openxmlformats.org/officeDocument/2006/relationships/image" Target="../media/image680.png"/><Relationship Id="rId4" Type="http://schemas.openxmlformats.org/officeDocument/2006/relationships/image" Target="../media/image67.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image" Target="../media/image36.tmp"/><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30894" y="2546256"/>
            <a:ext cx="8896282" cy="715581"/>
          </a:xfrm>
          <a:prstGeom prst="rect">
            <a:avLst/>
          </a:prstGeom>
          <a:noFill/>
        </p:spPr>
        <p:txBody>
          <a:bodyPr wrap="none" rtlCol="0">
            <a:spAutoFit/>
          </a:bodyPr>
          <a:lstStyle/>
          <a:p>
            <a:r>
              <a:rPr lang="en-US" altLang="zh-CN" sz="4050" b="1"/>
              <a:t>Machine Learning </a:t>
            </a:r>
            <a:r>
              <a:rPr lang="en-US" altLang="zh-CN" sz="4050" b="1" dirty="0"/>
              <a:t>&amp; Pattern Recognition</a:t>
            </a:r>
            <a:endParaRPr lang="zh-CN" altLang="en-US" sz="4050" b="1" dirty="0"/>
          </a:p>
        </p:txBody>
      </p:sp>
      <p:sp>
        <p:nvSpPr>
          <p:cNvPr id="3" name="灯片编号占位符 2"/>
          <p:cNvSpPr>
            <a:spLocks noGrp="1"/>
          </p:cNvSpPr>
          <p:nvPr>
            <p:ph type="sldNum" sz="quarter" idx="4294967295"/>
          </p:nvPr>
        </p:nvSpPr>
        <p:spPr>
          <a:xfrm>
            <a:off x="6457950" y="5624513"/>
            <a:ext cx="2057400" cy="273844"/>
          </a:xfrm>
          <a:prstGeom prst="rect">
            <a:avLst/>
          </a:prstGeom>
        </p:spPr>
        <p:txBody>
          <a:bodyPr/>
          <a:lstStyle/>
          <a:p>
            <a:fld id="{C9CC7982-047F-42D2-9F1B-07D23845D18E}" type="slidenum">
              <a:rPr lang="zh-CN" altLang="en-US" smtClean="0"/>
              <a:t>1</a:t>
            </a:fld>
            <a:endParaRPr lang="zh-CN" altLang="en-US"/>
          </a:p>
        </p:txBody>
      </p:sp>
      <p:sp>
        <p:nvSpPr>
          <p:cNvPr id="5" name="矩形 3">
            <a:extLst>
              <a:ext uri="{FF2B5EF4-FFF2-40B4-BE49-F238E27FC236}">
                <a16:creationId xmlns:a16="http://schemas.microsoft.com/office/drawing/2014/main" id="{FA8EABD5-7DAF-FB46-8207-E57C69F8AB29}"/>
              </a:ext>
            </a:extLst>
          </p:cNvPr>
          <p:cNvSpPr/>
          <p:nvPr/>
        </p:nvSpPr>
        <p:spPr>
          <a:xfrm>
            <a:off x="2590800" y="3886200"/>
            <a:ext cx="3821239" cy="1495474"/>
          </a:xfrm>
          <a:prstGeom prst="rect">
            <a:avLst/>
          </a:prstGeom>
        </p:spPr>
        <p:txBody>
          <a:bodyPr wrap="none">
            <a:spAutoFit/>
          </a:bodyPr>
          <a:lstStyle/>
          <a:p>
            <a:pPr algn="ctr">
              <a:lnSpc>
                <a:spcPct val="115000"/>
              </a:lnSpc>
              <a:spcAft>
                <a:spcPts val="600"/>
              </a:spcAft>
            </a:pPr>
            <a:r>
              <a:rPr lang="en-US" altLang="zh-CN" sz="2400" b="1" dirty="0">
                <a:solidFill>
                  <a:prstClr val="black"/>
                </a:solidFill>
                <a:ea typeface="微软雅黑" panose="020B0503020204020204" pitchFamily="34" charset="-122"/>
                <a:cs typeface="Times New Roman" panose="02020603050405020304" pitchFamily="18" charset="0"/>
              </a:rPr>
              <a:t>Xin Xin(</a:t>
            </a:r>
            <a:r>
              <a:rPr lang="zh-CN" altLang="en-US" sz="2400" b="1" dirty="0">
                <a:solidFill>
                  <a:prstClr val="black"/>
                </a:solidFill>
                <a:ea typeface="微软雅黑" panose="020B0503020204020204" pitchFamily="34" charset="-122"/>
                <a:cs typeface="Times New Roman" panose="02020603050405020304" pitchFamily="18" charset="0"/>
              </a:rPr>
              <a:t>辛鑫</a:t>
            </a:r>
            <a:r>
              <a:rPr lang="en-US" altLang="zh-CN" sz="2400" b="1" dirty="0">
                <a:solidFill>
                  <a:prstClr val="black"/>
                </a:solidFill>
                <a:ea typeface="微软雅黑" panose="020B0503020204020204" pitchFamily="34" charset="-122"/>
                <a:cs typeface="Times New Roman" panose="02020603050405020304" pitchFamily="18" charset="0"/>
              </a:rPr>
              <a:t>)</a:t>
            </a:r>
          </a:p>
          <a:p>
            <a:pPr algn="ctr">
              <a:lnSpc>
                <a:spcPct val="115000"/>
              </a:lnSpc>
              <a:spcAft>
                <a:spcPts val="600"/>
              </a:spcAft>
            </a:pPr>
            <a:r>
              <a:rPr lang="en-US" altLang="zh-CN" sz="2400" b="1" dirty="0" err="1">
                <a:solidFill>
                  <a:prstClr val="black"/>
                </a:solidFill>
                <a:ea typeface="微软雅黑" panose="020B0503020204020204" pitchFamily="34" charset="-122"/>
                <a:cs typeface="Times New Roman" panose="02020603050405020304" pitchFamily="18" charset="0"/>
              </a:rPr>
              <a:t>xinxin@sdu.edu.cn</a:t>
            </a:r>
            <a:endParaRPr lang="en-US" altLang="zh-CN" sz="2400" b="1" dirty="0">
              <a:solidFill>
                <a:prstClr val="black"/>
              </a:solidFill>
              <a:ea typeface="微软雅黑" panose="020B0503020204020204" pitchFamily="34" charset="-122"/>
              <a:cs typeface="Times New Roman" panose="02020603050405020304" pitchFamily="18" charset="0"/>
            </a:endParaRPr>
          </a:p>
          <a:p>
            <a:pPr algn="ctr">
              <a:lnSpc>
                <a:spcPct val="115000"/>
              </a:lnSpc>
              <a:spcAft>
                <a:spcPts val="600"/>
              </a:spcAft>
            </a:pPr>
            <a:r>
              <a:rPr lang="en-US" altLang="zh-CN" sz="2400" b="1" dirty="0">
                <a:solidFill>
                  <a:prstClr val="black"/>
                </a:solidFill>
                <a:ea typeface="微软雅黑" panose="020B0503020204020204" pitchFamily="34" charset="-122"/>
                <a:cs typeface="Times New Roman" panose="02020603050405020304" pitchFamily="18" charset="0"/>
              </a:rPr>
              <a:t>https://</a:t>
            </a:r>
            <a:r>
              <a:rPr lang="en-US" altLang="zh-CN" sz="2400" b="1" dirty="0" err="1">
                <a:solidFill>
                  <a:prstClr val="black"/>
                </a:solidFill>
                <a:ea typeface="微软雅黑" panose="020B0503020204020204" pitchFamily="34" charset="-122"/>
                <a:cs typeface="Times New Roman" panose="02020603050405020304" pitchFamily="18" charset="0"/>
              </a:rPr>
              <a:t>xinxin-me.github.io</a:t>
            </a:r>
            <a:r>
              <a:rPr lang="en-US" altLang="zh-CN" sz="2400" b="1" dirty="0">
                <a:solidFill>
                  <a:prstClr val="black"/>
                </a:solidFill>
                <a:ea typeface="微软雅黑" panose="020B0503020204020204" pitchFamily="34" charset="-122"/>
                <a:cs typeface="Times New Roman" panose="02020603050405020304" pitchFamily="18" charset="0"/>
              </a:rPr>
              <a:t>/</a:t>
            </a:r>
          </a:p>
        </p:txBody>
      </p:sp>
    </p:spTree>
    <p:extLst>
      <p:ext uri="{BB962C8B-B14F-4D97-AF65-F5344CB8AC3E}">
        <p14:creationId xmlns:p14="http://schemas.microsoft.com/office/powerpoint/2010/main" val="20518258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3097077" y="2895600"/>
            <a:ext cx="3168240" cy="754694"/>
          </a:xfrm>
          <a:prstGeom prst="rect">
            <a:avLst/>
          </a:prstGeom>
          <a:noFill/>
        </p:spPr>
        <p:txBody>
          <a:bodyPr wrap="none" rtlCol="0">
            <a:spAutoFit/>
          </a:bodyPr>
          <a:lstStyle/>
          <a:p>
            <a:pPr>
              <a:lnSpc>
                <a:spcPct val="150000"/>
              </a:lnSpc>
            </a:pPr>
            <a:r>
              <a:rPr lang="en-US" sz="3200" b="1" dirty="0"/>
              <a:t>Model E</a:t>
            </a:r>
            <a:r>
              <a:rPr lang="en-US" altLang="zh-CN" sz="3200" b="1" dirty="0"/>
              <a:t>valuation</a:t>
            </a:r>
            <a:endParaRPr lang="en-US" sz="3200" b="1" dirty="0"/>
          </a:p>
        </p:txBody>
      </p:sp>
    </p:spTree>
    <p:extLst>
      <p:ext uri="{BB962C8B-B14F-4D97-AF65-F5344CB8AC3E}">
        <p14:creationId xmlns:p14="http://schemas.microsoft.com/office/powerpoint/2010/main" val="19240088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F15528-21DE-4FAA-801E-634DDDAF4B2B}" type="slidenum">
              <a:rPr lang="en-US" smtClean="0"/>
              <a:pPr/>
              <a:t>3</a:t>
            </a:fld>
            <a:endParaRPr lang="en-US"/>
          </a:p>
        </p:txBody>
      </p:sp>
      <p:sp>
        <p:nvSpPr>
          <p:cNvPr id="4" name="文本框 3">
            <a:extLst>
              <a:ext uri="{FF2B5EF4-FFF2-40B4-BE49-F238E27FC236}">
                <a16:creationId xmlns:a16="http://schemas.microsoft.com/office/drawing/2014/main" id="{60049FE2-D3F5-4096-9FC9-B63B2A1EDC37}"/>
              </a:ext>
            </a:extLst>
          </p:cNvPr>
          <p:cNvSpPr txBox="1"/>
          <p:nvPr/>
        </p:nvSpPr>
        <p:spPr>
          <a:xfrm>
            <a:off x="304800" y="152400"/>
            <a:ext cx="7368107" cy="754694"/>
          </a:xfrm>
          <a:prstGeom prst="rect">
            <a:avLst/>
          </a:prstGeom>
          <a:noFill/>
        </p:spPr>
        <p:txBody>
          <a:bodyPr wrap="none" rtlCol="0">
            <a:spAutoFit/>
          </a:bodyPr>
          <a:lstStyle/>
          <a:p>
            <a:pPr>
              <a:lnSpc>
                <a:spcPct val="150000"/>
              </a:lnSpc>
            </a:pPr>
            <a:r>
              <a:rPr lang="en-US" sz="3200" b="1" dirty="0"/>
              <a:t>Evaluation the Performance of a Classifier </a:t>
            </a:r>
          </a:p>
        </p:txBody>
      </p:sp>
      <p:sp>
        <p:nvSpPr>
          <p:cNvPr id="5" name="矩形 4"/>
          <p:cNvSpPr/>
          <p:nvPr/>
        </p:nvSpPr>
        <p:spPr>
          <a:xfrm>
            <a:off x="914400" y="2057400"/>
            <a:ext cx="1905000" cy="1524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6400801" y="1143000"/>
            <a:ext cx="1600200" cy="4572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304800" y="1143000"/>
            <a:ext cx="8610600" cy="1957524"/>
          </a:xfrm>
          <a:prstGeom prst="rect">
            <a:avLst/>
          </a:prstGeom>
        </p:spPr>
        <p:txBody>
          <a:bodyPr wrap="square">
            <a:spAutoFit/>
          </a:bodyPr>
          <a:lstStyle/>
          <a:p>
            <a:pPr marL="342900" indent="-342900" algn="just">
              <a:lnSpc>
                <a:spcPct val="150000"/>
              </a:lnSpc>
              <a:buFont typeface="Arial" panose="020B0604020202020204" pitchFamily="34" charset="0"/>
              <a:buChar char="•"/>
            </a:pPr>
            <a:r>
              <a:rPr lang="en-US" altLang="zh-CN" sz="2800" dirty="0"/>
              <a:t>Holdout Method </a:t>
            </a:r>
            <a:r>
              <a:rPr lang="zh-CN" altLang="en-US" sz="2800" dirty="0"/>
              <a:t> 留出法</a:t>
            </a:r>
            <a:endParaRPr lang="en-US" altLang="zh-CN" sz="2800" dirty="0"/>
          </a:p>
          <a:p>
            <a:pPr marL="342900" indent="-342900" algn="just">
              <a:lnSpc>
                <a:spcPct val="150000"/>
              </a:lnSpc>
              <a:buFont typeface="Arial" panose="020B0604020202020204" pitchFamily="34" charset="0"/>
              <a:buChar char="•"/>
            </a:pPr>
            <a:r>
              <a:rPr lang="en-US" altLang="zh-CN" sz="2800" dirty="0"/>
              <a:t>Cross-validation </a:t>
            </a:r>
            <a:r>
              <a:rPr lang="zh-CN" altLang="en-US" sz="2800" dirty="0"/>
              <a:t>交叉验证</a:t>
            </a:r>
            <a:endParaRPr lang="en-US" altLang="zh-CN" sz="2800" dirty="0"/>
          </a:p>
          <a:p>
            <a:pPr marL="342900" indent="-342900" algn="just">
              <a:lnSpc>
                <a:spcPct val="150000"/>
              </a:lnSpc>
              <a:buFont typeface="Arial" panose="020B0604020202020204" pitchFamily="34" charset="0"/>
              <a:buChar char="•"/>
            </a:pPr>
            <a:r>
              <a:rPr lang="en-US" altLang="zh-CN" sz="2800" dirty="0"/>
              <a:t>Bootstrap </a:t>
            </a:r>
            <a:r>
              <a:rPr lang="zh-CN" altLang="en-US" sz="2800" dirty="0"/>
              <a:t>自助法</a:t>
            </a:r>
            <a:endParaRPr lang="en-US" altLang="zh-CN" sz="2800" dirty="0"/>
          </a:p>
        </p:txBody>
      </p:sp>
    </p:spTree>
    <p:extLst>
      <p:ext uri="{BB962C8B-B14F-4D97-AF65-F5344CB8AC3E}">
        <p14:creationId xmlns:p14="http://schemas.microsoft.com/office/powerpoint/2010/main" val="41892629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矩形: 圆角 7">
            <a:extLst>
              <a:ext uri="{FF2B5EF4-FFF2-40B4-BE49-F238E27FC236}">
                <a16:creationId xmlns:a16="http://schemas.microsoft.com/office/drawing/2014/main" id="{DC8E9541-2902-45E2-A2F6-8FB122BF09B3}"/>
              </a:ext>
            </a:extLst>
          </p:cNvPr>
          <p:cNvSpPr/>
          <p:nvPr/>
        </p:nvSpPr>
        <p:spPr>
          <a:xfrm>
            <a:off x="304800" y="1066800"/>
            <a:ext cx="8456141" cy="1708641"/>
          </a:xfrm>
          <a:prstGeom prst="roundRect">
            <a:avLst>
              <a:gd name="adj" fmla="val 3573"/>
            </a:avLst>
          </a:prstGeom>
          <a:solidFill>
            <a:srgbClr val="FFFBD6"/>
          </a:solidFill>
          <a:ln>
            <a:solidFill>
              <a:srgbClr val="FFFBD6"/>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800" dirty="0">
              <a:solidFill>
                <a:schemeClr val="tx1"/>
              </a:solidFill>
            </a:endParaRPr>
          </a:p>
        </p:txBody>
      </p:sp>
      <p:sp>
        <p:nvSpPr>
          <p:cNvPr id="2" name="灯片编号占位符 1"/>
          <p:cNvSpPr>
            <a:spLocks noGrp="1"/>
          </p:cNvSpPr>
          <p:nvPr>
            <p:ph type="sldNum" sz="quarter" idx="12"/>
          </p:nvPr>
        </p:nvSpPr>
        <p:spPr/>
        <p:txBody>
          <a:bodyPr/>
          <a:lstStyle/>
          <a:p>
            <a:fld id="{B6F15528-21DE-4FAA-801E-634DDDAF4B2B}" type="slidenum">
              <a:rPr lang="en-US" smtClean="0"/>
              <a:pPr/>
              <a:t>4</a:t>
            </a:fld>
            <a:endParaRPr lang="en-US"/>
          </a:p>
        </p:txBody>
      </p:sp>
      <p:sp>
        <p:nvSpPr>
          <p:cNvPr id="4" name="文本框 3">
            <a:extLst>
              <a:ext uri="{FF2B5EF4-FFF2-40B4-BE49-F238E27FC236}">
                <a16:creationId xmlns:a16="http://schemas.microsoft.com/office/drawing/2014/main" id="{60049FE2-D3F5-4096-9FC9-B63B2A1EDC37}"/>
              </a:ext>
            </a:extLst>
          </p:cNvPr>
          <p:cNvSpPr txBox="1"/>
          <p:nvPr/>
        </p:nvSpPr>
        <p:spPr>
          <a:xfrm>
            <a:off x="304800" y="152400"/>
            <a:ext cx="3028778" cy="754694"/>
          </a:xfrm>
          <a:prstGeom prst="rect">
            <a:avLst/>
          </a:prstGeom>
          <a:noFill/>
        </p:spPr>
        <p:txBody>
          <a:bodyPr wrap="none" rtlCol="0">
            <a:spAutoFit/>
          </a:bodyPr>
          <a:lstStyle/>
          <a:p>
            <a:pPr>
              <a:lnSpc>
                <a:spcPct val="150000"/>
              </a:lnSpc>
            </a:pPr>
            <a:r>
              <a:rPr lang="en-US" sz="3200" b="1" dirty="0"/>
              <a:t>Holdout Method</a:t>
            </a:r>
          </a:p>
        </p:txBody>
      </p:sp>
      <p:sp>
        <p:nvSpPr>
          <p:cNvPr id="9" name="矩形 8"/>
          <p:cNvSpPr/>
          <p:nvPr/>
        </p:nvSpPr>
        <p:spPr>
          <a:xfrm>
            <a:off x="304800" y="1143000"/>
            <a:ext cx="8382000" cy="1569660"/>
          </a:xfrm>
          <a:prstGeom prst="rect">
            <a:avLst/>
          </a:prstGeom>
        </p:spPr>
        <p:txBody>
          <a:bodyPr wrap="square">
            <a:spAutoFit/>
          </a:bodyPr>
          <a:lstStyle/>
          <a:p>
            <a:pPr marL="342900" indent="-342900" algn="just">
              <a:buFont typeface="Arial" panose="020B0604020202020204" pitchFamily="34" charset="0"/>
              <a:buChar char="•"/>
            </a:pPr>
            <a:r>
              <a:rPr lang="en-US" altLang="zh-CN" sz="2400" dirty="0"/>
              <a:t>The original data with labeled examples is partitioned into two </a:t>
            </a:r>
            <a:r>
              <a:rPr lang="en-US" altLang="zh-CN" sz="2400" dirty="0">
                <a:solidFill>
                  <a:srgbClr val="0000FF"/>
                </a:solidFill>
              </a:rPr>
              <a:t>disjoint</a:t>
            </a:r>
            <a:r>
              <a:rPr lang="en-US" altLang="zh-CN" sz="2400" dirty="0"/>
              <a:t> sets, called the </a:t>
            </a:r>
            <a:r>
              <a:rPr lang="en-US" altLang="zh-CN" sz="2400" dirty="0">
                <a:solidFill>
                  <a:srgbClr val="FF0000"/>
                </a:solidFill>
              </a:rPr>
              <a:t>training</a:t>
            </a:r>
            <a:r>
              <a:rPr lang="en-US" altLang="zh-CN" sz="2400" dirty="0"/>
              <a:t> and </a:t>
            </a:r>
            <a:r>
              <a:rPr lang="en-US" altLang="zh-CN" sz="2400" dirty="0">
                <a:solidFill>
                  <a:srgbClr val="FF0000"/>
                </a:solidFill>
              </a:rPr>
              <a:t>test</a:t>
            </a:r>
            <a:r>
              <a:rPr lang="en-US" altLang="zh-CN" sz="2400" dirty="0"/>
              <a:t> sets, respectively.</a:t>
            </a:r>
          </a:p>
          <a:p>
            <a:pPr marL="342900" indent="-342900" algn="just">
              <a:buFont typeface="Arial" panose="020B0604020202020204" pitchFamily="34" charset="0"/>
              <a:buChar char="•"/>
            </a:pPr>
            <a:r>
              <a:rPr lang="en-US" altLang="zh-CN" sz="2400" dirty="0"/>
              <a:t>The model is induced from the training set.</a:t>
            </a:r>
          </a:p>
          <a:p>
            <a:pPr marL="342900" indent="-342900" algn="just">
              <a:buFont typeface="Arial" panose="020B0604020202020204" pitchFamily="34" charset="0"/>
              <a:buChar char="•"/>
            </a:pPr>
            <a:r>
              <a:rPr lang="en-US" altLang="zh-CN" sz="2400" dirty="0"/>
              <a:t>The performance is evaluated on the test set. </a:t>
            </a:r>
          </a:p>
        </p:txBody>
      </p:sp>
      <p:sp>
        <p:nvSpPr>
          <p:cNvPr id="7" name="任意多边形 6"/>
          <p:cNvSpPr/>
          <p:nvPr/>
        </p:nvSpPr>
        <p:spPr>
          <a:xfrm>
            <a:off x="1903475" y="4834591"/>
            <a:ext cx="5542789" cy="1606297"/>
          </a:xfrm>
          <a:custGeom>
            <a:avLst/>
            <a:gdLst/>
            <a:ahLst/>
            <a:cxnLst/>
            <a:rect l="0" t="0" r="0" b="0"/>
            <a:pathLst>
              <a:path w="5542789" h="1606297">
                <a:moveTo>
                  <a:pt x="0" y="1606296"/>
                </a:moveTo>
                <a:lnTo>
                  <a:pt x="5542788" y="1606296"/>
                </a:lnTo>
                <a:lnTo>
                  <a:pt x="5542788" y="0"/>
                </a:lnTo>
                <a:lnTo>
                  <a:pt x="0" y="0"/>
                </a:lnTo>
                <a:close/>
              </a:path>
            </a:pathLst>
          </a:custGeom>
          <a:solidFill>
            <a:srgbClr val="000000">
              <a:alpha val="0"/>
            </a:srgbClr>
          </a:solidFill>
          <a:ln w="38100" cap="flat" cmpd="sng" algn="ctr">
            <a:solidFill>
              <a:srgbClr val="0D5436"/>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任意多边形 7"/>
          <p:cNvSpPr/>
          <p:nvPr/>
        </p:nvSpPr>
        <p:spPr>
          <a:xfrm>
            <a:off x="5638800" y="4834591"/>
            <a:ext cx="1" cy="1605789"/>
          </a:xfrm>
          <a:custGeom>
            <a:avLst/>
            <a:gdLst/>
            <a:ahLst/>
            <a:cxnLst/>
            <a:rect l="0" t="0" r="0" b="0"/>
            <a:pathLst>
              <a:path w="1" h="1605789">
                <a:moveTo>
                  <a:pt x="0" y="0"/>
                </a:moveTo>
                <a:lnTo>
                  <a:pt x="0" y="1605788"/>
                </a:lnTo>
              </a:path>
            </a:pathLst>
          </a:custGeom>
          <a:ln w="38100" cap="flat" cmpd="sng" algn="ctr">
            <a:solidFill>
              <a:srgbClr val="0000FF"/>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1" name="任意多边形 10"/>
          <p:cNvSpPr/>
          <p:nvPr/>
        </p:nvSpPr>
        <p:spPr>
          <a:xfrm>
            <a:off x="1902713" y="4161744"/>
            <a:ext cx="5542788" cy="678181"/>
          </a:xfrm>
          <a:custGeom>
            <a:avLst/>
            <a:gdLst/>
            <a:ahLst/>
            <a:cxnLst/>
            <a:rect l="0" t="0" r="0" b="0"/>
            <a:pathLst>
              <a:path w="5542788" h="678181">
                <a:moveTo>
                  <a:pt x="0" y="678180"/>
                </a:moveTo>
                <a:cubicBezTo>
                  <a:pt x="0" y="490855"/>
                  <a:pt x="25272" y="339091"/>
                  <a:pt x="56514" y="339091"/>
                </a:cubicBezTo>
                <a:lnTo>
                  <a:pt x="2714878" y="339091"/>
                </a:lnTo>
                <a:cubicBezTo>
                  <a:pt x="2746120" y="339091"/>
                  <a:pt x="2771394" y="187326"/>
                  <a:pt x="2771394" y="0"/>
                </a:cubicBezTo>
                <a:cubicBezTo>
                  <a:pt x="2771394" y="187326"/>
                  <a:pt x="2796667" y="339091"/>
                  <a:pt x="2827908" y="339091"/>
                </a:cubicBezTo>
                <a:lnTo>
                  <a:pt x="5486273" y="339091"/>
                </a:lnTo>
                <a:cubicBezTo>
                  <a:pt x="5517514" y="339091"/>
                  <a:pt x="5542787" y="490855"/>
                  <a:pt x="5542787" y="678180"/>
                </a:cubicBezTo>
              </a:path>
            </a:pathLst>
          </a:custGeom>
          <a:ln w="28575" cap="flat" cmpd="sng" algn="ctr">
            <a:solidFill>
              <a:srgbClr val="FF0000"/>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5" name="TextBox 26"/>
          <p:cNvSpPr txBox="1"/>
          <p:nvPr/>
        </p:nvSpPr>
        <p:spPr>
          <a:xfrm>
            <a:off x="2931412" y="5406507"/>
            <a:ext cx="1476430" cy="346249"/>
          </a:xfrm>
          <a:prstGeom prst="rect">
            <a:avLst/>
          </a:prstGeom>
          <a:noFill/>
        </p:spPr>
        <p:txBody>
          <a:bodyPr vert="horz" wrap="none" lIns="0" tIns="0" rIns="0" bIns="0" rtlCol="0">
            <a:spAutoFit/>
          </a:bodyPr>
          <a:lstStyle/>
          <a:p>
            <a:pPr>
              <a:lnSpc>
                <a:spcPts val="2687"/>
              </a:lnSpc>
            </a:pPr>
            <a:r>
              <a:rPr lang="en-US" altLang="zh-CN" sz="2796" dirty="0">
                <a:solidFill>
                  <a:srgbClr val="0000FF"/>
                </a:solidFill>
                <a:latin typeface="微软雅黑"/>
              </a:rPr>
              <a:t>Training </a:t>
            </a:r>
            <a:endParaRPr lang="zh-CN" altLang="en-US" sz="2796" dirty="0">
              <a:solidFill>
                <a:srgbClr val="0000FF"/>
              </a:solidFill>
              <a:latin typeface="微软雅黑"/>
            </a:endParaRPr>
          </a:p>
        </p:txBody>
      </p:sp>
      <p:sp>
        <p:nvSpPr>
          <p:cNvPr id="26" name="TextBox 27"/>
          <p:cNvSpPr txBox="1"/>
          <p:nvPr/>
        </p:nvSpPr>
        <p:spPr>
          <a:xfrm>
            <a:off x="6004051" y="5406507"/>
            <a:ext cx="774379" cy="346249"/>
          </a:xfrm>
          <a:prstGeom prst="rect">
            <a:avLst/>
          </a:prstGeom>
          <a:noFill/>
        </p:spPr>
        <p:txBody>
          <a:bodyPr vert="horz" wrap="none" lIns="0" tIns="0" rIns="0" bIns="0" rtlCol="0">
            <a:spAutoFit/>
          </a:bodyPr>
          <a:lstStyle/>
          <a:p>
            <a:pPr>
              <a:lnSpc>
                <a:spcPts val="2687"/>
              </a:lnSpc>
            </a:pPr>
            <a:r>
              <a:rPr lang="en-US" altLang="zh-CN" sz="2796" dirty="0">
                <a:solidFill>
                  <a:srgbClr val="0000FF"/>
                </a:solidFill>
                <a:latin typeface="微软雅黑"/>
              </a:rPr>
              <a:t>Test </a:t>
            </a:r>
            <a:endParaRPr lang="zh-CN" altLang="en-US" sz="2796" dirty="0">
              <a:solidFill>
                <a:srgbClr val="0000FF"/>
              </a:solidFill>
              <a:latin typeface="微软雅黑"/>
            </a:endParaRPr>
          </a:p>
        </p:txBody>
      </p:sp>
      <p:sp>
        <p:nvSpPr>
          <p:cNvPr id="27" name="TextBox 27"/>
          <p:cNvSpPr txBox="1"/>
          <p:nvPr/>
        </p:nvSpPr>
        <p:spPr>
          <a:xfrm>
            <a:off x="3637389" y="3752713"/>
            <a:ext cx="2231380" cy="346249"/>
          </a:xfrm>
          <a:prstGeom prst="rect">
            <a:avLst/>
          </a:prstGeom>
          <a:noFill/>
        </p:spPr>
        <p:txBody>
          <a:bodyPr vert="horz" wrap="none" lIns="0" tIns="0" rIns="0" bIns="0" rtlCol="0">
            <a:spAutoFit/>
          </a:bodyPr>
          <a:lstStyle/>
          <a:p>
            <a:pPr>
              <a:lnSpc>
                <a:spcPts val="2687"/>
              </a:lnSpc>
            </a:pPr>
            <a:r>
              <a:rPr lang="en-US" altLang="zh-CN" sz="2796" dirty="0">
                <a:solidFill>
                  <a:srgbClr val="0000FF"/>
                </a:solidFill>
                <a:latin typeface="微软雅黑"/>
              </a:rPr>
              <a:t>Original data</a:t>
            </a:r>
            <a:endParaRPr lang="zh-CN" altLang="en-US" sz="2796" dirty="0">
              <a:solidFill>
                <a:srgbClr val="0000FF"/>
              </a:solidFill>
              <a:latin typeface="微软雅黑"/>
            </a:endParaRPr>
          </a:p>
        </p:txBody>
      </p:sp>
    </p:spTree>
    <p:extLst>
      <p:ext uri="{BB962C8B-B14F-4D97-AF65-F5344CB8AC3E}">
        <p14:creationId xmlns:p14="http://schemas.microsoft.com/office/powerpoint/2010/main" val="40370846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9DAB5848-4162-4EFD-AB12-EC8C7F8D562C}"/>
              </a:ext>
            </a:extLst>
          </p:cNvPr>
          <p:cNvSpPr>
            <a:spLocks noGrp="1"/>
          </p:cNvSpPr>
          <p:nvPr>
            <p:ph type="sldNum" sz="quarter" idx="12"/>
          </p:nvPr>
        </p:nvSpPr>
        <p:spPr/>
        <p:txBody>
          <a:bodyPr/>
          <a:lstStyle/>
          <a:p>
            <a:fld id="{B6F15528-21DE-4FAA-801E-634DDDAF4B2B}" type="slidenum">
              <a:rPr lang="en-US" smtClean="0"/>
              <a:pPr/>
              <a:t>5</a:t>
            </a:fld>
            <a:endParaRPr lang="en-US"/>
          </a:p>
        </p:txBody>
      </p:sp>
      <p:pic>
        <p:nvPicPr>
          <p:cNvPr id="3" name="图片 2">
            <a:extLst>
              <a:ext uri="{FF2B5EF4-FFF2-40B4-BE49-F238E27FC236}">
                <a16:creationId xmlns:a16="http://schemas.microsoft.com/office/drawing/2014/main" id="{C6321831-436B-4E7E-8B0C-5CFA8A43A2CA}"/>
              </a:ext>
            </a:extLst>
          </p:cNvPr>
          <p:cNvPicPr>
            <a:picLocks noChangeAspect="1"/>
          </p:cNvPicPr>
          <p:nvPr/>
        </p:nvPicPr>
        <p:blipFill>
          <a:blip r:embed="rId2"/>
          <a:stretch>
            <a:fillRect/>
          </a:stretch>
        </p:blipFill>
        <p:spPr>
          <a:xfrm>
            <a:off x="2286000" y="2712660"/>
            <a:ext cx="4962611" cy="3761671"/>
          </a:xfrm>
          <a:prstGeom prst="rect">
            <a:avLst/>
          </a:prstGeom>
        </p:spPr>
      </p:pic>
      <p:sp>
        <p:nvSpPr>
          <p:cNvPr id="4" name="文本框 3">
            <a:extLst>
              <a:ext uri="{FF2B5EF4-FFF2-40B4-BE49-F238E27FC236}">
                <a16:creationId xmlns:a16="http://schemas.microsoft.com/office/drawing/2014/main" id="{288FEE99-44EF-4DA2-9B42-A12BD6EE523D}"/>
              </a:ext>
            </a:extLst>
          </p:cNvPr>
          <p:cNvSpPr txBox="1"/>
          <p:nvPr/>
        </p:nvSpPr>
        <p:spPr>
          <a:xfrm>
            <a:off x="304800" y="152400"/>
            <a:ext cx="3028778" cy="754694"/>
          </a:xfrm>
          <a:prstGeom prst="rect">
            <a:avLst/>
          </a:prstGeom>
          <a:noFill/>
        </p:spPr>
        <p:txBody>
          <a:bodyPr wrap="none" rtlCol="0">
            <a:spAutoFit/>
          </a:bodyPr>
          <a:lstStyle/>
          <a:p>
            <a:pPr>
              <a:lnSpc>
                <a:spcPct val="150000"/>
              </a:lnSpc>
            </a:pPr>
            <a:r>
              <a:rPr lang="en-US" sz="3200" b="1" dirty="0"/>
              <a:t>Holdout Method</a:t>
            </a:r>
          </a:p>
        </p:txBody>
      </p:sp>
      <p:sp>
        <p:nvSpPr>
          <p:cNvPr id="5" name="矩形 4">
            <a:extLst>
              <a:ext uri="{FF2B5EF4-FFF2-40B4-BE49-F238E27FC236}">
                <a16:creationId xmlns:a16="http://schemas.microsoft.com/office/drawing/2014/main" id="{3FF7C607-D869-45F7-BE17-7D069BFABD2F}"/>
              </a:ext>
            </a:extLst>
          </p:cNvPr>
          <p:cNvSpPr/>
          <p:nvPr/>
        </p:nvSpPr>
        <p:spPr>
          <a:xfrm>
            <a:off x="304800" y="1143000"/>
            <a:ext cx="8382000" cy="1569660"/>
          </a:xfrm>
          <a:prstGeom prst="rect">
            <a:avLst/>
          </a:prstGeom>
        </p:spPr>
        <p:txBody>
          <a:bodyPr wrap="square">
            <a:spAutoFit/>
          </a:bodyPr>
          <a:lstStyle/>
          <a:p>
            <a:pPr marL="342900" indent="-342900" algn="just">
              <a:buFont typeface="Arial" panose="020B0604020202020204" pitchFamily="34" charset="0"/>
              <a:buChar char="•"/>
            </a:pPr>
            <a:r>
              <a:rPr lang="en-US" altLang="zh-CN" sz="2400" dirty="0"/>
              <a:t>To</a:t>
            </a:r>
            <a:r>
              <a:rPr lang="zh-CN" altLang="en-US" sz="2400" dirty="0"/>
              <a:t> </a:t>
            </a:r>
            <a:r>
              <a:rPr lang="en-US" altLang="zh-CN" sz="2400" dirty="0"/>
              <a:t>keep</a:t>
            </a:r>
            <a:r>
              <a:rPr lang="zh-CN" altLang="en-US" sz="2400" dirty="0"/>
              <a:t> </a:t>
            </a:r>
            <a:r>
              <a:rPr lang="en-US" altLang="zh-CN" sz="2400" dirty="0"/>
              <a:t>the same</a:t>
            </a:r>
            <a:r>
              <a:rPr lang="zh-CN" altLang="en-US" sz="2400" dirty="0"/>
              <a:t> </a:t>
            </a:r>
            <a:r>
              <a:rPr lang="en-US" altLang="zh-CN" sz="2400" dirty="0"/>
              <a:t>data</a:t>
            </a:r>
            <a:r>
              <a:rPr lang="zh-CN" altLang="en-US" sz="2400" dirty="0"/>
              <a:t> </a:t>
            </a:r>
            <a:r>
              <a:rPr lang="en-US" altLang="zh-CN" sz="2400" dirty="0"/>
              <a:t>distribution of the training and testing set and avoid the extra error,  we can adopt the stratified random sampling (</a:t>
            </a:r>
            <a:r>
              <a:rPr lang="zh-CN" altLang="en-US" sz="2400" dirty="0"/>
              <a:t>分层采样</a:t>
            </a:r>
            <a:r>
              <a:rPr lang="en-US" altLang="zh-CN" sz="2400" dirty="0"/>
              <a:t>).</a:t>
            </a:r>
          </a:p>
          <a:p>
            <a:pPr marL="342900" indent="-342900" algn="just">
              <a:buFont typeface="Arial" panose="020B0604020202020204" pitchFamily="34" charset="0"/>
              <a:buChar char="•"/>
            </a:pPr>
            <a:r>
              <a:rPr lang="en-US" altLang="zh-CN" sz="2400" dirty="0"/>
              <a:t>Keep the same class distribution.</a:t>
            </a:r>
          </a:p>
        </p:txBody>
      </p:sp>
    </p:spTree>
    <p:extLst>
      <p:ext uri="{BB962C8B-B14F-4D97-AF65-F5344CB8AC3E}">
        <p14:creationId xmlns:p14="http://schemas.microsoft.com/office/powerpoint/2010/main" val="41714711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9DAB5848-4162-4EFD-AB12-EC8C7F8D562C}"/>
              </a:ext>
            </a:extLst>
          </p:cNvPr>
          <p:cNvSpPr>
            <a:spLocks noGrp="1"/>
          </p:cNvSpPr>
          <p:nvPr>
            <p:ph type="sldNum" sz="quarter" idx="12"/>
          </p:nvPr>
        </p:nvSpPr>
        <p:spPr/>
        <p:txBody>
          <a:bodyPr/>
          <a:lstStyle/>
          <a:p>
            <a:fld id="{B6F15528-21DE-4FAA-801E-634DDDAF4B2B}" type="slidenum">
              <a:rPr lang="en-US" smtClean="0"/>
              <a:pPr/>
              <a:t>6</a:t>
            </a:fld>
            <a:endParaRPr lang="en-US"/>
          </a:p>
        </p:txBody>
      </p:sp>
      <p:sp>
        <p:nvSpPr>
          <p:cNvPr id="4" name="文本框 3">
            <a:extLst>
              <a:ext uri="{FF2B5EF4-FFF2-40B4-BE49-F238E27FC236}">
                <a16:creationId xmlns:a16="http://schemas.microsoft.com/office/drawing/2014/main" id="{288FEE99-44EF-4DA2-9B42-A12BD6EE523D}"/>
              </a:ext>
            </a:extLst>
          </p:cNvPr>
          <p:cNvSpPr txBox="1"/>
          <p:nvPr/>
        </p:nvSpPr>
        <p:spPr>
          <a:xfrm>
            <a:off x="304800" y="152400"/>
            <a:ext cx="3028778" cy="754694"/>
          </a:xfrm>
          <a:prstGeom prst="rect">
            <a:avLst/>
          </a:prstGeom>
          <a:noFill/>
        </p:spPr>
        <p:txBody>
          <a:bodyPr wrap="none" rtlCol="0">
            <a:spAutoFit/>
          </a:bodyPr>
          <a:lstStyle/>
          <a:p>
            <a:pPr>
              <a:lnSpc>
                <a:spcPct val="150000"/>
              </a:lnSpc>
            </a:pPr>
            <a:r>
              <a:rPr lang="en-US" sz="3200" b="1" dirty="0"/>
              <a:t>Holdout Method</a:t>
            </a:r>
          </a:p>
        </p:txBody>
      </p:sp>
      <p:grpSp>
        <p:nvGrpSpPr>
          <p:cNvPr id="8" name="组合 7">
            <a:extLst>
              <a:ext uri="{FF2B5EF4-FFF2-40B4-BE49-F238E27FC236}">
                <a16:creationId xmlns:a16="http://schemas.microsoft.com/office/drawing/2014/main" id="{E95C0842-E172-4172-BBB5-26029BAE2512}"/>
              </a:ext>
            </a:extLst>
          </p:cNvPr>
          <p:cNvGrpSpPr/>
          <p:nvPr/>
        </p:nvGrpSpPr>
        <p:grpSpPr>
          <a:xfrm>
            <a:off x="304800" y="1066800"/>
            <a:ext cx="8456141" cy="2491350"/>
            <a:chOff x="304800" y="1066800"/>
            <a:chExt cx="8456141" cy="2491350"/>
          </a:xfrm>
        </p:grpSpPr>
        <p:sp>
          <p:nvSpPr>
            <p:cNvPr id="7" name="矩形: 圆角 7">
              <a:extLst>
                <a:ext uri="{FF2B5EF4-FFF2-40B4-BE49-F238E27FC236}">
                  <a16:creationId xmlns:a16="http://schemas.microsoft.com/office/drawing/2014/main" id="{C67D0DF2-ACE2-43D8-9DCC-0DB329385F33}"/>
                </a:ext>
              </a:extLst>
            </p:cNvPr>
            <p:cNvSpPr/>
            <p:nvPr/>
          </p:nvSpPr>
          <p:spPr>
            <a:xfrm>
              <a:off x="304800" y="1066800"/>
              <a:ext cx="8456141" cy="2491350"/>
            </a:xfrm>
            <a:prstGeom prst="roundRect">
              <a:avLst>
                <a:gd name="adj" fmla="val 3573"/>
              </a:avLst>
            </a:prstGeom>
            <a:solidFill>
              <a:srgbClr val="FFFBD6"/>
            </a:solidFill>
            <a:ln>
              <a:solidFill>
                <a:srgbClr val="FFFBD6"/>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800" dirty="0">
                <a:solidFill>
                  <a:schemeClr val="tx1"/>
                </a:solidFill>
              </a:endParaRPr>
            </a:p>
          </p:txBody>
        </p:sp>
        <p:sp>
          <p:nvSpPr>
            <p:cNvPr id="5" name="矩形 4">
              <a:extLst>
                <a:ext uri="{FF2B5EF4-FFF2-40B4-BE49-F238E27FC236}">
                  <a16:creationId xmlns:a16="http://schemas.microsoft.com/office/drawing/2014/main" id="{3FF7C607-D869-45F7-BE17-7D069BFABD2F}"/>
                </a:ext>
              </a:extLst>
            </p:cNvPr>
            <p:cNvSpPr/>
            <p:nvPr/>
          </p:nvSpPr>
          <p:spPr>
            <a:xfrm>
              <a:off x="304800" y="1143000"/>
              <a:ext cx="8382000" cy="2308324"/>
            </a:xfrm>
            <a:prstGeom prst="rect">
              <a:avLst/>
            </a:prstGeom>
          </p:spPr>
          <p:txBody>
            <a:bodyPr wrap="square">
              <a:spAutoFit/>
            </a:bodyPr>
            <a:lstStyle/>
            <a:p>
              <a:pPr marL="342900" indent="-342900" algn="just">
                <a:buFont typeface="Arial" panose="020B0604020202020204" pitchFamily="34" charset="0"/>
                <a:buChar char="•"/>
              </a:pPr>
              <a:r>
                <a:rPr lang="en-US" altLang="zh-CN" sz="2400" dirty="0"/>
                <a:t>Assume that we have a dataset D with two chunks: training set S (70%), and testing set T (30%).</a:t>
              </a:r>
            </a:p>
            <a:p>
              <a:pPr marL="342900" indent="-342900" algn="just">
                <a:buFont typeface="Arial" panose="020B0604020202020204" pitchFamily="34" charset="0"/>
                <a:buChar char="•"/>
              </a:pPr>
              <a:r>
                <a:rPr lang="en-US" altLang="zh-CN" sz="2400" dirty="0"/>
                <a:t>Assume that D has 500 positive samples and 500 negative samples.</a:t>
              </a:r>
            </a:p>
            <a:p>
              <a:pPr marL="800100" lvl="1" indent="-342900" algn="just">
                <a:buFont typeface="Arial" panose="020B0604020202020204" pitchFamily="34" charset="0"/>
                <a:buChar char="•"/>
              </a:pPr>
              <a:r>
                <a:rPr lang="en-US" altLang="zh-CN" sz="2400" dirty="0"/>
                <a:t>Then with stratified sampling, how many positive/negative samples in S and T, respectively?</a:t>
              </a:r>
            </a:p>
          </p:txBody>
        </p:sp>
      </p:grpSp>
      <p:grpSp>
        <p:nvGrpSpPr>
          <p:cNvPr id="10" name="组合 9">
            <a:extLst>
              <a:ext uri="{FF2B5EF4-FFF2-40B4-BE49-F238E27FC236}">
                <a16:creationId xmlns:a16="http://schemas.microsoft.com/office/drawing/2014/main" id="{6EFF2B52-B75B-41A6-8AD5-93FEF2FD5BED}"/>
              </a:ext>
            </a:extLst>
          </p:cNvPr>
          <p:cNvGrpSpPr/>
          <p:nvPr/>
        </p:nvGrpSpPr>
        <p:grpSpPr>
          <a:xfrm>
            <a:off x="269240" y="3886200"/>
            <a:ext cx="8456141" cy="1752600"/>
            <a:chOff x="269240" y="3804860"/>
            <a:chExt cx="8456141" cy="1752600"/>
          </a:xfrm>
          <a:solidFill>
            <a:srgbClr val="E6F5F0"/>
          </a:solidFill>
        </p:grpSpPr>
        <p:sp>
          <p:nvSpPr>
            <p:cNvPr id="9" name="矩形: 圆角 7">
              <a:extLst>
                <a:ext uri="{FF2B5EF4-FFF2-40B4-BE49-F238E27FC236}">
                  <a16:creationId xmlns:a16="http://schemas.microsoft.com/office/drawing/2014/main" id="{A0E20DD8-BE3D-4985-B1D9-6DD3D6672B70}"/>
                </a:ext>
              </a:extLst>
            </p:cNvPr>
            <p:cNvSpPr/>
            <p:nvPr/>
          </p:nvSpPr>
          <p:spPr>
            <a:xfrm>
              <a:off x="269240" y="3804860"/>
              <a:ext cx="8456141" cy="1752600"/>
            </a:xfrm>
            <a:prstGeom prst="roundRect">
              <a:avLst>
                <a:gd name="adj" fmla="val 3573"/>
              </a:avLst>
            </a:prstGeom>
            <a:grpFill/>
            <a:ln>
              <a:solidFill>
                <a:srgbClr val="E6F5F0"/>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800" dirty="0">
                <a:solidFill>
                  <a:schemeClr val="tx1"/>
                </a:solidFill>
              </a:endParaRPr>
            </a:p>
          </p:txBody>
        </p:sp>
        <p:sp>
          <p:nvSpPr>
            <p:cNvPr id="6" name="矩形 5">
              <a:extLst>
                <a:ext uri="{FF2B5EF4-FFF2-40B4-BE49-F238E27FC236}">
                  <a16:creationId xmlns:a16="http://schemas.microsoft.com/office/drawing/2014/main" id="{BBDC8D10-07F3-4DA5-B141-CBD1EE3C41ED}"/>
                </a:ext>
              </a:extLst>
            </p:cNvPr>
            <p:cNvSpPr/>
            <p:nvPr/>
          </p:nvSpPr>
          <p:spPr>
            <a:xfrm>
              <a:off x="304800" y="3947306"/>
              <a:ext cx="8382000" cy="1569660"/>
            </a:xfrm>
            <a:prstGeom prst="rect">
              <a:avLst/>
            </a:prstGeom>
            <a:grpFill/>
            <a:ln>
              <a:solidFill>
                <a:srgbClr val="E6F5F0"/>
              </a:solidFill>
            </a:ln>
          </p:spPr>
          <p:txBody>
            <a:bodyPr wrap="square">
              <a:spAutoFit/>
            </a:bodyPr>
            <a:lstStyle/>
            <a:p>
              <a:pPr marL="342900" indent="-342900" algn="just">
                <a:buFont typeface="Arial" panose="020B0604020202020204" pitchFamily="34" charset="0"/>
                <a:buChar char="•"/>
              </a:pPr>
              <a:r>
                <a:rPr lang="en-US" altLang="zh-CN" sz="2400" dirty="0"/>
                <a:t>Assume that D has 500 positive samples and 300 negative samples.</a:t>
              </a:r>
            </a:p>
            <a:p>
              <a:pPr marL="800100" lvl="1" indent="-342900" algn="just">
                <a:buFont typeface="Arial" panose="020B0604020202020204" pitchFamily="34" charset="0"/>
                <a:buChar char="•"/>
              </a:pPr>
              <a:r>
                <a:rPr lang="en-US" altLang="zh-CN" sz="2400" dirty="0"/>
                <a:t>Then with stratified sampling, how many positive/negative samples in S and T, respectively?</a:t>
              </a:r>
            </a:p>
          </p:txBody>
        </p:sp>
      </p:grpSp>
    </p:spTree>
    <p:extLst>
      <p:ext uri="{BB962C8B-B14F-4D97-AF65-F5344CB8AC3E}">
        <p14:creationId xmlns:p14="http://schemas.microsoft.com/office/powerpoint/2010/main" val="4990846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圆角 7">
            <a:extLst>
              <a:ext uri="{FF2B5EF4-FFF2-40B4-BE49-F238E27FC236}">
                <a16:creationId xmlns:a16="http://schemas.microsoft.com/office/drawing/2014/main" id="{DC8E9541-2902-45E2-A2F6-8FB122BF09B3}"/>
              </a:ext>
            </a:extLst>
          </p:cNvPr>
          <p:cNvSpPr/>
          <p:nvPr/>
        </p:nvSpPr>
        <p:spPr>
          <a:xfrm>
            <a:off x="304800" y="1066800"/>
            <a:ext cx="8456141" cy="2491350"/>
          </a:xfrm>
          <a:prstGeom prst="roundRect">
            <a:avLst>
              <a:gd name="adj" fmla="val 3573"/>
            </a:avLst>
          </a:prstGeom>
          <a:solidFill>
            <a:srgbClr val="FFFBD6"/>
          </a:solidFill>
          <a:ln>
            <a:solidFill>
              <a:srgbClr val="FFFBD6"/>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800" dirty="0">
              <a:solidFill>
                <a:schemeClr val="tx1"/>
              </a:solidFill>
            </a:endParaRPr>
          </a:p>
        </p:txBody>
      </p:sp>
      <p:sp>
        <p:nvSpPr>
          <p:cNvPr id="2" name="灯片编号占位符 1"/>
          <p:cNvSpPr>
            <a:spLocks noGrp="1"/>
          </p:cNvSpPr>
          <p:nvPr>
            <p:ph type="sldNum" sz="quarter" idx="12"/>
          </p:nvPr>
        </p:nvSpPr>
        <p:spPr/>
        <p:txBody>
          <a:bodyPr/>
          <a:lstStyle/>
          <a:p>
            <a:fld id="{B6F15528-21DE-4FAA-801E-634DDDAF4B2B}" type="slidenum">
              <a:rPr lang="en-US" smtClean="0"/>
              <a:pPr/>
              <a:t>7</a:t>
            </a:fld>
            <a:endParaRPr lang="en-US"/>
          </a:p>
        </p:txBody>
      </p:sp>
      <p:sp>
        <p:nvSpPr>
          <p:cNvPr id="4" name="文本框 3">
            <a:extLst>
              <a:ext uri="{FF2B5EF4-FFF2-40B4-BE49-F238E27FC236}">
                <a16:creationId xmlns:a16="http://schemas.microsoft.com/office/drawing/2014/main" id="{60049FE2-D3F5-4096-9FC9-B63B2A1EDC37}"/>
              </a:ext>
            </a:extLst>
          </p:cNvPr>
          <p:cNvSpPr txBox="1"/>
          <p:nvPr/>
        </p:nvSpPr>
        <p:spPr>
          <a:xfrm>
            <a:off x="304800" y="152400"/>
            <a:ext cx="3028778" cy="754694"/>
          </a:xfrm>
          <a:prstGeom prst="rect">
            <a:avLst/>
          </a:prstGeom>
          <a:noFill/>
        </p:spPr>
        <p:txBody>
          <a:bodyPr wrap="none" rtlCol="0">
            <a:spAutoFit/>
          </a:bodyPr>
          <a:lstStyle/>
          <a:p>
            <a:pPr>
              <a:lnSpc>
                <a:spcPct val="150000"/>
              </a:lnSpc>
            </a:pPr>
            <a:r>
              <a:rPr lang="en-US" sz="3200" b="1" dirty="0"/>
              <a:t>Holdout Method</a:t>
            </a:r>
          </a:p>
        </p:txBody>
      </p:sp>
      <p:sp>
        <p:nvSpPr>
          <p:cNvPr id="9" name="矩形 8"/>
          <p:cNvSpPr/>
          <p:nvPr/>
        </p:nvSpPr>
        <p:spPr>
          <a:xfrm>
            <a:off x="304800" y="1143000"/>
            <a:ext cx="8382000" cy="2308324"/>
          </a:xfrm>
          <a:prstGeom prst="rect">
            <a:avLst/>
          </a:prstGeom>
        </p:spPr>
        <p:txBody>
          <a:bodyPr wrap="square">
            <a:spAutoFit/>
          </a:bodyPr>
          <a:lstStyle/>
          <a:p>
            <a:pPr marL="342900" indent="-342900" algn="just">
              <a:buFont typeface="Arial" panose="020B0604020202020204" pitchFamily="34" charset="0"/>
              <a:buChar char="•"/>
            </a:pPr>
            <a:r>
              <a:rPr lang="en-US" altLang="zh-CN" sz="2400" b="1" dirty="0"/>
              <a:t>Limitations: </a:t>
            </a:r>
          </a:p>
          <a:p>
            <a:pPr marL="800100" lvl="1" indent="-342900" algn="just">
              <a:buFont typeface="Arial" panose="020B0604020202020204" pitchFamily="34" charset="0"/>
              <a:buChar char="•"/>
            </a:pPr>
            <a:r>
              <a:rPr lang="en-US" altLang="zh-CN" sz="2400" dirty="0"/>
              <a:t>Its evaluation can have a high variance. The evaluation may depend heavily on which data points end up in the training set and which end up in the test set.</a:t>
            </a:r>
          </a:p>
          <a:p>
            <a:pPr marL="800100" lvl="1" indent="-342900" algn="just">
              <a:buFont typeface="Arial" panose="020B0604020202020204" pitchFamily="34" charset="0"/>
              <a:buChar char="•"/>
            </a:pPr>
            <a:r>
              <a:rPr lang="en-US" altLang="zh-CN" sz="2400" dirty="0"/>
              <a:t>Fewer labeled examples are available for training because some are withheld for testing. </a:t>
            </a:r>
          </a:p>
        </p:txBody>
      </p:sp>
      <p:sp>
        <p:nvSpPr>
          <p:cNvPr id="7" name="任意多边形 6"/>
          <p:cNvSpPr/>
          <p:nvPr/>
        </p:nvSpPr>
        <p:spPr>
          <a:xfrm>
            <a:off x="1903475" y="4834591"/>
            <a:ext cx="5542789" cy="1606297"/>
          </a:xfrm>
          <a:custGeom>
            <a:avLst/>
            <a:gdLst/>
            <a:ahLst/>
            <a:cxnLst/>
            <a:rect l="0" t="0" r="0" b="0"/>
            <a:pathLst>
              <a:path w="5542789" h="1606297">
                <a:moveTo>
                  <a:pt x="0" y="1606296"/>
                </a:moveTo>
                <a:lnTo>
                  <a:pt x="5542788" y="1606296"/>
                </a:lnTo>
                <a:lnTo>
                  <a:pt x="5542788" y="0"/>
                </a:lnTo>
                <a:lnTo>
                  <a:pt x="0" y="0"/>
                </a:lnTo>
                <a:close/>
              </a:path>
            </a:pathLst>
          </a:custGeom>
          <a:solidFill>
            <a:srgbClr val="000000">
              <a:alpha val="0"/>
            </a:srgbClr>
          </a:solidFill>
          <a:ln w="38100" cap="flat" cmpd="sng" algn="ctr">
            <a:solidFill>
              <a:srgbClr val="0D5436"/>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任意多边形 7"/>
          <p:cNvSpPr/>
          <p:nvPr/>
        </p:nvSpPr>
        <p:spPr>
          <a:xfrm>
            <a:off x="5638800" y="4834591"/>
            <a:ext cx="1" cy="1605789"/>
          </a:xfrm>
          <a:custGeom>
            <a:avLst/>
            <a:gdLst/>
            <a:ahLst/>
            <a:cxnLst/>
            <a:rect l="0" t="0" r="0" b="0"/>
            <a:pathLst>
              <a:path w="1" h="1605789">
                <a:moveTo>
                  <a:pt x="0" y="0"/>
                </a:moveTo>
                <a:lnTo>
                  <a:pt x="0" y="1605788"/>
                </a:lnTo>
              </a:path>
            </a:pathLst>
          </a:custGeom>
          <a:ln w="38100" cap="flat" cmpd="sng" algn="ctr">
            <a:solidFill>
              <a:srgbClr val="0000FF"/>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1" name="任意多边形 10"/>
          <p:cNvSpPr/>
          <p:nvPr/>
        </p:nvSpPr>
        <p:spPr>
          <a:xfrm>
            <a:off x="1902713" y="4161744"/>
            <a:ext cx="5542788" cy="678181"/>
          </a:xfrm>
          <a:custGeom>
            <a:avLst/>
            <a:gdLst/>
            <a:ahLst/>
            <a:cxnLst/>
            <a:rect l="0" t="0" r="0" b="0"/>
            <a:pathLst>
              <a:path w="5542788" h="678181">
                <a:moveTo>
                  <a:pt x="0" y="678180"/>
                </a:moveTo>
                <a:cubicBezTo>
                  <a:pt x="0" y="490855"/>
                  <a:pt x="25272" y="339091"/>
                  <a:pt x="56514" y="339091"/>
                </a:cubicBezTo>
                <a:lnTo>
                  <a:pt x="2714878" y="339091"/>
                </a:lnTo>
                <a:cubicBezTo>
                  <a:pt x="2746120" y="339091"/>
                  <a:pt x="2771394" y="187326"/>
                  <a:pt x="2771394" y="0"/>
                </a:cubicBezTo>
                <a:cubicBezTo>
                  <a:pt x="2771394" y="187326"/>
                  <a:pt x="2796667" y="339091"/>
                  <a:pt x="2827908" y="339091"/>
                </a:cubicBezTo>
                <a:lnTo>
                  <a:pt x="5486273" y="339091"/>
                </a:lnTo>
                <a:cubicBezTo>
                  <a:pt x="5517514" y="339091"/>
                  <a:pt x="5542787" y="490855"/>
                  <a:pt x="5542787" y="678180"/>
                </a:cubicBezTo>
              </a:path>
            </a:pathLst>
          </a:custGeom>
          <a:ln w="28575" cap="flat" cmpd="sng" algn="ctr">
            <a:solidFill>
              <a:srgbClr val="FF0000"/>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5" name="TextBox 26"/>
          <p:cNvSpPr txBox="1"/>
          <p:nvPr/>
        </p:nvSpPr>
        <p:spPr>
          <a:xfrm>
            <a:off x="2931412" y="5406507"/>
            <a:ext cx="1476430" cy="346249"/>
          </a:xfrm>
          <a:prstGeom prst="rect">
            <a:avLst/>
          </a:prstGeom>
          <a:noFill/>
        </p:spPr>
        <p:txBody>
          <a:bodyPr vert="horz" wrap="none" lIns="0" tIns="0" rIns="0" bIns="0" rtlCol="0">
            <a:spAutoFit/>
          </a:bodyPr>
          <a:lstStyle/>
          <a:p>
            <a:pPr>
              <a:lnSpc>
                <a:spcPts val="2687"/>
              </a:lnSpc>
            </a:pPr>
            <a:r>
              <a:rPr lang="en-US" altLang="zh-CN" sz="2796" dirty="0">
                <a:solidFill>
                  <a:srgbClr val="0000FF"/>
                </a:solidFill>
                <a:latin typeface="微软雅黑"/>
              </a:rPr>
              <a:t>Training </a:t>
            </a:r>
            <a:endParaRPr lang="zh-CN" altLang="en-US" sz="2796" dirty="0">
              <a:solidFill>
                <a:srgbClr val="0000FF"/>
              </a:solidFill>
              <a:latin typeface="微软雅黑"/>
            </a:endParaRPr>
          </a:p>
        </p:txBody>
      </p:sp>
      <p:sp>
        <p:nvSpPr>
          <p:cNvPr id="26" name="TextBox 27"/>
          <p:cNvSpPr txBox="1"/>
          <p:nvPr/>
        </p:nvSpPr>
        <p:spPr>
          <a:xfrm>
            <a:off x="6004051" y="5406507"/>
            <a:ext cx="774379" cy="346249"/>
          </a:xfrm>
          <a:prstGeom prst="rect">
            <a:avLst/>
          </a:prstGeom>
          <a:noFill/>
        </p:spPr>
        <p:txBody>
          <a:bodyPr vert="horz" wrap="none" lIns="0" tIns="0" rIns="0" bIns="0" rtlCol="0">
            <a:spAutoFit/>
          </a:bodyPr>
          <a:lstStyle/>
          <a:p>
            <a:pPr>
              <a:lnSpc>
                <a:spcPts val="2687"/>
              </a:lnSpc>
            </a:pPr>
            <a:r>
              <a:rPr lang="en-US" altLang="zh-CN" sz="2796" dirty="0">
                <a:solidFill>
                  <a:srgbClr val="0000FF"/>
                </a:solidFill>
                <a:latin typeface="微软雅黑"/>
              </a:rPr>
              <a:t>Test </a:t>
            </a:r>
            <a:endParaRPr lang="zh-CN" altLang="en-US" sz="2796" dirty="0">
              <a:solidFill>
                <a:srgbClr val="0000FF"/>
              </a:solidFill>
              <a:latin typeface="微软雅黑"/>
            </a:endParaRPr>
          </a:p>
        </p:txBody>
      </p:sp>
      <p:sp>
        <p:nvSpPr>
          <p:cNvPr id="27" name="TextBox 27"/>
          <p:cNvSpPr txBox="1"/>
          <p:nvPr/>
        </p:nvSpPr>
        <p:spPr>
          <a:xfrm>
            <a:off x="3637389" y="3752713"/>
            <a:ext cx="2231380" cy="346249"/>
          </a:xfrm>
          <a:prstGeom prst="rect">
            <a:avLst/>
          </a:prstGeom>
          <a:noFill/>
        </p:spPr>
        <p:txBody>
          <a:bodyPr vert="horz" wrap="none" lIns="0" tIns="0" rIns="0" bIns="0" rtlCol="0">
            <a:spAutoFit/>
          </a:bodyPr>
          <a:lstStyle/>
          <a:p>
            <a:pPr>
              <a:lnSpc>
                <a:spcPts val="2687"/>
              </a:lnSpc>
            </a:pPr>
            <a:r>
              <a:rPr lang="en-US" altLang="zh-CN" sz="2796" dirty="0">
                <a:solidFill>
                  <a:srgbClr val="0000FF"/>
                </a:solidFill>
                <a:latin typeface="微软雅黑"/>
              </a:rPr>
              <a:t>Original data</a:t>
            </a:r>
            <a:endParaRPr lang="zh-CN" altLang="en-US" sz="2796" dirty="0">
              <a:solidFill>
                <a:srgbClr val="0000FF"/>
              </a:solidFill>
              <a:latin typeface="微软雅黑"/>
            </a:endParaRPr>
          </a:p>
        </p:txBody>
      </p:sp>
    </p:spTree>
    <p:extLst>
      <p:ext uri="{BB962C8B-B14F-4D97-AF65-F5344CB8AC3E}">
        <p14:creationId xmlns:p14="http://schemas.microsoft.com/office/powerpoint/2010/main" val="22190732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圆角 7">
            <a:extLst>
              <a:ext uri="{FF2B5EF4-FFF2-40B4-BE49-F238E27FC236}">
                <a16:creationId xmlns:a16="http://schemas.microsoft.com/office/drawing/2014/main" id="{DC8E9541-2902-45E2-A2F6-8FB122BF09B3}"/>
              </a:ext>
            </a:extLst>
          </p:cNvPr>
          <p:cNvSpPr/>
          <p:nvPr/>
        </p:nvSpPr>
        <p:spPr>
          <a:xfrm>
            <a:off x="304800" y="1066800"/>
            <a:ext cx="8456141" cy="1855012"/>
          </a:xfrm>
          <a:prstGeom prst="roundRect">
            <a:avLst>
              <a:gd name="adj" fmla="val 3573"/>
            </a:avLst>
          </a:prstGeom>
          <a:solidFill>
            <a:srgbClr val="FFFBD6"/>
          </a:solidFill>
          <a:ln>
            <a:solidFill>
              <a:srgbClr val="FFFBD6"/>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800" dirty="0">
              <a:solidFill>
                <a:schemeClr val="tx1"/>
              </a:solidFill>
            </a:endParaRPr>
          </a:p>
        </p:txBody>
      </p:sp>
      <p:sp>
        <p:nvSpPr>
          <p:cNvPr id="2" name="灯片编号占位符 1"/>
          <p:cNvSpPr>
            <a:spLocks noGrp="1"/>
          </p:cNvSpPr>
          <p:nvPr>
            <p:ph type="sldNum" sz="quarter" idx="12"/>
          </p:nvPr>
        </p:nvSpPr>
        <p:spPr/>
        <p:txBody>
          <a:bodyPr/>
          <a:lstStyle/>
          <a:p>
            <a:fld id="{B6F15528-21DE-4FAA-801E-634DDDAF4B2B}" type="slidenum">
              <a:rPr lang="en-US" smtClean="0"/>
              <a:pPr/>
              <a:t>8</a:t>
            </a:fld>
            <a:endParaRPr lang="en-US"/>
          </a:p>
        </p:txBody>
      </p:sp>
      <p:sp>
        <p:nvSpPr>
          <p:cNvPr id="4" name="文本框 3">
            <a:extLst>
              <a:ext uri="{FF2B5EF4-FFF2-40B4-BE49-F238E27FC236}">
                <a16:creationId xmlns:a16="http://schemas.microsoft.com/office/drawing/2014/main" id="{60049FE2-D3F5-4096-9FC9-B63B2A1EDC37}"/>
              </a:ext>
            </a:extLst>
          </p:cNvPr>
          <p:cNvSpPr txBox="1"/>
          <p:nvPr/>
        </p:nvSpPr>
        <p:spPr>
          <a:xfrm>
            <a:off x="304800" y="152400"/>
            <a:ext cx="6023829" cy="754694"/>
          </a:xfrm>
          <a:prstGeom prst="rect">
            <a:avLst/>
          </a:prstGeom>
          <a:noFill/>
        </p:spPr>
        <p:txBody>
          <a:bodyPr wrap="none" rtlCol="0">
            <a:spAutoFit/>
          </a:bodyPr>
          <a:lstStyle/>
          <a:p>
            <a:pPr>
              <a:lnSpc>
                <a:spcPct val="150000"/>
              </a:lnSpc>
            </a:pPr>
            <a:r>
              <a:rPr lang="en-US" sz="3200" b="1" dirty="0"/>
              <a:t>Repeat with Random Subsampling</a:t>
            </a:r>
          </a:p>
        </p:txBody>
      </p:sp>
      <mc:AlternateContent xmlns:mc="http://schemas.openxmlformats.org/markup-compatibility/2006" xmlns:a14="http://schemas.microsoft.com/office/drawing/2010/main">
        <mc:Choice Requires="a14">
          <p:sp>
            <p:nvSpPr>
              <p:cNvPr id="9" name="矩形 8"/>
              <p:cNvSpPr/>
              <p:nvPr/>
            </p:nvSpPr>
            <p:spPr>
              <a:xfrm>
                <a:off x="304800" y="1143000"/>
                <a:ext cx="8382000" cy="1605824"/>
              </a:xfrm>
              <a:prstGeom prst="rect">
                <a:avLst/>
              </a:prstGeom>
            </p:spPr>
            <p:txBody>
              <a:bodyPr wrap="square">
                <a:spAutoFit/>
              </a:bodyPr>
              <a:lstStyle/>
              <a:p>
                <a:pPr marL="342900" indent="-342900" algn="just">
                  <a:buFont typeface="Arial" panose="020B0604020202020204" pitchFamily="34" charset="0"/>
                  <a:buChar char="•"/>
                </a:pPr>
                <a:r>
                  <a:rPr lang="en-US" altLang="zh-CN" sz="2400" dirty="0"/>
                  <a:t>The holdout method can be </a:t>
                </a:r>
                <a:r>
                  <a:rPr lang="en-US" altLang="zh-CN" sz="2400" dirty="0">
                    <a:solidFill>
                      <a:srgbClr val="FF0000"/>
                    </a:solidFill>
                  </a:rPr>
                  <a:t>repeated</a:t>
                </a:r>
                <a:r>
                  <a:rPr lang="en-US" altLang="zh-CN" sz="2400" dirty="0"/>
                  <a:t> </a:t>
                </a:r>
                <a:r>
                  <a:rPr lang="en-US" altLang="zh-CN" sz="2400" dirty="0">
                    <a:solidFill>
                      <a:srgbClr val="FF0000"/>
                    </a:solidFill>
                  </a:rPr>
                  <a:t>several times </a:t>
                </a:r>
                <a:r>
                  <a:rPr lang="en-US" altLang="zh-CN" sz="2400" dirty="0"/>
                  <a:t>to improve the performance. </a:t>
                </a:r>
              </a:p>
              <a:p>
                <a:pPr marL="342900" indent="-342900" algn="just">
                  <a:buFont typeface="Arial" panose="020B0604020202020204" pitchFamily="34" charset="0"/>
                  <a:buChar char="•"/>
                </a:pPr>
                <a:r>
                  <a:rPr lang="en-US" altLang="zh-CN" sz="2400" dirty="0"/>
                  <a:t>Let </a:t>
                </a:r>
                <a14:m>
                  <m:oMath xmlns:m="http://schemas.openxmlformats.org/officeDocument/2006/math">
                    <m:sSub>
                      <m:sSubPr>
                        <m:ctrlPr>
                          <a:rPr lang="en-US" altLang="zh-CN" sz="2400" i="1" dirty="0" smtClean="0">
                            <a:latin typeface="Cambria Math" panose="02040503050406030204" pitchFamily="18" charset="0"/>
                          </a:rPr>
                        </m:ctrlPr>
                      </m:sSubPr>
                      <m:e>
                        <m:r>
                          <a:rPr lang="en-US" altLang="zh-CN" sz="2400" i="1" dirty="0">
                            <a:latin typeface="Cambria Math" panose="02040503050406030204" pitchFamily="18" charset="0"/>
                          </a:rPr>
                          <m:t>𝑎𝑐𝑐</m:t>
                        </m:r>
                      </m:e>
                      <m:sub>
                        <m:r>
                          <a:rPr lang="en-US" altLang="zh-CN" sz="2400" b="0" i="1" dirty="0" smtClean="0">
                            <a:latin typeface="Cambria Math" panose="02040503050406030204" pitchFamily="18" charset="0"/>
                          </a:rPr>
                          <m:t>𝑖</m:t>
                        </m:r>
                      </m:sub>
                    </m:sSub>
                  </m:oMath>
                </a14:m>
                <a:r>
                  <a:rPr lang="en-US" altLang="zh-CN" sz="2400" dirty="0"/>
                  <a:t> be the model accuracy during the </a:t>
                </a:r>
                <a14:m>
                  <m:oMath xmlns:m="http://schemas.openxmlformats.org/officeDocument/2006/math">
                    <m:sSup>
                      <m:sSupPr>
                        <m:ctrlPr>
                          <a:rPr lang="en-US" altLang="zh-CN" sz="2400" i="1" dirty="0" smtClean="0">
                            <a:latin typeface="Cambria Math" panose="02040503050406030204" pitchFamily="18" charset="0"/>
                          </a:rPr>
                        </m:ctrlPr>
                      </m:sSupPr>
                      <m:e>
                        <m:r>
                          <a:rPr lang="en-US" altLang="zh-CN" sz="2400" b="0" i="1" dirty="0" smtClean="0">
                            <a:latin typeface="Cambria Math" panose="02040503050406030204" pitchFamily="18" charset="0"/>
                          </a:rPr>
                          <m:t>𝑖</m:t>
                        </m:r>
                      </m:e>
                      <m:sup>
                        <m:r>
                          <a:rPr lang="en-US" altLang="zh-CN" sz="2400" b="0" i="1" dirty="0" smtClean="0">
                            <a:latin typeface="Cambria Math" panose="02040503050406030204" pitchFamily="18" charset="0"/>
                          </a:rPr>
                          <m:t>𝑡h</m:t>
                        </m:r>
                      </m:sup>
                    </m:sSup>
                  </m:oMath>
                </a14:m>
                <a:r>
                  <a:rPr lang="en-US" altLang="zh-CN" sz="2400" dirty="0"/>
                  <a:t> iteration. The overall accuracy is given by </a:t>
                </a:r>
                <a14:m>
                  <m:oMath xmlns:m="http://schemas.openxmlformats.org/officeDocument/2006/math">
                    <m:sSub>
                      <m:sSubPr>
                        <m:ctrlPr>
                          <a:rPr lang="en-US" altLang="zh-CN" sz="2400" i="1" dirty="0">
                            <a:latin typeface="Cambria Math" panose="02040503050406030204" pitchFamily="18" charset="0"/>
                          </a:rPr>
                        </m:ctrlPr>
                      </m:sSubPr>
                      <m:e>
                        <m:r>
                          <a:rPr lang="en-US" altLang="zh-CN" sz="2400" i="1" dirty="0">
                            <a:latin typeface="Cambria Math" panose="02040503050406030204" pitchFamily="18" charset="0"/>
                          </a:rPr>
                          <m:t>𝑎𝑐𝑐</m:t>
                        </m:r>
                      </m:e>
                      <m:sub>
                        <m:r>
                          <a:rPr lang="en-US" altLang="zh-CN" sz="2400" b="0" i="1" dirty="0" smtClean="0">
                            <a:latin typeface="Cambria Math" panose="02040503050406030204" pitchFamily="18" charset="0"/>
                          </a:rPr>
                          <m:t>𝑠𝑢𝑏</m:t>
                        </m:r>
                      </m:sub>
                    </m:sSub>
                    <m:r>
                      <a:rPr lang="en-US" altLang="zh-CN" sz="2400" b="0" i="1" dirty="0" smtClean="0">
                        <a:latin typeface="Cambria Math" panose="02040503050406030204" pitchFamily="18" charset="0"/>
                      </a:rPr>
                      <m:t>=</m:t>
                    </m:r>
                    <m:nary>
                      <m:naryPr>
                        <m:chr m:val="∑"/>
                        <m:limLoc m:val="subSup"/>
                        <m:ctrlPr>
                          <a:rPr lang="en-US" altLang="zh-CN" sz="2400" b="0" i="1" dirty="0" smtClean="0">
                            <a:latin typeface="Cambria Math" panose="02040503050406030204" pitchFamily="18" charset="0"/>
                          </a:rPr>
                        </m:ctrlPr>
                      </m:naryPr>
                      <m:sub>
                        <m:r>
                          <m:rPr>
                            <m:brk m:alnAt="25"/>
                          </m:rPr>
                          <a:rPr lang="en-US" altLang="zh-CN" sz="2400" b="0" i="1" dirty="0" smtClean="0">
                            <a:latin typeface="Cambria Math" panose="02040503050406030204" pitchFamily="18" charset="0"/>
                          </a:rPr>
                          <m:t>𝑖</m:t>
                        </m:r>
                        <m:r>
                          <a:rPr lang="en-US" altLang="zh-CN" sz="2400" b="0" i="1" dirty="0" smtClean="0">
                            <a:latin typeface="Cambria Math" panose="02040503050406030204" pitchFamily="18" charset="0"/>
                          </a:rPr>
                          <m:t>=1</m:t>
                        </m:r>
                      </m:sub>
                      <m:sup>
                        <m:r>
                          <a:rPr lang="en-US" altLang="zh-CN" sz="2400" b="0" i="1" dirty="0" smtClean="0">
                            <a:latin typeface="Cambria Math" panose="02040503050406030204" pitchFamily="18" charset="0"/>
                          </a:rPr>
                          <m:t>𝑘</m:t>
                        </m:r>
                      </m:sup>
                      <m:e>
                        <m:sSub>
                          <m:sSubPr>
                            <m:ctrlPr>
                              <a:rPr lang="en-US" altLang="zh-CN" sz="2400" i="1" dirty="0">
                                <a:latin typeface="Cambria Math" panose="02040503050406030204" pitchFamily="18" charset="0"/>
                              </a:rPr>
                            </m:ctrlPr>
                          </m:sSubPr>
                          <m:e>
                            <m:r>
                              <a:rPr lang="en-US" altLang="zh-CN" sz="2400" i="1" dirty="0">
                                <a:latin typeface="Cambria Math" panose="02040503050406030204" pitchFamily="18" charset="0"/>
                              </a:rPr>
                              <m:t>𝑎𝑐𝑐</m:t>
                            </m:r>
                          </m:e>
                          <m:sub>
                            <m:r>
                              <a:rPr lang="en-US" altLang="zh-CN" sz="2400" i="1" dirty="0">
                                <a:latin typeface="Cambria Math" panose="02040503050406030204" pitchFamily="18" charset="0"/>
                              </a:rPr>
                              <m:t>𝑖</m:t>
                            </m:r>
                          </m:sub>
                        </m:sSub>
                      </m:e>
                    </m:nary>
                    <m:r>
                      <a:rPr lang="en-US" altLang="zh-CN" sz="2400" b="0" i="1" dirty="0" smtClean="0">
                        <a:latin typeface="Cambria Math" panose="02040503050406030204" pitchFamily="18" charset="0"/>
                      </a:rPr>
                      <m:t>/</m:t>
                    </m:r>
                    <m:r>
                      <a:rPr lang="en-US" altLang="zh-CN" sz="2400" b="0" i="1" dirty="0" smtClean="0">
                        <a:latin typeface="Cambria Math" panose="02040503050406030204" pitchFamily="18" charset="0"/>
                      </a:rPr>
                      <m:t>𝑘</m:t>
                    </m:r>
                  </m:oMath>
                </a14:m>
                <a:r>
                  <a:rPr lang="en-US" altLang="zh-CN" sz="2400" dirty="0"/>
                  <a:t>.</a:t>
                </a:r>
              </a:p>
            </p:txBody>
          </p:sp>
        </mc:Choice>
        <mc:Fallback xmlns="">
          <p:sp>
            <p:nvSpPr>
              <p:cNvPr id="9" name="矩形 8"/>
              <p:cNvSpPr>
                <a:spLocks noRot="1" noChangeAspect="1" noMove="1" noResize="1" noEditPoints="1" noAdjustHandles="1" noChangeArrowheads="1" noChangeShapeType="1" noTextEdit="1"/>
              </p:cNvSpPr>
              <p:nvPr/>
            </p:nvSpPr>
            <p:spPr>
              <a:xfrm>
                <a:off x="304800" y="1143000"/>
                <a:ext cx="8382000" cy="1605824"/>
              </a:xfrm>
              <a:prstGeom prst="rect">
                <a:avLst/>
              </a:prstGeom>
              <a:blipFill rotWithShape="0">
                <a:blip r:embed="rId2"/>
                <a:stretch>
                  <a:fillRect l="-945" t="-3042" r="-1091" b="-7605"/>
                </a:stretch>
              </a:blipFill>
            </p:spPr>
            <p:txBody>
              <a:bodyPr/>
              <a:lstStyle/>
              <a:p>
                <a:r>
                  <a:rPr lang="zh-CN" altLang="en-US">
                    <a:noFill/>
                  </a:rPr>
                  <a:t> </a:t>
                </a:r>
              </a:p>
            </p:txBody>
          </p:sp>
        </mc:Fallback>
      </mc:AlternateContent>
      <p:grpSp>
        <p:nvGrpSpPr>
          <p:cNvPr id="5" name="组合 4">
            <a:extLst>
              <a:ext uri="{FF2B5EF4-FFF2-40B4-BE49-F238E27FC236}">
                <a16:creationId xmlns:a16="http://schemas.microsoft.com/office/drawing/2014/main" id="{99EFF079-60D9-4CB1-91A0-C384AC702C38}"/>
              </a:ext>
            </a:extLst>
          </p:cNvPr>
          <p:cNvGrpSpPr/>
          <p:nvPr/>
        </p:nvGrpSpPr>
        <p:grpSpPr>
          <a:xfrm>
            <a:off x="298938" y="2921812"/>
            <a:ext cx="8462002" cy="2183588"/>
            <a:chOff x="298938" y="2921812"/>
            <a:chExt cx="8462002" cy="2183588"/>
          </a:xfrm>
        </p:grpSpPr>
        <p:sp>
          <p:nvSpPr>
            <p:cNvPr id="8" name="矩形: 圆角 7">
              <a:extLst>
                <a:ext uri="{FF2B5EF4-FFF2-40B4-BE49-F238E27FC236}">
                  <a16:creationId xmlns:a16="http://schemas.microsoft.com/office/drawing/2014/main" id="{DC8E9541-2902-45E2-A2F6-8FB122BF09B3}"/>
                </a:ext>
              </a:extLst>
            </p:cNvPr>
            <p:cNvSpPr/>
            <p:nvPr/>
          </p:nvSpPr>
          <p:spPr>
            <a:xfrm>
              <a:off x="304799" y="3124200"/>
              <a:ext cx="8456141" cy="1981200"/>
            </a:xfrm>
            <a:prstGeom prst="roundRect">
              <a:avLst>
                <a:gd name="adj" fmla="val 3573"/>
              </a:avLst>
            </a:prstGeom>
            <a:solidFill>
              <a:srgbClr val="F9E6E6"/>
            </a:solidFill>
            <a:ln>
              <a:solidFill>
                <a:srgbClr val="FFFBD6"/>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800" dirty="0">
                <a:solidFill>
                  <a:schemeClr val="tx1"/>
                </a:solidFill>
              </a:endParaRPr>
            </a:p>
          </p:txBody>
        </p:sp>
        <p:sp>
          <p:nvSpPr>
            <p:cNvPr id="3" name="矩形 2"/>
            <p:cNvSpPr/>
            <p:nvPr/>
          </p:nvSpPr>
          <p:spPr>
            <a:xfrm>
              <a:off x="298938" y="2921812"/>
              <a:ext cx="8387862" cy="1938992"/>
            </a:xfrm>
            <a:prstGeom prst="rect">
              <a:avLst/>
            </a:prstGeom>
          </p:spPr>
          <p:txBody>
            <a:bodyPr wrap="square">
              <a:spAutoFit/>
            </a:bodyPr>
            <a:lstStyle/>
            <a:p>
              <a:pPr marL="342900" indent="-342900" algn="just">
                <a:buFont typeface="Arial" panose="020B0604020202020204" pitchFamily="34" charset="0"/>
                <a:buChar char="•"/>
              </a:pPr>
              <a:endParaRPr lang="en-US" altLang="zh-CN" sz="2400" dirty="0"/>
            </a:p>
            <a:p>
              <a:pPr marL="342900" indent="-342900" algn="just">
                <a:buFont typeface="Arial" panose="020B0604020202020204" pitchFamily="34" charset="0"/>
                <a:buChar char="•"/>
              </a:pPr>
              <a:r>
                <a:rPr lang="en-US" altLang="zh-CN" sz="2400" b="1" dirty="0"/>
                <a:t>Limitations:</a:t>
              </a:r>
            </a:p>
            <a:p>
              <a:pPr marL="800100" lvl="1" indent="-342900" algn="just">
                <a:buFont typeface="Wingdings" panose="05000000000000000000" pitchFamily="2" charset="2"/>
                <a:buChar char="p"/>
              </a:pPr>
              <a:r>
                <a:rPr lang="en-US" altLang="zh-CN" sz="2400" dirty="0"/>
                <a:t>It does not utilize as much data as possible for training. </a:t>
              </a:r>
            </a:p>
            <a:p>
              <a:pPr marL="800100" lvl="1" indent="-342900" algn="just">
                <a:buFont typeface="Wingdings" panose="05000000000000000000" pitchFamily="2" charset="2"/>
                <a:buChar char="p"/>
              </a:pPr>
              <a:r>
                <a:rPr lang="en-US" altLang="zh-CN" sz="2400" dirty="0"/>
                <a:t>It also has no control over the number of times each record is used for testing and training. </a:t>
              </a:r>
            </a:p>
          </p:txBody>
        </p:sp>
      </p:grpSp>
    </p:spTree>
    <p:extLst>
      <p:ext uri="{BB962C8B-B14F-4D97-AF65-F5344CB8AC3E}">
        <p14:creationId xmlns:p14="http://schemas.microsoft.com/office/powerpoint/2010/main" val="21212984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圆角 7">
            <a:extLst>
              <a:ext uri="{FF2B5EF4-FFF2-40B4-BE49-F238E27FC236}">
                <a16:creationId xmlns:a16="http://schemas.microsoft.com/office/drawing/2014/main" id="{DC8E9541-2902-45E2-A2F6-8FB122BF09B3}"/>
              </a:ext>
            </a:extLst>
          </p:cNvPr>
          <p:cNvSpPr/>
          <p:nvPr/>
        </p:nvSpPr>
        <p:spPr>
          <a:xfrm>
            <a:off x="304800" y="1066800"/>
            <a:ext cx="8456141" cy="2501229"/>
          </a:xfrm>
          <a:prstGeom prst="roundRect">
            <a:avLst>
              <a:gd name="adj" fmla="val 3573"/>
            </a:avLst>
          </a:prstGeom>
          <a:solidFill>
            <a:srgbClr val="FFFBD6"/>
          </a:solidFill>
          <a:ln>
            <a:solidFill>
              <a:srgbClr val="FFFBD6"/>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800" dirty="0">
              <a:solidFill>
                <a:schemeClr val="tx1"/>
              </a:solidFill>
            </a:endParaRPr>
          </a:p>
        </p:txBody>
      </p:sp>
      <p:sp>
        <p:nvSpPr>
          <p:cNvPr id="2" name="灯片编号占位符 1"/>
          <p:cNvSpPr>
            <a:spLocks noGrp="1"/>
          </p:cNvSpPr>
          <p:nvPr>
            <p:ph type="sldNum" sz="quarter" idx="12"/>
          </p:nvPr>
        </p:nvSpPr>
        <p:spPr/>
        <p:txBody>
          <a:bodyPr/>
          <a:lstStyle/>
          <a:p>
            <a:fld id="{B6F15528-21DE-4FAA-801E-634DDDAF4B2B}" type="slidenum">
              <a:rPr lang="en-US" smtClean="0"/>
              <a:pPr/>
              <a:t>9</a:t>
            </a:fld>
            <a:endParaRPr lang="en-US"/>
          </a:p>
        </p:txBody>
      </p:sp>
      <p:sp>
        <p:nvSpPr>
          <p:cNvPr id="4" name="文本框 3">
            <a:extLst>
              <a:ext uri="{FF2B5EF4-FFF2-40B4-BE49-F238E27FC236}">
                <a16:creationId xmlns:a16="http://schemas.microsoft.com/office/drawing/2014/main" id="{60049FE2-D3F5-4096-9FC9-B63B2A1EDC37}"/>
              </a:ext>
            </a:extLst>
          </p:cNvPr>
          <p:cNvSpPr txBox="1"/>
          <p:nvPr/>
        </p:nvSpPr>
        <p:spPr>
          <a:xfrm>
            <a:off x="304800" y="152400"/>
            <a:ext cx="2910990" cy="754694"/>
          </a:xfrm>
          <a:prstGeom prst="rect">
            <a:avLst/>
          </a:prstGeom>
          <a:noFill/>
        </p:spPr>
        <p:txBody>
          <a:bodyPr wrap="none" rtlCol="0">
            <a:spAutoFit/>
          </a:bodyPr>
          <a:lstStyle/>
          <a:p>
            <a:pPr>
              <a:lnSpc>
                <a:spcPct val="150000"/>
              </a:lnSpc>
            </a:pPr>
            <a:r>
              <a:rPr lang="en-US" sz="3200" b="1" dirty="0"/>
              <a:t>Cross-validation</a:t>
            </a:r>
          </a:p>
        </p:txBody>
      </p:sp>
      <p:sp>
        <p:nvSpPr>
          <p:cNvPr id="9" name="矩形 8"/>
          <p:cNvSpPr/>
          <p:nvPr/>
        </p:nvSpPr>
        <p:spPr>
          <a:xfrm>
            <a:off x="304800" y="1143000"/>
            <a:ext cx="8456141" cy="2308324"/>
          </a:xfrm>
          <a:prstGeom prst="rect">
            <a:avLst/>
          </a:prstGeom>
        </p:spPr>
        <p:txBody>
          <a:bodyPr wrap="square">
            <a:spAutoFit/>
          </a:bodyPr>
          <a:lstStyle/>
          <a:p>
            <a:pPr marL="342900" indent="-342900" algn="just">
              <a:buFont typeface="Arial" panose="020B0604020202020204" pitchFamily="34" charset="0"/>
              <a:buChar char="•"/>
            </a:pPr>
            <a:r>
              <a:rPr lang="en-US" altLang="zh-CN" sz="2400" dirty="0"/>
              <a:t>Suppose we partition the data into two equal-sized subsets. </a:t>
            </a:r>
          </a:p>
          <a:p>
            <a:pPr marL="342900" indent="-342900" algn="just">
              <a:buFont typeface="Arial" panose="020B0604020202020204" pitchFamily="34" charset="0"/>
              <a:buChar char="•"/>
            </a:pPr>
            <a:r>
              <a:rPr lang="en-US" altLang="zh-CN" sz="2400" dirty="0"/>
              <a:t>We choose one of the subsets for training and the other for testing. </a:t>
            </a:r>
          </a:p>
          <a:p>
            <a:pPr marL="342900" indent="-342900" algn="just">
              <a:buFont typeface="Arial" panose="020B0604020202020204" pitchFamily="34" charset="0"/>
              <a:buChar char="•"/>
            </a:pPr>
            <a:r>
              <a:rPr lang="en-US" altLang="zh-CN" sz="2400" dirty="0"/>
              <a:t>We then swap the roles of the subsets so that the previous training set becomes the test set and vice versa. </a:t>
            </a:r>
          </a:p>
          <a:p>
            <a:pPr marL="342900" indent="-342900" algn="just">
              <a:buFont typeface="Arial" panose="020B0604020202020204" pitchFamily="34" charset="0"/>
              <a:buChar char="•"/>
            </a:pPr>
            <a:r>
              <a:rPr lang="en-US" altLang="zh-CN" sz="2400" dirty="0"/>
              <a:t>The total error is obtained by averaging the errors for both runs. </a:t>
            </a:r>
          </a:p>
        </p:txBody>
      </p:sp>
      <p:sp>
        <p:nvSpPr>
          <p:cNvPr id="11" name="任意多边形 10"/>
          <p:cNvSpPr/>
          <p:nvPr/>
        </p:nvSpPr>
        <p:spPr>
          <a:xfrm>
            <a:off x="533400" y="4484059"/>
            <a:ext cx="5411725" cy="502490"/>
          </a:xfrm>
          <a:custGeom>
            <a:avLst/>
            <a:gdLst/>
            <a:ahLst/>
            <a:cxnLst/>
            <a:rect l="0" t="0" r="0" b="0"/>
            <a:pathLst>
              <a:path w="5542789" h="1606297">
                <a:moveTo>
                  <a:pt x="0" y="1606296"/>
                </a:moveTo>
                <a:lnTo>
                  <a:pt x="5542788" y="1606296"/>
                </a:lnTo>
                <a:lnTo>
                  <a:pt x="5542788" y="0"/>
                </a:lnTo>
                <a:lnTo>
                  <a:pt x="0" y="0"/>
                </a:lnTo>
                <a:close/>
              </a:path>
            </a:pathLst>
          </a:custGeom>
          <a:solidFill>
            <a:srgbClr val="000000">
              <a:alpha val="0"/>
            </a:srgbClr>
          </a:solidFill>
          <a:ln w="38100" cap="flat" cmpd="sng" algn="ctr">
            <a:solidFill>
              <a:srgbClr val="0D5436"/>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任意多边形 11"/>
          <p:cNvSpPr/>
          <p:nvPr/>
        </p:nvSpPr>
        <p:spPr>
          <a:xfrm>
            <a:off x="3308781" y="4484059"/>
            <a:ext cx="50293" cy="522972"/>
          </a:xfrm>
          <a:custGeom>
            <a:avLst/>
            <a:gdLst/>
            <a:ahLst/>
            <a:cxnLst/>
            <a:rect l="0" t="0" r="0" b="0"/>
            <a:pathLst>
              <a:path w="1" h="1605789">
                <a:moveTo>
                  <a:pt x="0" y="0"/>
                </a:moveTo>
                <a:lnTo>
                  <a:pt x="0" y="1605788"/>
                </a:lnTo>
              </a:path>
            </a:pathLst>
          </a:custGeom>
          <a:ln w="38100" cap="flat" cmpd="sng" algn="ctr">
            <a:solidFill>
              <a:srgbClr val="0000FF"/>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4" name="TextBox 26"/>
          <p:cNvSpPr txBox="1"/>
          <p:nvPr/>
        </p:nvSpPr>
        <p:spPr>
          <a:xfrm>
            <a:off x="1296925" y="4585263"/>
            <a:ext cx="1476430" cy="346249"/>
          </a:xfrm>
          <a:prstGeom prst="rect">
            <a:avLst/>
          </a:prstGeom>
          <a:noFill/>
        </p:spPr>
        <p:txBody>
          <a:bodyPr vert="horz" wrap="none" lIns="0" tIns="0" rIns="0" bIns="0" rtlCol="0">
            <a:spAutoFit/>
          </a:bodyPr>
          <a:lstStyle/>
          <a:p>
            <a:pPr>
              <a:lnSpc>
                <a:spcPts val="2687"/>
              </a:lnSpc>
            </a:pPr>
            <a:r>
              <a:rPr lang="en-US" altLang="zh-CN" sz="2796" dirty="0">
                <a:solidFill>
                  <a:srgbClr val="0000FF"/>
                </a:solidFill>
                <a:latin typeface="微软雅黑"/>
              </a:rPr>
              <a:t>Training </a:t>
            </a:r>
            <a:endParaRPr lang="zh-CN" altLang="en-US" sz="2796" dirty="0">
              <a:solidFill>
                <a:srgbClr val="0000FF"/>
              </a:solidFill>
              <a:latin typeface="微软雅黑"/>
            </a:endParaRPr>
          </a:p>
        </p:txBody>
      </p:sp>
      <p:sp>
        <p:nvSpPr>
          <p:cNvPr id="15" name="TextBox 27"/>
          <p:cNvSpPr txBox="1"/>
          <p:nvPr/>
        </p:nvSpPr>
        <p:spPr>
          <a:xfrm>
            <a:off x="4369564" y="4585263"/>
            <a:ext cx="774379" cy="346249"/>
          </a:xfrm>
          <a:prstGeom prst="rect">
            <a:avLst/>
          </a:prstGeom>
          <a:noFill/>
        </p:spPr>
        <p:txBody>
          <a:bodyPr vert="horz" wrap="none" lIns="0" tIns="0" rIns="0" bIns="0" rtlCol="0">
            <a:spAutoFit/>
          </a:bodyPr>
          <a:lstStyle/>
          <a:p>
            <a:pPr>
              <a:lnSpc>
                <a:spcPts val="2687"/>
              </a:lnSpc>
            </a:pPr>
            <a:r>
              <a:rPr lang="en-US" altLang="zh-CN" sz="2796" dirty="0">
                <a:solidFill>
                  <a:srgbClr val="0000FF"/>
                </a:solidFill>
                <a:latin typeface="微软雅黑"/>
              </a:rPr>
              <a:t>Test </a:t>
            </a:r>
            <a:endParaRPr lang="zh-CN" altLang="en-US" sz="2796" dirty="0">
              <a:solidFill>
                <a:srgbClr val="0000FF"/>
              </a:solidFill>
              <a:latin typeface="微软雅黑"/>
            </a:endParaRPr>
          </a:p>
        </p:txBody>
      </p:sp>
      <p:sp>
        <p:nvSpPr>
          <p:cNvPr id="18" name="任意多边形 17"/>
          <p:cNvSpPr/>
          <p:nvPr/>
        </p:nvSpPr>
        <p:spPr>
          <a:xfrm>
            <a:off x="533400" y="5398707"/>
            <a:ext cx="5411725" cy="502490"/>
          </a:xfrm>
          <a:custGeom>
            <a:avLst/>
            <a:gdLst/>
            <a:ahLst/>
            <a:cxnLst/>
            <a:rect l="0" t="0" r="0" b="0"/>
            <a:pathLst>
              <a:path w="5542789" h="1606297">
                <a:moveTo>
                  <a:pt x="0" y="1606296"/>
                </a:moveTo>
                <a:lnTo>
                  <a:pt x="5542788" y="1606296"/>
                </a:lnTo>
                <a:lnTo>
                  <a:pt x="5542788" y="0"/>
                </a:lnTo>
                <a:lnTo>
                  <a:pt x="0" y="0"/>
                </a:lnTo>
                <a:close/>
              </a:path>
            </a:pathLst>
          </a:custGeom>
          <a:solidFill>
            <a:srgbClr val="000000">
              <a:alpha val="0"/>
            </a:srgbClr>
          </a:solidFill>
          <a:ln w="38100" cap="flat" cmpd="sng" algn="ctr">
            <a:solidFill>
              <a:srgbClr val="0D5436"/>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任意多边形 18"/>
          <p:cNvSpPr/>
          <p:nvPr/>
        </p:nvSpPr>
        <p:spPr>
          <a:xfrm>
            <a:off x="3308781" y="5398707"/>
            <a:ext cx="50293" cy="522972"/>
          </a:xfrm>
          <a:custGeom>
            <a:avLst/>
            <a:gdLst/>
            <a:ahLst/>
            <a:cxnLst/>
            <a:rect l="0" t="0" r="0" b="0"/>
            <a:pathLst>
              <a:path w="1" h="1605789">
                <a:moveTo>
                  <a:pt x="0" y="0"/>
                </a:moveTo>
                <a:lnTo>
                  <a:pt x="0" y="1605788"/>
                </a:lnTo>
              </a:path>
            </a:pathLst>
          </a:custGeom>
          <a:ln w="38100" cap="flat" cmpd="sng" algn="ctr">
            <a:solidFill>
              <a:srgbClr val="0000FF"/>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0" name="TextBox 26"/>
          <p:cNvSpPr txBox="1"/>
          <p:nvPr/>
        </p:nvSpPr>
        <p:spPr>
          <a:xfrm>
            <a:off x="1618944" y="5499911"/>
            <a:ext cx="668581" cy="346249"/>
          </a:xfrm>
          <a:prstGeom prst="rect">
            <a:avLst/>
          </a:prstGeom>
          <a:noFill/>
        </p:spPr>
        <p:txBody>
          <a:bodyPr vert="horz" wrap="none" lIns="0" tIns="0" rIns="0" bIns="0" rtlCol="0">
            <a:spAutoFit/>
          </a:bodyPr>
          <a:lstStyle/>
          <a:p>
            <a:pPr>
              <a:lnSpc>
                <a:spcPts val="2687"/>
              </a:lnSpc>
            </a:pPr>
            <a:r>
              <a:rPr lang="en-US" altLang="zh-CN" sz="2796" dirty="0">
                <a:solidFill>
                  <a:srgbClr val="0000FF"/>
                </a:solidFill>
                <a:latin typeface="微软雅黑"/>
              </a:rPr>
              <a:t>Test</a:t>
            </a:r>
            <a:endParaRPr lang="zh-CN" altLang="en-US" sz="2796" dirty="0">
              <a:solidFill>
                <a:srgbClr val="0000FF"/>
              </a:solidFill>
              <a:latin typeface="微软雅黑"/>
            </a:endParaRPr>
          </a:p>
        </p:txBody>
      </p:sp>
      <p:sp>
        <p:nvSpPr>
          <p:cNvPr id="21" name="TextBox 27"/>
          <p:cNvSpPr txBox="1"/>
          <p:nvPr/>
        </p:nvSpPr>
        <p:spPr>
          <a:xfrm>
            <a:off x="4040125" y="5499911"/>
            <a:ext cx="1476430" cy="346249"/>
          </a:xfrm>
          <a:prstGeom prst="rect">
            <a:avLst/>
          </a:prstGeom>
          <a:noFill/>
        </p:spPr>
        <p:txBody>
          <a:bodyPr vert="horz" wrap="none" lIns="0" tIns="0" rIns="0" bIns="0" rtlCol="0">
            <a:spAutoFit/>
          </a:bodyPr>
          <a:lstStyle/>
          <a:p>
            <a:pPr>
              <a:lnSpc>
                <a:spcPts val="2687"/>
              </a:lnSpc>
            </a:pPr>
            <a:r>
              <a:rPr lang="en-US" altLang="zh-CN" sz="2796" dirty="0">
                <a:solidFill>
                  <a:srgbClr val="0000FF"/>
                </a:solidFill>
                <a:latin typeface="微软雅黑"/>
              </a:rPr>
              <a:t>Training </a:t>
            </a:r>
            <a:endParaRPr lang="zh-CN" altLang="en-US" sz="2796" dirty="0">
              <a:solidFill>
                <a:srgbClr val="0000FF"/>
              </a:solidFill>
              <a:latin typeface="微软雅黑"/>
            </a:endParaRPr>
          </a:p>
        </p:txBody>
      </p:sp>
      <p:sp>
        <p:nvSpPr>
          <p:cNvPr id="8" name="矩形 7"/>
          <p:cNvSpPr/>
          <p:nvPr/>
        </p:nvSpPr>
        <p:spPr>
          <a:xfrm>
            <a:off x="1838635" y="6113300"/>
            <a:ext cx="2940292" cy="400110"/>
          </a:xfrm>
          <a:prstGeom prst="rect">
            <a:avLst/>
          </a:prstGeom>
        </p:spPr>
        <p:txBody>
          <a:bodyPr wrap="none">
            <a:spAutoFit/>
          </a:bodyPr>
          <a:lstStyle/>
          <a:p>
            <a:pPr algn="just"/>
            <a:r>
              <a:rPr lang="en-US" altLang="zh-CN" sz="2000" dirty="0">
                <a:solidFill>
                  <a:srgbClr val="FF0000"/>
                </a:solidFill>
              </a:rPr>
              <a:t>Two-fold cross-validation.</a:t>
            </a:r>
          </a:p>
        </p:txBody>
      </p:sp>
      <p:sp>
        <p:nvSpPr>
          <p:cNvPr id="22" name="任意多边形 21"/>
          <p:cNvSpPr/>
          <p:nvPr/>
        </p:nvSpPr>
        <p:spPr>
          <a:xfrm rot="5400000">
            <a:off x="5691633" y="5044426"/>
            <a:ext cx="1129738" cy="211416"/>
          </a:xfrm>
          <a:custGeom>
            <a:avLst/>
            <a:gdLst/>
            <a:ahLst/>
            <a:cxnLst/>
            <a:rect l="0" t="0" r="0" b="0"/>
            <a:pathLst>
              <a:path w="5542788" h="678181">
                <a:moveTo>
                  <a:pt x="0" y="678180"/>
                </a:moveTo>
                <a:cubicBezTo>
                  <a:pt x="0" y="490855"/>
                  <a:pt x="25272" y="339091"/>
                  <a:pt x="56514" y="339091"/>
                </a:cubicBezTo>
                <a:lnTo>
                  <a:pt x="2714878" y="339091"/>
                </a:lnTo>
                <a:cubicBezTo>
                  <a:pt x="2746120" y="339091"/>
                  <a:pt x="2771394" y="187326"/>
                  <a:pt x="2771394" y="0"/>
                </a:cubicBezTo>
                <a:cubicBezTo>
                  <a:pt x="2771394" y="187326"/>
                  <a:pt x="2796667" y="339091"/>
                  <a:pt x="2827908" y="339091"/>
                </a:cubicBezTo>
                <a:lnTo>
                  <a:pt x="5486273" y="339091"/>
                </a:lnTo>
                <a:cubicBezTo>
                  <a:pt x="5517514" y="339091"/>
                  <a:pt x="5542787" y="490855"/>
                  <a:pt x="5542787" y="678180"/>
                </a:cubicBezTo>
              </a:path>
            </a:pathLst>
          </a:custGeom>
          <a:ln w="28575" cap="flat" cmpd="sng" algn="ctr">
            <a:solidFill>
              <a:srgbClr val="FF0000"/>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3" name="矩形 22"/>
          <p:cNvSpPr/>
          <p:nvPr/>
        </p:nvSpPr>
        <p:spPr>
          <a:xfrm>
            <a:off x="6440797" y="4939006"/>
            <a:ext cx="2359813" cy="400110"/>
          </a:xfrm>
          <a:prstGeom prst="rect">
            <a:avLst/>
          </a:prstGeom>
        </p:spPr>
        <p:txBody>
          <a:bodyPr wrap="none">
            <a:spAutoFit/>
          </a:bodyPr>
          <a:lstStyle/>
          <a:p>
            <a:r>
              <a:rPr lang="en-US" altLang="zh-CN" sz="2000" dirty="0"/>
              <a:t>Averaging the errors </a:t>
            </a:r>
            <a:endParaRPr lang="zh-CN" altLang="en-US" sz="2000" dirty="0"/>
          </a:p>
        </p:txBody>
      </p:sp>
    </p:spTree>
    <p:extLst>
      <p:ext uri="{BB962C8B-B14F-4D97-AF65-F5344CB8AC3E}">
        <p14:creationId xmlns:p14="http://schemas.microsoft.com/office/powerpoint/2010/main" val="18681400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81400" y="3949654"/>
            <a:ext cx="3562038" cy="2070146"/>
          </a:xfrm>
          <a:prstGeom prst="rect">
            <a:avLst/>
          </a:prstGeom>
        </p:spPr>
      </p:pic>
      <p:sp>
        <p:nvSpPr>
          <p:cNvPr id="11" name="矩形: 圆角 7">
            <a:extLst>
              <a:ext uri="{FF2B5EF4-FFF2-40B4-BE49-F238E27FC236}">
                <a16:creationId xmlns:a16="http://schemas.microsoft.com/office/drawing/2014/main" id="{DC8E9541-2902-45E2-A2F6-8FB122BF09B3}"/>
              </a:ext>
            </a:extLst>
          </p:cNvPr>
          <p:cNvSpPr/>
          <p:nvPr/>
        </p:nvSpPr>
        <p:spPr>
          <a:xfrm>
            <a:off x="304800" y="1066800"/>
            <a:ext cx="8456141" cy="2667000"/>
          </a:xfrm>
          <a:prstGeom prst="roundRect">
            <a:avLst>
              <a:gd name="adj" fmla="val 3573"/>
            </a:avLst>
          </a:prstGeom>
          <a:solidFill>
            <a:srgbClr val="FFFBD6"/>
          </a:solidFill>
          <a:ln>
            <a:solidFill>
              <a:srgbClr val="FFFBD6"/>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800" dirty="0">
              <a:solidFill>
                <a:schemeClr val="tx1"/>
              </a:solidFill>
            </a:endParaRPr>
          </a:p>
        </p:txBody>
      </p:sp>
      <p:sp>
        <p:nvSpPr>
          <p:cNvPr id="2" name="灯片编号占位符 1"/>
          <p:cNvSpPr>
            <a:spLocks noGrp="1"/>
          </p:cNvSpPr>
          <p:nvPr>
            <p:ph type="sldNum" sz="quarter" idx="12"/>
          </p:nvPr>
        </p:nvSpPr>
        <p:spPr/>
        <p:txBody>
          <a:bodyPr/>
          <a:lstStyle/>
          <a:p>
            <a:fld id="{B6F15528-21DE-4FAA-801E-634DDDAF4B2B}" type="slidenum">
              <a:rPr lang="en-US" smtClean="0"/>
              <a:pPr/>
              <a:t>10</a:t>
            </a:fld>
            <a:endParaRPr lang="en-US"/>
          </a:p>
        </p:txBody>
      </p:sp>
      <p:sp>
        <p:nvSpPr>
          <p:cNvPr id="4" name="文本框 3">
            <a:extLst>
              <a:ext uri="{FF2B5EF4-FFF2-40B4-BE49-F238E27FC236}">
                <a16:creationId xmlns:a16="http://schemas.microsoft.com/office/drawing/2014/main" id="{60049FE2-D3F5-4096-9FC9-B63B2A1EDC37}"/>
              </a:ext>
            </a:extLst>
          </p:cNvPr>
          <p:cNvSpPr txBox="1"/>
          <p:nvPr/>
        </p:nvSpPr>
        <p:spPr>
          <a:xfrm>
            <a:off x="304800" y="152400"/>
            <a:ext cx="2910990" cy="754694"/>
          </a:xfrm>
          <a:prstGeom prst="rect">
            <a:avLst/>
          </a:prstGeom>
          <a:noFill/>
        </p:spPr>
        <p:txBody>
          <a:bodyPr wrap="none" rtlCol="0">
            <a:spAutoFit/>
          </a:bodyPr>
          <a:lstStyle/>
          <a:p>
            <a:pPr>
              <a:lnSpc>
                <a:spcPct val="150000"/>
              </a:lnSpc>
            </a:pPr>
            <a:r>
              <a:rPr lang="en-US" sz="3200" b="1" dirty="0"/>
              <a:t>Cross-validation</a:t>
            </a:r>
          </a:p>
        </p:txBody>
      </p:sp>
      <mc:AlternateContent xmlns:mc="http://schemas.openxmlformats.org/markup-compatibility/2006" xmlns:a14="http://schemas.microsoft.com/office/drawing/2010/main">
        <mc:Choice Requires="a14">
          <p:sp>
            <p:nvSpPr>
              <p:cNvPr id="9" name="矩形 8"/>
              <p:cNvSpPr/>
              <p:nvPr/>
            </p:nvSpPr>
            <p:spPr>
              <a:xfrm>
                <a:off x="304800" y="1066800"/>
                <a:ext cx="8382000" cy="2677656"/>
              </a:xfrm>
              <a:prstGeom prst="rect">
                <a:avLst/>
              </a:prstGeom>
            </p:spPr>
            <p:txBody>
              <a:bodyPr wrap="square">
                <a:spAutoFit/>
              </a:bodyPr>
              <a:lstStyle/>
              <a:p>
                <a:pPr marL="342900" indent="-342900" algn="just">
                  <a:buFont typeface="Arial" panose="020B0604020202020204" pitchFamily="34" charset="0"/>
                  <a:buChar char="•"/>
                </a:pPr>
                <a:r>
                  <a:rPr lang="en-US" altLang="zh-CN" sz="2400" b="1" dirty="0"/>
                  <a:t>More general: </a:t>
                </a:r>
                <a:r>
                  <a:rPr lang="en-US" altLang="zh-CN" sz="2400" dirty="0"/>
                  <a:t>the </a:t>
                </a:r>
                <a14:m>
                  <m:oMath xmlns:m="http://schemas.openxmlformats.org/officeDocument/2006/math">
                    <m:r>
                      <a:rPr lang="en-US" altLang="zh-CN" sz="2400" i="1" dirty="0" smtClean="0">
                        <a:latin typeface="Cambria Math" panose="02040503050406030204" pitchFamily="18" charset="0"/>
                      </a:rPr>
                      <m:t>𝑘</m:t>
                    </m:r>
                  </m:oMath>
                </a14:m>
                <a:r>
                  <a:rPr lang="en-US" altLang="zh-CN" sz="2400" dirty="0"/>
                  <a:t>-fold cross-validation</a:t>
                </a:r>
              </a:p>
              <a:p>
                <a:pPr marL="342900" indent="-342900" algn="just">
                  <a:buFont typeface="Arial" panose="020B0604020202020204" pitchFamily="34" charset="0"/>
                  <a:buChar char="•"/>
                </a:pPr>
                <a:r>
                  <a:rPr lang="en-US" altLang="zh-CN" sz="2400" dirty="0"/>
                  <a:t>Segments the data into </a:t>
                </a:r>
                <a14:m>
                  <m:oMath xmlns:m="http://schemas.openxmlformats.org/officeDocument/2006/math">
                    <m:r>
                      <a:rPr lang="en-US" altLang="zh-CN" sz="2400" i="1" dirty="0">
                        <a:latin typeface="Cambria Math" panose="02040503050406030204" pitchFamily="18" charset="0"/>
                      </a:rPr>
                      <m:t>𝑘</m:t>
                    </m:r>
                  </m:oMath>
                </a14:m>
                <a:r>
                  <a:rPr lang="en-US" altLang="zh-CN" sz="2400" dirty="0"/>
                  <a:t> equal-sized partitions. </a:t>
                </a:r>
              </a:p>
              <a:p>
                <a:pPr marL="342900" indent="-342900" algn="just">
                  <a:buFont typeface="Arial" panose="020B0604020202020204" pitchFamily="34" charset="0"/>
                  <a:buChar char="•"/>
                </a:pPr>
                <a:r>
                  <a:rPr lang="en-US" altLang="zh-CN" sz="2400" dirty="0"/>
                  <a:t>During each run, one partition is chosen for testing, while the rest are used for training.</a:t>
                </a:r>
              </a:p>
              <a:p>
                <a:pPr marL="342900" indent="-342900" algn="just">
                  <a:buFont typeface="Arial" panose="020B0604020202020204" pitchFamily="34" charset="0"/>
                  <a:buChar char="•"/>
                </a:pPr>
                <a:r>
                  <a:rPr lang="en-US" altLang="zh-CN" sz="2400" dirty="0"/>
                  <a:t>This procedure is repeated </a:t>
                </a:r>
                <a14:m>
                  <m:oMath xmlns:m="http://schemas.openxmlformats.org/officeDocument/2006/math">
                    <m:r>
                      <a:rPr lang="en-US" altLang="zh-CN" sz="2400" i="1" dirty="0">
                        <a:latin typeface="Cambria Math" panose="02040503050406030204" pitchFamily="18" charset="0"/>
                      </a:rPr>
                      <m:t>𝑘</m:t>
                    </m:r>
                  </m:oMath>
                </a14:m>
                <a:r>
                  <a:rPr lang="en-US" altLang="zh-CN" sz="2400" dirty="0"/>
                  <a:t> times so that each partition is used for testing exactly once.</a:t>
                </a:r>
              </a:p>
              <a:p>
                <a:pPr marL="342900" indent="-342900" algn="just">
                  <a:buFont typeface="Arial" panose="020B0604020202020204" pitchFamily="34" charset="0"/>
                  <a:buChar char="•"/>
                </a:pPr>
                <a:r>
                  <a:rPr lang="en-US" altLang="zh-CN" sz="2400" dirty="0"/>
                  <a:t>The total error is found by averaging the errors for all </a:t>
                </a:r>
                <a14:m>
                  <m:oMath xmlns:m="http://schemas.openxmlformats.org/officeDocument/2006/math">
                    <m:r>
                      <a:rPr lang="en-US" altLang="zh-CN" sz="2400" i="1" dirty="0">
                        <a:latin typeface="Cambria Math" panose="02040503050406030204" pitchFamily="18" charset="0"/>
                      </a:rPr>
                      <m:t>𝑘</m:t>
                    </m:r>
                  </m:oMath>
                </a14:m>
                <a:r>
                  <a:rPr lang="en-US" altLang="zh-CN" sz="2400" dirty="0"/>
                  <a:t> runs.</a:t>
                </a:r>
              </a:p>
            </p:txBody>
          </p:sp>
        </mc:Choice>
        <mc:Fallback xmlns="">
          <p:sp>
            <p:nvSpPr>
              <p:cNvPr id="9" name="矩形 8"/>
              <p:cNvSpPr>
                <a:spLocks noRot="1" noChangeAspect="1" noMove="1" noResize="1" noEditPoints="1" noAdjustHandles="1" noChangeArrowheads="1" noChangeShapeType="1" noTextEdit="1"/>
              </p:cNvSpPr>
              <p:nvPr/>
            </p:nvSpPr>
            <p:spPr>
              <a:xfrm>
                <a:off x="304800" y="1066800"/>
                <a:ext cx="8382000" cy="2677656"/>
              </a:xfrm>
              <a:prstGeom prst="rect">
                <a:avLst/>
              </a:prstGeom>
              <a:blipFill rotWithShape="0">
                <a:blip r:embed="rId3"/>
                <a:stretch>
                  <a:fillRect l="-945" t="-1822" r="-1091" b="-432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矩形 5"/>
              <p:cNvSpPr/>
              <p:nvPr/>
            </p:nvSpPr>
            <p:spPr>
              <a:xfrm>
                <a:off x="1295400" y="4601494"/>
                <a:ext cx="2286000" cy="461665"/>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400" i="1" dirty="0" smtClean="0">
                          <a:latin typeface="Cambria Math" panose="02040503050406030204" pitchFamily="18" charset="0"/>
                        </a:rPr>
                        <m:t>𝑘</m:t>
                      </m:r>
                      <m:r>
                        <a:rPr lang="en-US" altLang="zh-CN" sz="2400" i="1" dirty="0">
                          <a:latin typeface="Cambria Math" panose="02040503050406030204" pitchFamily="18" charset="0"/>
                        </a:rPr>
                        <m:t>= 4</m:t>
                      </m:r>
                    </m:oMath>
                  </m:oMathPara>
                </a14:m>
                <a:endParaRPr lang="zh-CN" altLang="en-US" dirty="0"/>
              </a:p>
            </p:txBody>
          </p:sp>
        </mc:Choice>
        <mc:Fallback xmlns="">
          <p:sp>
            <p:nvSpPr>
              <p:cNvPr id="6" name="矩形 5"/>
              <p:cNvSpPr>
                <a:spLocks noRot="1" noChangeAspect="1" noMove="1" noResize="1" noEditPoints="1" noAdjustHandles="1" noChangeArrowheads="1" noChangeShapeType="1" noTextEdit="1"/>
              </p:cNvSpPr>
              <p:nvPr/>
            </p:nvSpPr>
            <p:spPr>
              <a:xfrm>
                <a:off x="1295400" y="4601494"/>
                <a:ext cx="2286000" cy="461665"/>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矩形 4">
                <a:extLst>
                  <a:ext uri="{FF2B5EF4-FFF2-40B4-BE49-F238E27FC236}">
                    <a16:creationId xmlns:a16="http://schemas.microsoft.com/office/drawing/2014/main" id="{DDF5ED72-8EE3-4B06-9F5C-4C4A85CC7940}"/>
                  </a:ext>
                </a:extLst>
              </p:cNvPr>
              <p:cNvSpPr/>
              <p:nvPr/>
            </p:nvSpPr>
            <p:spPr>
              <a:xfrm>
                <a:off x="304800" y="6007878"/>
                <a:ext cx="8456141" cy="830997"/>
              </a:xfrm>
              <a:prstGeom prst="rect">
                <a:avLst/>
              </a:prstGeom>
            </p:spPr>
            <p:txBody>
              <a:bodyPr wrap="square">
                <a:spAutoFit/>
              </a:bodyPr>
              <a:lstStyle/>
              <a:p>
                <a:r>
                  <a:rPr lang="en-US" altLang="zh-CN" sz="2400" dirty="0"/>
                  <a:t>Similar to holdout method, the </a:t>
                </a:r>
                <a14:m>
                  <m:oMath xmlns:m="http://schemas.openxmlformats.org/officeDocument/2006/math">
                    <m:r>
                      <a:rPr lang="en-US" altLang="zh-CN" sz="2400" i="1" dirty="0">
                        <a:latin typeface="Cambria Math" panose="02040503050406030204" pitchFamily="18" charset="0"/>
                      </a:rPr>
                      <m:t>𝑘</m:t>
                    </m:r>
                  </m:oMath>
                </a14:m>
                <a:r>
                  <a:rPr lang="en-US" altLang="zh-CN" sz="2400" dirty="0"/>
                  <a:t>-fold cross-validation can be repeated several times, e.g., </a:t>
                </a:r>
                <a14:m>
                  <m:oMath xmlns:m="http://schemas.openxmlformats.org/officeDocument/2006/math">
                    <m:r>
                      <a:rPr lang="en-US" altLang="zh-CN" sz="2400" i="1" dirty="0" smtClean="0">
                        <a:latin typeface="Cambria Math" panose="02040503050406030204" pitchFamily="18" charset="0"/>
                      </a:rPr>
                      <m:t>𝑝</m:t>
                    </m:r>
                  </m:oMath>
                </a14:m>
                <a:r>
                  <a:rPr lang="en-US" altLang="zh-CN" sz="2400" dirty="0"/>
                  <a:t>. </a:t>
                </a:r>
                <a:endParaRPr lang="zh-CN" altLang="en-US" sz="2400" dirty="0"/>
              </a:p>
            </p:txBody>
          </p:sp>
        </mc:Choice>
        <mc:Fallback xmlns="">
          <p:sp>
            <p:nvSpPr>
              <p:cNvPr id="5" name="矩形 4">
                <a:extLst>
                  <a:ext uri="{FF2B5EF4-FFF2-40B4-BE49-F238E27FC236}">
                    <a16:creationId xmlns:a16="http://schemas.microsoft.com/office/drawing/2014/main" id="{DDF5ED72-8EE3-4B06-9F5C-4C4A85CC7940}"/>
                  </a:ext>
                </a:extLst>
              </p:cNvPr>
              <p:cNvSpPr>
                <a:spLocks noRot="1" noChangeAspect="1" noMove="1" noResize="1" noEditPoints="1" noAdjustHandles="1" noChangeArrowheads="1" noChangeShapeType="1" noTextEdit="1"/>
              </p:cNvSpPr>
              <p:nvPr/>
            </p:nvSpPr>
            <p:spPr>
              <a:xfrm>
                <a:off x="304800" y="6007878"/>
                <a:ext cx="8456141" cy="830997"/>
              </a:xfrm>
              <a:prstGeom prst="rect">
                <a:avLst/>
              </a:prstGeom>
              <a:blipFill>
                <a:blip r:embed="rId5"/>
                <a:stretch>
                  <a:fillRect l="-1081" t="-5882" b="-16176"/>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6477108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圆角 7">
            <a:extLst>
              <a:ext uri="{FF2B5EF4-FFF2-40B4-BE49-F238E27FC236}">
                <a16:creationId xmlns:a16="http://schemas.microsoft.com/office/drawing/2014/main" id="{DC8E9541-2902-45E2-A2F6-8FB122BF09B3}"/>
              </a:ext>
            </a:extLst>
          </p:cNvPr>
          <p:cNvSpPr/>
          <p:nvPr/>
        </p:nvSpPr>
        <p:spPr>
          <a:xfrm>
            <a:off x="304800" y="1066800"/>
            <a:ext cx="8456141" cy="1295400"/>
          </a:xfrm>
          <a:prstGeom prst="roundRect">
            <a:avLst>
              <a:gd name="adj" fmla="val 3573"/>
            </a:avLst>
          </a:prstGeom>
          <a:solidFill>
            <a:srgbClr val="FFFBD6"/>
          </a:solidFill>
          <a:ln>
            <a:solidFill>
              <a:srgbClr val="FFFBD6"/>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800" dirty="0">
              <a:solidFill>
                <a:schemeClr val="tx1"/>
              </a:solidFill>
            </a:endParaRPr>
          </a:p>
        </p:txBody>
      </p:sp>
      <p:sp>
        <p:nvSpPr>
          <p:cNvPr id="2" name="灯片编号占位符 1"/>
          <p:cNvSpPr>
            <a:spLocks noGrp="1"/>
          </p:cNvSpPr>
          <p:nvPr>
            <p:ph type="sldNum" sz="quarter" idx="12"/>
          </p:nvPr>
        </p:nvSpPr>
        <p:spPr/>
        <p:txBody>
          <a:bodyPr/>
          <a:lstStyle/>
          <a:p>
            <a:fld id="{B6F15528-21DE-4FAA-801E-634DDDAF4B2B}" type="slidenum">
              <a:rPr lang="en-US" smtClean="0"/>
              <a:pPr/>
              <a:t>11</a:t>
            </a:fld>
            <a:endParaRPr lang="en-US"/>
          </a:p>
        </p:txBody>
      </p:sp>
      <p:sp>
        <p:nvSpPr>
          <p:cNvPr id="4" name="文本框 3">
            <a:extLst>
              <a:ext uri="{FF2B5EF4-FFF2-40B4-BE49-F238E27FC236}">
                <a16:creationId xmlns:a16="http://schemas.microsoft.com/office/drawing/2014/main" id="{60049FE2-D3F5-4096-9FC9-B63B2A1EDC37}"/>
              </a:ext>
            </a:extLst>
          </p:cNvPr>
          <p:cNvSpPr txBox="1"/>
          <p:nvPr/>
        </p:nvSpPr>
        <p:spPr>
          <a:xfrm>
            <a:off x="304800" y="152400"/>
            <a:ext cx="2910990" cy="754694"/>
          </a:xfrm>
          <a:prstGeom prst="rect">
            <a:avLst/>
          </a:prstGeom>
          <a:noFill/>
        </p:spPr>
        <p:txBody>
          <a:bodyPr wrap="none" rtlCol="0">
            <a:spAutoFit/>
          </a:bodyPr>
          <a:lstStyle/>
          <a:p>
            <a:pPr>
              <a:lnSpc>
                <a:spcPct val="150000"/>
              </a:lnSpc>
            </a:pPr>
            <a:r>
              <a:rPr lang="en-US" sz="3200" b="1" dirty="0"/>
              <a:t>Cross-validation</a:t>
            </a:r>
          </a:p>
        </p:txBody>
      </p:sp>
      <mc:AlternateContent xmlns:mc="http://schemas.openxmlformats.org/markup-compatibility/2006" xmlns:a14="http://schemas.microsoft.com/office/drawing/2010/main">
        <mc:Choice Requires="a14">
          <p:sp>
            <p:nvSpPr>
              <p:cNvPr id="9" name="矩形 8"/>
              <p:cNvSpPr/>
              <p:nvPr/>
            </p:nvSpPr>
            <p:spPr>
              <a:xfrm>
                <a:off x="304800" y="1066800"/>
                <a:ext cx="8382000" cy="1200329"/>
              </a:xfrm>
              <a:prstGeom prst="rect">
                <a:avLst/>
              </a:prstGeom>
            </p:spPr>
            <p:txBody>
              <a:bodyPr wrap="square">
                <a:spAutoFit/>
              </a:bodyPr>
              <a:lstStyle/>
              <a:p>
                <a:pPr marL="342900" indent="-342900" algn="just">
                  <a:buFont typeface="Arial" panose="020B0604020202020204" pitchFamily="34" charset="0"/>
                  <a:buChar char="•"/>
                </a:pPr>
                <a:r>
                  <a:rPr lang="en-US" altLang="zh-CN" sz="2400" dirty="0"/>
                  <a:t>A special case of the </a:t>
                </a:r>
                <a14:m>
                  <m:oMath xmlns:m="http://schemas.openxmlformats.org/officeDocument/2006/math">
                    <m:r>
                      <a:rPr lang="en-US" altLang="zh-CN" sz="2400" i="1" dirty="0" smtClean="0">
                        <a:latin typeface="Cambria Math" panose="02040503050406030204" pitchFamily="18" charset="0"/>
                      </a:rPr>
                      <m:t>𝑘</m:t>
                    </m:r>
                  </m:oMath>
                </a14:m>
                <a:r>
                  <a:rPr lang="en-US" altLang="zh-CN" sz="2400" dirty="0"/>
                  <a:t>-fold cross-validation sets </a:t>
                </a:r>
                <a14:m>
                  <m:oMath xmlns:m="http://schemas.openxmlformats.org/officeDocument/2006/math">
                    <m:r>
                      <a:rPr lang="en-US" altLang="zh-CN" sz="2400" i="1" dirty="0" smtClean="0">
                        <a:latin typeface="Cambria Math" panose="02040503050406030204" pitchFamily="18" charset="0"/>
                      </a:rPr>
                      <m:t>𝑘</m:t>
                    </m:r>
                    <m:r>
                      <a:rPr lang="en-US" altLang="zh-CN" sz="2400" i="1" dirty="0" smtClean="0">
                        <a:latin typeface="Cambria Math" panose="02040503050406030204" pitchFamily="18" charset="0"/>
                      </a:rPr>
                      <m:t>=</m:t>
                    </m:r>
                    <m:r>
                      <a:rPr lang="en-US" altLang="zh-CN" sz="2400" i="1" dirty="0" smtClean="0">
                        <a:latin typeface="Cambria Math" panose="02040503050406030204" pitchFamily="18" charset="0"/>
                      </a:rPr>
                      <m:t>𝑁</m:t>
                    </m:r>
                  </m:oMath>
                </a14:m>
                <a:r>
                  <a:rPr lang="en-US" altLang="zh-CN" sz="2400" dirty="0"/>
                  <a:t>, the size of the dataset. This is the so-called </a:t>
                </a:r>
                <a:r>
                  <a:rPr lang="en-US" altLang="zh-CN" sz="2400" i="1" dirty="0">
                    <a:solidFill>
                      <a:srgbClr val="FF0000"/>
                    </a:solidFill>
                  </a:rPr>
                  <a:t>leave-one-out</a:t>
                </a:r>
                <a:r>
                  <a:rPr lang="zh-CN" altLang="en-US" sz="2000" dirty="0"/>
                  <a:t>（留一法）</a:t>
                </a:r>
                <a:r>
                  <a:rPr lang="en-US" altLang="zh-CN" sz="2400" dirty="0"/>
                  <a:t>approach, each test set contains only one record. </a:t>
                </a:r>
              </a:p>
            </p:txBody>
          </p:sp>
        </mc:Choice>
        <mc:Fallback xmlns="">
          <p:sp>
            <p:nvSpPr>
              <p:cNvPr id="9" name="矩形 8"/>
              <p:cNvSpPr>
                <a:spLocks noRot="1" noChangeAspect="1" noMove="1" noResize="1" noEditPoints="1" noAdjustHandles="1" noChangeArrowheads="1" noChangeShapeType="1" noTextEdit="1"/>
              </p:cNvSpPr>
              <p:nvPr/>
            </p:nvSpPr>
            <p:spPr>
              <a:xfrm>
                <a:off x="304800" y="1066800"/>
                <a:ext cx="8382000" cy="1200329"/>
              </a:xfrm>
              <a:prstGeom prst="rect">
                <a:avLst/>
              </a:prstGeom>
              <a:blipFill>
                <a:blip r:embed="rId2"/>
                <a:stretch>
                  <a:fillRect l="-945" t="-4061" r="-1091" b="-10660"/>
                </a:stretch>
              </a:blipFill>
            </p:spPr>
            <p:txBody>
              <a:bodyPr/>
              <a:lstStyle/>
              <a:p>
                <a:r>
                  <a:rPr lang="zh-CN" altLang="en-US">
                    <a:noFill/>
                  </a:rPr>
                  <a:t> </a:t>
                </a:r>
              </a:p>
            </p:txBody>
          </p:sp>
        </mc:Fallback>
      </mc:AlternateContent>
      <p:pic>
        <p:nvPicPr>
          <p:cNvPr id="12" name="图片 11">
            <a:extLst>
              <a:ext uri="{FF2B5EF4-FFF2-40B4-BE49-F238E27FC236}">
                <a16:creationId xmlns:a16="http://schemas.microsoft.com/office/drawing/2014/main" id="{B23EC7B3-C9D4-4457-A8E8-252FF49C5FD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800" y="2895600"/>
            <a:ext cx="8382000" cy="1893794"/>
          </a:xfrm>
          <a:prstGeom prst="rect">
            <a:avLst/>
          </a:prstGeom>
          <a:ln w="38100">
            <a:solidFill>
              <a:srgbClr val="FF0000"/>
            </a:solidFill>
          </a:ln>
        </p:spPr>
      </p:pic>
      <p:sp>
        <p:nvSpPr>
          <p:cNvPr id="13" name="矩形 12">
            <a:extLst>
              <a:ext uri="{FF2B5EF4-FFF2-40B4-BE49-F238E27FC236}">
                <a16:creationId xmlns:a16="http://schemas.microsoft.com/office/drawing/2014/main" id="{4E19A96F-7083-4217-8745-A37340B2822C}"/>
              </a:ext>
            </a:extLst>
          </p:cNvPr>
          <p:cNvSpPr/>
          <p:nvPr/>
        </p:nvSpPr>
        <p:spPr>
          <a:xfrm>
            <a:off x="381000" y="5388206"/>
            <a:ext cx="8382000" cy="369332"/>
          </a:xfrm>
          <a:prstGeom prst="rect">
            <a:avLst/>
          </a:prstGeom>
        </p:spPr>
        <p:txBody>
          <a:bodyPr wrap="square">
            <a:spAutoFit/>
          </a:bodyPr>
          <a:lstStyle/>
          <a:p>
            <a:pPr algn="r"/>
            <a:r>
              <a:rPr lang="en-US" altLang="zh-CN" dirty="0"/>
              <a:t>He, et al.. Neural Collaborative Filtering. WWW 2017: 173-182</a:t>
            </a:r>
            <a:endParaRPr lang="zh-CN" altLang="en-US" dirty="0"/>
          </a:p>
        </p:txBody>
      </p:sp>
    </p:spTree>
    <p:extLst>
      <p:ext uri="{BB962C8B-B14F-4D97-AF65-F5344CB8AC3E}">
        <p14:creationId xmlns:p14="http://schemas.microsoft.com/office/powerpoint/2010/main" val="7036891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F15528-21DE-4FAA-801E-634DDDAF4B2B}" type="slidenum">
              <a:rPr lang="en-US" smtClean="0"/>
              <a:pPr/>
              <a:t>12</a:t>
            </a:fld>
            <a:endParaRPr lang="en-US"/>
          </a:p>
        </p:txBody>
      </p:sp>
      <p:grpSp>
        <p:nvGrpSpPr>
          <p:cNvPr id="7" name="组合 6">
            <a:extLst>
              <a:ext uri="{FF2B5EF4-FFF2-40B4-BE49-F238E27FC236}">
                <a16:creationId xmlns:a16="http://schemas.microsoft.com/office/drawing/2014/main" id="{C67EB3C9-AD92-4A71-96A2-86E195909FF4}"/>
              </a:ext>
            </a:extLst>
          </p:cNvPr>
          <p:cNvGrpSpPr/>
          <p:nvPr/>
        </p:nvGrpSpPr>
        <p:grpSpPr>
          <a:xfrm>
            <a:off x="381000" y="1143000"/>
            <a:ext cx="8456141" cy="1295400"/>
            <a:chOff x="304798" y="2533629"/>
            <a:chExt cx="8456141" cy="1295400"/>
          </a:xfrm>
        </p:grpSpPr>
        <p:sp>
          <p:nvSpPr>
            <p:cNvPr id="8" name="矩形: 圆角 7">
              <a:extLst>
                <a:ext uri="{FF2B5EF4-FFF2-40B4-BE49-F238E27FC236}">
                  <a16:creationId xmlns:a16="http://schemas.microsoft.com/office/drawing/2014/main" id="{DC8E9541-2902-45E2-A2F6-8FB122BF09B3}"/>
                </a:ext>
              </a:extLst>
            </p:cNvPr>
            <p:cNvSpPr/>
            <p:nvPr/>
          </p:nvSpPr>
          <p:spPr>
            <a:xfrm>
              <a:off x="304798" y="2533629"/>
              <a:ext cx="8456141" cy="1295400"/>
            </a:xfrm>
            <a:prstGeom prst="roundRect">
              <a:avLst>
                <a:gd name="adj" fmla="val 3573"/>
              </a:avLst>
            </a:prstGeom>
            <a:solidFill>
              <a:srgbClr val="F9E6E6"/>
            </a:solidFill>
            <a:ln>
              <a:solidFill>
                <a:srgbClr val="FFFBD6"/>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800" dirty="0">
                <a:solidFill>
                  <a:schemeClr val="tx1"/>
                </a:solidFill>
              </a:endParaRPr>
            </a:p>
          </p:txBody>
        </p:sp>
        <p:sp>
          <p:nvSpPr>
            <p:cNvPr id="5" name="矩形 4"/>
            <p:cNvSpPr/>
            <p:nvPr/>
          </p:nvSpPr>
          <p:spPr>
            <a:xfrm>
              <a:off x="304798" y="2556808"/>
              <a:ext cx="8305802" cy="1200329"/>
            </a:xfrm>
            <a:prstGeom prst="rect">
              <a:avLst/>
            </a:prstGeom>
          </p:spPr>
          <p:txBody>
            <a:bodyPr wrap="square">
              <a:spAutoFit/>
            </a:bodyPr>
            <a:lstStyle/>
            <a:p>
              <a:pPr marL="342900" indent="-342900" algn="just">
                <a:buFont typeface="Arial" panose="020B0604020202020204" pitchFamily="34" charset="0"/>
                <a:buChar char="•"/>
              </a:pPr>
              <a:r>
                <a:rPr lang="en-US" altLang="zh-CN" sz="2400" dirty="0"/>
                <a:t>The methods presented so far assume that the training records are sampled without replacement. </a:t>
              </a:r>
            </a:p>
            <a:p>
              <a:pPr marL="342900" indent="-342900" algn="just">
                <a:buFont typeface="Arial" panose="020B0604020202020204" pitchFamily="34" charset="0"/>
                <a:buChar char="•"/>
              </a:pPr>
              <a:r>
                <a:rPr lang="en-US" altLang="zh-CN" sz="2400" dirty="0"/>
                <a:t>There are no duplicate records in the training and test sets.</a:t>
              </a:r>
            </a:p>
          </p:txBody>
        </p:sp>
      </p:grpSp>
      <p:sp>
        <p:nvSpPr>
          <p:cNvPr id="6" name="文本框 5">
            <a:extLst>
              <a:ext uri="{FF2B5EF4-FFF2-40B4-BE49-F238E27FC236}">
                <a16:creationId xmlns:a16="http://schemas.microsoft.com/office/drawing/2014/main" id="{124DB6A9-0076-406C-8668-92E3C30357C2}"/>
              </a:ext>
            </a:extLst>
          </p:cNvPr>
          <p:cNvSpPr txBox="1"/>
          <p:nvPr/>
        </p:nvSpPr>
        <p:spPr>
          <a:xfrm>
            <a:off x="304800" y="152400"/>
            <a:ext cx="1953548" cy="754694"/>
          </a:xfrm>
          <a:prstGeom prst="rect">
            <a:avLst/>
          </a:prstGeom>
          <a:noFill/>
        </p:spPr>
        <p:txBody>
          <a:bodyPr wrap="none" rtlCol="0">
            <a:spAutoFit/>
          </a:bodyPr>
          <a:lstStyle/>
          <a:p>
            <a:pPr>
              <a:lnSpc>
                <a:spcPct val="150000"/>
              </a:lnSpc>
            </a:pPr>
            <a:r>
              <a:rPr lang="en-US" sz="3200" b="1" dirty="0"/>
              <a:t>Bootstrap </a:t>
            </a:r>
          </a:p>
        </p:txBody>
      </p:sp>
      <p:sp>
        <p:nvSpPr>
          <p:cNvPr id="3" name="矩形 2">
            <a:extLst>
              <a:ext uri="{FF2B5EF4-FFF2-40B4-BE49-F238E27FC236}">
                <a16:creationId xmlns:a16="http://schemas.microsoft.com/office/drawing/2014/main" id="{B5025E69-882F-4A52-BF49-694DC8342391}"/>
              </a:ext>
            </a:extLst>
          </p:cNvPr>
          <p:cNvSpPr/>
          <p:nvPr/>
        </p:nvSpPr>
        <p:spPr>
          <a:xfrm>
            <a:off x="502920" y="2868138"/>
            <a:ext cx="8303741" cy="3416320"/>
          </a:xfrm>
          <a:prstGeom prst="rect">
            <a:avLst/>
          </a:prstGeom>
        </p:spPr>
        <p:txBody>
          <a:bodyPr wrap="square">
            <a:spAutoFit/>
          </a:bodyPr>
          <a:lstStyle/>
          <a:p>
            <a:pPr algn="just"/>
            <a:r>
              <a:rPr lang="en-US" altLang="zh-CN" sz="2400" dirty="0"/>
              <a:t>Bootstrapping</a:t>
            </a:r>
            <a:r>
              <a:rPr lang="zh-CN" altLang="en-US" sz="2400" dirty="0"/>
              <a:t>从字面意思翻译是拔靴法，从其内容翻译又叫自助法，是一种再抽样的统计方法。自助法的名称来源于英文短语“</a:t>
            </a:r>
            <a:r>
              <a:rPr lang="en-US" altLang="zh-CN" sz="2400" dirty="0"/>
              <a:t>to pull oneself up by one’s bootstrap”</a:t>
            </a:r>
            <a:r>
              <a:rPr lang="zh-CN" altLang="en-US" sz="2400" dirty="0"/>
              <a:t>，源自作家</a:t>
            </a:r>
            <a:r>
              <a:rPr lang="en-US" altLang="zh-CN" sz="2400" dirty="0"/>
              <a:t>Rudolf Erich </a:t>
            </a:r>
            <a:r>
              <a:rPr lang="en-US" altLang="zh-CN" sz="2400" dirty="0" err="1"/>
              <a:t>Raspe</a:t>
            </a:r>
            <a:r>
              <a:rPr lang="zh-CN" altLang="en-US" sz="2400" dirty="0"/>
              <a:t>在</a:t>
            </a:r>
            <a:r>
              <a:rPr lang="en-US" altLang="zh-CN" sz="2400" dirty="0"/>
              <a:t>1781</a:t>
            </a:r>
            <a:r>
              <a:rPr lang="zh-CN" altLang="en-US" sz="2400" dirty="0"/>
              <a:t>年的小说“</a:t>
            </a:r>
            <a:r>
              <a:rPr lang="en-US" altLang="zh-CN" sz="2400" dirty="0"/>
              <a:t>The Surprising Adventures of Baron Munchausen”</a:t>
            </a:r>
            <a:r>
              <a:rPr lang="zh-CN" altLang="en-US" sz="2400" dirty="0"/>
              <a:t>。故事中，主角用一条</a:t>
            </a:r>
            <a:r>
              <a:rPr lang="en-US" altLang="zh-CN" sz="2400" dirty="0"/>
              <a:t>Bootstrap</a:t>
            </a:r>
            <a:r>
              <a:rPr lang="zh-CN" altLang="en-US" sz="2400" dirty="0"/>
              <a:t>把自己从沼泽的烂泥中拉了出来，过程中完全没有依赖其它人的帮助。</a:t>
            </a:r>
            <a:endParaRPr lang="en-US" altLang="zh-CN" sz="2400" dirty="0"/>
          </a:p>
          <a:p>
            <a:pPr algn="just"/>
            <a:r>
              <a:rPr lang="en-US" altLang="zh-CN" sz="2400" dirty="0"/>
              <a:t>The bootstrap was published by </a:t>
            </a:r>
            <a:r>
              <a:rPr lang="en-US" altLang="zh-CN" sz="2400" dirty="0">
                <a:hlinkClick r:id="rId2" tooltip="Bradley Efron"/>
              </a:rPr>
              <a:t>Bradley </a:t>
            </a:r>
            <a:r>
              <a:rPr lang="en-US" altLang="zh-CN" sz="2400" dirty="0" err="1">
                <a:hlinkClick r:id="rId2" tooltip="Bradley Efron"/>
              </a:rPr>
              <a:t>Efron</a:t>
            </a:r>
            <a:r>
              <a:rPr lang="en-US" altLang="zh-CN" sz="2400" dirty="0"/>
              <a:t> in “Bootstrap methods: another look at the jackknife” (1979).</a:t>
            </a:r>
            <a:endParaRPr lang="zh-CN" altLang="en-US" sz="2400" dirty="0"/>
          </a:p>
        </p:txBody>
      </p:sp>
    </p:spTree>
    <p:extLst>
      <p:ext uri="{BB962C8B-B14F-4D97-AF65-F5344CB8AC3E}">
        <p14:creationId xmlns:p14="http://schemas.microsoft.com/office/powerpoint/2010/main" val="22018247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圆角 7">
            <a:extLst>
              <a:ext uri="{FF2B5EF4-FFF2-40B4-BE49-F238E27FC236}">
                <a16:creationId xmlns:a16="http://schemas.microsoft.com/office/drawing/2014/main" id="{DC8E9541-2902-45E2-A2F6-8FB122BF09B3}"/>
              </a:ext>
            </a:extLst>
          </p:cNvPr>
          <p:cNvSpPr/>
          <p:nvPr/>
        </p:nvSpPr>
        <p:spPr>
          <a:xfrm>
            <a:off x="304800" y="1066800"/>
            <a:ext cx="8610600" cy="3505200"/>
          </a:xfrm>
          <a:prstGeom prst="roundRect">
            <a:avLst>
              <a:gd name="adj" fmla="val 3573"/>
            </a:avLst>
          </a:prstGeom>
          <a:solidFill>
            <a:srgbClr val="FFFBD6"/>
          </a:solidFill>
          <a:ln>
            <a:solidFill>
              <a:srgbClr val="FFFBD6"/>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800" dirty="0">
              <a:solidFill>
                <a:schemeClr val="tx1"/>
              </a:solidFill>
            </a:endParaRPr>
          </a:p>
        </p:txBody>
      </p:sp>
      <p:sp>
        <p:nvSpPr>
          <p:cNvPr id="2" name="灯片编号占位符 1"/>
          <p:cNvSpPr>
            <a:spLocks noGrp="1"/>
          </p:cNvSpPr>
          <p:nvPr>
            <p:ph type="sldNum" sz="quarter" idx="12"/>
          </p:nvPr>
        </p:nvSpPr>
        <p:spPr/>
        <p:txBody>
          <a:bodyPr/>
          <a:lstStyle/>
          <a:p>
            <a:fld id="{B6F15528-21DE-4FAA-801E-634DDDAF4B2B}" type="slidenum">
              <a:rPr lang="en-US" smtClean="0"/>
              <a:pPr/>
              <a:t>13</a:t>
            </a:fld>
            <a:endParaRPr lang="en-US"/>
          </a:p>
        </p:txBody>
      </p:sp>
      <p:sp>
        <p:nvSpPr>
          <p:cNvPr id="4" name="文本框 3">
            <a:extLst>
              <a:ext uri="{FF2B5EF4-FFF2-40B4-BE49-F238E27FC236}">
                <a16:creationId xmlns:a16="http://schemas.microsoft.com/office/drawing/2014/main" id="{60049FE2-D3F5-4096-9FC9-B63B2A1EDC37}"/>
              </a:ext>
            </a:extLst>
          </p:cNvPr>
          <p:cNvSpPr txBox="1"/>
          <p:nvPr/>
        </p:nvSpPr>
        <p:spPr>
          <a:xfrm>
            <a:off x="304800" y="152400"/>
            <a:ext cx="1953548" cy="754694"/>
          </a:xfrm>
          <a:prstGeom prst="rect">
            <a:avLst/>
          </a:prstGeom>
          <a:noFill/>
        </p:spPr>
        <p:txBody>
          <a:bodyPr wrap="none" rtlCol="0">
            <a:spAutoFit/>
          </a:bodyPr>
          <a:lstStyle/>
          <a:p>
            <a:pPr>
              <a:lnSpc>
                <a:spcPct val="150000"/>
              </a:lnSpc>
            </a:pPr>
            <a:r>
              <a:rPr lang="en-US" sz="3200" b="1" dirty="0"/>
              <a:t>Bootstrap </a:t>
            </a:r>
          </a:p>
        </p:txBody>
      </p:sp>
      <mc:AlternateContent xmlns:mc="http://schemas.openxmlformats.org/markup-compatibility/2006" xmlns:a14="http://schemas.microsoft.com/office/drawing/2010/main">
        <mc:Choice Requires="a14">
          <p:sp>
            <p:nvSpPr>
              <p:cNvPr id="9" name="矩形 8"/>
              <p:cNvSpPr/>
              <p:nvPr/>
            </p:nvSpPr>
            <p:spPr>
              <a:xfrm>
                <a:off x="304800" y="1143000"/>
                <a:ext cx="8456141" cy="2677656"/>
              </a:xfrm>
              <a:prstGeom prst="rect">
                <a:avLst/>
              </a:prstGeom>
            </p:spPr>
            <p:txBody>
              <a:bodyPr wrap="square">
                <a:spAutoFit/>
              </a:bodyPr>
              <a:lstStyle/>
              <a:p>
                <a:pPr marL="342900" indent="-342900" algn="just">
                  <a:buFont typeface="Arial" panose="020B0604020202020204" pitchFamily="34" charset="0"/>
                  <a:buChar char="•"/>
                </a:pPr>
                <a:r>
                  <a:rPr lang="en-US" altLang="zh-CN" sz="2400" dirty="0"/>
                  <a:t>In bootstrap, the training records are sampled </a:t>
                </a:r>
                <a:r>
                  <a:rPr lang="en-US" altLang="zh-CN" sz="2400" dirty="0">
                    <a:solidFill>
                      <a:srgbClr val="FF0000"/>
                    </a:solidFill>
                  </a:rPr>
                  <a:t>with</a:t>
                </a:r>
                <a:r>
                  <a:rPr lang="en-US" altLang="zh-CN" sz="2400" dirty="0"/>
                  <a:t> </a:t>
                </a:r>
                <a:r>
                  <a:rPr lang="en-US" altLang="zh-CN" sz="2400" dirty="0">
                    <a:solidFill>
                      <a:srgbClr val="FF0000"/>
                    </a:solidFill>
                  </a:rPr>
                  <a:t>replacement</a:t>
                </a:r>
                <a:r>
                  <a:rPr lang="en-US" altLang="zh-CN" sz="2400" dirty="0"/>
                  <a:t>, i.e., a record already chosen for training is put back into the original pool of records so that it is equally likely to be redrawn.</a:t>
                </a:r>
              </a:p>
              <a:p>
                <a:pPr marL="342900" indent="-342900" algn="just">
                  <a:buFont typeface="Arial" panose="020B0604020202020204" pitchFamily="34" charset="0"/>
                  <a:buChar char="•"/>
                </a:pPr>
                <a:r>
                  <a:rPr lang="en-US" altLang="zh-CN" sz="2400" dirty="0"/>
                  <a:t>If the original data has </a:t>
                </a:r>
                <a14:m>
                  <m:oMath xmlns:m="http://schemas.openxmlformats.org/officeDocument/2006/math">
                    <m:r>
                      <a:rPr lang="en-US" altLang="zh-CN" sz="2400" i="1" dirty="0" smtClean="0">
                        <a:latin typeface="Cambria Math" panose="02040503050406030204" pitchFamily="18" charset="0"/>
                      </a:rPr>
                      <m:t>𝑁</m:t>
                    </m:r>
                  </m:oMath>
                </a14:m>
                <a:r>
                  <a:rPr lang="en-US" altLang="zh-CN" sz="2400" dirty="0"/>
                  <a:t> records, on average, a bootstrap sample of size </a:t>
                </a:r>
                <a14:m>
                  <m:oMath xmlns:m="http://schemas.openxmlformats.org/officeDocument/2006/math">
                    <m:r>
                      <a:rPr lang="en-US" altLang="zh-CN" sz="2400" i="1" dirty="0">
                        <a:latin typeface="Cambria Math" panose="02040503050406030204" pitchFamily="18" charset="0"/>
                      </a:rPr>
                      <m:t>𝑁</m:t>
                    </m:r>
                  </m:oMath>
                </a14:m>
                <a:r>
                  <a:rPr lang="en-US" altLang="zh-CN" sz="2400" dirty="0"/>
                  <a:t> contains about 63.2% of the records in the original data. </a:t>
                </a:r>
              </a:p>
              <a:p>
                <a:pPr marL="800100" lvl="1" indent="-342900" algn="just">
                  <a:buFont typeface="Arial" panose="020B0604020202020204" pitchFamily="34" charset="0"/>
                  <a:buChar char="•"/>
                </a:pPr>
                <a:r>
                  <a:rPr lang="en-US" altLang="zh-CN" sz="2400" dirty="0"/>
                  <a:t>The probability a record is chosen by a bootstrap sample is</a:t>
                </a:r>
              </a:p>
            </p:txBody>
          </p:sp>
        </mc:Choice>
        <mc:Fallback xmlns="">
          <p:sp>
            <p:nvSpPr>
              <p:cNvPr id="9" name="矩形 8"/>
              <p:cNvSpPr>
                <a:spLocks noRot="1" noChangeAspect="1" noMove="1" noResize="1" noEditPoints="1" noAdjustHandles="1" noChangeArrowheads="1" noChangeShapeType="1" noTextEdit="1"/>
              </p:cNvSpPr>
              <p:nvPr/>
            </p:nvSpPr>
            <p:spPr>
              <a:xfrm>
                <a:off x="304800" y="1143000"/>
                <a:ext cx="8456141" cy="2677656"/>
              </a:xfrm>
              <a:prstGeom prst="rect">
                <a:avLst/>
              </a:prstGeom>
              <a:blipFill rotWithShape="0">
                <a:blip r:embed="rId2"/>
                <a:stretch>
                  <a:fillRect l="-937" t="-1822" r="-1947" b="-41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文本框 2"/>
              <p:cNvSpPr txBox="1"/>
              <p:nvPr/>
            </p:nvSpPr>
            <p:spPr>
              <a:xfrm>
                <a:off x="2743200" y="3820656"/>
                <a:ext cx="3383619" cy="67717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1−</m:t>
                      </m:r>
                      <m:sSup>
                        <m:sSupPr>
                          <m:ctrlPr>
                            <a:rPr lang="en-US" altLang="zh-CN" b="0" i="1" smtClean="0">
                              <a:latin typeface="Cambria Math" panose="02040503050406030204" pitchFamily="18" charset="0"/>
                            </a:rPr>
                          </m:ctrlPr>
                        </m:sSupPr>
                        <m:e>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1−</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1</m:t>
                                  </m:r>
                                </m:num>
                                <m:den>
                                  <m:r>
                                    <a:rPr lang="en-US" altLang="zh-CN" b="0" i="1" smtClean="0">
                                      <a:latin typeface="Cambria Math" panose="02040503050406030204" pitchFamily="18" charset="0"/>
                                    </a:rPr>
                                    <m:t>𝑁</m:t>
                                  </m:r>
                                </m:den>
                              </m:f>
                            </m:e>
                          </m:d>
                        </m:e>
                        <m:sup>
                          <m:r>
                            <a:rPr lang="en-US" altLang="zh-CN" b="0" i="1" smtClean="0">
                              <a:latin typeface="Cambria Math" panose="02040503050406030204" pitchFamily="18" charset="0"/>
                            </a:rPr>
                            <m:t>𝑁</m:t>
                          </m:r>
                        </m:sup>
                      </m:sSup>
                      <m:r>
                        <a:rPr lang="en-US" altLang="zh-CN" b="0" i="1" smtClean="0">
                          <a:latin typeface="Cambria Math" panose="02040503050406030204" pitchFamily="18" charset="0"/>
                          <a:ea typeface="Cambria Math" panose="02040503050406030204" pitchFamily="18" charset="0"/>
                        </a:rPr>
                        <m:t>→1−</m:t>
                      </m:r>
                      <m:sSup>
                        <m:sSupPr>
                          <m:ctrlPr>
                            <a:rPr lang="en-US" altLang="zh-CN" b="0" i="1" smtClean="0">
                              <a:latin typeface="Cambria Math" panose="02040503050406030204" pitchFamily="18" charset="0"/>
                              <a:ea typeface="Cambria Math" panose="02040503050406030204" pitchFamily="18" charset="0"/>
                            </a:rPr>
                          </m:ctrlPr>
                        </m:sSupPr>
                        <m:e>
                          <m:r>
                            <a:rPr lang="en-US" altLang="zh-CN" b="0" i="1" smtClean="0">
                              <a:latin typeface="Cambria Math" panose="02040503050406030204" pitchFamily="18" charset="0"/>
                              <a:ea typeface="Cambria Math" panose="02040503050406030204" pitchFamily="18" charset="0"/>
                            </a:rPr>
                            <m:t>𝑒</m:t>
                          </m:r>
                        </m:e>
                        <m:sup>
                          <m:r>
                            <a:rPr lang="en-US" altLang="zh-CN" b="0" i="1" smtClean="0">
                              <a:latin typeface="Cambria Math" panose="02040503050406030204" pitchFamily="18" charset="0"/>
                              <a:ea typeface="Cambria Math" panose="02040503050406030204" pitchFamily="18" charset="0"/>
                            </a:rPr>
                            <m:t>−1</m:t>
                          </m:r>
                        </m:sup>
                      </m:sSup>
                      <m:r>
                        <a:rPr lang="en-US" altLang="zh-CN" b="0" i="1" smtClean="0">
                          <a:latin typeface="Cambria Math" panose="02040503050406030204" pitchFamily="18" charset="0"/>
                          <a:ea typeface="Cambria Math" panose="02040503050406030204" pitchFamily="18" charset="0"/>
                        </a:rPr>
                        <m:t>=0.632</m:t>
                      </m:r>
                    </m:oMath>
                  </m:oMathPara>
                </a14:m>
                <a:endParaRPr lang="zh-CN" altLang="en-US" dirty="0"/>
              </a:p>
            </p:txBody>
          </p:sp>
        </mc:Choice>
        <mc:Fallback xmlns="">
          <p:sp>
            <p:nvSpPr>
              <p:cNvPr id="3" name="文本框 2"/>
              <p:cNvSpPr txBox="1">
                <a:spLocks noRot="1" noChangeAspect="1" noMove="1" noResize="1" noEditPoints="1" noAdjustHandles="1" noChangeArrowheads="1" noChangeShapeType="1" noTextEdit="1"/>
              </p:cNvSpPr>
              <p:nvPr/>
            </p:nvSpPr>
            <p:spPr>
              <a:xfrm>
                <a:off x="2743200" y="3820656"/>
                <a:ext cx="3383619" cy="677173"/>
              </a:xfrm>
              <a:prstGeom prst="rect">
                <a:avLst/>
              </a:prstGeom>
              <a:blipFill rotWithShape="0">
                <a:blip r:embed="rId3"/>
                <a:stretch>
                  <a:fillRect/>
                </a:stretch>
              </a:blipFill>
            </p:spPr>
            <p:txBody>
              <a:bodyPr/>
              <a:lstStyle/>
              <a:p>
                <a:r>
                  <a:rPr lang="zh-CN" altLang="en-US">
                    <a:noFill/>
                  </a:rPr>
                  <a:t> </a:t>
                </a:r>
              </a:p>
            </p:txBody>
          </p:sp>
        </mc:Fallback>
      </mc:AlternateContent>
      <p:sp>
        <p:nvSpPr>
          <p:cNvPr id="12" name="矩形: 圆角 7">
            <a:extLst>
              <a:ext uri="{FF2B5EF4-FFF2-40B4-BE49-F238E27FC236}">
                <a16:creationId xmlns:a16="http://schemas.microsoft.com/office/drawing/2014/main" id="{DC8E9541-2902-45E2-A2F6-8FB122BF09B3}"/>
              </a:ext>
            </a:extLst>
          </p:cNvPr>
          <p:cNvSpPr/>
          <p:nvPr/>
        </p:nvSpPr>
        <p:spPr>
          <a:xfrm>
            <a:off x="313592" y="4800600"/>
            <a:ext cx="8610600" cy="990600"/>
          </a:xfrm>
          <a:prstGeom prst="roundRect">
            <a:avLst>
              <a:gd name="adj" fmla="val 3573"/>
            </a:avLst>
          </a:prstGeom>
          <a:solidFill>
            <a:srgbClr val="E6F5F0"/>
          </a:solidFill>
          <a:ln>
            <a:solidFill>
              <a:srgbClr val="FFFBD6"/>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800" dirty="0">
              <a:solidFill>
                <a:schemeClr val="tx1"/>
              </a:solidFill>
            </a:endParaRPr>
          </a:p>
        </p:txBody>
      </p:sp>
      <p:sp>
        <p:nvSpPr>
          <p:cNvPr id="7" name="矩形 6"/>
          <p:cNvSpPr/>
          <p:nvPr/>
        </p:nvSpPr>
        <p:spPr>
          <a:xfrm>
            <a:off x="304800" y="4884926"/>
            <a:ext cx="8447349" cy="830997"/>
          </a:xfrm>
          <a:prstGeom prst="rect">
            <a:avLst/>
          </a:prstGeom>
        </p:spPr>
        <p:txBody>
          <a:bodyPr wrap="square">
            <a:spAutoFit/>
          </a:bodyPr>
          <a:lstStyle/>
          <a:p>
            <a:pPr marL="342900" indent="-342900" algn="just">
              <a:buFont typeface="Arial" panose="020B0604020202020204" pitchFamily="34" charset="0"/>
              <a:buChar char="•"/>
            </a:pPr>
            <a:r>
              <a:rPr lang="en-US" altLang="zh-CN" sz="2400" dirty="0"/>
              <a:t>Records that are not included in the bootstrap sample become part of the test set. </a:t>
            </a:r>
          </a:p>
        </p:txBody>
      </p:sp>
    </p:spTree>
    <p:extLst>
      <p:ext uri="{BB962C8B-B14F-4D97-AF65-F5344CB8AC3E}">
        <p14:creationId xmlns:p14="http://schemas.microsoft.com/office/powerpoint/2010/main" val="34987887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圆角 7">
            <a:extLst>
              <a:ext uri="{FF2B5EF4-FFF2-40B4-BE49-F238E27FC236}">
                <a16:creationId xmlns:a16="http://schemas.microsoft.com/office/drawing/2014/main" id="{DC8E9541-2902-45E2-A2F6-8FB122BF09B3}"/>
              </a:ext>
            </a:extLst>
          </p:cNvPr>
          <p:cNvSpPr/>
          <p:nvPr/>
        </p:nvSpPr>
        <p:spPr>
          <a:xfrm>
            <a:off x="304800" y="1066800"/>
            <a:ext cx="8610600" cy="2745320"/>
          </a:xfrm>
          <a:prstGeom prst="roundRect">
            <a:avLst>
              <a:gd name="adj" fmla="val 3573"/>
            </a:avLst>
          </a:prstGeom>
          <a:solidFill>
            <a:srgbClr val="FFFBD6"/>
          </a:solidFill>
          <a:ln>
            <a:solidFill>
              <a:srgbClr val="FFFBD6"/>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800" dirty="0">
              <a:solidFill>
                <a:schemeClr val="tx1"/>
              </a:solidFill>
            </a:endParaRPr>
          </a:p>
        </p:txBody>
      </p:sp>
      <p:sp>
        <p:nvSpPr>
          <p:cNvPr id="2" name="灯片编号占位符 1"/>
          <p:cNvSpPr>
            <a:spLocks noGrp="1"/>
          </p:cNvSpPr>
          <p:nvPr>
            <p:ph type="sldNum" sz="quarter" idx="12"/>
          </p:nvPr>
        </p:nvSpPr>
        <p:spPr/>
        <p:txBody>
          <a:bodyPr/>
          <a:lstStyle/>
          <a:p>
            <a:fld id="{B6F15528-21DE-4FAA-801E-634DDDAF4B2B}" type="slidenum">
              <a:rPr lang="en-US" smtClean="0"/>
              <a:pPr/>
              <a:t>14</a:t>
            </a:fld>
            <a:endParaRPr lang="en-US"/>
          </a:p>
        </p:txBody>
      </p:sp>
      <p:sp>
        <p:nvSpPr>
          <p:cNvPr id="4" name="文本框 3">
            <a:extLst>
              <a:ext uri="{FF2B5EF4-FFF2-40B4-BE49-F238E27FC236}">
                <a16:creationId xmlns:a16="http://schemas.microsoft.com/office/drawing/2014/main" id="{60049FE2-D3F5-4096-9FC9-B63B2A1EDC37}"/>
              </a:ext>
            </a:extLst>
          </p:cNvPr>
          <p:cNvSpPr txBox="1"/>
          <p:nvPr/>
        </p:nvSpPr>
        <p:spPr>
          <a:xfrm>
            <a:off x="304800" y="152400"/>
            <a:ext cx="1953548" cy="754694"/>
          </a:xfrm>
          <a:prstGeom prst="rect">
            <a:avLst/>
          </a:prstGeom>
          <a:noFill/>
        </p:spPr>
        <p:txBody>
          <a:bodyPr wrap="none" rtlCol="0">
            <a:spAutoFit/>
          </a:bodyPr>
          <a:lstStyle/>
          <a:p>
            <a:pPr>
              <a:lnSpc>
                <a:spcPct val="150000"/>
              </a:lnSpc>
            </a:pPr>
            <a:r>
              <a:rPr lang="en-US" sz="3200" b="1" dirty="0"/>
              <a:t>Bootstrap </a:t>
            </a:r>
          </a:p>
        </p:txBody>
      </p:sp>
      <p:sp>
        <p:nvSpPr>
          <p:cNvPr id="9" name="矩形 8"/>
          <p:cNvSpPr/>
          <p:nvPr/>
        </p:nvSpPr>
        <p:spPr>
          <a:xfrm>
            <a:off x="304800" y="1143000"/>
            <a:ext cx="8456141" cy="2677656"/>
          </a:xfrm>
          <a:prstGeom prst="rect">
            <a:avLst/>
          </a:prstGeom>
        </p:spPr>
        <p:txBody>
          <a:bodyPr wrap="square">
            <a:spAutoFit/>
          </a:bodyPr>
          <a:lstStyle/>
          <a:p>
            <a:pPr marL="342900" indent="-342900" algn="just">
              <a:buFont typeface="Arial" panose="020B0604020202020204" pitchFamily="34" charset="0"/>
              <a:buChar char="•"/>
            </a:pPr>
            <a:r>
              <a:rPr lang="en-US" altLang="zh-CN" sz="2400" dirty="0"/>
              <a:t>Bootstrap can generate many different training sets from the same original dataset, which can benefit the ensemble learning.</a:t>
            </a:r>
          </a:p>
          <a:p>
            <a:pPr algn="just"/>
            <a:r>
              <a:rPr lang="en-US" altLang="zh-CN" sz="2400" dirty="0"/>
              <a:t> </a:t>
            </a:r>
          </a:p>
          <a:p>
            <a:pPr marL="342900" indent="-342900" algn="just">
              <a:buFont typeface="Arial" panose="020B0604020202020204" pitchFamily="34" charset="0"/>
              <a:buChar char="•"/>
            </a:pPr>
            <a:r>
              <a:rPr lang="en-US" altLang="zh-CN" sz="2400" dirty="0"/>
              <a:t>As the bootstrap would change the data distribution of the resulted training set (</a:t>
            </a:r>
            <a:r>
              <a:rPr lang="en-US" altLang="zh-CN" sz="2400" dirty="0">
                <a:solidFill>
                  <a:srgbClr val="FF0000"/>
                </a:solidFill>
              </a:rPr>
              <a:t>different from </a:t>
            </a:r>
            <a:r>
              <a:rPr lang="en-US" altLang="zh-CN" sz="2400" dirty="0"/>
              <a:t>that of the original dataset), and involve extra error, if we have enough data, holdout and cross-validation would be more widely used. </a:t>
            </a:r>
          </a:p>
        </p:txBody>
      </p:sp>
    </p:spTree>
    <p:extLst>
      <p:ext uri="{BB962C8B-B14F-4D97-AF65-F5344CB8AC3E}">
        <p14:creationId xmlns:p14="http://schemas.microsoft.com/office/powerpoint/2010/main" val="14906634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F15528-21DE-4FAA-801E-634DDDAF4B2B}" type="slidenum">
              <a:rPr lang="en-US" smtClean="0"/>
              <a:pPr/>
              <a:t>15</a:t>
            </a:fld>
            <a:endParaRPr lang="en-US"/>
          </a:p>
        </p:txBody>
      </p:sp>
      <p:pic>
        <p:nvPicPr>
          <p:cNvPr id="4" name="图片 3"/>
          <p:cNvPicPr>
            <a:picLocks noChangeAspect="1"/>
          </p:cNvPicPr>
          <p:nvPr/>
        </p:nvPicPr>
        <p:blipFill>
          <a:blip r:embed="rId2"/>
          <a:stretch>
            <a:fillRect/>
          </a:stretch>
        </p:blipFill>
        <p:spPr>
          <a:xfrm>
            <a:off x="457200" y="1524000"/>
            <a:ext cx="7976084" cy="4642136"/>
          </a:xfrm>
          <a:prstGeom prst="rect">
            <a:avLst/>
          </a:prstGeom>
        </p:spPr>
      </p:pic>
      <p:sp>
        <p:nvSpPr>
          <p:cNvPr id="5" name="文本框 4">
            <a:extLst>
              <a:ext uri="{FF2B5EF4-FFF2-40B4-BE49-F238E27FC236}">
                <a16:creationId xmlns:a16="http://schemas.microsoft.com/office/drawing/2014/main" id="{60049FE2-D3F5-4096-9FC9-B63B2A1EDC37}"/>
              </a:ext>
            </a:extLst>
          </p:cNvPr>
          <p:cNvSpPr txBox="1"/>
          <p:nvPr/>
        </p:nvSpPr>
        <p:spPr>
          <a:xfrm>
            <a:off x="304800" y="152400"/>
            <a:ext cx="2230098" cy="754694"/>
          </a:xfrm>
          <a:prstGeom prst="rect">
            <a:avLst/>
          </a:prstGeom>
          <a:noFill/>
        </p:spPr>
        <p:txBody>
          <a:bodyPr wrap="none" rtlCol="0">
            <a:spAutoFit/>
          </a:bodyPr>
          <a:lstStyle/>
          <a:p>
            <a:pPr>
              <a:lnSpc>
                <a:spcPct val="150000"/>
              </a:lnSpc>
            </a:pPr>
            <a:r>
              <a:rPr lang="en-US" sz="3200" b="1" dirty="0"/>
              <a:t>C</a:t>
            </a:r>
            <a:r>
              <a:rPr lang="en-US" altLang="zh-CN" sz="3200" b="1" dirty="0"/>
              <a:t>omparison</a:t>
            </a:r>
            <a:endParaRPr lang="en-US" sz="3200" b="1" dirty="0"/>
          </a:p>
        </p:txBody>
      </p:sp>
      <p:sp>
        <p:nvSpPr>
          <p:cNvPr id="3" name="矩形 2">
            <a:extLst>
              <a:ext uri="{FF2B5EF4-FFF2-40B4-BE49-F238E27FC236}">
                <a16:creationId xmlns:a16="http://schemas.microsoft.com/office/drawing/2014/main" id="{B904B79A-6109-4FED-9AA6-D3D161A1178A}"/>
              </a:ext>
            </a:extLst>
          </p:cNvPr>
          <p:cNvSpPr/>
          <p:nvPr/>
        </p:nvSpPr>
        <p:spPr>
          <a:xfrm>
            <a:off x="3048000" y="2819400"/>
            <a:ext cx="914400" cy="400110"/>
          </a:xfrm>
          <a:prstGeom prst="rect">
            <a:avLst/>
          </a:prstGeom>
          <a:solidFill>
            <a:srgbClr val="B2D4EB"/>
          </a:solidFill>
        </p:spPr>
        <p:txBody>
          <a:bodyPr wrap="square">
            <a:spAutoFit/>
          </a:bodyPr>
          <a:lstStyle/>
          <a:p>
            <a:pPr algn="ctr"/>
            <a:r>
              <a:rPr lang="en-US" altLang="zh-CN" sz="2000" dirty="0">
                <a:latin typeface="Bahnschrift SemiLight Condensed" panose="020B0502040204020203" pitchFamily="34" charset="0"/>
              </a:rPr>
              <a:t>Test</a:t>
            </a:r>
            <a:endParaRPr lang="zh-CN" altLang="en-US" sz="2000" dirty="0">
              <a:latin typeface="Bahnschrift SemiLight Condensed" panose="020B0502040204020203" pitchFamily="34" charset="0"/>
            </a:endParaRPr>
          </a:p>
        </p:txBody>
      </p:sp>
      <p:sp>
        <p:nvSpPr>
          <p:cNvPr id="6" name="矩形 5">
            <a:extLst>
              <a:ext uri="{FF2B5EF4-FFF2-40B4-BE49-F238E27FC236}">
                <a16:creationId xmlns:a16="http://schemas.microsoft.com/office/drawing/2014/main" id="{0068033D-5AC2-4EFF-B85D-426DDD79ACC9}"/>
              </a:ext>
            </a:extLst>
          </p:cNvPr>
          <p:cNvSpPr/>
          <p:nvPr/>
        </p:nvSpPr>
        <p:spPr>
          <a:xfrm>
            <a:off x="5181600" y="3645013"/>
            <a:ext cx="1371600" cy="400110"/>
          </a:xfrm>
          <a:prstGeom prst="rect">
            <a:avLst/>
          </a:prstGeom>
          <a:solidFill>
            <a:schemeClr val="bg1"/>
          </a:solidFill>
        </p:spPr>
        <p:txBody>
          <a:bodyPr wrap="square">
            <a:spAutoFit/>
          </a:bodyPr>
          <a:lstStyle/>
          <a:p>
            <a:pPr algn="ctr"/>
            <a:r>
              <a:rPr lang="en-US" altLang="zh-CN" sz="2000" dirty="0">
                <a:latin typeface="Bahnschrift SemiLight Condensed" panose="020B0502040204020203" pitchFamily="34" charset="0"/>
              </a:rPr>
              <a:t>Test set</a:t>
            </a:r>
            <a:endParaRPr lang="zh-CN" altLang="en-US" sz="2000" dirty="0">
              <a:latin typeface="Bahnschrift SemiLight Condensed" panose="020B0502040204020203" pitchFamily="34" charset="0"/>
            </a:endParaRPr>
          </a:p>
        </p:txBody>
      </p:sp>
    </p:spTree>
    <p:extLst>
      <p:ext uri="{BB962C8B-B14F-4D97-AF65-F5344CB8AC3E}">
        <p14:creationId xmlns:p14="http://schemas.microsoft.com/office/powerpoint/2010/main" val="16742918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1783929" y="3051653"/>
            <a:ext cx="5576142" cy="754694"/>
          </a:xfrm>
          <a:prstGeom prst="rect">
            <a:avLst/>
          </a:prstGeom>
          <a:noFill/>
        </p:spPr>
        <p:txBody>
          <a:bodyPr wrap="none" rtlCol="0">
            <a:spAutoFit/>
          </a:bodyPr>
          <a:lstStyle/>
          <a:p>
            <a:pPr>
              <a:lnSpc>
                <a:spcPct val="150000"/>
              </a:lnSpc>
            </a:pPr>
            <a:r>
              <a:rPr lang="en-US" altLang="zh-CN" sz="3200" b="1" dirty="0"/>
              <a:t>Evaluation Metrics of Classifiers</a:t>
            </a:r>
            <a:endParaRPr lang="en-US" sz="3200" b="1" dirty="0"/>
          </a:p>
        </p:txBody>
      </p:sp>
    </p:spTree>
    <p:extLst>
      <p:ext uri="{BB962C8B-B14F-4D97-AF65-F5344CB8AC3E}">
        <p14:creationId xmlns:p14="http://schemas.microsoft.com/office/powerpoint/2010/main" val="8677539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圆角 7">
            <a:extLst>
              <a:ext uri="{FF2B5EF4-FFF2-40B4-BE49-F238E27FC236}">
                <a16:creationId xmlns:a16="http://schemas.microsoft.com/office/drawing/2014/main" id="{30579C5A-EBC9-48B7-A710-AEB8E80A34B2}"/>
              </a:ext>
            </a:extLst>
          </p:cNvPr>
          <p:cNvSpPr/>
          <p:nvPr/>
        </p:nvSpPr>
        <p:spPr>
          <a:xfrm>
            <a:off x="304800" y="914400"/>
            <a:ext cx="8456141" cy="1917715"/>
          </a:xfrm>
          <a:prstGeom prst="roundRect">
            <a:avLst>
              <a:gd name="adj" fmla="val 3573"/>
            </a:avLst>
          </a:prstGeom>
          <a:solidFill>
            <a:srgbClr val="FFFBD6"/>
          </a:solidFill>
          <a:ln>
            <a:solidFill>
              <a:srgbClr val="FFFBD6"/>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800" dirty="0">
              <a:solidFill>
                <a:schemeClr val="tx1"/>
              </a:solidFill>
            </a:endParaRPr>
          </a:p>
        </p:txBody>
      </p:sp>
      <p:sp>
        <p:nvSpPr>
          <p:cNvPr id="5" name="文本框 4"/>
          <p:cNvSpPr txBox="1"/>
          <p:nvPr/>
        </p:nvSpPr>
        <p:spPr>
          <a:xfrm>
            <a:off x="228600" y="76200"/>
            <a:ext cx="3441135" cy="754694"/>
          </a:xfrm>
          <a:prstGeom prst="rect">
            <a:avLst/>
          </a:prstGeom>
          <a:noFill/>
        </p:spPr>
        <p:txBody>
          <a:bodyPr wrap="none" rtlCol="0">
            <a:spAutoFit/>
          </a:bodyPr>
          <a:lstStyle/>
          <a:p>
            <a:pPr>
              <a:lnSpc>
                <a:spcPct val="150000"/>
              </a:lnSpc>
            </a:pPr>
            <a:r>
              <a:rPr lang="en-US" altLang="zh-CN" sz="3200" b="1" dirty="0"/>
              <a:t>Evaluation Metrics</a:t>
            </a:r>
            <a:endParaRPr lang="en-US" sz="3200" b="1" dirty="0"/>
          </a:p>
        </p:txBody>
      </p:sp>
      <p:sp>
        <p:nvSpPr>
          <p:cNvPr id="4" name="文本框 3"/>
          <p:cNvSpPr txBox="1"/>
          <p:nvPr/>
        </p:nvSpPr>
        <p:spPr>
          <a:xfrm>
            <a:off x="228600" y="914400"/>
            <a:ext cx="7848600" cy="1938992"/>
          </a:xfrm>
          <a:prstGeom prst="rect">
            <a:avLst/>
          </a:prstGeom>
          <a:noFill/>
        </p:spPr>
        <p:txBody>
          <a:bodyPr wrap="square" rtlCol="0">
            <a:spAutoFit/>
          </a:bodyPr>
          <a:lstStyle/>
          <a:p>
            <a:pPr marL="342900" indent="-342900" algn="just">
              <a:buFont typeface="Arial" panose="020B0604020202020204" pitchFamily="34" charset="0"/>
              <a:buChar char="•"/>
            </a:pPr>
            <a:r>
              <a:rPr lang="en-US" altLang="zh-CN" sz="2400" dirty="0"/>
              <a:t>Confusion Matrix (</a:t>
            </a:r>
            <a:r>
              <a:rPr lang="zh-CN" altLang="en-US" sz="2400" dirty="0"/>
              <a:t>混淆矩阵</a:t>
            </a:r>
            <a:r>
              <a:rPr lang="en-US" altLang="zh-CN" sz="2400" dirty="0"/>
              <a:t>)</a:t>
            </a:r>
          </a:p>
          <a:p>
            <a:pPr marL="800100" lvl="1" indent="-342900" algn="just">
              <a:buFont typeface="Arial" panose="020B0604020202020204" pitchFamily="34" charset="0"/>
              <a:buChar char="•"/>
            </a:pPr>
            <a:r>
              <a:rPr lang="en-US" altLang="zh-CN" sz="2400" dirty="0"/>
              <a:t>TP: Number of True Positives</a:t>
            </a:r>
          </a:p>
          <a:p>
            <a:pPr marL="800100" lvl="1" indent="-342900" algn="just">
              <a:buFont typeface="Arial" panose="020B0604020202020204" pitchFamily="34" charset="0"/>
              <a:buChar char="•"/>
            </a:pPr>
            <a:r>
              <a:rPr lang="en-US" altLang="zh-CN" sz="2400" dirty="0"/>
              <a:t>FP: Number of False Positives</a:t>
            </a:r>
          </a:p>
          <a:p>
            <a:pPr marL="800100" lvl="1" indent="-342900" algn="just">
              <a:buFont typeface="Arial" panose="020B0604020202020204" pitchFamily="34" charset="0"/>
              <a:buChar char="•"/>
            </a:pPr>
            <a:r>
              <a:rPr lang="en-US" altLang="zh-CN" sz="2400" dirty="0"/>
              <a:t>TN: Number of True Negatives</a:t>
            </a:r>
          </a:p>
          <a:p>
            <a:pPr marL="800100" lvl="1" indent="-342900" algn="just">
              <a:buFont typeface="Arial" panose="020B0604020202020204" pitchFamily="34" charset="0"/>
              <a:buChar char="•"/>
            </a:pPr>
            <a:r>
              <a:rPr lang="en-US" altLang="zh-CN" sz="2400" dirty="0"/>
              <a:t>FN: Number of False Negatives</a:t>
            </a:r>
            <a:endParaRPr lang="zh-CN" altLang="en-US" sz="2400" dirty="0"/>
          </a:p>
        </p:txBody>
      </p:sp>
      <p:pic>
        <p:nvPicPr>
          <p:cNvPr id="9" name="图片 8" descr="屏幕剪辑"/>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8200" y="3434080"/>
            <a:ext cx="7017754" cy="2101639"/>
          </a:xfrm>
          <a:prstGeom prst="rect">
            <a:avLst/>
          </a:prstGeom>
        </p:spPr>
      </p:pic>
      <p:sp>
        <p:nvSpPr>
          <p:cNvPr id="11" name="矩形 10"/>
          <p:cNvSpPr/>
          <p:nvPr/>
        </p:nvSpPr>
        <p:spPr>
          <a:xfrm>
            <a:off x="3539359" y="4459992"/>
            <a:ext cx="421910" cy="369332"/>
          </a:xfrm>
          <a:prstGeom prst="rect">
            <a:avLst/>
          </a:prstGeom>
        </p:spPr>
        <p:txBody>
          <a:bodyPr wrap="none">
            <a:spAutoFit/>
          </a:bodyPr>
          <a:lstStyle/>
          <a:p>
            <a:r>
              <a:rPr lang="en-US" altLang="zh-CN" b="1" dirty="0">
                <a:solidFill>
                  <a:srgbClr val="FF0000"/>
                </a:solidFill>
              </a:rPr>
              <a:t>TP</a:t>
            </a:r>
            <a:endParaRPr lang="zh-CN" altLang="en-US" b="1" dirty="0">
              <a:solidFill>
                <a:srgbClr val="FF0000"/>
              </a:solidFill>
            </a:endParaRPr>
          </a:p>
        </p:txBody>
      </p:sp>
      <p:sp>
        <p:nvSpPr>
          <p:cNvPr id="12" name="矩形 11"/>
          <p:cNvSpPr/>
          <p:nvPr/>
        </p:nvSpPr>
        <p:spPr>
          <a:xfrm>
            <a:off x="3543366" y="5145792"/>
            <a:ext cx="413896" cy="369332"/>
          </a:xfrm>
          <a:prstGeom prst="rect">
            <a:avLst/>
          </a:prstGeom>
        </p:spPr>
        <p:txBody>
          <a:bodyPr wrap="none">
            <a:spAutoFit/>
          </a:bodyPr>
          <a:lstStyle/>
          <a:p>
            <a:r>
              <a:rPr lang="en-US" altLang="zh-CN" b="1" dirty="0">
                <a:solidFill>
                  <a:srgbClr val="FF0000"/>
                </a:solidFill>
              </a:rPr>
              <a:t>FP</a:t>
            </a:r>
            <a:endParaRPr lang="zh-CN" altLang="en-US" b="1" dirty="0">
              <a:solidFill>
                <a:srgbClr val="FF0000"/>
              </a:solidFill>
            </a:endParaRPr>
          </a:p>
        </p:txBody>
      </p:sp>
      <p:sp>
        <p:nvSpPr>
          <p:cNvPr id="13" name="矩形 12"/>
          <p:cNvSpPr/>
          <p:nvPr/>
        </p:nvSpPr>
        <p:spPr>
          <a:xfrm>
            <a:off x="6019800" y="4459992"/>
            <a:ext cx="442750" cy="369332"/>
          </a:xfrm>
          <a:prstGeom prst="rect">
            <a:avLst/>
          </a:prstGeom>
        </p:spPr>
        <p:txBody>
          <a:bodyPr wrap="none">
            <a:spAutoFit/>
          </a:bodyPr>
          <a:lstStyle/>
          <a:p>
            <a:r>
              <a:rPr lang="en-US" altLang="zh-CN" b="1" dirty="0">
                <a:solidFill>
                  <a:srgbClr val="FF0000"/>
                </a:solidFill>
              </a:rPr>
              <a:t>FN</a:t>
            </a:r>
            <a:endParaRPr lang="zh-CN" altLang="en-US" b="1" dirty="0">
              <a:solidFill>
                <a:srgbClr val="FF0000"/>
              </a:solidFill>
            </a:endParaRPr>
          </a:p>
        </p:txBody>
      </p:sp>
      <p:sp>
        <p:nvSpPr>
          <p:cNvPr id="14" name="矩形 13"/>
          <p:cNvSpPr/>
          <p:nvPr/>
        </p:nvSpPr>
        <p:spPr>
          <a:xfrm>
            <a:off x="6019800" y="5145792"/>
            <a:ext cx="450764" cy="369332"/>
          </a:xfrm>
          <a:prstGeom prst="rect">
            <a:avLst/>
          </a:prstGeom>
        </p:spPr>
        <p:txBody>
          <a:bodyPr wrap="none">
            <a:spAutoFit/>
          </a:bodyPr>
          <a:lstStyle/>
          <a:p>
            <a:r>
              <a:rPr lang="en-US" altLang="zh-CN" b="1" dirty="0">
                <a:solidFill>
                  <a:srgbClr val="FF0000"/>
                </a:solidFill>
              </a:rPr>
              <a:t>TN</a:t>
            </a:r>
            <a:endParaRPr lang="zh-CN" altLang="en-US" b="1" dirty="0">
              <a:solidFill>
                <a:srgbClr val="FF0000"/>
              </a:solidFill>
            </a:endParaRPr>
          </a:p>
        </p:txBody>
      </p:sp>
    </p:spTree>
    <p:extLst>
      <p:ext uri="{BB962C8B-B14F-4D97-AF65-F5344CB8AC3E}">
        <p14:creationId xmlns:p14="http://schemas.microsoft.com/office/powerpoint/2010/main" val="27098487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圆角 7">
            <a:extLst>
              <a:ext uri="{FF2B5EF4-FFF2-40B4-BE49-F238E27FC236}">
                <a16:creationId xmlns:a16="http://schemas.microsoft.com/office/drawing/2014/main" id="{91F9C0AC-A3B4-4D3A-A35E-F6A692EF525B}"/>
              </a:ext>
            </a:extLst>
          </p:cNvPr>
          <p:cNvSpPr/>
          <p:nvPr/>
        </p:nvSpPr>
        <p:spPr>
          <a:xfrm>
            <a:off x="304800" y="1066800"/>
            <a:ext cx="8456141" cy="1200329"/>
          </a:xfrm>
          <a:prstGeom prst="roundRect">
            <a:avLst>
              <a:gd name="adj" fmla="val 3573"/>
            </a:avLst>
          </a:prstGeom>
          <a:solidFill>
            <a:srgbClr val="FFFBD6"/>
          </a:solidFill>
          <a:ln>
            <a:solidFill>
              <a:srgbClr val="FFFBD6"/>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800" dirty="0">
              <a:solidFill>
                <a:schemeClr val="tx1"/>
              </a:solidFill>
            </a:endParaRPr>
          </a:p>
        </p:txBody>
      </p:sp>
      <p:sp>
        <p:nvSpPr>
          <p:cNvPr id="5" name="文本框 4"/>
          <p:cNvSpPr txBox="1"/>
          <p:nvPr/>
        </p:nvSpPr>
        <p:spPr>
          <a:xfrm>
            <a:off x="228600" y="76200"/>
            <a:ext cx="3441135" cy="754694"/>
          </a:xfrm>
          <a:prstGeom prst="rect">
            <a:avLst/>
          </a:prstGeom>
          <a:noFill/>
        </p:spPr>
        <p:txBody>
          <a:bodyPr wrap="none" rtlCol="0">
            <a:spAutoFit/>
          </a:bodyPr>
          <a:lstStyle/>
          <a:p>
            <a:pPr>
              <a:lnSpc>
                <a:spcPct val="150000"/>
              </a:lnSpc>
            </a:pPr>
            <a:r>
              <a:rPr lang="en-US" altLang="zh-CN" sz="3200" b="1" dirty="0"/>
              <a:t>Evaluation Metrics</a:t>
            </a:r>
            <a:endParaRPr lang="en-US" sz="3200" b="1" dirty="0"/>
          </a:p>
        </p:txBody>
      </p:sp>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C171B19B-0201-475D-952F-39D950814B77}"/>
                  </a:ext>
                </a:extLst>
              </p:cNvPr>
              <p:cNvSpPr/>
              <p:nvPr/>
            </p:nvSpPr>
            <p:spPr>
              <a:xfrm>
                <a:off x="238897" y="1066800"/>
                <a:ext cx="8382000" cy="1200329"/>
              </a:xfrm>
              <a:prstGeom prst="rect">
                <a:avLst/>
              </a:prstGeom>
            </p:spPr>
            <p:txBody>
              <a:bodyPr wrap="square">
                <a:spAutoFit/>
              </a:bodyPr>
              <a:lstStyle/>
              <a:p>
                <a:pPr algn="just"/>
                <a:r>
                  <a:rPr lang="en-US" altLang="zh-CN" sz="2400" dirty="0"/>
                  <a:t>With </a:t>
                </a:r>
                <a14:m>
                  <m:oMath xmlns:m="http://schemas.openxmlformats.org/officeDocument/2006/math">
                    <m:r>
                      <a:rPr lang="en-US" altLang="zh-CN" sz="2400" b="0" i="1" dirty="0" smtClean="0">
                        <a:latin typeface="Cambria Math" panose="02040503050406030204" pitchFamily="18" charset="0"/>
                      </a:rPr>
                      <m:t>𝐶</m:t>
                    </m:r>
                  </m:oMath>
                </a14:m>
                <a:r>
                  <a:rPr lang="en-US" altLang="zh-CN" sz="2400" dirty="0"/>
                  <a:t> classes, the confusion matrix becomes an </a:t>
                </a:r>
                <a14:m>
                  <m:oMath xmlns:m="http://schemas.openxmlformats.org/officeDocument/2006/math">
                    <m:r>
                      <a:rPr lang="en-US" altLang="zh-CN" sz="2400" b="0" i="1" dirty="0" smtClean="0">
                        <a:latin typeface="Cambria Math" panose="02040503050406030204" pitchFamily="18" charset="0"/>
                      </a:rPr>
                      <m:t>𝐶</m:t>
                    </m:r>
                    <m:r>
                      <a:rPr lang="en-US" altLang="zh-CN" sz="2400" i="1" dirty="0" smtClean="0">
                        <a:latin typeface="Cambria Math" panose="02040503050406030204" pitchFamily="18" charset="0"/>
                        <a:ea typeface="Cambria Math" panose="02040503050406030204" pitchFamily="18" charset="0"/>
                      </a:rPr>
                      <m:t>×</m:t>
                    </m:r>
                    <m:r>
                      <a:rPr lang="en-US" altLang="zh-CN" sz="2400" b="0" i="1" dirty="0" smtClean="0">
                        <a:latin typeface="Cambria Math" panose="02040503050406030204" pitchFamily="18" charset="0"/>
                        <a:ea typeface="Cambria Math" panose="02040503050406030204" pitchFamily="18" charset="0"/>
                      </a:rPr>
                      <m:t>𝐶</m:t>
                    </m:r>
                  </m:oMath>
                </a14:m>
                <a:r>
                  <a:rPr lang="en-US" altLang="zh-CN" sz="2400" dirty="0"/>
                  <a:t> matrix containing the </a:t>
                </a:r>
                <a14:m>
                  <m:oMath xmlns:m="http://schemas.openxmlformats.org/officeDocument/2006/math">
                    <m:r>
                      <a:rPr lang="en-US" altLang="zh-CN" sz="2400" b="0" i="1" dirty="0" smtClean="0">
                        <a:latin typeface="Cambria Math" panose="02040503050406030204" pitchFamily="18" charset="0"/>
                      </a:rPr>
                      <m:t>𝐶</m:t>
                    </m:r>
                  </m:oMath>
                </a14:m>
                <a:r>
                  <a:rPr lang="en-US" altLang="zh-CN" sz="2400" dirty="0"/>
                  <a:t> correct classifications (the diagonal entries) and </a:t>
                </a:r>
                <a14:m>
                  <m:oMath xmlns:m="http://schemas.openxmlformats.org/officeDocument/2006/math">
                    <m:sSup>
                      <m:sSupPr>
                        <m:ctrlPr>
                          <a:rPr lang="en-US" altLang="zh-CN" sz="2400" b="0" i="1" dirty="0" smtClean="0">
                            <a:latin typeface="Cambria Math" panose="02040503050406030204" pitchFamily="18" charset="0"/>
                          </a:rPr>
                        </m:ctrlPr>
                      </m:sSupPr>
                      <m:e>
                        <m:r>
                          <a:rPr lang="en-US" altLang="zh-CN" sz="2400" b="0" i="1" dirty="0" smtClean="0">
                            <a:latin typeface="Cambria Math" panose="02040503050406030204" pitchFamily="18" charset="0"/>
                          </a:rPr>
                          <m:t>𝐶</m:t>
                        </m:r>
                      </m:e>
                      <m:sup>
                        <m:r>
                          <a:rPr lang="en-US" altLang="zh-CN" sz="2400" b="0" i="1" dirty="0" smtClean="0">
                            <a:latin typeface="Cambria Math" panose="02040503050406030204" pitchFamily="18" charset="0"/>
                          </a:rPr>
                          <m:t>2</m:t>
                        </m:r>
                      </m:sup>
                    </m:sSup>
                    <m:r>
                      <a:rPr lang="en-US" altLang="zh-CN" sz="2400" b="0" i="0" dirty="0" smtClean="0">
                        <a:latin typeface="Cambria Math" panose="02040503050406030204" pitchFamily="18" charset="0"/>
                      </a:rPr>
                      <m:t>−</m:t>
                    </m:r>
                    <m:r>
                      <a:rPr lang="en-US" altLang="zh-CN" sz="2400" b="0" i="1" dirty="0" smtClean="0">
                        <a:latin typeface="Cambria Math" panose="02040503050406030204" pitchFamily="18" charset="0"/>
                      </a:rPr>
                      <m:t>𝐶</m:t>
                    </m:r>
                  </m:oMath>
                </a14:m>
                <a:r>
                  <a:rPr lang="en-US" altLang="zh-CN" sz="2400" dirty="0"/>
                  <a:t> possible errors (the off-diagonal entries))</a:t>
                </a:r>
                <a:endParaRPr lang="zh-CN" altLang="en-US" sz="2400" dirty="0"/>
              </a:p>
            </p:txBody>
          </p:sp>
        </mc:Choice>
        <mc:Fallback xmlns="">
          <p:sp>
            <p:nvSpPr>
              <p:cNvPr id="2" name="矩形 1">
                <a:extLst>
                  <a:ext uri="{FF2B5EF4-FFF2-40B4-BE49-F238E27FC236}">
                    <a16:creationId xmlns:a16="http://schemas.microsoft.com/office/drawing/2014/main" id="{C171B19B-0201-475D-952F-39D950814B77}"/>
                  </a:ext>
                </a:extLst>
              </p:cNvPr>
              <p:cNvSpPr>
                <a:spLocks noRot="1" noChangeAspect="1" noMove="1" noResize="1" noEditPoints="1" noAdjustHandles="1" noChangeArrowheads="1" noChangeShapeType="1" noTextEdit="1"/>
              </p:cNvSpPr>
              <p:nvPr/>
            </p:nvSpPr>
            <p:spPr>
              <a:xfrm>
                <a:off x="238897" y="1066800"/>
                <a:ext cx="8382000" cy="1200329"/>
              </a:xfrm>
              <a:prstGeom prst="rect">
                <a:avLst/>
              </a:prstGeom>
              <a:blipFill>
                <a:blip r:embed="rId3"/>
                <a:stretch>
                  <a:fillRect l="-1091" t="-4061" r="-1164" b="-10660"/>
                </a:stretch>
              </a:blipFill>
            </p:spPr>
            <p:txBody>
              <a:bodyPr/>
              <a:lstStyle/>
              <a:p>
                <a:r>
                  <a:rPr lang="zh-CN" altLang="en-US">
                    <a:noFill/>
                  </a:rPr>
                  <a:t> </a:t>
                </a:r>
              </a:p>
            </p:txBody>
          </p:sp>
        </mc:Fallback>
      </mc:AlternateContent>
      <p:graphicFrame>
        <p:nvGraphicFramePr>
          <p:cNvPr id="3" name="表格 5">
            <a:extLst>
              <a:ext uri="{FF2B5EF4-FFF2-40B4-BE49-F238E27FC236}">
                <a16:creationId xmlns:a16="http://schemas.microsoft.com/office/drawing/2014/main" id="{B8E1D7CD-4B4C-451E-9AFA-2BDA643D3526}"/>
              </a:ext>
            </a:extLst>
          </p:cNvPr>
          <p:cNvGraphicFramePr>
            <a:graphicFrameLocks noGrp="1"/>
          </p:cNvGraphicFramePr>
          <p:nvPr>
            <p:extLst>
              <p:ext uri="{D42A27DB-BD31-4B8C-83A1-F6EECF244321}">
                <p14:modId xmlns:p14="http://schemas.microsoft.com/office/powerpoint/2010/main" val="576341920"/>
              </p:ext>
            </p:extLst>
          </p:nvPr>
        </p:nvGraphicFramePr>
        <p:xfrm>
          <a:off x="462349" y="2667000"/>
          <a:ext cx="8219302" cy="3200400"/>
        </p:xfrm>
        <a:graphic>
          <a:graphicData uri="http://schemas.openxmlformats.org/drawingml/2006/table">
            <a:tbl>
              <a:tblPr firstRow="1" bandRow="1">
                <a:tableStyleId>{5C22544A-7EE6-4342-B048-85BDC9FD1C3A}</a:tableStyleId>
              </a:tblPr>
              <a:tblGrid>
                <a:gridCol w="1174186">
                  <a:extLst>
                    <a:ext uri="{9D8B030D-6E8A-4147-A177-3AD203B41FA5}">
                      <a16:colId xmlns:a16="http://schemas.microsoft.com/office/drawing/2014/main" val="4069137066"/>
                    </a:ext>
                  </a:extLst>
                </a:gridCol>
                <a:gridCol w="1174186">
                  <a:extLst>
                    <a:ext uri="{9D8B030D-6E8A-4147-A177-3AD203B41FA5}">
                      <a16:colId xmlns:a16="http://schemas.microsoft.com/office/drawing/2014/main" val="2653896147"/>
                    </a:ext>
                  </a:extLst>
                </a:gridCol>
                <a:gridCol w="1174186">
                  <a:extLst>
                    <a:ext uri="{9D8B030D-6E8A-4147-A177-3AD203B41FA5}">
                      <a16:colId xmlns:a16="http://schemas.microsoft.com/office/drawing/2014/main" val="3536174703"/>
                    </a:ext>
                  </a:extLst>
                </a:gridCol>
                <a:gridCol w="1174186">
                  <a:extLst>
                    <a:ext uri="{9D8B030D-6E8A-4147-A177-3AD203B41FA5}">
                      <a16:colId xmlns:a16="http://schemas.microsoft.com/office/drawing/2014/main" val="2027329611"/>
                    </a:ext>
                  </a:extLst>
                </a:gridCol>
                <a:gridCol w="1174186">
                  <a:extLst>
                    <a:ext uri="{9D8B030D-6E8A-4147-A177-3AD203B41FA5}">
                      <a16:colId xmlns:a16="http://schemas.microsoft.com/office/drawing/2014/main" val="114136730"/>
                    </a:ext>
                  </a:extLst>
                </a:gridCol>
                <a:gridCol w="1174186">
                  <a:extLst>
                    <a:ext uri="{9D8B030D-6E8A-4147-A177-3AD203B41FA5}">
                      <a16:colId xmlns:a16="http://schemas.microsoft.com/office/drawing/2014/main" val="3204057395"/>
                    </a:ext>
                  </a:extLst>
                </a:gridCol>
                <a:gridCol w="1174186">
                  <a:extLst>
                    <a:ext uri="{9D8B030D-6E8A-4147-A177-3AD203B41FA5}">
                      <a16:colId xmlns:a16="http://schemas.microsoft.com/office/drawing/2014/main" val="2711379906"/>
                    </a:ext>
                  </a:extLst>
                </a:gridCol>
              </a:tblGrid>
              <a:tr h="457200">
                <a:tc rowSpan="2" gridSpan="2">
                  <a:txBody>
                    <a:bodyPr/>
                    <a:lstStyle/>
                    <a:p>
                      <a:endParaRPr lang="zh-CN" altLang="en-US" sz="2400" dirty="0"/>
                    </a:p>
                  </a:txBody>
                  <a:tcPr/>
                </a:tc>
                <a:tc rowSpan="2" hMerge="1">
                  <a:txBody>
                    <a:bodyPr/>
                    <a:lstStyle/>
                    <a:p>
                      <a:endParaRPr lang="zh-CN" altLang="en-US" dirty="0"/>
                    </a:p>
                  </a:txBody>
                  <a:tcPr/>
                </a:tc>
                <a:tc gridSpan="5">
                  <a:txBody>
                    <a:bodyPr/>
                    <a:lstStyle/>
                    <a:p>
                      <a:pPr algn="ctr"/>
                      <a:r>
                        <a:rPr lang="en-US" altLang="zh-CN" sz="2400" dirty="0">
                          <a:solidFill>
                            <a:schemeClr val="tx1"/>
                          </a:solidFill>
                        </a:rPr>
                        <a:t>Predicted Class</a:t>
                      </a:r>
                      <a:endParaRPr lang="zh-CN" altLang="en-US" sz="2400" dirty="0">
                        <a:solidFill>
                          <a:schemeClr val="tx1"/>
                        </a:solidFill>
                      </a:endParaRPr>
                    </a:p>
                  </a:txBody>
                  <a:tcPr>
                    <a:solidFill>
                      <a:schemeClr val="accent5">
                        <a:lumMod val="60000"/>
                        <a:lumOff val="40000"/>
                      </a:schemeClr>
                    </a:solidFill>
                  </a:tcPr>
                </a:tc>
                <a:tc hMerge="1">
                  <a:txBody>
                    <a:bodyPr/>
                    <a:lstStyle/>
                    <a:p>
                      <a:endParaRPr lang="zh-CN" altLang="en-US" dirty="0"/>
                    </a:p>
                  </a:txBody>
                  <a:tcPr/>
                </a:tc>
                <a:tc hMerge="1">
                  <a:txBody>
                    <a:bodyPr/>
                    <a:lstStyle/>
                    <a:p>
                      <a:endParaRPr lang="zh-CN" altLang="en-US" dirty="0"/>
                    </a:p>
                  </a:txBody>
                  <a:tcPr/>
                </a:tc>
                <a:tc hMerge="1">
                  <a:txBody>
                    <a:bodyPr/>
                    <a:lstStyle/>
                    <a:p>
                      <a:endParaRPr lang="zh-CN" altLang="en-US" dirty="0"/>
                    </a:p>
                  </a:txBody>
                  <a:tcPr/>
                </a:tc>
                <a:tc hMerge="1">
                  <a:txBody>
                    <a:bodyPr/>
                    <a:lstStyle/>
                    <a:p>
                      <a:endParaRPr lang="zh-CN" altLang="en-US" dirty="0"/>
                    </a:p>
                  </a:txBody>
                  <a:tcPr/>
                </a:tc>
                <a:extLst>
                  <a:ext uri="{0D108BD9-81ED-4DB2-BD59-A6C34878D82A}">
                    <a16:rowId xmlns:a16="http://schemas.microsoft.com/office/drawing/2014/main" val="2727331312"/>
                  </a:ext>
                </a:extLst>
              </a:tr>
              <a:tr h="457200">
                <a:tc gridSpan="2" vMerge="1">
                  <a:txBody>
                    <a:bodyPr/>
                    <a:lstStyle/>
                    <a:p>
                      <a:endParaRPr lang="zh-CN" altLang="en-US" dirty="0"/>
                    </a:p>
                  </a:txBody>
                  <a:tcPr/>
                </a:tc>
                <a:tc hMerge="1" vMerge="1">
                  <a:txBody>
                    <a:bodyPr/>
                    <a:lstStyle/>
                    <a:p>
                      <a:endParaRPr lang="zh-CN" altLang="en-US" dirty="0"/>
                    </a:p>
                  </a:txBody>
                  <a:tcPr/>
                </a:tc>
                <a:tc>
                  <a:txBody>
                    <a:bodyPr/>
                    <a:lstStyle/>
                    <a:p>
                      <a:pPr algn="ctr"/>
                      <a:r>
                        <a:rPr lang="en-US" altLang="zh-CN" sz="2400" dirty="0"/>
                        <a:t>C1</a:t>
                      </a:r>
                      <a:endParaRPr lang="zh-CN" altLang="en-US" sz="2400" dirty="0"/>
                    </a:p>
                  </a:txBody>
                  <a:tcPr>
                    <a:solidFill>
                      <a:schemeClr val="accent5">
                        <a:lumMod val="60000"/>
                        <a:lumOff val="40000"/>
                      </a:schemeClr>
                    </a:solidFill>
                  </a:tcPr>
                </a:tc>
                <a:tc>
                  <a:txBody>
                    <a:bodyPr/>
                    <a:lstStyle/>
                    <a:p>
                      <a:pPr algn="ctr"/>
                      <a:r>
                        <a:rPr lang="en-US" altLang="zh-CN" sz="2400" dirty="0"/>
                        <a:t>C2</a:t>
                      </a:r>
                      <a:endParaRPr lang="zh-CN" altLang="en-US" sz="2400" dirty="0"/>
                    </a:p>
                  </a:txBody>
                  <a:tcPr>
                    <a:solidFill>
                      <a:schemeClr val="accent5">
                        <a:lumMod val="60000"/>
                        <a:lumOff val="40000"/>
                      </a:schemeClr>
                    </a:solidFill>
                  </a:tcPr>
                </a:tc>
                <a:tc>
                  <a:txBody>
                    <a:bodyPr/>
                    <a:lstStyle/>
                    <a:p>
                      <a:pPr algn="ctr"/>
                      <a:r>
                        <a:rPr lang="en-US" altLang="zh-CN" sz="2400" dirty="0"/>
                        <a:t>C3</a:t>
                      </a:r>
                      <a:endParaRPr lang="zh-CN" altLang="en-US" sz="2400" dirty="0"/>
                    </a:p>
                  </a:txBody>
                  <a:tcPr>
                    <a:solidFill>
                      <a:schemeClr val="accent5">
                        <a:lumMod val="60000"/>
                        <a:lumOff val="40000"/>
                      </a:schemeClr>
                    </a:solidFill>
                  </a:tcPr>
                </a:tc>
                <a:tc>
                  <a:txBody>
                    <a:bodyPr/>
                    <a:lstStyle/>
                    <a:p>
                      <a:pPr algn="ctr"/>
                      <a:r>
                        <a:rPr lang="en-US" altLang="zh-CN" sz="2400" dirty="0"/>
                        <a:t>C4</a:t>
                      </a:r>
                      <a:endParaRPr lang="zh-CN" altLang="en-US" sz="2400" dirty="0"/>
                    </a:p>
                  </a:txBody>
                  <a:tcPr>
                    <a:solidFill>
                      <a:schemeClr val="accent5">
                        <a:lumMod val="60000"/>
                        <a:lumOff val="40000"/>
                      </a:schemeClr>
                    </a:solidFill>
                  </a:tcPr>
                </a:tc>
                <a:tc>
                  <a:txBody>
                    <a:bodyPr/>
                    <a:lstStyle/>
                    <a:p>
                      <a:pPr algn="ctr"/>
                      <a:r>
                        <a:rPr lang="en-US" altLang="zh-CN" sz="2400" dirty="0"/>
                        <a:t>C5</a:t>
                      </a:r>
                      <a:endParaRPr lang="zh-CN" altLang="en-US" sz="2400" dirty="0"/>
                    </a:p>
                  </a:txBody>
                  <a:tcPr>
                    <a:solidFill>
                      <a:schemeClr val="accent5">
                        <a:lumMod val="60000"/>
                        <a:lumOff val="40000"/>
                      </a:schemeClr>
                    </a:solidFill>
                  </a:tcPr>
                </a:tc>
                <a:extLst>
                  <a:ext uri="{0D108BD9-81ED-4DB2-BD59-A6C34878D82A}">
                    <a16:rowId xmlns:a16="http://schemas.microsoft.com/office/drawing/2014/main" val="2677583726"/>
                  </a:ext>
                </a:extLst>
              </a:tr>
              <a:tr h="457200">
                <a:tc rowSpan="5">
                  <a:txBody>
                    <a:bodyPr/>
                    <a:lstStyle/>
                    <a:p>
                      <a:pPr algn="ctr"/>
                      <a:endParaRPr lang="en-US" altLang="zh-CN" sz="2400" dirty="0"/>
                    </a:p>
                    <a:p>
                      <a:pPr algn="ctr"/>
                      <a:endParaRPr lang="en-US" altLang="zh-CN" sz="2400" dirty="0"/>
                    </a:p>
                    <a:p>
                      <a:pPr algn="ctr"/>
                      <a:r>
                        <a:rPr lang="en-US" altLang="zh-CN" sz="2400" b="1" dirty="0"/>
                        <a:t>Actual Class</a:t>
                      </a:r>
                      <a:endParaRPr lang="zh-CN" altLang="en-US" sz="2400" b="1" dirty="0"/>
                    </a:p>
                  </a:txBody>
                  <a:tcPr>
                    <a:solidFill>
                      <a:srgbClr val="92D050"/>
                    </a:solidFill>
                  </a:tcPr>
                </a:tc>
                <a:tc>
                  <a:txBody>
                    <a:bodyPr/>
                    <a:lstStyle/>
                    <a:p>
                      <a:pPr algn="ctr"/>
                      <a:r>
                        <a:rPr lang="en-US" altLang="zh-CN" sz="2400" dirty="0"/>
                        <a:t>C1</a:t>
                      </a:r>
                      <a:endParaRPr lang="zh-CN" altLang="en-US" sz="2400" dirty="0"/>
                    </a:p>
                  </a:txBody>
                  <a:tcPr>
                    <a:solidFill>
                      <a:srgbClr val="92D050"/>
                    </a:solidFill>
                  </a:tcPr>
                </a:tc>
                <a:tc>
                  <a:txBody>
                    <a:bodyPr/>
                    <a:lstStyle/>
                    <a:p>
                      <a:pPr algn="ctr"/>
                      <a:r>
                        <a:rPr lang="en-US" altLang="zh-CN" sz="2400" dirty="0"/>
                        <a:t>10</a:t>
                      </a:r>
                      <a:endParaRPr lang="zh-CN" altLang="en-US" sz="2400" dirty="0"/>
                    </a:p>
                  </a:txBody>
                  <a:tcPr/>
                </a:tc>
                <a:tc>
                  <a:txBody>
                    <a:bodyPr/>
                    <a:lstStyle/>
                    <a:p>
                      <a:pPr algn="ctr"/>
                      <a:r>
                        <a:rPr lang="en-US" altLang="zh-CN" sz="2400" dirty="0"/>
                        <a:t>2</a:t>
                      </a:r>
                      <a:endParaRPr lang="zh-CN" altLang="en-US" sz="2400" dirty="0"/>
                    </a:p>
                  </a:txBody>
                  <a:tcPr/>
                </a:tc>
                <a:tc>
                  <a:txBody>
                    <a:bodyPr/>
                    <a:lstStyle/>
                    <a:p>
                      <a:pPr algn="ctr"/>
                      <a:r>
                        <a:rPr lang="en-US" altLang="zh-CN" sz="2400" dirty="0"/>
                        <a:t>2</a:t>
                      </a:r>
                      <a:endParaRPr lang="zh-CN" altLang="en-US" sz="2400" dirty="0"/>
                    </a:p>
                  </a:txBody>
                  <a:tcPr/>
                </a:tc>
                <a:tc>
                  <a:txBody>
                    <a:bodyPr/>
                    <a:lstStyle/>
                    <a:p>
                      <a:pPr algn="ctr"/>
                      <a:r>
                        <a:rPr lang="en-US" altLang="zh-CN" sz="2400" dirty="0"/>
                        <a:t>1</a:t>
                      </a:r>
                      <a:endParaRPr lang="zh-CN" altLang="en-US" sz="2400" dirty="0"/>
                    </a:p>
                  </a:txBody>
                  <a:tcPr/>
                </a:tc>
                <a:tc>
                  <a:txBody>
                    <a:bodyPr/>
                    <a:lstStyle/>
                    <a:p>
                      <a:pPr algn="ctr"/>
                      <a:r>
                        <a:rPr lang="en-US" altLang="zh-CN" sz="2400" dirty="0"/>
                        <a:t>0</a:t>
                      </a:r>
                      <a:endParaRPr lang="zh-CN" altLang="en-US" sz="2400" dirty="0"/>
                    </a:p>
                  </a:txBody>
                  <a:tcPr/>
                </a:tc>
                <a:extLst>
                  <a:ext uri="{0D108BD9-81ED-4DB2-BD59-A6C34878D82A}">
                    <a16:rowId xmlns:a16="http://schemas.microsoft.com/office/drawing/2014/main" val="1753324979"/>
                  </a:ext>
                </a:extLst>
              </a:tr>
              <a:tr h="457200">
                <a:tc vMerge="1">
                  <a:txBody>
                    <a:bodyPr/>
                    <a:lstStyle/>
                    <a:p>
                      <a:endParaRPr lang="zh-CN" altLang="en-US" dirty="0"/>
                    </a:p>
                  </a:txBody>
                  <a:tcPr/>
                </a:tc>
                <a:tc>
                  <a:txBody>
                    <a:bodyPr/>
                    <a:lstStyle/>
                    <a:p>
                      <a:pPr algn="ctr"/>
                      <a:r>
                        <a:rPr lang="en-US" altLang="zh-CN" sz="2400" dirty="0"/>
                        <a:t>C2</a:t>
                      </a:r>
                      <a:endParaRPr lang="zh-CN" altLang="en-US" sz="2400" dirty="0"/>
                    </a:p>
                  </a:txBody>
                  <a:tcPr>
                    <a:solidFill>
                      <a:srgbClr val="92D050"/>
                    </a:solidFill>
                  </a:tcPr>
                </a:tc>
                <a:tc>
                  <a:txBody>
                    <a:bodyPr/>
                    <a:lstStyle/>
                    <a:p>
                      <a:pPr algn="ctr"/>
                      <a:r>
                        <a:rPr lang="en-US" altLang="zh-CN" sz="2400" dirty="0"/>
                        <a:t>1</a:t>
                      </a:r>
                      <a:endParaRPr lang="zh-CN" altLang="en-US" sz="2400" dirty="0"/>
                    </a:p>
                  </a:txBody>
                  <a:tcPr/>
                </a:tc>
                <a:tc>
                  <a:txBody>
                    <a:bodyPr/>
                    <a:lstStyle/>
                    <a:p>
                      <a:pPr algn="ctr"/>
                      <a:r>
                        <a:rPr lang="en-US" altLang="zh-CN" sz="2400" dirty="0"/>
                        <a:t>8</a:t>
                      </a:r>
                      <a:endParaRPr lang="zh-CN" altLang="en-US" sz="2400" dirty="0"/>
                    </a:p>
                  </a:txBody>
                  <a:tcPr/>
                </a:tc>
                <a:tc>
                  <a:txBody>
                    <a:bodyPr/>
                    <a:lstStyle/>
                    <a:p>
                      <a:pPr algn="ctr"/>
                      <a:r>
                        <a:rPr lang="en-US" altLang="zh-CN" sz="2400" dirty="0"/>
                        <a:t>3</a:t>
                      </a:r>
                      <a:endParaRPr lang="zh-CN" altLang="en-US" sz="2400" dirty="0"/>
                    </a:p>
                  </a:txBody>
                  <a:tcPr/>
                </a:tc>
                <a:tc>
                  <a:txBody>
                    <a:bodyPr/>
                    <a:lstStyle/>
                    <a:p>
                      <a:pPr algn="ctr"/>
                      <a:r>
                        <a:rPr lang="en-US" altLang="zh-CN" sz="2400" dirty="0"/>
                        <a:t>0</a:t>
                      </a:r>
                      <a:endParaRPr lang="zh-CN" altLang="en-US" sz="2400" dirty="0"/>
                    </a:p>
                  </a:txBody>
                  <a:tcPr/>
                </a:tc>
                <a:tc>
                  <a:txBody>
                    <a:bodyPr/>
                    <a:lstStyle/>
                    <a:p>
                      <a:pPr algn="ctr"/>
                      <a:r>
                        <a:rPr lang="en-US" altLang="zh-CN" sz="2400" dirty="0"/>
                        <a:t>1</a:t>
                      </a:r>
                      <a:endParaRPr lang="zh-CN" altLang="en-US" sz="2400" dirty="0"/>
                    </a:p>
                  </a:txBody>
                  <a:tcPr/>
                </a:tc>
                <a:extLst>
                  <a:ext uri="{0D108BD9-81ED-4DB2-BD59-A6C34878D82A}">
                    <a16:rowId xmlns:a16="http://schemas.microsoft.com/office/drawing/2014/main" val="4258907064"/>
                  </a:ext>
                </a:extLst>
              </a:tr>
              <a:tr h="457200">
                <a:tc vMerge="1">
                  <a:txBody>
                    <a:bodyPr/>
                    <a:lstStyle/>
                    <a:p>
                      <a:endParaRPr lang="zh-CN" altLang="en-US" dirty="0"/>
                    </a:p>
                  </a:txBody>
                  <a:tcPr/>
                </a:tc>
                <a:tc>
                  <a:txBody>
                    <a:bodyPr/>
                    <a:lstStyle/>
                    <a:p>
                      <a:pPr algn="ctr"/>
                      <a:r>
                        <a:rPr lang="en-US" altLang="zh-CN" sz="2400" dirty="0"/>
                        <a:t>C3</a:t>
                      </a:r>
                      <a:endParaRPr lang="zh-CN" altLang="en-US" sz="2400" dirty="0"/>
                    </a:p>
                  </a:txBody>
                  <a:tcPr>
                    <a:solidFill>
                      <a:srgbClr val="92D050"/>
                    </a:solidFill>
                  </a:tcPr>
                </a:tc>
                <a:tc>
                  <a:txBody>
                    <a:bodyPr/>
                    <a:lstStyle/>
                    <a:p>
                      <a:pPr algn="ctr"/>
                      <a:r>
                        <a:rPr lang="en-US" altLang="zh-CN" sz="2400" dirty="0"/>
                        <a:t>2</a:t>
                      </a:r>
                      <a:endParaRPr lang="zh-CN" altLang="en-US" sz="2400" dirty="0"/>
                    </a:p>
                  </a:txBody>
                  <a:tcPr/>
                </a:tc>
                <a:tc>
                  <a:txBody>
                    <a:bodyPr/>
                    <a:lstStyle/>
                    <a:p>
                      <a:pPr algn="ctr"/>
                      <a:r>
                        <a:rPr lang="en-US" altLang="zh-CN" sz="2400" dirty="0"/>
                        <a:t>2</a:t>
                      </a:r>
                      <a:endParaRPr lang="zh-CN" altLang="en-US" sz="2400" dirty="0"/>
                    </a:p>
                  </a:txBody>
                  <a:tcPr/>
                </a:tc>
                <a:tc>
                  <a:txBody>
                    <a:bodyPr/>
                    <a:lstStyle/>
                    <a:p>
                      <a:pPr algn="ctr"/>
                      <a:r>
                        <a:rPr lang="en-US" altLang="zh-CN" sz="2400" dirty="0"/>
                        <a:t>12</a:t>
                      </a:r>
                      <a:endParaRPr lang="zh-CN" altLang="en-US" sz="2400" dirty="0"/>
                    </a:p>
                  </a:txBody>
                  <a:tcPr/>
                </a:tc>
                <a:tc>
                  <a:txBody>
                    <a:bodyPr/>
                    <a:lstStyle/>
                    <a:p>
                      <a:pPr algn="ctr"/>
                      <a:r>
                        <a:rPr lang="en-US" altLang="zh-CN" sz="2400" dirty="0"/>
                        <a:t>1</a:t>
                      </a:r>
                      <a:endParaRPr lang="zh-CN" altLang="en-US" sz="2400" dirty="0"/>
                    </a:p>
                  </a:txBody>
                  <a:tcPr/>
                </a:tc>
                <a:tc>
                  <a:txBody>
                    <a:bodyPr/>
                    <a:lstStyle/>
                    <a:p>
                      <a:pPr algn="ctr"/>
                      <a:r>
                        <a:rPr lang="en-US" altLang="zh-CN" sz="2400" dirty="0"/>
                        <a:t>0</a:t>
                      </a:r>
                      <a:endParaRPr lang="zh-CN" altLang="en-US" sz="2400" dirty="0"/>
                    </a:p>
                  </a:txBody>
                  <a:tcPr/>
                </a:tc>
                <a:extLst>
                  <a:ext uri="{0D108BD9-81ED-4DB2-BD59-A6C34878D82A}">
                    <a16:rowId xmlns:a16="http://schemas.microsoft.com/office/drawing/2014/main" val="2139720590"/>
                  </a:ext>
                </a:extLst>
              </a:tr>
              <a:tr h="457200">
                <a:tc vMerge="1">
                  <a:txBody>
                    <a:bodyPr/>
                    <a:lstStyle/>
                    <a:p>
                      <a:endParaRPr lang="zh-CN" altLang="en-US" dirty="0"/>
                    </a:p>
                  </a:txBody>
                  <a:tcPr/>
                </a:tc>
                <a:tc>
                  <a:txBody>
                    <a:bodyPr/>
                    <a:lstStyle/>
                    <a:p>
                      <a:pPr algn="ctr"/>
                      <a:r>
                        <a:rPr lang="en-US" altLang="zh-CN" sz="2400" dirty="0"/>
                        <a:t>C4</a:t>
                      </a:r>
                      <a:endParaRPr lang="zh-CN" altLang="en-US" sz="2400" dirty="0"/>
                    </a:p>
                  </a:txBody>
                  <a:tcPr>
                    <a:solidFill>
                      <a:srgbClr val="92D050"/>
                    </a:solidFill>
                  </a:tcPr>
                </a:tc>
                <a:tc>
                  <a:txBody>
                    <a:bodyPr/>
                    <a:lstStyle/>
                    <a:p>
                      <a:pPr algn="ctr"/>
                      <a:r>
                        <a:rPr lang="en-US" altLang="zh-CN" sz="2400" dirty="0"/>
                        <a:t>1</a:t>
                      </a:r>
                      <a:endParaRPr lang="zh-CN" altLang="en-US" sz="2400" dirty="0"/>
                    </a:p>
                  </a:txBody>
                  <a:tcPr/>
                </a:tc>
                <a:tc>
                  <a:txBody>
                    <a:bodyPr/>
                    <a:lstStyle/>
                    <a:p>
                      <a:pPr algn="ctr"/>
                      <a:r>
                        <a:rPr lang="en-US" altLang="zh-CN" sz="2400" dirty="0"/>
                        <a:t>1</a:t>
                      </a:r>
                      <a:endParaRPr lang="zh-CN" altLang="en-US" sz="2400" dirty="0"/>
                    </a:p>
                  </a:txBody>
                  <a:tcPr/>
                </a:tc>
                <a:tc>
                  <a:txBody>
                    <a:bodyPr/>
                    <a:lstStyle/>
                    <a:p>
                      <a:pPr algn="ctr"/>
                      <a:r>
                        <a:rPr lang="en-US" altLang="zh-CN" sz="2400" dirty="0"/>
                        <a:t>1</a:t>
                      </a:r>
                      <a:endParaRPr lang="zh-CN" altLang="en-US" sz="2400" dirty="0"/>
                    </a:p>
                  </a:txBody>
                  <a:tcPr/>
                </a:tc>
                <a:tc>
                  <a:txBody>
                    <a:bodyPr/>
                    <a:lstStyle/>
                    <a:p>
                      <a:pPr algn="ctr"/>
                      <a:r>
                        <a:rPr lang="en-US" altLang="zh-CN" sz="2400" dirty="0"/>
                        <a:t>15</a:t>
                      </a:r>
                      <a:endParaRPr lang="zh-CN" altLang="en-US" sz="2400" dirty="0"/>
                    </a:p>
                  </a:txBody>
                  <a:tcPr/>
                </a:tc>
                <a:tc>
                  <a:txBody>
                    <a:bodyPr/>
                    <a:lstStyle/>
                    <a:p>
                      <a:pPr algn="ctr"/>
                      <a:r>
                        <a:rPr lang="en-US" altLang="zh-CN" sz="2400" dirty="0"/>
                        <a:t>0</a:t>
                      </a:r>
                      <a:endParaRPr lang="zh-CN" altLang="en-US" sz="2400" dirty="0"/>
                    </a:p>
                  </a:txBody>
                  <a:tcPr/>
                </a:tc>
                <a:extLst>
                  <a:ext uri="{0D108BD9-81ED-4DB2-BD59-A6C34878D82A}">
                    <a16:rowId xmlns:a16="http://schemas.microsoft.com/office/drawing/2014/main" val="957341900"/>
                  </a:ext>
                </a:extLst>
              </a:tr>
              <a:tr h="457200">
                <a:tc vMerge="1">
                  <a:txBody>
                    <a:bodyPr/>
                    <a:lstStyle/>
                    <a:p>
                      <a:endParaRPr lang="zh-CN" altLang="en-US" dirty="0"/>
                    </a:p>
                  </a:txBody>
                  <a:tcPr/>
                </a:tc>
                <a:tc>
                  <a:txBody>
                    <a:bodyPr/>
                    <a:lstStyle/>
                    <a:p>
                      <a:pPr algn="ctr"/>
                      <a:r>
                        <a:rPr lang="en-US" altLang="zh-CN" sz="2400" dirty="0"/>
                        <a:t>C5</a:t>
                      </a:r>
                      <a:endParaRPr lang="zh-CN" altLang="en-US" sz="2400" dirty="0"/>
                    </a:p>
                  </a:txBody>
                  <a:tcPr>
                    <a:solidFill>
                      <a:srgbClr val="92D050"/>
                    </a:solidFill>
                  </a:tcPr>
                </a:tc>
                <a:tc>
                  <a:txBody>
                    <a:bodyPr/>
                    <a:lstStyle/>
                    <a:p>
                      <a:pPr algn="ctr"/>
                      <a:r>
                        <a:rPr lang="en-US" altLang="zh-CN" sz="2400" dirty="0"/>
                        <a:t>1</a:t>
                      </a:r>
                      <a:endParaRPr lang="zh-CN" altLang="en-US" sz="2400" dirty="0"/>
                    </a:p>
                  </a:txBody>
                  <a:tcPr/>
                </a:tc>
                <a:tc>
                  <a:txBody>
                    <a:bodyPr/>
                    <a:lstStyle/>
                    <a:p>
                      <a:pPr algn="ctr"/>
                      <a:r>
                        <a:rPr lang="en-US" altLang="zh-CN" sz="2400" dirty="0"/>
                        <a:t>0</a:t>
                      </a:r>
                      <a:endParaRPr lang="zh-CN" altLang="en-US" sz="2400" dirty="0"/>
                    </a:p>
                  </a:txBody>
                  <a:tcPr/>
                </a:tc>
                <a:tc>
                  <a:txBody>
                    <a:bodyPr/>
                    <a:lstStyle/>
                    <a:p>
                      <a:pPr algn="ctr"/>
                      <a:r>
                        <a:rPr lang="en-US" altLang="zh-CN" sz="2400" dirty="0"/>
                        <a:t>2</a:t>
                      </a:r>
                      <a:endParaRPr lang="zh-CN" altLang="en-US" sz="2400" dirty="0"/>
                    </a:p>
                  </a:txBody>
                  <a:tcPr/>
                </a:tc>
                <a:tc>
                  <a:txBody>
                    <a:bodyPr/>
                    <a:lstStyle/>
                    <a:p>
                      <a:pPr algn="ctr"/>
                      <a:r>
                        <a:rPr lang="en-US" altLang="zh-CN" sz="2400" dirty="0"/>
                        <a:t>1</a:t>
                      </a:r>
                      <a:endParaRPr lang="zh-CN" altLang="en-US" sz="2400" dirty="0"/>
                    </a:p>
                  </a:txBody>
                  <a:tcPr/>
                </a:tc>
                <a:tc>
                  <a:txBody>
                    <a:bodyPr/>
                    <a:lstStyle/>
                    <a:p>
                      <a:pPr algn="ctr"/>
                      <a:r>
                        <a:rPr lang="en-US" altLang="zh-CN" sz="2400" dirty="0"/>
                        <a:t>11</a:t>
                      </a:r>
                      <a:endParaRPr lang="zh-CN" altLang="en-US" sz="2400" dirty="0"/>
                    </a:p>
                  </a:txBody>
                  <a:tcPr/>
                </a:tc>
                <a:extLst>
                  <a:ext uri="{0D108BD9-81ED-4DB2-BD59-A6C34878D82A}">
                    <a16:rowId xmlns:a16="http://schemas.microsoft.com/office/drawing/2014/main" val="1615063303"/>
                  </a:ext>
                </a:extLst>
              </a:tr>
            </a:tbl>
          </a:graphicData>
        </a:graphic>
      </p:graphicFrame>
      <p:sp>
        <p:nvSpPr>
          <p:cNvPr id="4" name="矩形 3">
            <a:extLst>
              <a:ext uri="{FF2B5EF4-FFF2-40B4-BE49-F238E27FC236}">
                <a16:creationId xmlns:a16="http://schemas.microsoft.com/office/drawing/2014/main" id="{BEDF99D9-EF09-40AA-88FE-3943B8F20AA9}"/>
              </a:ext>
            </a:extLst>
          </p:cNvPr>
          <p:cNvSpPr/>
          <p:nvPr/>
        </p:nvSpPr>
        <p:spPr>
          <a:xfrm>
            <a:off x="2819400" y="3581400"/>
            <a:ext cx="1143000" cy="45720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a:extLst>
              <a:ext uri="{FF2B5EF4-FFF2-40B4-BE49-F238E27FC236}">
                <a16:creationId xmlns:a16="http://schemas.microsoft.com/office/drawing/2014/main" id="{568023E4-84D0-4659-8F8F-F189A5C8144B}"/>
              </a:ext>
            </a:extLst>
          </p:cNvPr>
          <p:cNvSpPr/>
          <p:nvPr/>
        </p:nvSpPr>
        <p:spPr>
          <a:xfrm>
            <a:off x="3962399" y="4038600"/>
            <a:ext cx="1203753" cy="45720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7CC6C044-8D0B-410F-9584-AD20C78F9B03}"/>
              </a:ext>
            </a:extLst>
          </p:cNvPr>
          <p:cNvSpPr/>
          <p:nvPr/>
        </p:nvSpPr>
        <p:spPr>
          <a:xfrm>
            <a:off x="5166152" y="4490720"/>
            <a:ext cx="1168744" cy="45720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a:extLst>
              <a:ext uri="{FF2B5EF4-FFF2-40B4-BE49-F238E27FC236}">
                <a16:creationId xmlns:a16="http://schemas.microsoft.com/office/drawing/2014/main" id="{C5FB81C0-4EC6-4184-95F0-465D29C5448B}"/>
              </a:ext>
            </a:extLst>
          </p:cNvPr>
          <p:cNvSpPr/>
          <p:nvPr/>
        </p:nvSpPr>
        <p:spPr>
          <a:xfrm>
            <a:off x="6334897" y="4953000"/>
            <a:ext cx="1143000" cy="45720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16E3B4C9-3912-4255-931A-05D936030C33}"/>
              </a:ext>
            </a:extLst>
          </p:cNvPr>
          <p:cNvSpPr/>
          <p:nvPr/>
        </p:nvSpPr>
        <p:spPr>
          <a:xfrm>
            <a:off x="7477897" y="5410200"/>
            <a:ext cx="1143000" cy="45720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1358281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圆角 7">
            <a:extLst>
              <a:ext uri="{FF2B5EF4-FFF2-40B4-BE49-F238E27FC236}">
                <a16:creationId xmlns:a16="http://schemas.microsoft.com/office/drawing/2014/main" id="{2846C625-A52D-45F5-A1BC-1C1CA91D46A5}"/>
              </a:ext>
            </a:extLst>
          </p:cNvPr>
          <p:cNvSpPr/>
          <p:nvPr/>
        </p:nvSpPr>
        <p:spPr>
          <a:xfrm>
            <a:off x="304800" y="914400"/>
            <a:ext cx="8456141" cy="1917715"/>
          </a:xfrm>
          <a:prstGeom prst="roundRect">
            <a:avLst>
              <a:gd name="adj" fmla="val 3573"/>
            </a:avLst>
          </a:prstGeom>
          <a:solidFill>
            <a:srgbClr val="FFFBD6"/>
          </a:solidFill>
          <a:ln>
            <a:solidFill>
              <a:srgbClr val="FFFBD6"/>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800" dirty="0">
              <a:solidFill>
                <a:schemeClr val="tx1"/>
              </a:solidFill>
            </a:endParaRPr>
          </a:p>
        </p:txBody>
      </p:sp>
      <p:sp>
        <p:nvSpPr>
          <p:cNvPr id="5" name="文本框 4"/>
          <p:cNvSpPr txBox="1"/>
          <p:nvPr/>
        </p:nvSpPr>
        <p:spPr>
          <a:xfrm>
            <a:off x="228600" y="76200"/>
            <a:ext cx="3441135" cy="754694"/>
          </a:xfrm>
          <a:prstGeom prst="rect">
            <a:avLst/>
          </a:prstGeom>
          <a:noFill/>
        </p:spPr>
        <p:txBody>
          <a:bodyPr wrap="none" rtlCol="0">
            <a:spAutoFit/>
          </a:bodyPr>
          <a:lstStyle/>
          <a:p>
            <a:pPr>
              <a:lnSpc>
                <a:spcPct val="150000"/>
              </a:lnSpc>
            </a:pPr>
            <a:r>
              <a:rPr lang="en-US" altLang="zh-CN" sz="3200" b="1" dirty="0"/>
              <a:t>Evaluation Metrics</a:t>
            </a:r>
            <a:endParaRPr lang="en-US" sz="3200" b="1" dirty="0"/>
          </a:p>
        </p:txBody>
      </p:sp>
      <p:sp>
        <p:nvSpPr>
          <p:cNvPr id="4" name="文本框 3"/>
          <p:cNvSpPr txBox="1"/>
          <p:nvPr/>
        </p:nvSpPr>
        <p:spPr>
          <a:xfrm>
            <a:off x="228600" y="914400"/>
            <a:ext cx="7848600" cy="1938992"/>
          </a:xfrm>
          <a:prstGeom prst="rect">
            <a:avLst/>
          </a:prstGeom>
          <a:noFill/>
        </p:spPr>
        <p:txBody>
          <a:bodyPr wrap="square" rtlCol="0">
            <a:spAutoFit/>
          </a:bodyPr>
          <a:lstStyle/>
          <a:p>
            <a:pPr marL="342900" indent="-342900" algn="just">
              <a:buFont typeface="Arial" panose="020B0604020202020204" pitchFamily="34" charset="0"/>
              <a:buChar char="•"/>
            </a:pPr>
            <a:r>
              <a:rPr lang="en-US" altLang="zh-CN" sz="2400" dirty="0"/>
              <a:t>Confusion Matrix (</a:t>
            </a:r>
            <a:r>
              <a:rPr lang="zh-CN" altLang="en-US" sz="2400" dirty="0"/>
              <a:t>混淆矩阵</a:t>
            </a:r>
            <a:r>
              <a:rPr lang="en-US" altLang="zh-CN" sz="2400" dirty="0"/>
              <a:t>)</a:t>
            </a:r>
          </a:p>
          <a:p>
            <a:pPr marL="800100" lvl="1" indent="-342900" algn="just">
              <a:buFont typeface="Arial" panose="020B0604020202020204" pitchFamily="34" charset="0"/>
              <a:buChar char="•"/>
            </a:pPr>
            <a:r>
              <a:rPr lang="en-US" altLang="zh-CN" sz="2400" dirty="0"/>
              <a:t>TP: Number of True Positives</a:t>
            </a:r>
          </a:p>
          <a:p>
            <a:pPr marL="800100" lvl="1" indent="-342900" algn="just">
              <a:buFont typeface="Arial" panose="020B0604020202020204" pitchFamily="34" charset="0"/>
              <a:buChar char="•"/>
            </a:pPr>
            <a:r>
              <a:rPr lang="en-US" altLang="zh-CN" sz="2400" dirty="0"/>
              <a:t>FP: Number of False Positives</a:t>
            </a:r>
          </a:p>
          <a:p>
            <a:pPr marL="800100" lvl="1" indent="-342900" algn="just">
              <a:buFont typeface="Arial" panose="020B0604020202020204" pitchFamily="34" charset="0"/>
              <a:buChar char="•"/>
            </a:pPr>
            <a:r>
              <a:rPr lang="en-US" altLang="zh-CN" sz="2400" dirty="0"/>
              <a:t>TN: Number of True Negatives</a:t>
            </a:r>
          </a:p>
          <a:p>
            <a:pPr marL="800100" lvl="1" indent="-342900" algn="just">
              <a:buFont typeface="Arial" panose="020B0604020202020204" pitchFamily="34" charset="0"/>
              <a:buChar char="•"/>
            </a:pPr>
            <a:r>
              <a:rPr lang="en-US" altLang="zh-CN" sz="2400" dirty="0"/>
              <a:t>FN: Number of False Negatives</a:t>
            </a:r>
          </a:p>
        </p:txBody>
      </p:sp>
      <p:pic>
        <p:nvPicPr>
          <p:cNvPr id="9" name="图片 8" descr="屏幕剪辑"/>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8200" y="2936488"/>
            <a:ext cx="7017754" cy="2101639"/>
          </a:xfrm>
          <a:prstGeom prst="rect">
            <a:avLst/>
          </a:prstGeom>
        </p:spPr>
      </p:pic>
      <p:sp>
        <p:nvSpPr>
          <p:cNvPr id="11" name="矩形 10"/>
          <p:cNvSpPr/>
          <p:nvPr/>
        </p:nvSpPr>
        <p:spPr>
          <a:xfrm>
            <a:off x="3539359" y="3962400"/>
            <a:ext cx="421910" cy="369332"/>
          </a:xfrm>
          <a:prstGeom prst="rect">
            <a:avLst/>
          </a:prstGeom>
        </p:spPr>
        <p:txBody>
          <a:bodyPr wrap="none">
            <a:spAutoFit/>
          </a:bodyPr>
          <a:lstStyle/>
          <a:p>
            <a:r>
              <a:rPr lang="en-US" altLang="zh-CN" b="1" dirty="0">
                <a:solidFill>
                  <a:srgbClr val="FF0000"/>
                </a:solidFill>
              </a:rPr>
              <a:t>TP</a:t>
            </a:r>
            <a:endParaRPr lang="zh-CN" altLang="en-US" b="1" dirty="0">
              <a:solidFill>
                <a:srgbClr val="FF0000"/>
              </a:solidFill>
            </a:endParaRPr>
          </a:p>
        </p:txBody>
      </p:sp>
      <p:sp>
        <p:nvSpPr>
          <p:cNvPr id="12" name="矩形 11"/>
          <p:cNvSpPr/>
          <p:nvPr/>
        </p:nvSpPr>
        <p:spPr>
          <a:xfrm>
            <a:off x="3543366" y="4648200"/>
            <a:ext cx="413896" cy="369332"/>
          </a:xfrm>
          <a:prstGeom prst="rect">
            <a:avLst/>
          </a:prstGeom>
        </p:spPr>
        <p:txBody>
          <a:bodyPr wrap="none">
            <a:spAutoFit/>
          </a:bodyPr>
          <a:lstStyle/>
          <a:p>
            <a:r>
              <a:rPr lang="en-US" altLang="zh-CN" b="1" dirty="0">
                <a:solidFill>
                  <a:srgbClr val="FF0000"/>
                </a:solidFill>
              </a:rPr>
              <a:t>FP</a:t>
            </a:r>
            <a:endParaRPr lang="zh-CN" altLang="en-US" b="1" dirty="0">
              <a:solidFill>
                <a:srgbClr val="FF0000"/>
              </a:solidFill>
            </a:endParaRPr>
          </a:p>
        </p:txBody>
      </p:sp>
      <p:sp>
        <p:nvSpPr>
          <p:cNvPr id="13" name="矩形 12"/>
          <p:cNvSpPr/>
          <p:nvPr/>
        </p:nvSpPr>
        <p:spPr>
          <a:xfrm>
            <a:off x="6019800" y="3962400"/>
            <a:ext cx="442750" cy="369332"/>
          </a:xfrm>
          <a:prstGeom prst="rect">
            <a:avLst/>
          </a:prstGeom>
        </p:spPr>
        <p:txBody>
          <a:bodyPr wrap="none">
            <a:spAutoFit/>
          </a:bodyPr>
          <a:lstStyle/>
          <a:p>
            <a:r>
              <a:rPr lang="en-US" altLang="zh-CN" b="1" dirty="0">
                <a:solidFill>
                  <a:srgbClr val="FF0000"/>
                </a:solidFill>
              </a:rPr>
              <a:t>FN</a:t>
            </a:r>
            <a:endParaRPr lang="zh-CN" altLang="en-US" b="1" dirty="0">
              <a:solidFill>
                <a:srgbClr val="FF0000"/>
              </a:solidFill>
            </a:endParaRPr>
          </a:p>
        </p:txBody>
      </p:sp>
      <p:sp>
        <p:nvSpPr>
          <p:cNvPr id="14" name="矩形 13"/>
          <p:cNvSpPr/>
          <p:nvPr/>
        </p:nvSpPr>
        <p:spPr>
          <a:xfrm>
            <a:off x="6019800" y="4648200"/>
            <a:ext cx="450764" cy="369332"/>
          </a:xfrm>
          <a:prstGeom prst="rect">
            <a:avLst/>
          </a:prstGeom>
        </p:spPr>
        <p:txBody>
          <a:bodyPr wrap="none">
            <a:spAutoFit/>
          </a:bodyPr>
          <a:lstStyle/>
          <a:p>
            <a:r>
              <a:rPr lang="en-US" altLang="zh-CN" b="1" dirty="0">
                <a:solidFill>
                  <a:srgbClr val="FF0000"/>
                </a:solidFill>
              </a:rPr>
              <a:t>TN</a:t>
            </a:r>
            <a:endParaRPr lang="zh-CN" altLang="en-US" b="1" dirty="0">
              <a:solidFill>
                <a:srgbClr val="FF0000"/>
              </a:solidFill>
            </a:endParaRPr>
          </a:p>
        </p:txBody>
      </p:sp>
      <p:grpSp>
        <p:nvGrpSpPr>
          <p:cNvPr id="18" name="组合 17">
            <a:extLst>
              <a:ext uri="{FF2B5EF4-FFF2-40B4-BE49-F238E27FC236}">
                <a16:creationId xmlns:a16="http://schemas.microsoft.com/office/drawing/2014/main" id="{46552E3E-D30B-408E-BC5A-055EF65536F9}"/>
              </a:ext>
            </a:extLst>
          </p:cNvPr>
          <p:cNvGrpSpPr/>
          <p:nvPr/>
        </p:nvGrpSpPr>
        <p:grpSpPr>
          <a:xfrm>
            <a:off x="228600" y="5278395"/>
            <a:ext cx="9067800" cy="1368862"/>
            <a:chOff x="228600" y="5278395"/>
            <a:chExt cx="9067800" cy="1368862"/>
          </a:xfrm>
        </p:grpSpPr>
        <p:sp>
          <p:nvSpPr>
            <p:cNvPr id="17" name="矩形: 圆角 7">
              <a:extLst>
                <a:ext uri="{FF2B5EF4-FFF2-40B4-BE49-F238E27FC236}">
                  <a16:creationId xmlns:a16="http://schemas.microsoft.com/office/drawing/2014/main" id="{F411DCB6-B07B-4D32-9184-639C6793C8A4}"/>
                </a:ext>
              </a:extLst>
            </p:cNvPr>
            <p:cNvSpPr/>
            <p:nvPr/>
          </p:nvSpPr>
          <p:spPr>
            <a:xfrm>
              <a:off x="304800" y="5278395"/>
              <a:ext cx="8647671" cy="1351005"/>
            </a:xfrm>
            <a:prstGeom prst="roundRect">
              <a:avLst>
                <a:gd name="adj" fmla="val 3573"/>
              </a:avLst>
            </a:prstGeom>
            <a:solidFill>
              <a:srgbClr val="E6F5F0"/>
            </a:solidFill>
            <a:ln>
              <a:solidFill>
                <a:srgbClr val="FFFBD6"/>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800" dirty="0">
                <a:solidFill>
                  <a:schemeClr val="tx1"/>
                </a:solidFill>
              </a:endParaRPr>
            </a:p>
          </p:txBody>
        </p:sp>
        <p:sp>
          <p:nvSpPr>
            <p:cNvPr id="2" name="矩形 1">
              <a:extLst>
                <a:ext uri="{FF2B5EF4-FFF2-40B4-BE49-F238E27FC236}">
                  <a16:creationId xmlns:a16="http://schemas.microsoft.com/office/drawing/2014/main" id="{C171B19B-0201-475D-952F-39D950814B77}"/>
                </a:ext>
              </a:extLst>
            </p:cNvPr>
            <p:cNvSpPr/>
            <p:nvPr/>
          </p:nvSpPr>
          <p:spPr>
            <a:xfrm>
              <a:off x="233680" y="5816260"/>
              <a:ext cx="8382000" cy="830997"/>
            </a:xfrm>
            <a:prstGeom prst="rect">
              <a:avLst/>
            </a:prstGeom>
          </p:spPr>
          <p:txBody>
            <a:bodyPr wrap="square">
              <a:spAutoFit/>
            </a:bodyPr>
            <a:lstStyle/>
            <a:p>
              <a:pPr marL="342900" indent="-342900">
                <a:buFont typeface="Arial" panose="020B0604020202020204" pitchFamily="34" charset="0"/>
                <a:buChar char="•"/>
              </a:pPr>
              <a:r>
                <a:rPr lang="en-US" altLang="zh-CN" sz="2400" dirty="0"/>
                <a:t>Accuracy</a:t>
              </a:r>
            </a:p>
            <a:p>
              <a:pPr marL="800100" lvl="1" indent="-342900">
                <a:buFont typeface="Arial" panose="020B0604020202020204" pitchFamily="34" charset="0"/>
                <a:buChar char="•"/>
              </a:pPr>
              <a:r>
                <a:rPr lang="en-US" altLang="zh-CN" sz="2400" dirty="0"/>
                <a:t>(TP+TN)/(TP+FP+TN+FN)</a:t>
              </a:r>
              <a:endParaRPr lang="zh-CN" altLang="en-US" sz="2400" dirty="0"/>
            </a:p>
          </p:txBody>
        </p:sp>
        <p:sp>
          <p:nvSpPr>
            <p:cNvPr id="10" name="矩形 9">
              <a:extLst>
                <a:ext uri="{FF2B5EF4-FFF2-40B4-BE49-F238E27FC236}">
                  <a16:creationId xmlns:a16="http://schemas.microsoft.com/office/drawing/2014/main" id="{A9A4A8BD-FB89-4B15-A129-16D577C5260B}"/>
                </a:ext>
              </a:extLst>
            </p:cNvPr>
            <p:cNvSpPr/>
            <p:nvPr/>
          </p:nvSpPr>
          <p:spPr>
            <a:xfrm>
              <a:off x="228600" y="5354595"/>
              <a:ext cx="9067800" cy="461665"/>
            </a:xfrm>
            <a:prstGeom prst="rect">
              <a:avLst/>
            </a:prstGeom>
          </p:spPr>
          <p:txBody>
            <a:bodyPr wrap="square">
              <a:spAutoFit/>
            </a:bodyPr>
            <a:lstStyle/>
            <a:p>
              <a:pPr marL="342900" indent="-342900" algn="just">
                <a:buFont typeface="Arial" panose="020B0604020202020204" pitchFamily="34" charset="0"/>
                <a:buChar char="•"/>
              </a:pPr>
              <a:r>
                <a:rPr lang="en-US" altLang="zh-CN" sz="2400" dirty="0"/>
                <a:t>Natural performance measure for classification problems: accuracy</a:t>
              </a:r>
            </a:p>
          </p:txBody>
        </p:sp>
      </p:grpSp>
    </p:spTree>
    <p:extLst>
      <p:ext uri="{BB962C8B-B14F-4D97-AF65-F5344CB8AC3E}">
        <p14:creationId xmlns:p14="http://schemas.microsoft.com/office/powerpoint/2010/main" val="253069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圆角 7">
            <a:extLst>
              <a:ext uri="{FF2B5EF4-FFF2-40B4-BE49-F238E27FC236}">
                <a16:creationId xmlns:a16="http://schemas.microsoft.com/office/drawing/2014/main" id="{649BD0A5-E306-445F-A823-57E4A3163188}"/>
              </a:ext>
            </a:extLst>
          </p:cNvPr>
          <p:cNvSpPr/>
          <p:nvPr/>
        </p:nvSpPr>
        <p:spPr>
          <a:xfrm>
            <a:off x="274320" y="3096134"/>
            <a:ext cx="8456141" cy="2877946"/>
          </a:xfrm>
          <a:prstGeom prst="roundRect">
            <a:avLst>
              <a:gd name="adj" fmla="val 3573"/>
            </a:avLst>
          </a:prstGeom>
          <a:solidFill>
            <a:srgbClr val="E6F5F0"/>
          </a:solidFill>
          <a:ln>
            <a:solidFill>
              <a:srgbClr val="FFFBD6"/>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800" dirty="0">
              <a:solidFill>
                <a:schemeClr val="tx1"/>
              </a:solidFill>
            </a:endParaRPr>
          </a:p>
        </p:txBody>
      </p:sp>
      <p:sp>
        <p:nvSpPr>
          <p:cNvPr id="7" name="矩形: 圆角 7">
            <a:extLst>
              <a:ext uri="{FF2B5EF4-FFF2-40B4-BE49-F238E27FC236}">
                <a16:creationId xmlns:a16="http://schemas.microsoft.com/office/drawing/2014/main" id="{59D2A6AC-9746-4334-94CD-5038943F7284}"/>
              </a:ext>
            </a:extLst>
          </p:cNvPr>
          <p:cNvSpPr/>
          <p:nvPr/>
        </p:nvSpPr>
        <p:spPr>
          <a:xfrm>
            <a:off x="304800" y="883920"/>
            <a:ext cx="8456141" cy="1948195"/>
          </a:xfrm>
          <a:prstGeom prst="roundRect">
            <a:avLst>
              <a:gd name="adj" fmla="val 3573"/>
            </a:avLst>
          </a:prstGeom>
          <a:solidFill>
            <a:srgbClr val="FFFBD6"/>
          </a:solidFill>
          <a:ln>
            <a:solidFill>
              <a:srgbClr val="FFFBD6"/>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800" dirty="0">
              <a:solidFill>
                <a:schemeClr val="tx1"/>
              </a:solidFill>
            </a:endParaRPr>
          </a:p>
        </p:txBody>
      </p:sp>
      <p:sp>
        <p:nvSpPr>
          <p:cNvPr id="4" name="灯片编号占位符 3"/>
          <p:cNvSpPr>
            <a:spLocks noGrp="1"/>
          </p:cNvSpPr>
          <p:nvPr>
            <p:ph type="sldNum" sz="quarter" idx="12"/>
          </p:nvPr>
        </p:nvSpPr>
        <p:spPr/>
        <p:txBody>
          <a:bodyPr/>
          <a:lstStyle/>
          <a:p>
            <a:fld id="{B6F15528-21DE-4FAA-801E-634DDDAF4B2B}" type="slidenum">
              <a:rPr lang="en-US" smtClean="0"/>
              <a:pPr/>
              <a:t>20</a:t>
            </a:fld>
            <a:endParaRPr lang="en-US" dirty="0"/>
          </a:p>
        </p:txBody>
      </p:sp>
      <p:sp>
        <p:nvSpPr>
          <p:cNvPr id="3" name="文本框 2"/>
          <p:cNvSpPr txBox="1"/>
          <p:nvPr/>
        </p:nvSpPr>
        <p:spPr>
          <a:xfrm>
            <a:off x="228600" y="76200"/>
            <a:ext cx="3966920" cy="754694"/>
          </a:xfrm>
          <a:prstGeom prst="rect">
            <a:avLst/>
          </a:prstGeom>
          <a:noFill/>
        </p:spPr>
        <p:txBody>
          <a:bodyPr wrap="none" rtlCol="0">
            <a:spAutoFit/>
          </a:bodyPr>
          <a:lstStyle/>
          <a:p>
            <a:pPr>
              <a:lnSpc>
                <a:spcPct val="150000"/>
              </a:lnSpc>
            </a:pPr>
            <a:r>
              <a:rPr lang="en-US" altLang="zh-CN" sz="3200" b="1" dirty="0"/>
              <a:t>Limitation of Accuracy</a:t>
            </a:r>
            <a:endParaRPr lang="en-US" sz="3200" b="1" dirty="0"/>
          </a:p>
        </p:txBody>
      </p:sp>
      <p:sp>
        <p:nvSpPr>
          <p:cNvPr id="8" name="矩形 7"/>
          <p:cNvSpPr/>
          <p:nvPr/>
        </p:nvSpPr>
        <p:spPr>
          <a:xfrm>
            <a:off x="383059" y="1037941"/>
            <a:ext cx="8229600" cy="1723549"/>
          </a:xfrm>
          <a:prstGeom prst="rect">
            <a:avLst/>
          </a:prstGeom>
        </p:spPr>
        <p:txBody>
          <a:bodyPr wrap="square">
            <a:spAutoFit/>
          </a:bodyPr>
          <a:lstStyle/>
          <a:p>
            <a:pPr marL="342900" indent="-342900" algn="just">
              <a:spcAft>
                <a:spcPts val="1200"/>
              </a:spcAft>
              <a:buFont typeface="Arial" panose="020B0604020202020204" pitchFamily="34" charset="0"/>
              <a:buChar char="•"/>
            </a:pPr>
            <a:r>
              <a:rPr lang="en-US" altLang="zh-CN" sz="2400" dirty="0"/>
              <a:t>Higher accuracy does not necessarily imply better performance on target task.</a:t>
            </a:r>
          </a:p>
          <a:p>
            <a:pPr marL="342900" indent="-342900" algn="just">
              <a:spcAft>
                <a:spcPts val="1200"/>
              </a:spcAft>
              <a:buFont typeface="Arial" panose="020B0604020202020204" pitchFamily="34" charset="0"/>
              <a:buChar char="•"/>
            </a:pPr>
            <a:r>
              <a:rPr lang="en-US" altLang="zh-CN" sz="2400" i="1" dirty="0">
                <a:solidFill>
                  <a:srgbClr val="0000FF"/>
                </a:solidFill>
              </a:rPr>
              <a:t>Implicit assumption: </a:t>
            </a:r>
            <a:r>
              <a:rPr lang="en-US" altLang="zh-CN" sz="2400" dirty="0"/>
              <a:t>the class distribution among examples is relative balanced.</a:t>
            </a:r>
            <a:endParaRPr lang="zh-CN" altLang="en-US" sz="2400" dirty="0"/>
          </a:p>
        </p:txBody>
      </p:sp>
      <p:sp>
        <p:nvSpPr>
          <p:cNvPr id="9" name="文本框 8"/>
          <p:cNvSpPr txBox="1"/>
          <p:nvPr/>
        </p:nvSpPr>
        <p:spPr>
          <a:xfrm>
            <a:off x="383059" y="3168030"/>
            <a:ext cx="7031990" cy="1569660"/>
          </a:xfrm>
          <a:prstGeom prst="rect">
            <a:avLst/>
          </a:prstGeom>
          <a:noFill/>
        </p:spPr>
        <p:txBody>
          <a:bodyPr wrap="none" rtlCol="0">
            <a:spAutoFit/>
          </a:bodyPr>
          <a:lstStyle/>
          <a:p>
            <a:pPr marL="342900" indent="-342900">
              <a:buFont typeface="Arial" panose="020B0604020202020204" pitchFamily="34" charset="0"/>
              <a:buChar char="•"/>
            </a:pPr>
            <a:r>
              <a:rPr lang="en-US" altLang="zh-CN" sz="2400" dirty="0"/>
              <a:t>Consider a binary classification problem</a:t>
            </a:r>
          </a:p>
          <a:p>
            <a:pPr marL="800100" lvl="1" indent="-342900">
              <a:buFont typeface="Arial" panose="020B0604020202020204" pitchFamily="34" charset="0"/>
              <a:buChar char="•"/>
            </a:pPr>
            <a:r>
              <a:rPr lang="en-US" altLang="zh-CN" sz="2400" dirty="0"/>
              <a:t>Number of Class 0 examples = 9990</a:t>
            </a:r>
          </a:p>
          <a:p>
            <a:pPr marL="800100" lvl="1" indent="-342900">
              <a:buFont typeface="Arial" panose="020B0604020202020204" pitchFamily="34" charset="0"/>
              <a:buChar char="•"/>
            </a:pPr>
            <a:r>
              <a:rPr lang="en-US" altLang="zh-CN" sz="2400" dirty="0"/>
              <a:t>Number of Class 1 examples = 10</a:t>
            </a:r>
          </a:p>
          <a:p>
            <a:pPr marL="800100" lvl="1" indent="-342900">
              <a:buFont typeface="Arial" panose="020B0604020202020204" pitchFamily="34" charset="0"/>
              <a:buChar char="•"/>
            </a:pPr>
            <a:r>
              <a:rPr lang="en-US" altLang="zh-CN" sz="2400" dirty="0"/>
              <a:t>If predict all as 0, accuracy is 9990/10000=99.9%</a:t>
            </a:r>
            <a:endParaRPr lang="zh-CN" altLang="en-US" sz="2400" dirty="0"/>
          </a:p>
        </p:txBody>
      </p:sp>
      <p:sp>
        <p:nvSpPr>
          <p:cNvPr id="10" name="文本框 9"/>
          <p:cNvSpPr txBox="1"/>
          <p:nvPr/>
        </p:nvSpPr>
        <p:spPr>
          <a:xfrm>
            <a:off x="383059" y="5084230"/>
            <a:ext cx="5046959" cy="830997"/>
          </a:xfrm>
          <a:prstGeom prst="rect">
            <a:avLst/>
          </a:prstGeom>
          <a:noFill/>
        </p:spPr>
        <p:txBody>
          <a:bodyPr wrap="none" rtlCol="0">
            <a:spAutoFit/>
          </a:bodyPr>
          <a:lstStyle/>
          <a:p>
            <a:pPr marL="342900" indent="-342900">
              <a:buFont typeface="Arial" panose="020B0604020202020204" pitchFamily="34" charset="0"/>
              <a:buChar char="•"/>
            </a:pPr>
            <a:r>
              <a:rPr lang="en-US" altLang="zh-CN" sz="2400" dirty="0"/>
              <a:t>Biased in favor of the majority class!</a:t>
            </a:r>
          </a:p>
          <a:p>
            <a:pPr marL="342900" indent="-342900">
              <a:buFont typeface="Arial" panose="020B0604020202020204" pitchFamily="34" charset="0"/>
              <a:buChar char="•"/>
            </a:pPr>
            <a:r>
              <a:rPr lang="en-US" altLang="zh-CN" sz="2400" dirty="0"/>
              <a:t>Should be used with caution!</a:t>
            </a:r>
            <a:endParaRPr lang="zh-CN" altLang="en-US" sz="2400" dirty="0"/>
          </a:p>
        </p:txBody>
      </p:sp>
    </p:spTree>
    <p:extLst>
      <p:ext uri="{BB962C8B-B14F-4D97-AF65-F5344CB8AC3E}">
        <p14:creationId xmlns:p14="http://schemas.microsoft.com/office/powerpoint/2010/main" val="28647141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圆角 7">
            <a:extLst>
              <a:ext uri="{FF2B5EF4-FFF2-40B4-BE49-F238E27FC236}">
                <a16:creationId xmlns:a16="http://schemas.microsoft.com/office/drawing/2014/main" id="{B0D91A0F-DF4D-4A49-8862-DBBAFF3F415C}"/>
              </a:ext>
            </a:extLst>
          </p:cNvPr>
          <p:cNvSpPr/>
          <p:nvPr/>
        </p:nvSpPr>
        <p:spPr>
          <a:xfrm>
            <a:off x="328337" y="976805"/>
            <a:ext cx="8686800" cy="1461595"/>
          </a:xfrm>
          <a:prstGeom prst="roundRect">
            <a:avLst>
              <a:gd name="adj" fmla="val 3573"/>
            </a:avLst>
          </a:prstGeom>
          <a:solidFill>
            <a:srgbClr val="FFFBD6"/>
          </a:solidFill>
          <a:ln>
            <a:solidFill>
              <a:srgbClr val="FFFBD6"/>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800" dirty="0">
              <a:solidFill>
                <a:schemeClr val="tx1"/>
              </a:solidFill>
            </a:endParaRPr>
          </a:p>
        </p:txBody>
      </p:sp>
      <p:sp>
        <p:nvSpPr>
          <p:cNvPr id="4" name="灯片编号占位符 3"/>
          <p:cNvSpPr>
            <a:spLocks noGrp="1"/>
          </p:cNvSpPr>
          <p:nvPr>
            <p:ph type="sldNum" sz="quarter" idx="12"/>
          </p:nvPr>
        </p:nvSpPr>
        <p:spPr/>
        <p:txBody>
          <a:bodyPr/>
          <a:lstStyle/>
          <a:p>
            <a:fld id="{B6F15528-21DE-4FAA-801E-634DDDAF4B2B}" type="slidenum">
              <a:rPr lang="en-US" smtClean="0"/>
              <a:pPr/>
              <a:t>21</a:t>
            </a:fld>
            <a:endParaRPr lang="en-US" dirty="0"/>
          </a:p>
        </p:txBody>
      </p:sp>
      <p:sp>
        <p:nvSpPr>
          <p:cNvPr id="5" name="文本框 4"/>
          <p:cNvSpPr txBox="1"/>
          <p:nvPr/>
        </p:nvSpPr>
        <p:spPr>
          <a:xfrm>
            <a:off x="228600" y="76200"/>
            <a:ext cx="3348161" cy="754694"/>
          </a:xfrm>
          <a:prstGeom prst="rect">
            <a:avLst/>
          </a:prstGeom>
          <a:noFill/>
        </p:spPr>
        <p:txBody>
          <a:bodyPr wrap="none" rtlCol="0">
            <a:spAutoFit/>
          </a:bodyPr>
          <a:lstStyle/>
          <a:p>
            <a:pPr>
              <a:lnSpc>
                <a:spcPct val="150000"/>
              </a:lnSpc>
            </a:pPr>
            <a:r>
              <a:rPr lang="en-US" altLang="zh-CN" sz="3200" b="1" dirty="0"/>
              <a:t>Evaluation Metrics</a:t>
            </a:r>
            <a:endParaRPr lang="en-US" sz="3200" b="1" dirty="0"/>
          </a:p>
        </p:txBody>
      </p:sp>
      <mc:AlternateContent xmlns:mc="http://schemas.openxmlformats.org/markup-compatibility/2006" xmlns:a14="http://schemas.microsoft.com/office/drawing/2010/main">
        <mc:Choice Requires="a14">
          <p:sp>
            <p:nvSpPr>
              <p:cNvPr id="7" name="文本框 6"/>
              <p:cNvSpPr txBox="1"/>
              <p:nvPr/>
            </p:nvSpPr>
            <p:spPr>
              <a:xfrm>
                <a:off x="328337" y="1062365"/>
                <a:ext cx="8763000" cy="1323439"/>
              </a:xfrm>
              <a:prstGeom prst="rect">
                <a:avLst/>
              </a:prstGeom>
              <a:noFill/>
            </p:spPr>
            <p:txBody>
              <a:bodyPr wrap="square" rtlCol="0">
                <a:spAutoFit/>
              </a:bodyPr>
              <a:lstStyle/>
              <a:p>
                <a:pPr marL="342900" indent="-342900">
                  <a:buFont typeface="Arial" panose="020B0604020202020204" pitchFamily="34" charset="0"/>
                  <a:buChar char="•"/>
                </a:pPr>
                <a:r>
                  <a:rPr lang="en-US" altLang="zh-CN" sz="2000" dirty="0">
                    <a:solidFill>
                      <a:srgbClr val="FF0000"/>
                    </a:solidFill>
                  </a:rPr>
                  <a:t>Precision</a:t>
                </a:r>
                <a:r>
                  <a:rPr lang="en-US" altLang="zh-CN" sz="2000" dirty="0"/>
                  <a:t> or Positive Predicative Value (PPV) </a:t>
                </a:r>
                <a:r>
                  <a:rPr lang="zh-CN" altLang="en-US" sz="2000" b="1" dirty="0">
                    <a:solidFill>
                      <a:srgbClr val="FF0000"/>
                    </a:solidFill>
                  </a:rPr>
                  <a:t>精准率</a:t>
                </a:r>
                <a:r>
                  <a:rPr lang="en-US" altLang="zh-CN" sz="2000" dirty="0"/>
                  <a:t>/</a:t>
                </a:r>
                <a:r>
                  <a:rPr lang="zh-CN" altLang="en-US" sz="2000" b="1" dirty="0">
                    <a:solidFill>
                      <a:srgbClr val="FF0000"/>
                    </a:solidFill>
                  </a:rPr>
                  <a:t>查准率</a:t>
                </a:r>
                <a:endParaRPr lang="en-US" altLang="zh-CN" sz="2000" b="1" dirty="0">
                  <a:solidFill>
                    <a:srgbClr val="FF0000"/>
                  </a:solidFill>
                </a:endParaRPr>
              </a:p>
              <a:p>
                <a:pPr marL="800100" lvl="1" indent="-342900">
                  <a:buFont typeface="Arial" panose="020B0604020202020204" pitchFamily="34" charset="0"/>
                  <a:buChar char="•"/>
                </a:pPr>
                <a14:m>
                  <m:oMath xmlns:m="http://schemas.openxmlformats.org/officeDocument/2006/math">
                    <m:r>
                      <a:rPr lang="en-US" altLang="zh-CN" sz="2000" i="1" dirty="0" smtClean="0">
                        <a:latin typeface="Cambria Math" panose="02040503050406030204" pitchFamily="18" charset="0"/>
                      </a:rPr>
                      <m:t>𝑇𝑃</m:t>
                    </m:r>
                    <m:r>
                      <a:rPr lang="en-US" altLang="zh-CN" sz="2000" i="1" dirty="0" smtClean="0">
                        <a:latin typeface="Cambria Math" panose="02040503050406030204" pitchFamily="18" charset="0"/>
                      </a:rPr>
                      <m:t>/(</m:t>
                    </m:r>
                    <m:r>
                      <a:rPr lang="en-US" altLang="zh-CN" sz="2000" i="1" dirty="0" smtClean="0">
                        <a:latin typeface="Cambria Math" panose="02040503050406030204" pitchFamily="18" charset="0"/>
                      </a:rPr>
                      <m:t>𝑇𝑃</m:t>
                    </m:r>
                    <m:r>
                      <a:rPr lang="en-US" altLang="zh-CN" sz="2000" i="1" dirty="0" smtClean="0">
                        <a:latin typeface="Cambria Math" panose="02040503050406030204" pitchFamily="18" charset="0"/>
                      </a:rPr>
                      <m:t>+</m:t>
                    </m:r>
                    <m:r>
                      <a:rPr lang="en-US" altLang="zh-CN" sz="2000" i="1" dirty="0" smtClean="0">
                        <a:latin typeface="Cambria Math" panose="02040503050406030204" pitchFamily="18" charset="0"/>
                      </a:rPr>
                      <m:t>𝐹𝑃</m:t>
                    </m:r>
                    <m:r>
                      <a:rPr lang="en-US" altLang="zh-CN" sz="2000" i="1" dirty="0" smtClean="0">
                        <a:latin typeface="Cambria Math" panose="02040503050406030204" pitchFamily="18" charset="0"/>
                      </a:rPr>
                      <m:t>)</m:t>
                    </m:r>
                  </m:oMath>
                </a14:m>
                <a:endParaRPr lang="en-US" altLang="zh-CN" sz="2000" dirty="0"/>
              </a:p>
              <a:p>
                <a:pPr marL="342900" indent="-342900">
                  <a:buFont typeface="Arial" panose="020B0604020202020204" pitchFamily="34" charset="0"/>
                  <a:buChar char="•"/>
                </a:pPr>
                <a:r>
                  <a:rPr lang="en-US" altLang="zh-CN" sz="2000" dirty="0">
                    <a:solidFill>
                      <a:srgbClr val="FF0000"/>
                    </a:solidFill>
                  </a:rPr>
                  <a:t>Recall</a:t>
                </a:r>
                <a:r>
                  <a:rPr lang="en-US" altLang="zh-CN" sz="2000" dirty="0"/>
                  <a:t>/Sensitivity/</a:t>
                </a:r>
                <a:r>
                  <a:rPr lang="en-US" altLang="zh-CN" sz="2000" dirty="0">
                    <a:solidFill>
                      <a:srgbClr val="FF0000"/>
                    </a:solidFill>
                  </a:rPr>
                  <a:t>Hit</a:t>
                </a:r>
                <a:r>
                  <a:rPr lang="en-US" altLang="zh-CN" sz="2000" dirty="0"/>
                  <a:t> </a:t>
                </a:r>
                <a:r>
                  <a:rPr lang="en-US" altLang="zh-CN" sz="2000" dirty="0">
                    <a:solidFill>
                      <a:srgbClr val="FF0000"/>
                    </a:solidFill>
                  </a:rPr>
                  <a:t>rate</a:t>
                </a:r>
                <a:r>
                  <a:rPr lang="en-US" altLang="zh-CN" sz="2000" dirty="0"/>
                  <a:t>/True Positive Rate (TPR) </a:t>
                </a:r>
                <a:r>
                  <a:rPr lang="zh-CN" altLang="en-US" sz="2000" dirty="0"/>
                  <a:t>灵敏度</a:t>
                </a:r>
                <a:r>
                  <a:rPr lang="en-US" altLang="zh-CN" sz="2000" dirty="0"/>
                  <a:t>/</a:t>
                </a:r>
                <a:r>
                  <a:rPr lang="zh-CN" altLang="en-US" sz="2000" b="1" dirty="0">
                    <a:solidFill>
                      <a:srgbClr val="FF0000"/>
                    </a:solidFill>
                  </a:rPr>
                  <a:t>召回率</a:t>
                </a:r>
                <a:r>
                  <a:rPr lang="en-US" altLang="zh-CN" sz="2000" dirty="0"/>
                  <a:t>/</a:t>
                </a:r>
                <a:r>
                  <a:rPr lang="zh-CN" altLang="en-US" sz="2000" b="1" dirty="0">
                    <a:solidFill>
                      <a:srgbClr val="FF0000"/>
                    </a:solidFill>
                  </a:rPr>
                  <a:t>查全率</a:t>
                </a:r>
                <a:endParaRPr lang="en-US" altLang="zh-CN" sz="2000" b="1" dirty="0">
                  <a:solidFill>
                    <a:srgbClr val="FF0000"/>
                  </a:solidFill>
                </a:endParaRPr>
              </a:p>
              <a:p>
                <a:pPr marL="800100" lvl="1" indent="-342900">
                  <a:buFont typeface="Arial" panose="020B0604020202020204" pitchFamily="34" charset="0"/>
                  <a:buChar char="•"/>
                </a:pPr>
                <a14:m>
                  <m:oMath xmlns:m="http://schemas.openxmlformats.org/officeDocument/2006/math">
                    <m:r>
                      <a:rPr lang="en-US" altLang="zh-CN" sz="2000" i="1" dirty="0" smtClean="0">
                        <a:latin typeface="Cambria Math" panose="02040503050406030204" pitchFamily="18" charset="0"/>
                      </a:rPr>
                      <m:t>𝑇𝑃</m:t>
                    </m:r>
                    <m:r>
                      <a:rPr lang="en-US" altLang="zh-CN" sz="2000" i="1" dirty="0" smtClean="0">
                        <a:latin typeface="Cambria Math" panose="02040503050406030204" pitchFamily="18" charset="0"/>
                      </a:rPr>
                      <m:t>/(</m:t>
                    </m:r>
                    <m:r>
                      <a:rPr lang="en-US" altLang="zh-CN" sz="2000" i="1" dirty="0" smtClean="0">
                        <a:latin typeface="Cambria Math" panose="02040503050406030204" pitchFamily="18" charset="0"/>
                      </a:rPr>
                      <m:t>𝑇𝑃</m:t>
                    </m:r>
                    <m:r>
                      <a:rPr lang="en-US" altLang="zh-CN" sz="2000" i="1" dirty="0" smtClean="0">
                        <a:latin typeface="Cambria Math" panose="02040503050406030204" pitchFamily="18" charset="0"/>
                      </a:rPr>
                      <m:t>+</m:t>
                    </m:r>
                    <m:r>
                      <a:rPr lang="en-US" altLang="zh-CN" sz="2000" i="1" dirty="0" smtClean="0">
                        <a:latin typeface="Cambria Math" panose="02040503050406030204" pitchFamily="18" charset="0"/>
                      </a:rPr>
                      <m:t>𝐹𝑁</m:t>
                    </m:r>
                    <m:r>
                      <a:rPr lang="en-US" altLang="zh-CN" sz="2000" i="1" dirty="0" smtClean="0">
                        <a:latin typeface="Cambria Math" panose="02040503050406030204" pitchFamily="18" charset="0"/>
                      </a:rPr>
                      <m:t>)</m:t>
                    </m:r>
                  </m:oMath>
                </a14:m>
                <a:endParaRPr lang="en-US" altLang="zh-CN" sz="2000" dirty="0"/>
              </a:p>
            </p:txBody>
          </p:sp>
        </mc:Choice>
        <mc:Fallback xmlns="">
          <p:sp>
            <p:nvSpPr>
              <p:cNvPr id="7" name="文本框 6"/>
              <p:cNvSpPr txBox="1">
                <a:spLocks noRot="1" noChangeAspect="1" noMove="1" noResize="1" noEditPoints="1" noAdjustHandles="1" noChangeArrowheads="1" noChangeShapeType="1" noTextEdit="1"/>
              </p:cNvSpPr>
              <p:nvPr/>
            </p:nvSpPr>
            <p:spPr>
              <a:xfrm>
                <a:off x="328337" y="1062365"/>
                <a:ext cx="8763000" cy="1323439"/>
              </a:xfrm>
              <a:prstGeom prst="rect">
                <a:avLst/>
              </a:prstGeom>
              <a:blipFill>
                <a:blip r:embed="rId2"/>
                <a:stretch>
                  <a:fillRect l="-626" t="-3687" b="-5991"/>
                </a:stretch>
              </a:blipFill>
            </p:spPr>
            <p:txBody>
              <a:bodyPr/>
              <a:lstStyle/>
              <a:p>
                <a:r>
                  <a:rPr lang="zh-CN" altLang="en-US">
                    <a:noFill/>
                  </a:rPr>
                  <a:t> </a:t>
                </a:r>
              </a:p>
            </p:txBody>
          </p:sp>
        </mc:Fallback>
      </mc:AlternateContent>
      <p:pic>
        <p:nvPicPr>
          <p:cNvPr id="6" name="图片 5" descr="屏幕剪辑">
            <a:extLst>
              <a:ext uri="{FF2B5EF4-FFF2-40B4-BE49-F238E27FC236}">
                <a16:creationId xmlns:a16="http://schemas.microsoft.com/office/drawing/2014/main" id="{79DE3726-093A-422B-85B4-FBE6F62A16D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10200" y="-42061"/>
            <a:ext cx="3733800" cy="1118178"/>
          </a:xfrm>
          <a:prstGeom prst="rect">
            <a:avLst/>
          </a:prstGeom>
        </p:spPr>
      </p:pic>
      <p:grpSp>
        <p:nvGrpSpPr>
          <p:cNvPr id="9" name="组合 8">
            <a:extLst>
              <a:ext uri="{FF2B5EF4-FFF2-40B4-BE49-F238E27FC236}">
                <a16:creationId xmlns:a16="http://schemas.microsoft.com/office/drawing/2014/main" id="{46E08585-1D7E-4D67-9FCC-5A837C899160}"/>
              </a:ext>
            </a:extLst>
          </p:cNvPr>
          <p:cNvGrpSpPr/>
          <p:nvPr/>
        </p:nvGrpSpPr>
        <p:grpSpPr>
          <a:xfrm>
            <a:off x="323257" y="2658021"/>
            <a:ext cx="8686800" cy="2142579"/>
            <a:chOff x="323257" y="2658021"/>
            <a:chExt cx="8686800" cy="2142579"/>
          </a:xfrm>
        </p:grpSpPr>
        <p:sp>
          <p:nvSpPr>
            <p:cNvPr id="19" name="矩形: 圆角 18">
              <a:extLst>
                <a:ext uri="{FF2B5EF4-FFF2-40B4-BE49-F238E27FC236}">
                  <a16:creationId xmlns:a16="http://schemas.microsoft.com/office/drawing/2014/main" id="{9014EAAA-F6A1-41BC-852B-C8DB3ADBDBC3}"/>
                </a:ext>
              </a:extLst>
            </p:cNvPr>
            <p:cNvSpPr/>
            <p:nvPr/>
          </p:nvSpPr>
          <p:spPr>
            <a:xfrm>
              <a:off x="323257" y="2658021"/>
              <a:ext cx="8686800" cy="2142579"/>
            </a:xfrm>
            <a:prstGeom prst="roundRect">
              <a:avLst>
                <a:gd name="adj" fmla="val 3573"/>
              </a:avLst>
            </a:prstGeom>
            <a:solidFill>
              <a:srgbClr val="E6F5F0"/>
            </a:solidFill>
            <a:ln>
              <a:solidFill>
                <a:srgbClr val="FFFBD6"/>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800" dirty="0">
                <a:solidFill>
                  <a:schemeClr val="tx1"/>
                </a:solidFill>
              </a:endParaRPr>
            </a:p>
          </p:txBody>
        </p:sp>
        <p:sp>
          <p:nvSpPr>
            <p:cNvPr id="18" name="矩形 17">
              <a:extLst>
                <a:ext uri="{FF2B5EF4-FFF2-40B4-BE49-F238E27FC236}">
                  <a16:creationId xmlns:a16="http://schemas.microsoft.com/office/drawing/2014/main" id="{80D3B510-FA1B-402A-B440-E3DFE5AD1521}"/>
                </a:ext>
              </a:extLst>
            </p:cNvPr>
            <p:cNvSpPr/>
            <p:nvPr/>
          </p:nvSpPr>
          <p:spPr>
            <a:xfrm>
              <a:off x="362543" y="2780082"/>
              <a:ext cx="8458200" cy="1938992"/>
            </a:xfrm>
            <a:prstGeom prst="rect">
              <a:avLst/>
            </a:prstGeom>
          </p:spPr>
          <p:txBody>
            <a:bodyPr wrap="square">
              <a:spAutoFit/>
            </a:bodyPr>
            <a:lstStyle/>
            <a:p>
              <a:pPr algn="just"/>
              <a:r>
                <a:rPr lang="en-US" altLang="zh-CN" sz="2400" dirty="0"/>
                <a:t>Important metrics in information retrieval,</a:t>
              </a:r>
            </a:p>
            <a:p>
              <a:pPr marL="342900" indent="-342900" algn="just">
                <a:buFont typeface="Arial" panose="020B0604020202020204" pitchFamily="34" charset="0"/>
                <a:buChar char="•"/>
              </a:pPr>
              <a:r>
                <a:rPr lang="en-US" altLang="zh-CN" sz="2400" dirty="0"/>
                <a:t>TP = #</a:t>
              </a:r>
              <a:r>
                <a:rPr lang="en-US" altLang="zh-CN" sz="2400" dirty="0">
                  <a:solidFill>
                    <a:srgbClr val="FF0000"/>
                  </a:solidFill>
                </a:rPr>
                <a:t>retrieved</a:t>
              </a:r>
              <a:r>
                <a:rPr lang="en-US" altLang="zh-CN" sz="2400" dirty="0"/>
                <a:t> documents that are actually </a:t>
              </a:r>
              <a:r>
                <a:rPr lang="en-US" altLang="zh-CN" sz="2400" dirty="0">
                  <a:solidFill>
                    <a:srgbClr val="FF0000"/>
                  </a:solidFill>
                </a:rPr>
                <a:t>relevant.</a:t>
              </a:r>
              <a:endParaRPr lang="en-US" altLang="zh-CN" sz="2400" dirty="0"/>
            </a:p>
            <a:p>
              <a:pPr marL="342900" indent="-342900" algn="just">
                <a:buFont typeface="Arial" panose="020B0604020202020204" pitchFamily="34" charset="0"/>
                <a:buChar char="•"/>
              </a:pPr>
              <a:r>
                <a:rPr lang="en-US" altLang="zh-CN" sz="2400" dirty="0"/>
                <a:t>FP = #</a:t>
              </a:r>
              <a:r>
                <a:rPr lang="en-US" altLang="zh-CN" sz="2400" dirty="0">
                  <a:solidFill>
                    <a:srgbClr val="FF0000"/>
                  </a:solidFill>
                </a:rPr>
                <a:t>retrieved</a:t>
              </a:r>
              <a:r>
                <a:rPr lang="en-US" altLang="zh-CN" sz="2400" dirty="0"/>
                <a:t> documents that are actually </a:t>
              </a:r>
              <a:r>
                <a:rPr lang="en-US" altLang="zh-CN" sz="2400" dirty="0">
                  <a:solidFill>
                    <a:srgbClr val="FF0000"/>
                  </a:solidFill>
                </a:rPr>
                <a:t>non-relevant.</a:t>
              </a:r>
            </a:p>
            <a:p>
              <a:pPr marL="342900" indent="-342900" algn="just">
                <a:buFont typeface="Arial" panose="020B0604020202020204" pitchFamily="34" charset="0"/>
                <a:buChar char="•"/>
              </a:pPr>
              <a:r>
                <a:rPr lang="en-US" altLang="zh-CN" sz="2400" dirty="0"/>
                <a:t>TN = #</a:t>
              </a:r>
              <a:r>
                <a:rPr lang="en-US" altLang="zh-CN" sz="2400" dirty="0">
                  <a:solidFill>
                    <a:srgbClr val="FF0000"/>
                  </a:solidFill>
                </a:rPr>
                <a:t>non-retrieved</a:t>
              </a:r>
              <a:r>
                <a:rPr lang="en-US" altLang="zh-CN" sz="2400" dirty="0"/>
                <a:t> documents that are actually </a:t>
              </a:r>
              <a:r>
                <a:rPr lang="en-US" altLang="zh-CN" sz="2400" dirty="0">
                  <a:solidFill>
                    <a:srgbClr val="FF0000"/>
                  </a:solidFill>
                </a:rPr>
                <a:t>non-relevant</a:t>
              </a:r>
              <a:r>
                <a:rPr lang="en-US" altLang="zh-CN" sz="2400" dirty="0"/>
                <a:t>.</a:t>
              </a:r>
            </a:p>
            <a:p>
              <a:pPr marL="342900" indent="-342900" algn="just">
                <a:buFont typeface="Arial" panose="020B0604020202020204" pitchFamily="34" charset="0"/>
                <a:buChar char="•"/>
              </a:pPr>
              <a:r>
                <a:rPr lang="en-US" altLang="zh-CN" sz="2400" dirty="0"/>
                <a:t>FN = #</a:t>
              </a:r>
              <a:r>
                <a:rPr lang="en-US" altLang="zh-CN" sz="2400" dirty="0">
                  <a:solidFill>
                    <a:srgbClr val="FF0000"/>
                  </a:solidFill>
                </a:rPr>
                <a:t>non-retrieved</a:t>
              </a:r>
              <a:r>
                <a:rPr lang="en-US" altLang="zh-CN" sz="2400" dirty="0"/>
                <a:t> documents that are actually </a:t>
              </a:r>
              <a:r>
                <a:rPr lang="en-US" altLang="zh-CN" sz="2400" dirty="0">
                  <a:solidFill>
                    <a:srgbClr val="FF0000"/>
                  </a:solidFill>
                </a:rPr>
                <a:t>relevant.</a:t>
              </a:r>
              <a:endParaRPr lang="zh-CN" altLang="en-US" sz="2400" dirty="0"/>
            </a:p>
          </p:txBody>
        </p:sp>
      </p:grpSp>
      <p:grpSp>
        <p:nvGrpSpPr>
          <p:cNvPr id="3" name="组合 2">
            <a:extLst>
              <a:ext uri="{FF2B5EF4-FFF2-40B4-BE49-F238E27FC236}">
                <a16:creationId xmlns:a16="http://schemas.microsoft.com/office/drawing/2014/main" id="{EFE653AC-044E-437F-AF57-1D1B976414C6}"/>
              </a:ext>
            </a:extLst>
          </p:cNvPr>
          <p:cNvGrpSpPr/>
          <p:nvPr/>
        </p:nvGrpSpPr>
        <p:grpSpPr>
          <a:xfrm>
            <a:off x="323257" y="5020221"/>
            <a:ext cx="8686800" cy="1045182"/>
            <a:chOff x="323257" y="5020221"/>
            <a:chExt cx="8686800" cy="1045182"/>
          </a:xfrm>
        </p:grpSpPr>
        <p:sp>
          <p:nvSpPr>
            <p:cNvPr id="20" name="矩形: 圆角 19">
              <a:extLst>
                <a:ext uri="{FF2B5EF4-FFF2-40B4-BE49-F238E27FC236}">
                  <a16:creationId xmlns:a16="http://schemas.microsoft.com/office/drawing/2014/main" id="{C538C843-4826-49D4-80E2-4A37D5F0462F}"/>
                </a:ext>
              </a:extLst>
            </p:cNvPr>
            <p:cNvSpPr/>
            <p:nvPr/>
          </p:nvSpPr>
          <p:spPr>
            <a:xfrm>
              <a:off x="323257" y="5020221"/>
              <a:ext cx="8686800" cy="1045182"/>
            </a:xfrm>
            <a:prstGeom prst="roundRect">
              <a:avLst>
                <a:gd name="adj" fmla="val 3573"/>
              </a:avLst>
            </a:prstGeom>
            <a:solidFill>
              <a:srgbClr val="F9E6E6"/>
            </a:solidFill>
            <a:ln>
              <a:solidFill>
                <a:srgbClr val="FFFBD6"/>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800" dirty="0">
                <a:solidFill>
                  <a:schemeClr val="tx1"/>
                </a:solidFill>
              </a:endParaRPr>
            </a:p>
          </p:txBody>
        </p:sp>
        <mc:AlternateContent xmlns:mc="http://schemas.openxmlformats.org/markup-compatibility/2006" xmlns:a14="http://schemas.microsoft.com/office/drawing/2010/main">
          <mc:Choice Requires="a14">
            <p:sp>
              <p:nvSpPr>
                <p:cNvPr id="21" name="矩形 20">
                  <a:extLst>
                    <a:ext uri="{FF2B5EF4-FFF2-40B4-BE49-F238E27FC236}">
                      <a16:creationId xmlns:a16="http://schemas.microsoft.com/office/drawing/2014/main" id="{EC3DEBCD-841C-420A-BE99-896F4D0107BE}"/>
                    </a:ext>
                  </a:extLst>
                </p:cNvPr>
                <p:cNvSpPr/>
                <p:nvPr/>
              </p:nvSpPr>
              <p:spPr>
                <a:xfrm>
                  <a:off x="480737" y="5120582"/>
                  <a:ext cx="8458200" cy="830997"/>
                </a:xfrm>
                <a:prstGeom prst="rect">
                  <a:avLst/>
                </a:prstGeom>
              </p:spPr>
              <p:txBody>
                <a:bodyPr wrap="square">
                  <a:spAutoFit/>
                </a:bodyPr>
                <a:lstStyle/>
                <a:p>
                  <a:pPr algn="just"/>
                  <a:r>
                    <a:rPr lang="en-US" altLang="zh-CN" sz="2400" dirty="0"/>
                    <a:t>Typically, precision and recall are contradictory measures. </a:t>
                  </a:r>
                </a:p>
                <a:p>
                  <a:pPr algn="just"/>
                  <a:r>
                    <a:rPr lang="en-US" altLang="zh-CN" sz="2400" dirty="0"/>
                    <a:t>Recall </a:t>
                  </a:r>
                  <a14:m>
                    <m:oMath xmlns:m="http://schemas.openxmlformats.org/officeDocument/2006/math">
                      <m:r>
                        <a:rPr lang="en-US" altLang="zh-CN" sz="2400" i="1" smtClean="0">
                          <a:latin typeface="Cambria Math" panose="02040503050406030204" pitchFamily="18" charset="0"/>
                          <a:ea typeface="Cambria Math" panose="02040503050406030204" pitchFamily="18" charset="0"/>
                        </a:rPr>
                        <m:t>↑</m:t>
                      </m:r>
                    </m:oMath>
                  </a14:m>
                  <a:r>
                    <a:rPr lang="en-US" altLang="zh-CN" sz="2400" dirty="0"/>
                    <a:t> </a:t>
                  </a:r>
                  <a14:m>
                    <m:oMath xmlns:m="http://schemas.openxmlformats.org/officeDocument/2006/math">
                      <m:r>
                        <a:rPr lang="en-US" altLang="zh-CN" sz="2400" i="1">
                          <a:latin typeface="Cambria Math" panose="02040503050406030204" pitchFamily="18" charset="0"/>
                          <a:ea typeface="Cambria Math" panose="02040503050406030204" pitchFamily="18" charset="0"/>
                        </a:rPr>
                        <m:t>→</m:t>
                      </m:r>
                    </m:oMath>
                  </a14:m>
                  <a:r>
                    <a:rPr lang="zh-CN" altLang="en-US" sz="2400" dirty="0"/>
                    <a:t> </a:t>
                  </a:r>
                  <a:r>
                    <a:rPr lang="en-US" altLang="zh-CN" sz="2400" dirty="0"/>
                    <a:t>precision </a:t>
                  </a:r>
                  <a14:m>
                    <m:oMath xmlns:m="http://schemas.openxmlformats.org/officeDocument/2006/math">
                      <m:r>
                        <a:rPr lang="en-US" altLang="zh-CN" sz="2400" i="1" smtClean="0">
                          <a:latin typeface="Cambria Math" panose="02040503050406030204" pitchFamily="18" charset="0"/>
                          <a:ea typeface="Cambria Math" panose="02040503050406030204" pitchFamily="18" charset="0"/>
                        </a:rPr>
                        <m:t>↓</m:t>
                      </m:r>
                    </m:oMath>
                  </a14:m>
                  <a:r>
                    <a:rPr lang="zh-CN" altLang="en-US" sz="2400" dirty="0"/>
                    <a:t> </a:t>
                  </a:r>
                  <a:r>
                    <a:rPr lang="en-US" altLang="zh-CN" sz="2400" dirty="0"/>
                    <a:t>, Precision </a:t>
                  </a:r>
                  <a14:m>
                    <m:oMath xmlns:m="http://schemas.openxmlformats.org/officeDocument/2006/math">
                      <m:r>
                        <a:rPr lang="en-US" altLang="zh-CN" sz="2400" i="1">
                          <a:latin typeface="Cambria Math" panose="02040503050406030204" pitchFamily="18" charset="0"/>
                          <a:ea typeface="Cambria Math" panose="02040503050406030204" pitchFamily="18" charset="0"/>
                        </a:rPr>
                        <m:t>↑</m:t>
                      </m:r>
                    </m:oMath>
                  </a14:m>
                  <a:r>
                    <a:rPr lang="en-US" altLang="zh-CN" sz="2400" dirty="0"/>
                    <a:t> </a:t>
                  </a:r>
                  <a14:m>
                    <m:oMath xmlns:m="http://schemas.openxmlformats.org/officeDocument/2006/math">
                      <m:r>
                        <a:rPr lang="en-US" altLang="zh-CN" sz="2400" i="1">
                          <a:latin typeface="Cambria Math" panose="02040503050406030204" pitchFamily="18" charset="0"/>
                          <a:ea typeface="Cambria Math" panose="02040503050406030204" pitchFamily="18" charset="0"/>
                        </a:rPr>
                        <m:t>→</m:t>
                      </m:r>
                    </m:oMath>
                  </a14:m>
                  <a:r>
                    <a:rPr lang="zh-CN" altLang="en-US" sz="2400" dirty="0"/>
                    <a:t> </a:t>
                  </a:r>
                  <a:r>
                    <a:rPr lang="en-US" altLang="zh-CN" sz="2400" dirty="0"/>
                    <a:t>recall </a:t>
                  </a:r>
                  <a14:m>
                    <m:oMath xmlns:m="http://schemas.openxmlformats.org/officeDocument/2006/math">
                      <m:r>
                        <a:rPr lang="en-US" altLang="zh-CN" sz="2400" i="1">
                          <a:latin typeface="Cambria Math" panose="02040503050406030204" pitchFamily="18" charset="0"/>
                          <a:ea typeface="Cambria Math" panose="02040503050406030204" pitchFamily="18" charset="0"/>
                        </a:rPr>
                        <m:t>↓</m:t>
                      </m:r>
                    </m:oMath>
                  </a14:m>
                  <a:r>
                    <a:rPr lang="zh-CN" altLang="en-US" sz="2400" dirty="0"/>
                    <a:t>  </a:t>
                  </a:r>
                  <a:r>
                    <a:rPr lang="en-US" altLang="zh-CN" sz="2400" dirty="0"/>
                    <a:t>why?</a:t>
                  </a:r>
                  <a:endParaRPr lang="zh-CN" altLang="en-US" sz="2400" dirty="0"/>
                </a:p>
              </p:txBody>
            </p:sp>
          </mc:Choice>
          <mc:Fallback xmlns="">
            <p:sp>
              <p:nvSpPr>
                <p:cNvPr id="21" name="矩形 20">
                  <a:extLst>
                    <a:ext uri="{FF2B5EF4-FFF2-40B4-BE49-F238E27FC236}">
                      <a16:creationId xmlns:a16="http://schemas.microsoft.com/office/drawing/2014/main" id="{EC3DEBCD-841C-420A-BE99-896F4D0107BE}"/>
                    </a:ext>
                  </a:extLst>
                </p:cNvPr>
                <p:cNvSpPr>
                  <a:spLocks noRot="1" noChangeAspect="1" noMove="1" noResize="1" noEditPoints="1" noAdjustHandles="1" noChangeArrowheads="1" noChangeShapeType="1" noTextEdit="1"/>
                </p:cNvSpPr>
                <p:nvPr/>
              </p:nvSpPr>
              <p:spPr>
                <a:xfrm>
                  <a:off x="480737" y="5120582"/>
                  <a:ext cx="8458200" cy="830997"/>
                </a:xfrm>
                <a:prstGeom prst="rect">
                  <a:avLst/>
                </a:prstGeom>
                <a:blipFill>
                  <a:blip r:embed="rId4"/>
                  <a:stretch>
                    <a:fillRect l="-1154" t="-5882" b="-16176"/>
                  </a:stretch>
                </a:blipFill>
              </p:spPr>
              <p:txBody>
                <a:bodyPr/>
                <a:lstStyle/>
                <a:p>
                  <a:r>
                    <a:rPr lang="zh-CN" altLang="en-US">
                      <a:noFill/>
                    </a:rPr>
                    <a:t> </a:t>
                  </a:r>
                </a:p>
              </p:txBody>
            </p:sp>
          </mc:Fallback>
        </mc:AlternateContent>
      </p:grpSp>
    </p:spTree>
    <p:extLst>
      <p:ext uri="{BB962C8B-B14F-4D97-AF65-F5344CB8AC3E}">
        <p14:creationId xmlns:p14="http://schemas.microsoft.com/office/powerpoint/2010/main" val="34892771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矩形: 圆角 13">
            <a:extLst>
              <a:ext uri="{FF2B5EF4-FFF2-40B4-BE49-F238E27FC236}">
                <a16:creationId xmlns:a16="http://schemas.microsoft.com/office/drawing/2014/main" id="{9B1958FB-C6EE-455E-BEA7-D65081A607AB}"/>
              </a:ext>
            </a:extLst>
          </p:cNvPr>
          <p:cNvSpPr/>
          <p:nvPr/>
        </p:nvSpPr>
        <p:spPr>
          <a:xfrm>
            <a:off x="328337" y="3039746"/>
            <a:ext cx="8686800" cy="3556350"/>
          </a:xfrm>
          <a:prstGeom prst="roundRect">
            <a:avLst>
              <a:gd name="adj" fmla="val 3573"/>
            </a:avLst>
          </a:prstGeom>
          <a:solidFill>
            <a:srgbClr val="E6F5F0"/>
          </a:solidFill>
          <a:ln>
            <a:solidFill>
              <a:srgbClr val="FFFBD6"/>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800" dirty="0">
              <a:solidFill>
                <a:schemeClr val="tx1"/>
              </a:solidFill>
            </a:endParaRPr>
          </a:p>
        </p:txBody>
      </p:sp>
      <p:sp>
        <p:nvSpPr>
          <p:cNvPr id="8" name="矩形: 圆角 7">
            <a:extLst>
              <a:ext uri="{FF2B5EF4-FFF2-40B4-BE49-F238E27FC236}">
                <a16:creationId xmlns:a16="http://schemas.microsoft.com/office/drawing/2014/main" id="{B0D91A0F-DF4D-4A49-8862-DBBAFF3F415C}"/>
              </a:ext>
            </a:extLst>
          </p:cNvPr>
          <p:cNvSpPr/>
          <p:nvPr/>
        </p:nvSpPr>
        <p:spPr>
          <a:xfrm>
            <a:off x="328337" y="976805"/>
            <a:ext cx="8686800" cy="958515"/>
          </a:xfrm>
          <a:prstGeom prst="roundRect">
            <a:avLst>
              <a:gd name="adj" fmla="val 3573"/>
            </a:avLst>
          </a:prstGeom>
          <a:solidFill>
            <a:srgbClr val="FFFBD6"/>
          </a:solidFill>
          <a:ln>
            <a:solidFill>
              <a:srgbClr val="FFFBD6"/>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800" dirty="0">
              <a:solidFill>
                <a:schemeClr val="tx1"/>
              </a:solidFill>
            </a:endParaRPr>
          </a:p>
        </p:txBody>
      </p:sp>
      <p:sp>
        <p:nvSpPr>
          <p:cNvPr id="4" name="灯片编号占位符 3"/>
          <p:cNvSpPr>
            <a:spLocks noGrp="1"/>
          </p:cNvSpPr>
          <p:nvPr>
            <p:ph type="sldNum" sz="quarter" idx="12"/>
          </p:nvPr>
        </p:nvSpPr>
        <p:spPr/>
        <p:txBody>
          <a:bodyPr/>
          <a:lstStyle/>
          <a:p>
            <a:fld id="{B6F15528-21DE-4FAA-801E-634DDDAF4B2B}" type="slidenum">
              <a:rPr lang="en-US" smtClean="0"/>
              <a:pPr/>
              <a:t>22</a:t>
            </a:fld>
            <a:endParaRPr lang="en-US" dirty="0"/>
          </a:p>
        </p:txBody>
      </p:sp>
      <p:sp>
        <p:nvSpPr>
          <p:cNvPr id="5" name="文本框 4"/>
          <p:cNvSpPr txBox="1"/>
          <p:nvPr/>
        </p:nvSpPr>
        <p:spPr>
          <a:xfrm>
            <a:off x="228600" y="76200"/>
            <a:ext cx="3348161" cy="754694"/>
          </a:xfrm>
          <a:prstGeom prst="rect">
            <a:avLst/>
          </a:prstGeom>
          <a:noFill/>
        </p:spPr>
        <p:txBody>
          <a:bodyPr wrap="none" rtlCol="0">
            <a:spAutoFit/>
          </a:bodyPr>
          <a:lstStyle/>
          <a:p>
            <a:pPr>
              <a:lnSpc>
                <a:spcPct val="150000"/>
              </a:lnSpc>
            </a:pPr>
            <a:r>
              <a:rPr lang="en-US" altLang="zh-CN" sz="3200" b="1" dirty="0"/>
              <a:t>Evaluation Metrics</a:t>
            </a:r>
            <a:endParaRPr lang="en-US" sz="3200" b="1" dirty="0"/>
          </a:p>
        </p:txBody>
      </p:sp>
      <mc:AlternateContent xmlns:mc="http://schemas.openxmlformats.org/markup-compatibility/2006" xmlns:a14="http://schemas.microsoft.com/office/drawing/2010/main">
        <mc:Choice Requires="a14">
          <p:sp>
            <p:nvSpPr>
              <p:cNvPr id="7" name="文本框 6"/>
              <p:cNvSpPr txBox="1"/>
              <p:nvPr/>
            </p:nvSpPr>
            <p:spPr>
              <a:xfrm>
                <a:off x="328337" y="1062365"/>
                <a:ext cx="8763000" cy="1015663"/>
              </a:xfrm>
              <a:prstGeom prst="rect">
                <a:avLst/>
              </a:prstGeom>
              <a:noFill/>
            </p:spPr>
            <p:txBody>
              <a:bodyPr wrap="square" rtlCol="0">
                <a:spAutoFit/>
              </a:bodyPr>
              <a:lstStyle/>
              <a:p>
                <a:pPr marL="342900" indent="-342900">
                  <a:buFont typeface="Arial" panose="020B0604020202020204" pitchFamily="34" charset="0"/>
                  <a:buChar char="•"/>
                </a:pPr>
                <a:r>
                  <a:rPr lang="en-US" altLang="zh-CN" sz="2000" dirty="0">
                    <a:solidFill>
                      <a:srgbClr val="FF0000"/>
                    </a:solidFill>
                  </a:rPr>
                  <a:t>Precision</a:t>
                </a:r>
                <a:r>
                  <a:rPr lang="en-US" altLang="zh-CN" sz="2000" dirty="0"/>
                  <a:t> </a:t>
                </a:r>
                <a:r>
                  <a:rPr lang="zh-CN" altLang="en-US" sz="2000" b="1" dirty="0">
                    <a:solidFill>
                      <a:srgbClr val="FF0000"/>
                    </a:solidFill>
                  </a:rPr>
                  <a:t>精准率</a:t>
                </a:r>
                <a:r>
                  <a:rPr lang="en-US" altLang="zh-CN" sz="2000" dirty="0"/>
                  <a:t>/</a:t>
                </a:r>
                <a:r>
                  <a:rPr lang="zh-CN" altLang="en-US" sz="2000" b="1" dirty="0">
                    <a:solidFill>
                      <a:srgbClr val="FF0000"/>
                    </a:solidFill>
                  </a:rPr>
                  <a:t>查准率 </a:t>
                </a:r>
                <a14:m>
                  <m:oMath xmlns:m="http://schemas.openxmlformats.org/officeDocument/2006/math">
                    <m:r>
                      <a:rPr lang="en-US" altLang="zh-CN" sz="2000" i="1" dirty="0">
                        <a:latin typeface="Cambria Math" panose="02040503050406030204" pitchFamily="18" charset="0"/>
                      </a:rPr>
                      <m:t>𝑇𝑃</m:t>
                    </m:r>
                    <m:r>
                      <a:rPr lang="en-US" altLang="zh-CN" sz="2000" i="1" dirty="0">
                        <a:latin typeface="Cambria Math" panose="02040503050406030204" pitchFamily="18" charset="0"/>
                      </a:rPr>
                      <m:t>/(</m:t>
                    </m:r>
                    <m:r>
                      <a:rPr lang="en-US" altLang="zh-CN" sz="2000" i="1" dirty="0">
                        <a:latin typeface="Cambria Math" panose="02040503050406030204" pitchFamily="18" charset="0"/>
                      </a:rPr>
                      <m:t>𝑇𝑃</m:t>
                    </m:r>
                    <m:r>
                      <a:rPr lang="en-US" altLang="zh-CN" sz="2000" i="1" dirty="0">
                        <a:latin typeface="Cambria Math" panose="02040503050406030204" pitchFamily="18" charset="0"/>
                      </a:rPr>
                      <m:t>+</m:t>
                    </m:r>
                    <m:r>
                      <a:rPr lang="en-US" altLang="zh-CN" sz="2000" i="1" dirty="0">
                        <a:latin typeface="Cambria Math" panose="02040503050406030204" pitchFamily="18" charset="0"/>
                      </a:rPr>
                      <m:t>𝐹𝑃</m:t>
                    </m:r>
                    <m:r>
                      <a:rPr lang="en-US" altLang="zh-CN" sz="2000" i="1" dirty="0">
                        <a:latin typeface="Cambria Math" panose="02040503050406030204" pitchFamily="18" charset="0"/>
                      </a:rPr>
                      <m:t>)</m:t>
                    </m:r>
                  </m:oMath>
                </a14:m>
                <a:endParaRPr lang="en-US" altLang="zh-CN" sz="2000" b="1" dirty="0">
                  <a:solidFill>
                    <a:srgbClr val="FF0000"/>
                  </a:solidFill>
                </a:endParaRPr>
              </a:p>
              <a:p>
                <a:pPr marL="342900" indent="-342900">
                  <a:buFont typeface="Arial" panose="020B0604020202020204" pitchFamily="34" charset="0"/>
                  <a:buChar char="•"/>
                </a:pPr>
                <a:r>
                  <a:rPr lang="en-US" altLang="zh-CN" sz="2000" dirty="0">
                    <a:solidFill>
                      <a:srgbClr val="FF0000"/>
                    </a:solidFill>
                  </a:rPr>
                  <a:t>Recall</a:t>
                </a:r>
                <a:r>
                  <a:rPr lang="en-US" altLang="zh-CN" sz="2000" dirty="0"/>
                  <a:t> </a:t>
                </a:r>
                <a:r>
                  <a:rPr lang="zh-CN" altLang="en-US" sz="2000" b="1" dirty="0">
                    <a:solidFill>
                      <a:srgbClr val="FF0000"/>
                    </a:solidFill>
                  </a:rPr>
                  <a:t>召回率</a:t>
                </a:r>
                <a:r>
                  <a:rPr lang="en-US" altLang="zh-CN" sz="2000" dirty="0"/>
                  <a:t>/</a:t>
                </a:r>
                <a:r>
                  <a:rPr lang="zh-CN" altLang="en-US" sz="2000" b="1" dirty="0">
                    <a:solidFill>
                      <a:srgbClr val="FF0000"/>
                    </a:solidFill>
                  </a:rPr>
                  <a:t>查全率 </a:t>
                </a:r>
                <a14:m>
                  <m:oMath xmlns:m="http://schemas.openxmlformats.org/officeDocument/2006/math">
                    <m:r>
                      <a:rPr lang="en-US" altLang="zh-CN" sz="2000" i="1" dirty="0" smtClean="0">
                        <a:latin typeface="Cambria Math" panose="02040503050406030204" pitchFamily="18" charset="0"/>
                      </a:rPr>
                      <m:t>𝑇𝑃</m:t>
                    </m:r>
                    <m:r>
                      <a:rPr lang="en-US" altLang="zh-CN" sz="2000" i="1" dirty="0" smtClean="0">
                        <a:latin typeface="Cambria Math" panose="02040503050406030204" pitchFamily="18" charset="0"/>
                      </a:rPr>
                      <m:t>/(</m:t>
                    </m:r>
                    <m:r>
                      <a:rPr lang="en-US" altLang="zh-CN" sz="2000" i="1" dirty="0" smtClean="0">
                        <a:latin typeface="Cambria Math" panose="02040503050406030204" pitchFamily="18" charset="0"/>
                      </a:rPr>
                      <m:t>𝑇𝑃</m:t>
                    </m:r>
                    <m:r>
                      <a:rPr lang="en-US" altLang="zh-CN" sz="2000" i="1" dirty="0" smtClean="0">
                        <a:latin typeface="Cambria Math" panose="02040503050406030204" pitchFamily="18" charset="0"/>
                      </a:rPr>
                      <m:t>+</m:t>
                    </m:r>
                    <m:r>
                      <a:rPr lang="en-US" altLang="zh-CN" sz="2000" i="1" dirty="0" smtClean="0">
                        <a:latin typeface="Cambria Math" panose="02040503050406030204" pitchFamily="18" charset="0"/>
                      </a:rPr>
                      <m:t>𝐹𝑁</m:t>
                    </m:r>
                    <m:r>
                      <a:rPr lang="en-US" altLang="zh-CN" sz="2000" i="1" dirty="0" smtClean="0">
                        <a:latin typeface="Cambria Math" panose="02040503050406030204" pitchFamily="18" charset="0"/>
                      </a:rPr>
                      <m:t>)</m:t>
                    </m:r>
                  </m:oMath>
                </a14:m>
                <a:endParaRPr lang="en-US" altLang="zh-CN" sz="2000" dirty="0"/>
              </a:p>
              <a:p>
                <a:pPr marL="800100" lvl="1" indent="-342900">
                  <a:buFont typeface="Arial" panose="020B0604020202020204" pitchFamily="34" charset="0"/>
                  <a:buChar char="•"/>
                </a:pPr>
                <a:endParaRPr lang="en-US" altLang="zh-CN" sz="2000" dirty="0"/>
              </a:p>
            </p:txBody>
          </p:sp>
        </mc:Choice>
        <mc:Fallback xmlns="">
          <p:sp>
            <p:nvSpPr>
              <p:cNvPr id="7" name="文本框 6"/>
              <p:cNvSpPr txBox="1">
                <a:spLocks noRot="1" noChangeAspect="1" noMove="1" noResize="1" noEditPoints="1" noAdjustHandles="1" noChangeArrowheads="1" noChangeShapeType="1" noTextEdit="1"/>
              </p:cNvSpPr>
              <p:nvPr/>
            </p:nvSpPr>
            <p:spPr>
              <a:xfrm>
                <a:off x="328337" y="1062365"/>
                <a:ext cx="8763000" cy="1015663"/>
              </a:xfrm>
              <a:prstGeom prst="rect">
                <a:avLst/>
              </a:prstGeom>
              <a:blipFill>
                <a:blip r:embed="rId2"/>
                <a:stretch>
                  <a:fillRect l="-626" t="-4790"/>
                </a:stretch>
              </a:blipFill>
            </p:spPr>
            <p:txBody>
              <a:bodyPr/>
              <a:lstStyle/>
              <a:p>
                <a:r>
                  <a:rPr lang="zh-CN" altLang="en-US">
                    <a:noFill/>
                  </a:rPr>
                  <a:t> </a:t>
                </a:r>
              </a:p>
            </p:txBody>
          </p:sp>
        </mc:Fallback>
      </mc:AlternateContent>
      <p:pic>
        <p:nvPicPr>
          <p:cNvPr id="6" name="图片 5" descr="屏幕剪辑">
            <a:extLst>
              <a:ext uri="{FF2B5EF4-FFF2-40B4-BE49-F238E27FC236}">
                <a16:creationId xmlns:a16="http://schemas.microsoft.com/office/drawing/2014/main" id="{79DE3726-093A-422B-85B4-FBE6F62A16D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10200" y="-42061"/>
            <a:ext cx="3733800" cy="1118178"/>
          </a:xfrm>
          <a:prstGeom prst="rect">
            <a:avLst/>
          </a:prstGeom>
        </p:spPr>
      </p:pic>
      <p:grpSp>
        <p:nvGrpSpPr>
          <p:cNvPr id="3" name="组合 2">
            <a:extLst>
              <a:ext uri="{FF2B5EF4-FFF2-40B4-BE49-F238E27FC236}">
                <a16:creationId xmlns:a16="http://schemas.microsoft.com/office/drawing/2014/main" id="{EFE653AC-044E-437F-AF57-1D1B976414C6}"/>
              </a:ext>
            </a:extLst>
          </p:cNvPr>
          <p:cNvGrpSpPr/>
          <p:nvPr/>
        </p:nvGrpSpPr>
        <p:grpSpPr>
          <a:xfrm>
            <a:off x="328337" y="2070668"/>
            <a:ext cx="8686800" cy="874560"/>
            <a:chOff x="323257" y="5020221"/>
            <a:chExt cx="8686800" cy="874560"/>
          </a:xfrm>
        </p:grpSpPr>
        <p:sp>
          <p:nvSpPr>
            <p:cNvPr id="20" name="矩形: 圆角 19">
              <a:extLst>
                <a:ext uri="{FF2B5EF4-FFF2-40B4-BE49-F238E27FC236}">
                  <a16:creationId xmlns:a16="http://schemas.microsoft.com/office/drawing/2014/main" id="{C538C843-4826-49D4-80E2-4A37D5F0462F}"/>
                </a:ext>
              </a:extLst>
            </p:cNvPr>
            <p:cNvSpPr/>
            <p:nvPr/>
          </p:nvSpPr>
          <p:spPr>
            <a:xfrm>
              <a:off x="323257" y="5020221"/>
              <a:ext cx="8686800" cy="874560"/>
            </a:xfrm>
            <a:prstGeom prst="roundRect">
              <a:avLst>
                <a:gd name="adj" fmla="val 3573"/>
              </a:avLst>
            </a:prstGeom>
            <a:solidFill>
              <a:srgbClr val="F9E6E6"/>
            </a:solidFill>
            <a:ln>
              <a:solidFill>
                <a:srgbClr val="FFFBD6"/>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800" dirty="0">
                <a:solidFill>
                  <a:schemeClr val="tx1"/>
                </a:solidFill>
              </a:endParaRPr>
            </a:p>
          </p:txBody>
        </p:sp>
        <mc:AlternateContent xmlns:mc="http://schemas.openxmlformats.org/markup-compatibility/2006" xmlns:a14="http://schemas.microsoft.com/office/drawing/2010/main">
          <mc:Choice Requires="a14">
            <p:sp>
              <p:nvSpPr>
                <p:cNvPr id="21" name="矩形 20">
                  <a:extLst>
                    <a:ext uri="{FF2B5EF4-FFF2-40B4-BE49-F238E27FC236}">
                      <a16:creationId xmlns:a16="http://schemas.microsoft.com/office/drawing/2014/main" id="{EC3DEBCD-841C-420A-BE99-896F4D0107BE}"/>
                    </a:ext>
                  </a:extLst>
                </p:cNvPr>
                <p:cNvSpPr/>
                <p:nvPr/>
              </p:nvSpPr>
              <p:spPr>
                <a:xfrm>
                  <a:off x="475657" y="5031336"/>
                  <a:ext cx="8458200" cy="830997"/>
                </a:xfrm>
                <a:prstGeom prst="rect">
                  <a:avLst/>
                </a:prstGeom>
              </p:spPr>
              <p:txBody>
                <a:bodyPr wrap="square">
                  <a:spAutoFit/>
                </a:bodyPr>
                <a:lstStyle/>
                <a:p>
                  <a:pPr algn="just"/>
                  <a:r>
                    <a:rPr lang="en-US" altLang="zh-CN" sz="2400" dirty="0"/>
                    <a:t>Typically, precision and recall are contradictory measures. </a:t>
                  </a:r>
                </a:p>
                <a:p>
                  <a:pPr algn="just"/>
                  <a:r>
                    <a:rPr lang="en-US" altLang="zh-CN" sz="2400" dirty="0"/>
                    <a:t>Precision </a:t>
                  </a:r>
                  <a14:m>
                    <m:oMath xmlns:m="http://schemas.openxmlformats.org/officeDocument/2006/math">
                      <m:r>
                        <a:rPr lang="en-US" altLang="zh-CN" sz="2400" i="1">
                          <a:latin typeface="Cambria Math" panose="02040503050406030204" pitchFamily="18" charset="0"/>
                          <a:ea typeface="Cambria Math" panose="02040503050406030204" pitchFamily="18" charset="0"/>
                        </a:rPr>
                        <m:t>↑</m:t>
                      </m:r>
                    </m:oMath>
                  </a14:m>
                  <a:r>
                    <a:rPr lang="en-US" altLang="zh-CN" sz="2400" dirty="0"/>
                    <a:t> </a:t>
                  </a:r>
                  <a14:m>
                    <m:oMath xmlns:m="http://schemas.openxmlformats.org/officeDocument/2006/math">
                      <m:r>
                        <a:rPr lang="en-US" altLang="zh-CN" sz="2400" i="1">
                          <a:latin typeface="Cambria Math" panose="02040503050406030204" pitchFamily="18" charset="0"/>
                          <a:ea typeface="Cambria Math" panose="02040503050406030204" pitchFamily="18" charset="0"/>
                        </a:rPr>
                        <m:t>→</m:t>
                      </m:r>
                    </m:oMath>
                  </a14:m>
                  <a:r>
                    <a:rPr lang="zh-CN" altLang="en-US" sz="2400" dirty="0"/>
                    <a:t> </a:t>
                  </a:r>
                  <a:r>
                    <a:rPr lang="en-US" altLang="zh-CN" sz="2400" dirty="0"/>
                    <a:t>recall </a:t>
                  </a:r>
                  <a14:m>
                    <m:oMath xmlns:m="http://schemas.openxmlformats.org/officeDocument/2006/math">
                      <m:r>
                        <a:rPr lang="en-US" altLang="zh-CN" sz="2400" i="1">
                          <a:latin typeface="Cambria Math" panose="02040503050406030204" pitchFamily="18" charset="0"/>
                          <a:ea typeface="Cambria Math" panose="02040503050406030204" pitchFamily="18" charset="0"/>
                        </a:rPr>
                        <m:t>↓</m:t>
                      </m:r>
                    </m:oMath>
                  </a14:m>
                  <a:r>
                    <a:rPr lang="zh-CN" altLang="en-US" sz="2400" dirty="0"/>
                    <a:t>  </a:t>
                  </a:r>
                  <a:r>
                    <a:rPr lang="en-US" altLang="zh-CN" sz="2400" dirty="0"/>
                    <a:t>why?</a:t>
                  </a:r>
                  <a:endParaRPr lang="zh-CN" altLang="en-US" sz="2400" dirty="0"/>
                </a:p>
              </p:txBody>
            </p:sp>
          </mc:Choice>
          <mc:Fallback xmlns="">
            <p:sp>
              <p:nvSpPr>
                <p:cNvPr id="21" name="矩形 20">
                  <a:extLst>
                    <a:ext uri="{FF2B5EF4-FFF2-40B4-BE49-F238E27FC236}">
                      <a16:creationId xmlns:a16="http://schemas.microsoft.com/office/drawing/2014/main" id="{EC3DEBCD-841C-420A-BE99-896F4D0107BE}"/>
                    </a:ext>
                  </a:extLst>
                </p:cNvPr>
                <p:cNvSpPr>
                  <a:spLocks noRot="1" noChangeAspect="1" noMove="1" noResize="1" noEditPoints="1" noAdjustHandles="1" noChangeArrowheads="1" noChangeShapeType="1" noTextEdit="1"/>
                </p:cNvSpPr>
                <p:nvPr/>
              </p:nvSpPr>
              <p:spPr>
                <a:xfrm>
                  <a:off x="475657" y="5031336"/>
                  <a:ext cx="8458200" cy="830997"/>
                </a:xfrm>
                <a:prstGeom prst="rect">
                  <a:avLst/>
                </a:prstGeom>
                <a:blipFill>
                  <a:blip r:embed="rId4"/>
                  <a:stretch>
                    <a:fillRect l="-1154" t="-5109" b="-15328"/>
                  </a:stretch>
                </a:blipFill>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13" name="矩形 12">
                <a:extLst>
                  <a:ext uri="{FF2B5EF4-FFF2-40B4-BE49-F238E27FC236}">
                    <a16:creationId xmlns:a16="http://schemas.microsoft.com/office/drawing/2014/main" id="{C80EE813-E7FA-4E72-8426-56881C07EB9F}"/>
                  </a:ext>
                </a:extLst>
              </p:cNvPr>
              <p:cNvSpPr/>
              <p:nvPr/>
            </p:nvSpPr>
            <p:spPr>
              <a:xfrm>
                <a:off x="430868" y="3122592"/>
                <a:ext cx="8481738" cy="3416320"/>
              </a:xfrm>
              <a:prstGeom prst="rect">
                <a:avLst/>
              </a:prstGeom>
            </p:spPr>
            <p:txBody>
              <a:bodyPr wrap="square">
                <a:spAutoFit/>
              </a:bodyPr>
              <a:lstStyle/>
              <a:p>
                <a:pPr marL="342900" indent="-342900" algn="just">
                  <a:buFont typeface="Arial" panose="020B0604020202020204" pitchFamily="34" charset="0"/>
                  <a:buChar char="•"/>
                </a:pPr>
                <a:r>
                  <a:rPr lang="en-US" altLang="zh-CN" sz="2400" dirty="0"/>
                  <a:t>To retrieve the relevant documents as many as possible (increase recall),  we can retrieve documents as many as possible. The extreme case is that all documents will be retrieved, where all relevant documents will be definitely  retrieved (i.e., recall=1). Yet, the precision will be rather low. (Recall </a:t>
                </a:r>
                <a14:m>
                  <m:oMath xmlns:m="http://schemas.openxmlformats.org/officeDocument/2006/math">
                    <m:r>
                      <a:rPr lang="en-US" altLang="zh-CN" sz="2400" i="1">
                        <a:latin typeface="Cambria Math" panose="02040503050406030204" pitchFamily="18" charset="0"/>
                        <a:ea typeface="Cambria Math" panose="02040503050406030204" pitchFamily="18" charset="0"/>
                      </a:rPr>
                      <m:t>↑</m:t>
                    </m:r>
                  </m:oMath>
                </a14:m>
                <a:r>
                  <a:rPr lang="en-US" altLang="zh-CN" sz="2400" dirty="0"/>
                  <a:t> </a:t>
                </a:r>
                <a14:m>
                  <m:oMath xmlns:m="http://schemas.openxmlformats.org/officeDocument/2006/math">
                    <m:r>
                      <a:rPr lang="en-US" altLang="zh-CN" sz="2400" i="1">
                        <a:latin typeface="Cambria Math" panose="02040503050406030204" pitchFamily="18" charset="0"/>
                        <a:ea typeface="Cambria Math" panose="02040503050406030204" pitchFamily="18" charset="0"/>
                      </a:rPr>
                      <m:t>→</m:t>
                    </m:r>
                  </m:oMath>
                </a14:m>
                <a:r>
                  <a:rPr lang="zh-CN" altLang="en-US" sz="2400" dirty="0"/>
                  <a:t> </a:t>
                </a:r>
                <a:r>
                  <a:rPr lang="en-US" altLang="zh-CN" sz="2400" dirty="0"/>
                  <a:t>precision </a:t>
                </a:r>
                <a14:m>
                  <m:oMath xmlns:m="http://schemas.openxmlformats.org/officeDocument/2006/math">
                    <m:r>
                      <a:rPr lang="en-US" altLang="zh-CN" sz="2400" i="1">
                        <a:latin typeface="Cambria Math" panose="02040503050406030204" pitchFamily="18" charset="0"/>
                        <a:ea typeface="Cambria Math" panose="02040503050406030204" pitchFamily="18" charset="0"/>
                      </a:rPr>
                      <m:t>↓</m:t>
                    </m:r>
                  </m:oMath>
                </a14:m>
                <a:r>
                  <a:rPr lang="en-US" altLang="zh-CN" sz="2400" dirty="0"/>
                  <a:t>)</a:t>
                </a:r>
              </a:p>
              <a:p>
                <a:pPr marL="342900" indent="-342900" algn="just">
                  <a:buFont typeface="Arial" panose="020B0604020202020204" pitchFamily="34" charset="0"/>
                  <a:buChar char="•"/>
                </a:pPr>
                <a:r>
                  <a:rPr lang="en-US" altLang="zh-CN" sz="2400" dirty="0"/>
                  <a:t>To increase the precision, we will only retrieve documents with the high confidence, which inevitably misses some relevant documents and lowers the recall. (Precision </a:t>
                </a:r>
                <a14:m>
                  <m:oMath xmlns:m="http://schemas.openxmlformats.org/officeDocument/2006/math">
                    <m:r>
                      <a:rPr lang="en-US" altLang="zh-CN" sz="2400" i="1">
                        <a:latin typeface="Cambria Math" panose="02040503050406030204" pitchFamily="18" charset="0"/>
                        <a:ea typeface="Cambria Math" panose="02040503050406030204" pitchFamily="18" charset="0"/>
                      </a:rPr>
                      <m:t>↑</m:t>
                    </m:r>
                  </m:oMath>
                </a14:m>
                <a:r>
                  <a:rPr lang="en-US" altLang="zh-CN" sz="2400" dirty="0"/>
                  <a:t> </a:t>
                </a:r>
                <a14:m>
                  <m:oMath xmlns:m="http://schemas.openxmlformats.org/officeDocument/2006/math">
                    <m:r>
                      <a:rPr lang="en-US" altLang="zh-CN" sz="2400" i="1">
                        <a:latin typeface="Cambria Math" panose="02040503050406030204" pitchFamily="18" charset="0"/>
                        <a:ea typeface="Cambria Math" panose="02040503050406030204" pitchFamily="18" charset="0"/>
                      </a:rPr>
                      <m:t>→</m:t>
                    </m:r>
                  </m:oMath>
                </a14:m>
                <a:r>
                  <a:rPr lang="zh-CN" altLang="en-US" sz="2400" dirty="0"/>
                  <a:t> </a:t>
                </a:r>
                <a:r>
                  <a:rPr lang="en-US" altLang="zh-CN" sz="2400" dirty="0"/>
                  <a:t>recall </a:t>
                </a:r>
                <a14:m>
                  <m:oMath xmlns:m="http://schemas.openxmlformats.org/officeDocument/2006/math">
                    <m:r>
                      <a:rPr lang="en-US" altLang="zh-CN" sz="2400" i="1">
                        <a:latin typeface="Cambria Math" panose="02040503050406030204" pitchFamily="18" charset="0"/>
                        <a:ea typeface="Cambria Math" panose="02040503050406030204" pitchFamily="18" charset="0"/>
                      </a:rPr>
                      <m:t>↓</m:t>
                    </m:r>
                  </m:oMath>
                </a14:m>
                <a:r>
                  <a:rPr lang="en-US" altLang="zh-CN" sz="2400" dirty="0"/>
                  <a:t>)</a:t>
                </a:r>
                <a:r>
                  <a:rPr lang="zh-CN" altLang="en-US" sz="2400" dirty="0"/>
                  <a:t> </a:t>
                </a:r>
              </a:p>
            </p:txBody>
          </p:sp>
        </mc:Choice>
        <mc:Fallback xmlns="">
          <p:sp>
            <p:nvSpPr>
              <p:cNvPr id="13" name="矩形 12">
                <a:extLst>
                  <a:ext uri="{FF2B5EF4-FFF2-40B4-BE49-F238E27FC236}">
                    <a16:creationId xmlns:a16="http://schemas.microsoft.com/office/drawing/2014/main" id="{C80EE813-E7FA-4E72-8426-56881C07EB9F}"/>
                  </a:ext>
                </a:extLst>
              </p:cNvPr>
              <p:cNvSpPr>
                <a:spLocks noRot="1" noChangeAspect="1" noMove="1" noResize="1" noEditPoints="1" noAdjustHandles="1" noChangeArrowheads="1" noChangeShapeType="1" noTextEdit="1"/>
              </p:cNvSpPr>
              <p:nvPr/>
            </p:nvSpPr>
            <p:spPr>
              <a:xfrm>
                <a:off x="430868" y="3122592"/>
                <a:ext cx="8481738" cy="3416320"/>
              </a:xfrm>
              <a:prstGeom prst="rect">
                <a:avLst/>
              </a:prstGeom>
              <a:blipFill>
                <a:blip r:embed="rId5"/>
                <a:stretch>
                  <a:fillRect l="-1006" t="-1426" r="-1078" b="-303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2838115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圆角 17">
            <a:extLst>
              <a:ext uri="{FF2B5EF4-FFF2-40B4-BE49-F238E27FC236}">
                <a16:creationId xmlns:a16="http://schemas.microsoft.com/office/drawing/2014/main" id="{B54D4A84-9511-4B28-AC78-4774474F5E3F}"/>
              </a:ext>
            </a:extLst>
          </p:cNvPr>
          <p:cNvSpPr/>
          <p:nvPr/>
        </p:nvSpPr>
        <p:spPr>
          <a:xfrm>
            <a:off x="328337" y="2448271"/>
            <a:ext cx="8686800" cy="2012137"/>
          </a:xfrm>
          <a:prstGeom prst="roundRect">
            <a:avLst>
              <a:gd name="adj" fmla="val 3573"/>
            </a:avLst>
          </a:prstGeom>
          <a:solidFill>
            <a:srgbClr val="F9E6E6"/>
          </a:solidFill>
          <a:ln>
            <a:solidFill>
              <a:srgbClr val="FFFBD6"/>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800" dirty="0">
              <a:solidFill>
                <a:schemeClr val="tx1"/>
              </a:solidFill>
            </a:endParaRPr>
          </a:p>
        </p:txBody>
      </p:sp>
      <p:sp>
        <p:nvSpPr>
          <p:cNvPr id="8" name="矩形: 圆角 7">
            <a:extLst>
              <a:ext uri="{FF2B5EF4-FFF2-40B4-BE49-F238E27FC236}">
                <a16:creationId xmlns:a16="http://schemas.microsoft.com/office/drawing/2014/main" id="{B0D91A0F-DF4D-4A49-8862-DBBAFF3F415C}"/>
              </a:ext>
            </a:extLst>
          </p:cNvPr>
          <p:cNvSpPr/>
          <p:nvPr/>
        </p:nvSpPr>
        <p:spPr>
          <a:xfrm>
            <a:off x="328337" y="976805"/>
            <a:ext cx="8686800" cy="1365534"/>
          </a:xfrm>
          <a:prstGeom prst="roundRect">
            <a:avLst>
              <a:gd name="adj" fmla="val 3573"/>
            </a:avLst>
          </a:prstGeom>
          <a:solidFill>
            <a:srgbClr val="FFFBD6"/>
          </a:solidFill>
          <a:ln>
            <a:solidFill>
              <a:srgbClr val="FFFBD6"/>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800" dirty="0">
              <a:solidFill>
                <a:schemeClr val="tx1"/>
              </a:solidFill>
            </a:endParaRPr>
          </a:p>
        </p:txBody>
      </p:sp>
      <p:sp>
        <p:nvSpPr>
          <p:cNvPr id="4" name="灯片编号占位符 3"/>
          <p:cNvSpPr>
            <a:spLocks noGrp="1"/>
          </p:cNvSpPr>
          <p:nvPr>
            <p:ph type="sldNum" sz="quarter" idx="12"/>
          </p:nvPr>
        </p:nvSpPr>
        <p:spPr/>
        <p:txBody>
          <a:bodyPr/>
          <a:lstStyle/>
          <a:p>
            <a:fld id="{B6F15528-21DE-4FAA-801E-634DDDAF4B2B}" type="slidenum">
              <a:rPr lang="en-US" smtClean="0"/>
              <a:pPr/>
              <a:t>23</a:t>
            </a:fld>
            <a:endParaRPr lang="en-US" dirty="0"/>
          </a:p>
        </p:txBody>
      </p:sp>
      <p:sp>
        <p:nvSpPr>
          <p:cNvPr id="5" name="文本框 4"/>
          <p:cNvSpPr txBox="1"/>
          <p:nvPr/>
        </p:nvSpPr>
        <p:spPr>
          <a:xfrm>
            <a:off x="228600" y="76200"/>
            <a:ext cx="3348161" cy="754694"/>
          </a:xfrm>
          <a:prstGeom prst="rect">
            <a:avLst/>
          </a:prstGeom>
          <a:noFill/>
        </p:spPr>
        <p:txBody>
          <a:bodyPr wrap="none" rtlCol="0">
            <a:spAutoFit/>
          </a:bodyPr>
          <a:lstStyle/>
          <a:p>
            <a:pPr>
              <a:lnSpc>
                <a:spcPct val="150000"/>
              </a:lnSpc>
            </a:pPr>
            <a:r>
              <a:rPr lang="en-US" altLang="zh-CN" sz="3200" b="1" dirty="0"/>
              <a:t>Evaluation Metrics</a:t>
            </a:r>
            <a:endParaRPr lang="en-US" sz="3200" b="1" dirty="0"/>
          </a:p>
        </p:txBody>
      </p:sp>
      <mc:AlternateContent xmlns:mc="http://schemas.openxmlformats.org/markup-compatibility/2006" xmlns:a14="http://schemas.microsoft.com/office/drawing/2010/main">
        <mc:Choice Requires="a14">
          <p:sp>
            <p:nvSpPr>
              <p:cNvPr id="7" name="文本框 6"/>
              <p:cNvSpPr txBox="1"/>
              <p:nvPr/>
            </p:nvSpPr>
            <p:spPr>
              <a:xfrm>
                <a:off x="411480" y="2438400"/>
                <a:ext cx="8763000" cy="707886"/>
              </a:xfrm>
              <a:prstGeom prst="rect">
                <a:avLst/>
              </a:prstGeom>
              <a:noFill/>
            </p:spPr>
            <p:txBody>
              <a:bodyPr wrap="square" rtlCol="0">
                <a:spAutoFit/>
              </a:bodyPr>
              <a:lstStyle/>
              <a:p>
                <a:pPr marL="342900" indent="-342900">
                  <a:buFont typeface="Arial" panose="020B0604020202020204" pitchFamily="34" charset="0"/>
                  <a:buChar char="•"/>
                </a:pPr>
                <a14:m>
                  <m:oMath xmlns:m="http://schemas.openxmlformats.org/officeDocument/2006/math">
                    <m:sSub>
                      <m:sSubPr>
                        <m:ctrlPr>
                          <a:rPr lang="en-US" altLang="zh-CN" sz="2000" i="1" dirty="0" smtClean="0">
                            <a:solidFill>
                              <a:srgbClr val="FF0000"/>
                            </a:solidFill>
                            <a:latin typeface="Cambria Math" panose="02040503050406030204" pitchFamily="18" charset="0"/>
                          </a:rPr>
                        </m:ctrlPr>
                      </m:sSubPr>
                      <m:e>
                        <m:r>
                          <a:rPr lang="en-US" altLang="zh-CN" sz="2000" i="1" dirty="0">
                            <a:solidFill>
                              <a:srgbClr val="FF0000"/>
                            </a:solidFill>
                            <a:latin typeface="Cambria Math" panose="02040503050406030204" pitchFamily="18" charset="0"/>
                          </a:rPr>
                          <m:t>𝐹</m:t>
                        </m:r>
                      </m:e>
                      <m:sub>
                        <m:r>
                          <a:rPr lang="en-US" altLang="zh-CN" sz="2000" i="1" dirty="0">
                            <a:solidFill>
                              <a:srgbClr val="FF0000"/>
                            </a:solidFill>
                            <a:latin typeface="Cambria Math" panose="02040503050406030204" pitchFamily="18" charset="0"/>
                          </a:rPr>
                          <m:t>1</m:t>
                        </m:r>
                      </m:sub>
                    </m:sSub>
                  </m:oMath>
                </a14:m>
                <a:r>
                  <a:rPr lang="en-US" altLang="zh-CN" sz="2000" dirty="0">
                    <a:solidFill>
                      <a:srgbClr val="FF0000"/>
                    </a:solidFill>
                  </a:rPr>
                  <a:t>-measure</a:t>
                </a:r>
                <a:r>
                  <a:rPr lang="en-US" altLang="zh-CN" sz="2000" dirty="0"/>
                  <a:t>: the harmonic mean (</a:t>
                </a:r>
                <a:r>
                  <a:rPr lang="zh-CN" altLang="en-US" sz="2000" dirty="0"/>
                  <a:t>调和平均</a:t>
                </a:r>
                <a:r>
                  <a:rPr lang="en-US" altLang="zh-CN" sz="2000" dirty="0"/>
                  <a:t>) of precision and recall</a:t>
                </a:r>
              </a:p>
              <a:p>
                <a:pPr marL="800100" lvl="1" indent="-342900">
                  <a:buFont typeface="Arial" panose="020B0604020202020204" pitchFamily="34" charset="0"/>
                  <a:buChar char="•"/>
                </a:pPr>
                <a:endParaRPr lang="en-US" altLang="zh-CN" sz="2000" dirty="0"/>
              </a:p>
            </p:txBody>
          </p:sp>
        </mc:Choice>
        <mc:Fallback xmlns="">
          <p:sp>
            <p:nvSpPr>
              <p:cNvPr id="7" name="文本框 6"/>
              <p:cNvSpPr txBox="1">
                <a:spLocks noRot="1" noChangeAspect="1" noMove="1" noResize="1" noEditPoints="1" noAdjustHandles="1" noChangeArrowheads="1" noChangeShapeType="1" noTextEdit="1"/>
              </p:cNvSpPr>
              <p:nvPr/>
            </p:nvSpPr>
            <p:spPr>
              <a:xfrm>
                <a:off x="411480" y="2438400"/>
                <a:ext cx="8763000" cy="707886"/>
              </a:xfrm>
              <a:prstGeom prst="rect">
                <a:avLst/>
              </a:prstGeom>
              <a:blipFill>
                <a:blip r:embed="rId2"/>
                <a:stretch>
                  <a:fillRect l="-626" t="-6897"/>
                </a:stretch>
              </a:blipFill>
            </p:spPr>
            <p:txBody>
              <a:bodyPr/>
              <a:lstStyle/>
              <a:p>
                <a:r>
                  <a:rPr lang="zh-CN" altLang="en-US">
                    <a:noFill/>
                  </a:rPr>
                  <a:t> </a:t>
                </a:r>
              </a:p>
            </p:txBody>
          </p:sp>
        </mc:Fallback>
      </mc:AlternateContent>
      <p:pic>
        <p:nvPicPr>
          <p:cNvPr id="6" name="图片 5" descr="屏幕剪辑">
            <a:extLst>
              <a:ext uri="{FF2B5EF4-FFF2-40B4-BE49-F238E27FC236}">
                <a16:creationId xmlns:a16="http://schemas.microsoft.com/office/drawing/2014/main" id="{79DE3726-093A-422B-85B4-FBE6F62A16D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10200" y="-42061"/>
            <a:ext cx="3733800" cy="1118178"/>
          </a:xfrm>
          <a:prstGeom prst="rect">
            <a:avLst/>
          </a:prstGeom>
        </p:spPr>
      </p:pic>
      <mc:AlternateContent xmlns:mc="http://schemas.openxmlformats.org/markup-compatibility/2006" xmlns:a14="http://schemas.microsoft.com/office/drawing/2010/main">
        <mc:Choice Requires="a14">
          <p:sp>
            <p:nvSpPr>
              <p:cNvPr id="11" name="矩形 10">
                <a:extLst>
                  <a:ext uri="{FF2B5EF4-FFF2-40B4-BE49-F238E27FC236}">
                    <a16:creationId xmlns:a16="http://schemas.microsoft.com/office/drawing/2014/main" id="{99C73CA7-078F-4D10-9F4A-70767CA00BAA}"/>
                  </a:ext>
                </a:extLst>
              </p:cNvPr>
              <p:cNvSpPr/>
              <p:nvPr/>
            </p:nvSpPr>
            <p:spPr>
              <a:xfrm>
                <a:off x="1365180" y="2860963"/>
                <a:ext cx="3077957" cy="66492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𝐹</m:t>
                          </m:r>
                        </m:e>
                        <m:sub>
                          <m:r>
                            <a:rPr lang="en-US" altLang="zh-CN" i="1" dirty="0">
                              <a:latin typeface="Cambria Math" panose="02040503050406030204" pitchFamily="18" charset="0"/>
                            </a:rPr>
                            <m:t>1</m:t>
                          </m:r>
                        </m:sub>
                      </m:sSub>
                      <m:r>
                        <a:rPr lang="en-US" altLang="zh-CN" i="1" dirty="0">
                          <a:latin typeface="Cambria Math" panose="02040503050406030204" pitchFamily="18" charset="0"/>
                        </a:rPr>
                        <m:t>=</m:t>
                      </m:r>
                      <m:f>
                        <m:fPr>
                          <m:ctrlPr>
                            <a:rPr lang="en-US" altLang="zh-CN" i="1">
                              <a:latin typeface="Cambria Math" panose="02040503050406030204" pitchFamily="18" charset="0"/>
                            </a:rPr>
                          </m:ctrlPr>
                        </m:fPr>
                        <m:num>
                          <m:r>
                            <a:rPr lang="en-US" altLang="zh-CN" i="1">
                              <a:latin typeface="Cambria Math" panose="02040503050406030204" pitchFamily="18" charset="0"/>
                            </a:rPr>
                            <m:t>2 </m:t>
                          </m:r>
                          <m:r>
                            <a:rPr lang="en-US" altLang="zh-CN" i="1">
                              <a:latin typeface="Cambria Math" panose="02040503050406030204" pitchFamily="18" charset="0"/>
                              <a:ea typeface="Cambria Math" panose="02040503050406030204" pitchFamily="18" charset="0"/>
                            </a:rPr>
                            <m:t>× </m:t>
                          </m:r>
                          <m:r>
                            <a:rPr lang="en-US" altLang="zh-CN" i="1">
                              <a:latin typeface="Cambria Math" panose="02040503050406030204" pitchFamily="18" charset="0"/>
                              <a:ea typeface="Cambria Math" panose="02040503050406030204" pitchFamily="18" charset="0"/>
                            </a:rPr>
                            <m:t>𝑝𝑟𝑒𝑠𝑖𝑜𝑛</m:t>
                          </m:r>
                          <m:r>
                            <a:rPr lang="en-US" altLang="zh-CN" i="1">
                              <a:latin typeface="Cambria Math" panose="02040503050406030204" pitchFamily="18" charset="0"/>
                              <a:ea typeface="Cambria Math" panose="02040503050406030204" pitchFamily="18" charset="0"/>
                            </a:rPr>
                            <m:t> × </m:t>
                          </m:r>
                          <m:r>
                            <a:rPr lang="en-US" altLang="zh-CN" i="1">
                              <a:latin typeface="Cambria Math" panose="02040503050406030204" pitchFamily="18" charset="0"/>
                              <a:ea typeface="Cambria Math" panose="02040503050406030204" pitchFamily="18" charset="0"/>
                            </a:rPr>
                            <m:t>𝑟𝑒𝑐𝑎𝑙𝑙</m:t>
                          </m:r>
                          <m:r>
                            <a:rPr lang="en-US" altLang="zh-CN" i="1">
                              <a:latin typeface="Cambria Math" panose="02040503050406030204" pitchFamily="18" charset="0"/>
                              <a:ea typeface="Cambria Math" panose="02040503050406030204" pitchFamily="18" charset="0"/>
                            </a:rPr>
                            <m:t> </m:t>
                          </m:r>
                        </m:num>
                        <m:den>
                          <m:r>
                            <a:rPr lang="en-US" altLang="zh-CN" i="1">
                              <a:latin typeface="Cambria Math" panose="02040503050406030204" pitchFamily="18" charset="0"/>
                            </a:rPr>
                            <m:t>𝑝𝑟𝑒𝑐𝑖𝑠𝑖𝑜𝑛</m:t>
                          </m:r>
                          <m:r>
                            <a:rPr lang="en-US" altLang="zh-CN" i="1">
                              <a:latin typeface="Cambria Math" panose="02040503050406030204" pitchFamily="18" charset="0"/>
                            </a:rPr>
                            <m:t>+</m:t>
                          </m:r>
                          <m:r>
                            <a:rPr lang="en-US" altLang="zh-CN" i="1">
                              <a:latin typeface="Cambria Math" panose="02040503050406030204" pitchFamily="18" charset="0"/>
                            </a:rPr>
                            <m:t>𝑟𝑒𝑐𝑎𝑙𝑙</m:t>
                          </m:r>
                        </m:den>
                      </m:f>
                    </m:oMath>
                  </m:oMathPara>
                </a14:m>
                <a:endParaRPr lang="zh-CN" altLang="en-US" dirty="0"/>
              </a:p>
            </p:txBody>
          </p:sp>
        </mc:Choice>
        <mc:Fallback xmlns="">
          <p:sp>
            <p:nvSpPr>
              <p:cNvPr id="11" name="矩形 10">
                <a:extLst>
                  <a:ext uri="{FF2B5EF4-FFF2-40B4-BE49-F238E27FC236}">
                    <a16:creationId xmlns:a16="http://schemas.microsoft.com/office/drawing/2014/main" id="{99C73CA7-078F-4D10-9F4A-70767CA00BAA}"/>
                  </a:ext>
                </a:extLst>
              </p:cNvPr>
              <p:cNvSpPr>
                <a:spLocks noRot="1" noChangeAspect="1" noMove="1" noResize="1" noEditPoints="1" noAdjustHandles="1" noChangeArrowheads="1" noChangeShapeType="1" noTextEdit="1"/>
              </p:cNvSpPr>
              <p:nvPr/>
            </p:nvSpPr>
            <p:spPr>
              <a:xfrm>
                <a:off x="1365180" y="2860963"/>
                <a:ext cx="3077957" cy="664926"/>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矩形 11">
                <a:extLst>
                  <a:ext uri="{FF2B5EF4-FFF2-40B4-BE49-F238E27FC236}">
                    <a16:creationId xmlns:a16="http://schemas.microsoft.com/office/drawing/2014/main" id="{4FDDD39A-85E1-48BE-B5A7-EB589B714E51}"/>
                  </a:ext>
                </a:extLst>
              </p:cNvPr>
              <p:cNvSpPr/>
              <p:nvPr/>
            </p:nvSpPr>
            <p:spPr>
              <a:xfrm>
                <a:off x="4443137" y="2860963"/>
                <a:ext cx="2972159" cy="65941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en-US" altLang="zh-CN" b="0" i="1" dirty="0" smtClean="0">
                              <a:latin typeface="Cambria Math" panose="02040503050406030204" pitchFamily="18" charset="0"/>
                            </a:rPr>
                          </m:ctrlPr>
                        </m:fPr>
                        <m:num>
                          <m:r>
                            <a:rPr lang="en-US" altLang="zh-CN" b="0" i="1" dirty="0" smtClean="0">
                              <a:latin typeface="Cambria Math" panose="02040503050406030204" pitchFamily="18" charset="0"/>
                            </a:rPr>
                            <m:t>1</m:t>
                          </m:r>
                        </m:num>
                        <m:den>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𝐹</m:t>
                              </m:r>
                            </m:e>
                            <m:sub>
                              <m:r>
                                <a:rPr lang="en-US" altLang="zh-CN" i="1" dirty="0">
                                  <a:latin typeface="Cambria Math" panose="02040503050406030204" pitchFamily="18" charset="0"/>
                                </a:rPr>
                                <m:t>1</m:t>
                              </m:r>
                            </m:sub>
                          </m:sSub>
                        </m:den>
                      </m:f>
                      <m:r>
                        <a:rPr lang="en-US" altLang="zh-CN" i="1" dirty="0">
                          <a:latin typeface="Cambria Math" panose="02040503050406030204" pitchFamily="18" charset="0"/>
                        </a:rPr>
                        <m:t>=</m:t>
                      </m:r>
                      <m:f>
                        <m:fPr>
                          <m:ctrlPr>
                            <a:rPr lang="en-US" altLang="zh-CN" i="1">
                              <a:latin typeface="Cambria Math" panose="02040503050406030204" pitchFamily="18" charset="0"/>
                            </a:rPr>
                          </m:ctrlPr>
                        </m:fPr>
                        <m:num>
                          <m:r>
                            <a:rPr lang="en-US" altLang="zh-CN" i="1">
                              <a:latin typeface="Cambria Math" panose="02040503050406030204" pitchFamily="18" charset="0"/>
                            </a:rPr>
                            <m:t>1</m:t>
                          </m:r>
                        </m:num>
                        <m:den>
                          <m:r>
                            <a:rPr lang="en-US" altLang="zh-CN" i="1">
                              <a:latin typeface="Cambria Math" panose="02040503050406030204" pitchFamily="18" charset="0"/>
                            </a:rPr>
                            <m:t>2</m:t>
                          </m:r>
                        </m:den>
                      </m:f>
                      <m:r>
                        <a:rPr lang="en-US" altLang="zh-CN" b="0" i="1" smtClean="0">
                          <a:latin typeface="Cambria Math" panose="02040503050406030204" pitchFamily="18" charset="0"/>
                        </a:rPr>
                        <m:t>(</m:t>
                      </m:r>
                      <m:f>
                        <m:fPr>
                          <m:ctrlPr>
                            <a:rPr lang="en-US" altLang="zh-CN" i="1">
                              <a:latin typeface="Cambria Math" panose="02040503050406030204" pitchFamily="18" charset="0"/>
                            </a:rPr>
                          </m:ctrlPr>
                        </m:fPr>
                        <m:num>
                          <m:r>
                            <a:rPr lang="en-US" altLang="zh-CN" i="1">
                              <a:latin typeface="Cambria Math" panose="02040503050406030204" pitchFamily="18" charset="0"/>
                            </a:rPr>
                            <m:t>1</m:t>
                          </m:r>
                        </m:num>
                        <m:den>
                          <m:r>
                            <a:rPr lang="en-US" altLang="zh-CN" i="1">
                              <a:latin typeface="Cambria Math" panose="02040503050406030204" pitchFamily="18" charset="0"/>
                            </a:rPr>
                            <m:t>𝑝𝑟𝑒𝑐𝑖𝑠𝑖𝑜𝑛</m:t>
                          </m:r>
                        </m:den>
                      </m:f>
                      <m:r>
                        <a:rPr lang="en-US" altLang="zh-CN" b="0" i="1" smtClean="0">
                          <a:latin typeface="Cambria Math" panose="02040503050406030204" pitchFamily="18" charset="0"/>
                        </a:rPr>
                        <m:t>+</m:t>
                      </m:r>
                      <m:f>
                        <m:fPr>
                          <m:ctrlPr>
                            <a:rPr lang="en-US" altLang="zh-CN" i="1">
                              <a:latin typeface="Cambria Math" panose="02040503050406030204" pitchFamily="18" charset="0"/>
                            </a:rPr>
                          </m:ctrlPr>
                        </m:fPr>
                        <m:num>
                          <m:r>
                            <a:rPr lang="en-US" altLang="zh-CN" i="1">
                              <a:latin typeface="Cambria Math" panose="02040503050406030204" pitchFamily="18" charset="0"/>
                            </a:rPr>
                            <m:t>1</m:t>
                          </m:r>
                        </m:num>
                        <m:den>
                          <m:r>
                            <a:rPr lang="en-US" altLang="zh-CN" b="0" i="1" smtClean="0">
                              <a:latin typeface="Cambria Math" panose="02040503050406030204" pitchFamily="18" charset="0"/>
                            </a:rPr>
                            <m:t>𝑟𝑒𝑐𝑎𝑙𝑙</m:t>
                          </m:r>
                        </m:den>
                      </m:f>
                      <m:r>
                        <a:rPr lang="en-US" altLang="zh-CN" b="0" i="1" smtClean="0">
                          <a:latin typeface="Cambria Math" panose="02040503050406030204" pitchFamily="18" charset="0"/>
                        </a:rPr>
                        <m:t>)</m:t>
                      </m:r>
                    </m:oMath>
                  </m:oMathPara>
                </a14:m>
                <a:endParaRPr lang="zh-CN" altLang="en-US" dirty="0"/>
              </a:p>
            </p:txBody>
          </p:sp>
        </mc:Choice>
        <mc:Fallback xmlns="">
          <p:sp>
            <p:nvSpPr>
              <p:cNvPr id="12" name="矩形 11">
                <a:extLst>
                  <a:ext uri="{FF2B5EF4-FFF2-40B4-BE49-F238E27FC236}">
                    <a16:creationId xmlns:a16="http://schemas.microsoft.com/office/drawing/2014/main" id="{4FDDD39A-85E1-48BE-B5A7-EB589B714E51}"/>
                  </a:ext>
                </a:extLst>
              </p:cNvPr>
              <p:cNvSpPr>
                <a:spLocks noRot="1" noChangeAspect="1" noMove="1" noResize="1" noEditPoints="1" noAdjustHandles="1" noChangeArrowheads="1" noChangeShapeType="1" noTextEdit="1"/>
              </p:cNvSpPr>
              <p:nvPr/>
            </p:nvSpPr>
            <p:spPr>
              <a:xfrm>
                <a:off x="4443137" y="2860963"/>
                <a:ext cx="2972159" cy="659411"/>
              </a:xfrm>
              <a:prstGeom prst="rect">
                <a:avLst/>
              </a:prstGeom>
              <a:blipFill>
                <a:blip r:embed="rId5"/>
                <a:stretch>
                  <a:fillRect/>
                </a:stretch>
              </a:blipFill>
            </p:spPr>
            <p:txBody>
              <a:bodyPr/>
              <a:lstStyle/>
              <a:p>
                <a:r>
                  <a:rPr lang="zh-CN" altLang="en-US">
                    <a:noFill/>
                  </a:rPr>
                  <a:t> </a:t>
                </a:r>
              </a:p>
            </p:txBody>
          </p:sp>
        </mc:Fallback>
      </mc:AlternateContent>
      <p:grpSp>
        <p:nvGrpSpPr>
          <p:cNvPr id="19" name="组合 18">
            <a:extLst>
              <a:ext uri="{FF2B5EF4-FFF2-40B4-BE49-F238E27FC236}">
                <a16:creationId xmlns:a16="http://schemas.microsoft.com/office/drawing/2014/main" id="{3094BEA9-D881-45A5-B001-5E1E6E804E74}"/>
              </a:ext>
            </a:extLst>
          </p:cNvPr>
          <p:cNvGrpSpPr/>
          <p:nvPr/>
        </p:nvGrpSpPr>
        <p:grpSpPr>
          <a:xfrm>
            <a:off x="-124696" y="4565360"/>
            <a:ext cx="9139833" cy="1955345"/>
            <a:chOff x="-124696" y="4565360"/>
            <a:chExt cx="9139833" cy="1955345"/>
          </a:xfrm>
        </p:grpSpPr>
        <p:sp>
          <p:nvSpPr>
            <p:cNvPr id="14" name="矩形: 圆角 13">
              <a:extLst>
                <a:ext uri="{FF2B5EF4-FFF2-40B4-BE49-F238E27FC236}">
                  <a16:creationId xmlns:a16="http://schemas.microsoft.com/office/drawing/2014/main" id="{91553B7E-2109-4726-8227-8E6266E11876}"/>
                </a:ext>
              </a:extLst>
            </p:cNvPr>
            <p:cNvSpPr/>
            <p:nvPr/>
          </p:nvSpPr>
          <p:spPr>
            <a:xfrm>
              <a:off x="328337" y="4565360"/>
              <a:ext cx="8686800" cy="1955345"/>
            </a:xfrm>
            <a:prstGeom prst="roundRect">
              <a:avLst>
                <a:gd name="adj" fmla="val 3573"/>
              </a:avLst>
            </a:prstGeom>
            <a:solidFill>
              <a:srgbClr val="E6F5F0"/>
            </a:solidFill>
            <a:ln>
              <a:solidFill>
                <a:srgbClr val="FFFBD6"/>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000" dirty="0">
                <a:solidFill>
                  <a:schemeClr val="tx1"/>
                </a:solidFill>
              </a:endParaRPr>
            </a:p>
          </p:txBody>
        </p:sp>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878FB30B-0696-45A7-A634-91F576B02E7A}"/>
                    </a:ext>
                  </a:extLst>
                </p:cNvPr>
                <p:cNvSpPr/>
                <p:nvPr/>
              </p:nvSpPr>
              <p:spPr>
                <a:xfrm>
                  <a:off x="5118030" y="5002725"/>
                  <a:ext cx="3892027" cy="79932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en-US" altLang="zh-CN" sz="2000" i="1" dirty="0" smtClean="0">
                                <a:latin typeface="Cambria Math" panose="02040503050406030204" pitchFamily="18" charset="0"/>
                              </a:rPr>
                            </m:ctrlPr>
                          </m:fPr>
                          <m:num>
                            <m:r>
                              <a:rPr lang="en-US" altLang="zh-CN" sz="2000" i="1" dirty="0">
                                <a:latin typeface="Cambria Math" panose="02040503050406030204" pitchFamily="18" charset="0"/>
                              </a:rPr>
                              <m:t>1</m:t>
                            </m:r>
                          </m:num>
                          <m:den>
                            <m:sSub>
                              <m:sSubPr>
                                <m:ctrlPr>
                                  <a:rPr lang="en-US" altLang="zh-CN" sz="2000" i="1" dirty="0">
                                    <a:latin typeface="Cambria Math" panose="02040503050406030204" pitchFamily="18" charset="0"/>
                                  </a:rPr>
                                </m:ctrlPr>
                              </m:sSubPr>
                              <m:e>
                                <m:r>
                                  <a:rPr lang="en-US" altLang="zh-CN" sz="2000" i="1" dirty="0">
                                    <a:latin typeface="Cambria Math" panose="02040503050406030204" pitchFamily="18" charset="0"/>
                                  </a:rPr>
                                  <m:t>𝐹</m:t>
                                </m:r>
                              </m:e>
                              <m:sub>
                                <m:r>
                                  <a:rPr lang="zh-CN" altLang="en-US" sz="2000" i="1" dirty="0">
                                    <a:latin typeface="Cambria Math" panose="02040503050406030204" pitchFamily="18" charset="0"/>
                                  </a:rPr>
                                  <m:t>𝛽</m:t>
                                </m:r>
                              </m:sub>
                            </m:sSub>
                          </m:den>
                        </m:f>
                        <m:r>
                          <a:rPr lang="en-US" altLang="zh-CN" sz="2000" i="1" dirty="0">
                            <a:latin typeface="Cambria Math" panose="02040503050406030204" pitchFamily="18" charset="0"/>
                          </a:rPr>
                          <m:t>=</m:t>
                        </m:r>
                        <m:f>
                          <m:fPr>
                            <m:ctrlPr>
                              <a:rPr lang="en-US" altLang="zh-CN" sz="2000" i="1">
                                <a:latin typeface="Cambria Math" panose="02040503050406030204" pitchFamily="18" charset="0"/>
                              </a:rPr>
                            </m:ctrlPr>
                          </m:fPr>
                          <m:num>
                            <m:r>
                              <a:rPr lang="en-US" altLang="zh-CN" sz="2000" i="1">
                                <a:latin typeface="Cambria Math" panose="02040503050406030204" pitchFamily="18" charset="0"/>
                              </a:rPr>
                              <m:t>1</m:t>
                            </m:r>
                          </m:num>
                          <m:den>
                            <m:r>
                              <a:rPr lang="en-US" altLang="zh-CN" sz="2000" b="0" i="1" smtClean="0">
                                <a:latin typeface="Cambria Math" panose="02040503050406030204" pitchFamily="18" charset="0"/>
                              </a:rPr>
                              <m:t>1+</m:t>
                            </m:r>
                            <m:sSup>
                              <m:sSupPr>
                                <m:ctrlPr>
                                  <a:rPr lang="en-US" altLang="zh-CN" sz="2000" i="1" dirty="0">
                                    <a:latin typeface="Cambria Math" panose="02040503050406030204" pitchFamily="18" charset="0"/>
                                  </a:rPr>
                                </m:ctrlPr>
                              </m:sSupPr>
                              <m:e>
                                <m:r>
                                  <a:rPr lang="zh-CN" altLang="en-US" sz="2000" i="1" dirty="0">
                                    <a:latin typeface="Cambria Math" panose="02040503050406030204" pitchFamily="18" charset="0"/>
                                  </a:rPr>
                                  <m:t>𝛽</m:t>
                                </m:r>
                              </m:e>
                              <m:sup>
                                <m:r>
                                  <a:rPr lang="en-US" altLang="zh-CN" sz="2000" i="1" dirty="0">
                                    <a:latin typeface="Cambria Math" panose="02040503050406030204" pitchFamily="18" charset="0"/>
                                  </a:rPr>
                                  <m:t>2</m:t>
                                </m:r>
                              </m:sup>
                            </m:sSup>
                          </m:den>
                        </m:f>
                        <m:r>
                          <a:rPr lang="en-US" altLang="zh-CN" sz="2000" i="1">
                            <a:latin typeface="Cambria Math" panose="02040503050406030204" pitchFamily="18" charset="0"/>
                          </a:rPr>
                          <m:t>(</m:t>
                        </m:r>
                        <m:f>
                          <m:fPr>
                            <m:ctrlPr>
                              <a:rPr lang="en-US" altLang="zh-CN" sz="2000" i="1">
                                <a:latin typeface="Cambria Math" panose="02040503050406030204" pitchFamily="18" charset="0"/>
                              </a:rPr>
                            </m:ctrlPr>
                          </m:fPr>
                          <m:num>
                            <m:r>
                              <a:rPr lang="en-US" altLang="zh-CN" sz="2000" i="1">
                                <a:latin typeface="Cambria Math" panose="02040503050406030204" pitchFamily="18" charset="0"/>
                              </a:rPr>
                              <m:t>1</m:t>
                            </m:r>
                          </m:num>
                          <m:den>
                            <m:r>
                              <a:rPr lang="en-US" altLang="zh-CN" sz="2000" i="1">
                                <a:latin typeface="Cambria Math" panose="02040503050406030204" pitchFamily="18" charset="0"/>
                              </a:rPr>
                              <m:t>𝑝𝑟𝑒𝑐𝑖𝑠𝑖𝑜𝑛</m:t>
                            </m:r>
                          </m:den>
                        </m:f>
                        <m:r>
                          <a:rPr lang="en-US" altLang="zh-CN" sz="2000" i="1">
                            <a:latin typeface="Cambria Math" panose="02040503050406030204" pitchFamily="18" charset="0"/>
                          </a:rPr>
                          <m:t>+</m:t>
                        </m:r>
                        <m:f>
                          <m:fPr>
                            <m:ctrlPr>
                              <a:rPr lang="en-US" altLang="zh-CN" sz="2000" i="1">
                                <a:latin typeface="Cambria Math" panose="02040503050406030204" pitchFamily="18" charset="0"/>
                              </a:rPr>
                            </m:ctrlPr>
                          </m:fPr>
                          <m:num>
                            <m:sSup>
                              <m:sSupPr>
                                <m:ctrlPr>
                                  <a:rPr lang="en-US" altLang="zh-CN" sz="2000" i="1" dirty="0">
                                    <a:latin typeface="Cambria Math" panose="02040503050406030204" pitchFamily="18" charset="0"/>
                                  </a:rPr>
                                </m:ctrlPr>
                              </m:sSupPr>
                              <m:e>
                                <m:r>
                                  <a:rPr lang="zh-CN" altLang="en-US" sz="2000" i="1" dirty="0">
                                    <a:latin typeface="Cambria Math" panose="02040503050406030204" pitchFamily="18" charset="0"/>
                                  </a:rPr>
                                  <m:t>𝛽</m:t>
                                </m:r>
                              </m:e>
                              <m:sup>
                                <m:r>
                                  <a:rPr lang="en-US" altLang="zh-CN" sz="2000" i="1" dirty="0">
                                    <a:latin typeface="Cambria Math" panose="02040503050406030204" pitchFamily="18" charset="0"/>
                                  </a:rPr>
                                  <m:t>2</m:t>
                                </m:r>
                              </m:sup>
                            </m:sSup>
                          </m:num>
                          <m:den>
                            <m:r>
                              <a:rPr lang="en-US" altLang="zh-CN" sz="2000" i="1">
                                <a:latin typeface="Cambria Math" panose="02040503050406030204" pitchFamily="18" charset="0"/>
                              </a:rPr>
                              <m:t>𝑟𝑒𝑐𝑎𝑙𝑙</m:t>
                            </m:r>
                          </m:den>
                        </m:f>
                        <m:r>
                          <a:rPr lang="en-US" altLang="zh-CN" sz="2000" i="1">
                            <a:latin typeface="Cambria Math" panose="02040503050406030204" pitchFamily="18" charset="0"/>
                          </a:rPr>
                          <m:t>)</m:t>
                        </m:r>
                      </m:oMath>
                    </m:oMathPara>
                  </a14:m>
                  <a:endParaRPr lang="zh-CN" altLang="en-US" sz="2000" dirty="0"/>
                </a:p>
              </p:txBody>
            </p:sp>
          </mc:Choice>
          <mc:Fallback xmlns="">
            <p:sp>
              <p:nvSpPr>
                <p:cNvPr id="2" name="矩形 1">
                  <a:extLst>
                    <a:ext uri="{FF2B5EF4-FFF2-40B4-BE49-F238E27FC236}">
                      <a16:creationId xmlns:a16="http://schemas.microsoft.com/office/drawing/2014/main" id="{878FB30B-0696-45A7-A634-91F576B02E7A}"/>
                    </a:ext>
                  </a:extLst>
                </p:cNvPr>
                <p:cNvSpPr>
                  <a:spLocks noRot="1" noChangeAspect="1" noMove="1" noResize="1" noEditPoints="1" noAdjustHandles="1" noChangeArrowheads="1" noChangeShapeType="1" noTextEdit="1"/>
                </p:cNvSpPr>
                <p:nvPr/>
              </p:nvSpPr>
              <p:spPr>
                <a:xfrm>
                  <a:off x="5118030" y="5002725"/>
                  <a:ext cx="3892027" cy="799321"/>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矩形 9">
                  <a:extLst>
                    <a:ext uri="{FF2B5EF4-FFF2-40B4-BE49-F238E27FC236}">
                      <a16:creationId xmlns:a16="http://schemas.microsoft.com/office/drawing/2014/main" id="{A2C7BA26-D1F8-48A0-8697-98122ADC9BFA}"/>
                    </a:ext>
                  </a:extLst>
                </p:cNvPr>
                <p:cNvSpPr/>
                <p:nvPr/>
              </p:nvSpPr>
              <p:spPr>
                <a:xfrm>
                  <a:off x="457200" y="5009696"/>
                  <a:ext cx="4386522" cy="73129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sz="2000" i="1" dirty="0" smtClean="0">
                                <a:latin typeface="Cambria Math" panose="02040503050406030204" pitchFamily="18" charset="0"/>
                              </a:rPr>
                            </m:ctrlPr>
                          </m:sSubPr>
                          <m:e>
                            <m:r>
                              <a:rPr lang="en-US" altLang="zh-CN" sz="2000" b="0" i="1" dirty="0" smtClean="0">
                                <a:latin typeface="Cambria Math" panose="02040503050406030204" pitchFamily="18" charset="0"/>
                              </a:rPr>
                              <m:t>𝐹</m:t>
                            </m:r>
                          </m:e>
                          <m:sub>
                            <m:r>
                              <a:rPr lang="zh-CN" altLang="en-US" sz="2000" i="1" dirty="0" smtClean="0">
                                <a:latin typeface="Cambria Math" panose="02040503050406030204" pitchFamily="18" charset="0"/>
                              </a:rPr>
                              <m:t>𝛽</m:t>
                            </m:r>
                          </m:sub>
                        </m:sSub>
                        <m:r>
                          <a:rPr lang="en-US" altLang="zh-CN" sz="2000" i="1" dirty="0">
                            <a:latin typeface="Cambria Math" panose="02040503050406030204" pitchFamily="18" charset="0"/>
                          </a:rPr>
                          <m:t>=</m:t>
                        </m:r>
                        <m:r>
                          <a:rPr lang="en-US" altLang="zh-CN" sz="2000" b="0" i="1" dirty="0" smtClean="0">
                            <a:latin typeface="Cambria Math" panose="02040503050406030204" pitchFamily="18" charset="0"/>
                          </a:rPr>
                          <m:t>(1+</m:t>
                        </m:r>
                        <m:sSup>
                          <m:sSupPr>
                            <m:ctrlPr>
                              <a:rPr lang="en-US" altLang="zh-CN" sz="2000" b="0" i="1" dirty="0" smtClean="0">
                                <a:latin typeface="Cambria Math" panose="02040503050406030204" pitchFamily="18" charset="0"/>
                              </a:rPr>
                            </m:ctrlPr>
                          </m:sSupPr>
                          <m:e>
                            <m:r>
                              <a:rPr lang="zh-CN" altLang="en-US" sz="2000" b="0" i="1" dirty="0" smtClean="0">
                                <a:latin typeface="Cambria Math" panose="02040503050406030204" pitchFamily="18" charset="0"/>
                              </a:rPr>
                              <m:t>𝛽</m:t>
                            </m:r>
                          </m:e>
                          <m:sup>
                            <m:r>
                              <a:rPr lang="en-US" altLang="zh-CN" sz="2000" b="0" i="1" dirty="0" smtClean="0">
                                <a:latin typeface="Cambria Math" panose="02040503050406030204" pitchFamily="18" charset="0"/>
                              </a:rPr>
                              <m:t>2</m:t>
                            </m:r>
                          </m:sup>
                        </m:sSup>
                        <m:r>
                          <a:rPr lang="en-US" altLang="zh-CN" sz="2000" b="0" i="1" dirty="0" smtClean="0">
                            <a:latin typeface="Cambria Math" panose="02040503050406030204" pitchFamily="18" charset="0"/>
                          </a:rPr>
                          <m:t>)</m:t>
                        </m:r>
                        <m:f>
                          <m:fPr>
                            <m:ctrlPr>
                              <a:rPr lang="en-US" altLang="zh-CN" sz="2000" i="1">
                                <a:latin typeface="Cambria Math" panose="02040503050406030204" pitchFamily="18" charset="0"/>
                              </a:rPr>
                            </m:ctrlPr>
                          </m:fPr>
                          <m:num>
                            <m:r>
                              <a:rPr lang="en-US" altLang="zh-CN" sz="2000" i="1">
                                <a:latin typeface="Cambria Math" panose="02040503050406030204" pitchFamily="18" charset="0"/>
                                <a:ea typeface="Cambria Math" panose="02040503050406030204" pitchFamily="18" charset="0"/>
                              </a:rPr>
                              <m:t> </m:t>
                            </m:r>
                            <m:r>
                              <a:rPr lang="en-US" altLang="zh-CN" sz="2000" i="1">
                                <a:latin typeface="Cambria Math" panose="02040503050406030204" pitchFamily="18" charset="0"/>
                                <a:ea typeface="Cambria Math" panose="02040503050406030204" pitchFamily="18" charset="0"/>
                              </a:rPr>
                              <m:t>𝑝𝑟𝑒𝑠𝑖𝑜𝑛</m:t>
                            </m:r>
                            <m:r>
                              <a:rPr lang="en-US" altLang="zh-CN" sz="2000" i="1">
                                <a:latin typeface="Cambria Math" panose="02040503050406030204" pitchFamily="18" charset="0"/>
                                <a:ea typeface="Cambria Math" panose="02040503050406030204" pitchFamily="18" charset="0"/>
                              </a:rPr>
                              <m:t> × </m:t>
                            </m:r>
                            <m:r>
                              <a:rPr lang="en-US" altLang="zh-CN" sz="2000" i="1">
                                <a:latin typeface="Cambria Math" panose="02040503050406030204" pitchFamily="18" charset="0"/>
                                <a:ea typeface="Cambria Math" panose="02040503050406030204" pitchFamily="18" charset="0"/>
                              </a:rPr>
                              <m:t>𝑟𝑒𝑐𝑎𝑙𝑙</m:t>
                            </m:r>
                            <m:r>
                              <a:rPr lang="en-US" altLang="zh-CN" sz="2000" i="1">
                                <a:latin typeface="Cambria Math" panose="02040503050406030204" pitchFamily="18" charset="0"/>
                                <a:ea typeface="Cambria Math" panose="02040503050406030204" pitchFamily="18" charset="0"/>
                              </a:rPr>
                              <m:t> </m:t>
                            </m:r>
                          </m:num>
                          <m:den>
                            <m:r>
                              <a:rPr lang="en-US" altLang="zh-CN" sz="2000" b="0" i="1" smtClean="0">
                                <a:latin typeface="Cambria Math" panose="02040503050406030204" pitchFamily="18" charset="0"/>
                                <a:ea typeface="Cambria Math" panose="02040503050406030204" pitchFamily="18" charset="0"/>
                              </a:rPr>
                              <m:t>(</m:t>
                            </m:r>
                            <m:sSup>
                              <m:sSupPr>
                                <m:ctrlPr>
                                  <a:rPr lang="en-US" altLang="zh-CN" sz="2000" i="1" dirty="0">
                                    <a:latin typeface="Cambria Math" panose="02040503050406030204" pitchFamily="18" charset="0"/>
                                  </a:rPr>
                                </m:ctrlPr>
                              </m:sSupPr>
                              <m:e>
                                <m:r>
                                  <a:rPr lang="zh-CN" altLang="en-US" sz="2000" i="1" dirty="0">
                                    <a:latin typeface="Cambria Math" panose="02040503050406030204" pitchFamily="18" charset="0"/>
                                  </a:rPr>
                                  <m:t>𝛽</m:t>
                                </m:r>
                              </m:e>
                              <m:sup>
                                <m:r>
                                  <a:rPr lang="en-US" altLang="zh-CN" sz="2000" i="1" dirty="0">
                                    <a:latin typeface="Cambria Math" panose="02040503050406030204" pitchFamily="18" charset="0"/>
                                  </a:rPr>
                                  <m:t>2</m:t>
                                </m:r>
                              </m:sup>
                            </m:sSup>
                            <m:r>
                              <a:rPr lang="en-US" altLang="zh-CN" sz="2000" i="1">
                                <a:latin typeface="Cambria Math" panose="02040503050406030204" pitchFamily="18" charset="0"/>
                              </a:rPr>
                              <m:t>𝑝𝑟𝑒𝑐𝑖𝑠𝑖𝑜𝑛</m:t>
                            </m:r>
                            <m:r>
                              <a:rPr lang="en-US" altLang="zh-CN" sz="2000" b="0" i="1" smtClean="0">
                                <a:latin typeface="Cambria Math" panose="02040503050406030204" pitchFamily="18" charset="0"/>
                              </a:rPr>
                              <m:t>)</m:t>
                            </m:r>
                            <m:r>
                              <a:rPr lang="en-US" altLang="zh-CN" sz="2000" i="1">
                                <a:latin typeface="Cambria Math" panose="02040503050406030204" pitchFamily="18" charset="0"/>
                              </a:rPr>
                              <m:t>+</m:t>
                            </m:r>
                            <m:r>
                              <a:rPr lang="en-US" altLang="zh-CN" sz="2000" i="1">
                                <a:latin typeface="Cambria Math" panose="02040503050406030204" pitchFamily="18" charset="0"/>
                              </a:rPr>
                              <m:t>𝑟𝑒𝑐𝑎𝑙𝑙</m:t>
                            </m:r>
                          </m:den>
                        </m:f>
                      </m:oMath>
                    </m:oMathPara>
                  </a14:m>
                  <a:endParaRPr lang="zh-CN" altLang="en-US" sz="2000" dirty="0"/>
                </a:p>
              </p:txBody>
            </p:sp>
          </mc:Choice>
          <mc:Fallback xmlns="">
            <p:sp>
              <p:nvSpPr>
                <p:cNvPr id="10" name="矩形 9">
                  <a:extLst>
                    <a:ext uri="{FF2B5EF4-FFF2-40B4-BE49-F238E27FC236}">
                      <a16:creationId xmlns:a16="http://schemas.microsoft.com/office/drawing/2014/main" id="{A2C7BA26-D1F8-48A0-8697-98122ADC9BFA}"/>
                    </a:ext>
                  </a:extLst>
                </p:cNvPr>
                <p:cNvSpPr>
                  <a:spLocks noRot="1" noChangeAspect="1" noMove="1" noResize="1" noEditPoints="1" noAdjustHandles="1" noChangeArrowheads="1" noChangeShapeType="1" noTextEdit="1"/>
                </p:cNvSpPr>
                <p:nvPr/>
              </p:nvSpPr>
              <p:spPr>
                <a:xfrm>
                  <a:off x="457200" y="5009696"/>
                  <a:ext cx="4386522" cy="731290"/>
                </a:xfrm>
                <a:prstGeom prst="rect">
                  <a:avLst/>
                </a:prstGeom>
                <a:blipFill>
                  <a:blip r:embed="rId7"/>
                  <a:stretch>
                    <a:fillRect/>
                  </a:stretch>
                </a:blipFill>
              </p:spPr>
              <p:txBody>
                <a:bodyPr/>
                <a:lstStyle/>
                <a:p>
                  <a:r>
                    <a:rPr lang="zh-CN" altLang="en-US">
                      <a:noFill/>
                    </a:rPr>
                    <a:t> </a:t>
                  </a:r>
                </a:p>
              </p:txBody>
            </p:sp>
          </mc:Fallback>
        </mc:AlternateContent>
        <p:sp>
          <p:nvSpPr>
            <p:cNvPr id="13" name="矩形 12">
              <a:extLst>
                <a:ext uri="{FF2B5EF4-FFF2-40B4-BE49-F238E27FC236}">
                  <a16:creationId xmlns:a16="http://schemas.microsoft.com/office/drawing/2014/main" id="{3D739C7B-35F1-4B86-91E0-8032DFC6951C}"/>
                </a:ext>
              </a:extLst>
            </p:cNvPr>
            <p:cNvSpPr/>
            <p:nvPr/>
          </p:nvSpPr>
          <p:spPr>
            <a:xfrm>
              <a:off x="-124696" y="4629090"/>
              <a:ext cx="2580002" cy="400110"/>
            </a:xfrm>
            <a:prstGeom prst="rect">
              <a:avLst/>
            </a:prstGeom>
          </p:spPr>
          <p:txBody>
            <a:bodyPr wrap="none">
              <a:spAutoFit/>
            </a:bodyPr>
            <a:lstStyle/>
            <a:p>
              <a:pPr marL="800100" lvl="1" indent="-342900">
                <a:buFont typeface="Arial" panose="020B0604020202020204" pitchFamily="34" charset="0"/>
                <a:buChar char="•"/>
              </a:pPr>
              <a:r>
                <a:rPr lang="en-US" altLang="zh-CN" sz="2000" dirty="0"/>
                <a:t>More general:  </a:t>
              </a:r>
            </a:p>
          </p:txBody>
        </p:sp>
      </p:grpSp>
      <mc:AlternateContent xmlns:mc="http://schemas.openxmlformats.org/markup-compatibility/2006" xmlns:a14="http://schemas.microsoft.com/office/drawing/2010/main">
        <mc:Choice Requires="a14">
          <p:sp>
            <p:nvSpPr>
              <p:cNvPr id="15" name="矩形 14">
                <a:extLst>
                  <a:ext uri="{FF2B5EF4-FFF2-40B4-BE49-F238E27FC236}">
                    <a16:creationId xmlns:a16="http://schemas.microsoft.com/office/drawing/2014/main" id="{C6D188A1-8D12-4F45-8BBD-24D49CDB9119}"/>
                  </a:ext>
                </a:extLst>
              </p:cNvPr>
              <p:cNvSpPr/>
              <p:nvPr/>
            </p:nvSpPr>
            <p:spPr>
              <a:xfrm>
                <a:off x="-124696" y="5812819"/>
                <a:ext cx="7851853" cy="707886"/>
              </a:xfrm>
              <a:prstGeom prst="rect">
                <a:avLst/>
              </a:prstGeom>
            </p:spPr>
            <p:txBody>
              <a:bodyPr wrap="square">
                <a:spAutoFit/>
              </a:bodyPr>
              <a:lstStyle/>
              <a:p>
                <a:pPr marL="800100" lvl="1" indent="-342900" algn="just">
                  <a:buFont typeface="Arial" panose="020B0604020202020204" pitchFamily="34" charset="0"/>
                  <a:buChar char="•"/>
                </a:pPr>
                <a14:m>
                  <m:oMath xmlns:m="http://schemas.openxmlformats.org/officeDocument/2006/math">
                    <m:r>
                      <a:rPr lang="zh-CN" altLang="en-US" sz="2000" i="1" dirty="0">
                        <a:latin typeface="Cambria Math" panose="02040503050406030204" pitchFamily="18" charset="0"/>
                      </a:rPr>
                      <m:t>𝛽</m:t>
                    </m:r>
                    <m:r>
                      <a:rPr lang="en-US" altLang="zh-CN" sz="2000" i="1" dirty="0" smtClean="0">
                        <a:latin typeface="Cambria Math" panose="02040503050406030204" pitchFamily="18" charset="0"/>
                        <a:ea typeface="Cambria Math" panose="02040503050406030204" pitchFamily="18" charset="0"/>
                      </a:rPr>
                      <m:t>&gt;</m:t>
                    </m:r>
                    <m:r>
                      <a:rPr lang="en-US" altLang="zh-CN" sz="2000" b="0" i="1" dirty="0" smtClean="0">
                        <a:latin typeface="Cambria Math" panose="02040503050406030204" pitchFamily="18" charset="0"/>
                        <a:ea typeface="Cambria Math" panose="02040503050406030204" pitchFamily="18" charset="0"/>
                      </a:rPr>
                      <m:t>1</m:t>
                    </m:r>
                  </m:oMath>
                </a14:m>
                <a:r>
                  <a:rPr lang="en-US" altLang="zh-CN" sz="2000" dirty="0"/>
                  <a:t>, recall is more important</a:t>
                </a:r>
              </a:p>
              <a:p>
                <a:pPr marL="800100" lvl="1" indent="-342900" algn="just">
                  <a:buFont typeface="Arial" panose="020B0604020202020204" pitchFamily="34" charset="0"/>
                  <a:buChar char="•"/>
                </a:pPr>
                <a14:m>
                  <m:oMath xmlns:m="http://schemas.openxmlformats.org/officeDocument/2006/math">
                    <m:r>
                      <a:rPr lang="zh-CN" altLang="en-US" sz="2000" i="1" dirty="0">
                        <a:latin typeface="Cambria Math" panose="02040503050406030204" pitchFamily="18" charset="0"/>
                      </a:rPr>
                      <m:t>𝛽</m:t>
                    </m:r>
                    <m:r>
                      <a:rPr lang="en-US" altLang="zh-CN" sz="2000" b="0" i="1" dirty="0" smtClean="0">
                        <a:latin typeface="Cambria Math" panose="02040503050406030204" pitchFamily="18" charset="0"/>
                      </a:rPr>
                      <m:t>&lt;</m:t>
                    </m:r>
                    <m:r>
                      <a:rPr lang="en-US" altLang="zh-CN" sz="2000" i="1" dirty="0">
                        <a:latin typeface="Cambria Math" panose="02040503050406030204" pitchFamily="18" charset="0"/>
                        <a:ea typeface="Cambria Math" panose="02040503050406030204" pitchFamily="18" charset="0"/>
                      </a:rPr>
                      <m:t>1</m:t>
                    </m:r>
                  </m:oMath>
                </a14:m>
                <a:r>
                  <a:rPr lang="en-US" altLang="zh-CN" sz="2000" dirty="0"/>
                  <a:t>, precision is more important</a:t>
                </a:r>
              </a:p>
            </p:txBody>
          </p:sp>
        </mc:Choice>
        <mc:Fallback xmlns="">
          <p:sp>
            <p:nvSpPr>
              <p:cNvPr id="15" name="矩形 14">
                <a:extLst>
                  <a:ext uri="{FF2B5EF4-FFF2-40B4-BE49-F238E27FC236}">
                    <a16:creationId xmlns:a16="http://schemas.microsoft.com/office/drawing/2014/main" id="{C6D188A1-8D12-4F45-8BBD-24D49CDB9119}"/>
                  </a:ext>
                </a:extLst>
              </p:cNvPr>
              <p:cNvSpPr>
                <a:spLocks noRot="1" noChangeAspect="1" noMove="1" noResize="1" noEditPoints="1" noAdjustHandles="1" noChangeArrowheads="1" noChangeShapeType="1" noTextEdit="1"/>
              </p:cNvSpPr>
              <p:nvPr/>
            </p:nvSpPr>
            <p:spPr>
              <a:xfrm>
                <a:off x="-124696" y="5812819"/>
                <a:ext cx="7851853" cy="707886"/>
              </a:xfrm>
              <a:prstGeom prst="rect">
                <a:avLst/>
              </a:prstGeom>
              <a:blipFill>
                <a:blip r:embed="rId8"/>
                <a:stretch>
                  <a:fillRect t="-5172" b="-14655"/>
                </a:stretch>
              </a:blipFill>
            </p:spPr>
            <p:txBody>
              <a:bodyPr/>
              <a:lstStyle/>
              <a:p>
                <a:r>
                  <a:rPr lang="zh-CN" altLang="en-US">
                    <a:noFill/>
                  </a:rPr>
                  <a:t> </a:t>
                </a:r>
              </a:p>
            </p:txBody>
          </p:sp>
        </mc:Fallback>
      </mc:AlternateContent>
      <p:pic>
        <p:nvPicPr>
          <p:cNvPr id="16" name="图片 15">
            <a:extLst>
              <a:ext uri="{FF2B5EF4-FFF2-40B4-BE49-F238E27FC236}">
                <a16:creationId xmlns:a16="http://schemas.microsoft.com/office/drawing/2014/main" id="{88EFD981-E51B-414A-8A9A-4ACCC6D50DDB}"/>
              </a:ext>
            </a:extLst>
          </p:cNvPr>
          <p:cNvPicPr>
            <a:picLocks noChangeAspect="1"/>
          </p:cNvPicPr>
          <p:nvPr/>
        </p:nvPicPr>
        <p:blipFill rotWithShape="1">
          <a:blip r:embed="rId9"/>
          <a:srcRect l="14179" t="9454" r="20149" b="8116"/>
          <a:stretch/>
        </p:blipFill>
        <p:spPr>
          <a:xfrm>
            <a:off x="7811956" y="2590800"/>
            <a:ext cx="1198101" cy="1127886"/>
          </a:xfrm>
          <a:prstGeom prst="rect">
            <a:avLst/>
          </a:prstGeom>
        </p:spPr>
      </p:pic>
      <p:sp>
        <p:nvSpPr>
          <p:cNvPr id="3" name="矩形 2">
            <a:extLst>
              <a:ext uri="{FF2B5EF4-FFF2-40B4-BE49-F238E27FC236}">
                <a16:creationId xmlns:a16="http://schemas.microsoft.com/office/drawing/2014/main" id="{3CEF93BA-CB2F-4D2F-AB83-C752E8721CFF}"/>
              </a:ext>
            </a:extLst>
          </p:cNvPr>
          <p:cNvSpPr/>
          <p:nvPr/>
        </p:nvSpPr>
        <p:spPr>
          <a:xfrm>
            <a:off x="417417" y="1035784"/>
            <a:ext cx="8315103" cy="1631216"/>
          </a:xfrm>
          <a:prstGeom prst="rect">
            <a:avLst/>
          </a:prstGeom>
        </p:spPr>
        <p:txBody>
          <a:bodyPr wrap="square">
            <a:spAutoFit/>
          </a:bodyPr>
          <a:lstStyle/>
          <a:p>
            <a:pPr marL="342900" indent="-342900">
              <a:buFont typeface="Arial" panose="020B0604020202020204" pitchFamily="34" charset="0"/>
              <a:buChar char="•"/>
            </a:pPr>
            <a:r>
              <a:rPr lang="en-US" altLang="zh-CN" sz="2000" dirty="0"/>
              <a:t>Now imagine that you have two classifiers — classifier A and classifier B.</a:t>
            </a:r>
          </a:p>
          <a:p>
            <a:pPr marL="342900" indent="-342900">
              <a:buFont typeface="Arial" panose="020B0604020202020204" pitchFamily="34" charset="0"/>
              <a:buChar char="•"/>
            </a:pPr>
            <a:r>
              <a:rPr lang="en-US" altLang="zh-CN" sz="2000" dirty="0"/>
              <a:t>One has a better recall score, the other has better precision. We would like to say something about their relative performance. </a:t>
            </a:r>
          </a:p>
          <a:p>
            <a:pPr marL="342900" indent="-342900">
              <a:buFont typeface="Arial" panose="020B0604020202020204" pitchFamily="34" charset="0"/>
              <a:buChar char="•"/>
            </a:pPr>
            <a:r>
              <a:rPr lang="en-US" altLang="zh-CN" sz="2000" dirty="0"/>
              <a:t>We would like to summarize the model’s performance into a single metric. </a:t>
            </a:r>
          </a:p>
          <a:p>
            <a:pPr marL="342900" indent="-342900">
              <a:buFont typeface="Arial" panose="020B0604020202020204" pitchFamily="34" charset="0"/>
              <a:buChar char="•"/>
            </a:pPr>
            <a:endParaRPr lang="en-US" altLang="zh-CN" sz="2000" dirty="0"/>
          </a:p>
        </p:txBody>
      </p:sp>
      <mc:AlternateContent xmlns:mc="http://schemas.openxmlformats.org/markup-compatibility/2006" xmlns:a14="http://schemas.microsoft.com/office/drawing/2010/main">
        <mc:Choice Requires="a14">
          <p:sp>
            <p:nvSpPr>
              <p:cNvPr id="9" name="矩形 8">
                <a:extLst>
                  <a:ext uri="{FF2B5EF4-FFF2-40B4-BE49-F238E27FC236}">
                    <a16:creationId xmlns:a16="http://schemas.microsoft.com/office/drawing/2014/main" id="{BDCF712F-AB9F-4E9F-8A47-136CF1EE0A80}"/>
                  </a:ext>
                </a:extLst>
              </p:cNvPr>
              <p:cNvSpPr/>
              <p:nvPr/>
            </p:nvSpPr>
            <p:spPr>
              <a:xfrm>
                <a:off x="-62047" y="3702314"/>
                <a:ext cx="9010368" cy="716543"/>
              </a:xfrm>
              <a:prstGeom prst="rect">
                <a:avLst/>
              </a:prstGeom>
            </p:spPr>
            <p:txBody>
              <a:bodyPr wrap="square">
                <a:spAutoFit/>
              </a:bodyPr>
              <a:lstStyle/>
              <a:p>
                <a:pPr marL="800100" lvl="1" indent="-342900">
                  <a:buFont typeface="Arial" panose="020B0604020202020204" pitchFamily="34" charset="0"/>
                  <a:buChar char="•"/>
                </a:pPr>
                <a:r>
                  <a:rPr lang="en-US" altLang="zh-CN" sz="2000" dirty="0"/>
                  <a:t>Compared with the algebra mean </a:t>
                </a:r>
                <a14:m>
                  <m:oMath xmlns:m="http://schemas.openxmlformats.org/officeDocument/2006/math">
                    <m:r>
                      <a:rPr lang="en-US" altLang="zh-CN" sz="2000" dirty="0">
                        <a:latin typeface="Cambria Math" panose="02040503050406030204" pitchFamily="18" charset="0"/>
                      </a:rPr>
                      <m:t>(</m:t>
                    </m:r>
                    <m:r>
                      <a:rPr lang="en-US" altLang="zh-CN" sz="2000" i="1">
                        <a:latin typeface="Cambria Math" panose="02040503050406030204" pitchFamily="18" charset="0"/>
                      </a:rPr>
                      <m:t>𝑝</m:t>
                    </m:r>
                    <m:r>
                      <a:rPr lang="en-US" altLang="zh-CN" sz="2000" i="1">
                        <a:latin typeface="Cambria Math" panose="02040503050406030204" pitchFamily="18" charset="0"/>
                      </a:rPr>
                      <m:t>+</m:t>
                    </m:r>
                    <m:r>
                      <a:rPr lang="en-US" altLang="zh-CN" sz="2000" i="1">
                        <a:latin typeface="Cambria Math" panose="02040503050406030204" pitchFamily="18" charset="0"/>
                      </a:rPr>
                      <m:t>𝑟</m:t>
                    </m:r>
                    <m:r>
                      <a:rPr lang="en-US" altLang="zh-CN" sz="2000" i="1">
                        <a:latin typeface="Cambria Math" panose="02040503050406030204" pitchFamily="18" charset="0"/>
                      </a:rPr>
                      <m:t>)/2</m:t>
                    </m:r>
                  </m:oMath>
                </a14:m>
                <a:r>
                  <a:rPr lang="en-US" altLang="zh-CN" sz="2000" dirty="0"/>
                  <a:t>, and the geometric mean </a:t>
                </a:r>
                <a14:m>
                  <m:oMath xmlns:m="http://schemas.openxmlformats.org/officeDocument/2006/math">
                    <m:rad>
                      <m:radPr>
                        <m:degHide m:val="on"/>
                        <m:ctrlPr>
                          <a:rPr lang="en-US" altLang="zh-CN" sz="2000" i="1">
                            <a:latin typeface="Cambria Math" panose="02040503050406030204" pitchFamily="18" charset="0"/>
                          </a:rPr>
                        </m:ctrlPr>
                      </m:radPr>
                      <m:deg/>
                      <m:e>
                        <m:r>
                          <a:rPr lang="en-US" altLang="zh-CN" sz="2000" i="1">
                            <a:latin typeface="Cambria Math" panose="02040503050406030204" pitchFamily="18" charset="0"/>
                          </a:rPr>
                          <m:t>𝑝𝑟</m:t>
                        </m:r>
                      </m:e>
                    </m:rad>
                    <m:r>
                      <a:rPr lang="en-US" altLang="zh-CN" sz="2000">
                        <a:latin typeface="Cambria Math" panose="02040503050406030204" pitchFamily="18" charset="0"/>
                      </a:rPr>
                      <m:t>,</m:t>
                    </m:r>
                  </m:oMath>
                </a14:m>
                <a:r>
                  <a:rPr lang="en-US" altLang="zh-CN" sz="2000" dirty="0"/>
                  <a:t> the harmonic mean focuses more on the smaller value.</a:t>
                </a:r>
              </a:p>
            </p:txBody>
          </p:sp>
        </mc:Choice>
        <mc:Fallback xmlns="">
          <p:sp>
            <p:nvSpPr>
              <p:cNvPr id="9" name="矩形 8">
                <a:extLst>
                  <a:ext uri="{FF2B5EF4-FFF2-40B4-BE49-F238E27FC236}">
                    <a16:creationId xmlns:a16="http://schemas.microsoft.com/office/drawing/2014/main" id="{BDCF712F-AB9F-4E9F-8A47-136CF1EE0A80}"/>
                  </a:ext>
                </a:extLst>
              </p:cNvPr>
              <p:cNvSpPr>
                <a:spLocks noRot="1" noChangeAspect="1" noMove="1" noResize="1" noEditPoints="1" noAdjustHandles="1" noChangeArrowheads="1" noChangeShapeType="1" noTextEdit="1"/>
              </p:cNvSpPr>
              <p:nvPr/>
            </p:nvSpPr>
            <p:spPr>
              <a:xfrm>
                <a:off x="-62047" y="3702314"/>
                <a:ext cx="9010368" cy="716543"/>
              </a:xfrm>
              <a:prstGeom prst="rect">
                <a:avLst/>
              </a:prstGeom>
              <a:blipFill>
                <a:blip r:embed="rId10"/>
                <a:stretch>
                  <a:fillRect t="-3390" b="-13559"/>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2496285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1" grpId="0"/>
      <p:bldP spid="12" grpId="0"/>
      <p:bldP spid="15" grpId="0"/>
      <p:bldP spid="9"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圆角 7">
            <a:extLst>
              <a:ext uri="{FF2B5EF4-FFF2-40B4-BE49-F238E27FC236}">
                <a16:creationId xmlns:a16="http://schemas.microsoft.com/office/drawing/2014/main" id="{B0D91A0F-DF4D-4A49-8862-DBBAFF3F415C}"/>
              </a:ext>
            </a:extLst>
          </p:cNvPr>
          <p:cNvSpPr/>
          <p:nvPr/>
        </p:nvSpPr>
        <p:spPr>
          <a:xfrm>
            <a:off x="328336" y="976804"/>
            <a:ext cx="8739463" cy="2071195"/>
          </a:xfrm>
          <a:prstGeom prst="roundRect">
            <a:avLst>
              <a:gd name="adj" fmla="val 3573"/>
            </a:avLst>
          </a:prstGeom>
          <a:solidFill>
            <a:srgbClr val="FFFBD6"/>
          </a:solidFill>
          <a:ln>
            <a:solidFill>
              <a:srgbClr val="FFFBD6"/>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800" dirty="0">
              <a:solidFill>
                <a:schemeClr val="tx1"/>
              </a:solidFill>
            </a:endParaRPr>
          </a:p>
        </p:txBody>
      </p:sp>
      <p:sp>
        <p:nvSpPr>
          <p:cNvPr id="4" name="灯片编号占位符 3"/>
          <p:cNvSpPr>
            <a:spLocks noGrp="1"/>
          </p:cNvSpPr>
          <p:nvPr>
            <p:ph type="sldNum" sz="quarter" idx="12"/>
          </p:nvPr>
        </p:nvSpPr>
        <p:spPr/>
        <p:txBody>
          <a:bodyPr/>
          <a:lstStyle/>
          <a:p>
            <a:fld id="{B6F15528-21DE-4FAA-801E-634DDDAF4B2B}" type="slidenum">
              <a:rPr lang="en-US" smtClean="0"/>
              <a:pPr/>
              <a:t>24</a:t>
            </a:fld>
            <a:endParaRPr lang="en-US" dirty="0"/>
          </a:p>
        </p:txBody>
      </p:sp>
      <p:sp>
        <p:nvSpPr>
          <p:cNvPr id="5" name="文本框 4"/>
          <p:cNvSpPr txBox="1"/>
          <p:nvPr/>
        </p:nvSpPr>
        <p:spPr>
          <a:xfrm>
            <a:off x="228600" y="76200"/>
            <a:ext cx="3348161" cy="754694"/>
          </a:xfrm>
          <a:prstGeom prst="rect">
            <a:avLst/>
          </a:prstGeom>
          <a:noFill/>
        </p:spPr>
        <p:txBody>
          <a:bodyPr wrap="none" rtlCol="0">
            <a:spAutoFit/>
          </a:bodyPr>
          <a:lstStyle/>
          <a:p>
            <a:pPr>
              <a:lnSpc>
                <a:spcPct val="150000"/>
              </a:lnSpc>
            </a:pPr>
            <a:r>
              <a:rPr lang="en-US" altLang="zh-CN" sz="3200" b="1" dirty="0"/>
              <a:t>Evaluation Metrics</a:t>
            </a:r>
            <a:endParaRPr lang="en-US" sz="3200" b="1" dirty="0"/>
          </a:p>
        </p:txBody>
      </p:sp>
      <p:sp>
        <p:nvSpPr>
          <p:cNvPr id="3" name="矩形 2">
            <a:extLst>
              <a:ext uri="{FF2B5EF4-FFF2-40B4-BE49-F238E27FC236}">
                <a16:creationId xmlns:a16="http://schemas.microsoft.com/office/drawing/2014/main" id="{3CEF93BA-CB2F-4D2F-AB83-C752E8721CFF}"/>
              </a:ext>
            </a:extLst>
          </p:cNvPr>
          <p:cNvSpPr/>
          <p:nvPr/>
        </p:nvSpPr>
        <p:spPr>
          <a:xfrm>
            <a:off x="417417" y="1035784"/>
            <a:ext cx="8315103" cy="1569660"/>
          </a:xfrm>
          <a:prstGeom prst="rect">
            <a:avLst/>
          </a:prstGeom>
        </p:spPr>
        <p:txBody>
          <a:bodyPr wrap="square">
            <a:spAutoFit/>
          </a:bodyPr>
          <a:lstStyle/>
          <a:p>
            <a:pPr marL="342900" indent="-342900">
              <a:buFont typeface="Arial" panose="020B0604020202020204" pitchFamily="34" charset="0"/>
              <a:buChar char="•"/>
            </a:pPr>
            <a:r>
              <a:rPr lang="en-US" altLang="zh-CN" sz="2400" dirty="0"/>
              <a:t>Sometimes we may have multiple confusion matrices.</a:t>
            </a:r>
          </a:p>
          <a:p>
            <a:pPr marL="800100" lvl="1" indent="-342900">
              <a:buFont typeface="Arial" panose="020B0604020202020204" pitchFamily="34" charset="0"/>
              <a:buChar char="•"/>
            </a:pPr>
            <a:r>
              <a:rPr lang="en-US" altLang="zh-CN" sz="2400" dirty="0"/>
              <a:t>Training is repeated several times.</a:t>
            </a:r>
          </a:p>
          <a:p>
            <a:pPr marL="800100" lvl="1" indent="-342900">
              <a:buFont typeface="Arial" panose="020B0604020202020204" pitchFamily="34" charset="0"/>
              <a:buChar char="•"/>
            </a:pPr>
            <a:r>
              <a:rPr lang="en-US" altLang="zh-CN" sz="2400" dirty="0"/>
              <a:t>Training is conducted on multiple datasets.</a:t>
            </a:r>
          </a:p>
          <a:p>
            <a:pPr marL="800100" lvl="1" indent="-342900">
              <a:buFont typeface="Arial" panose="020B0604020202020204" pitchFamily="34" charset="0"/>
              <a:buChar char="•"/>
            </a:pPr>
            <a:r>
              <a:rPr lang="en-US" altLang="zh-CN" sz="2400" dirty="0"/>
              <a:t>Multiple tasks: multi-class or multi-labels.</a:t>
            </a:r>
          </a:p>
        </p:txBody>
      </p:sp>
      <p:sp>
        <p:nvSpPr>
          <p:cNvPr id="20" name="矩形 19">
            <a:extLst>
              <a:ext uri="{FF2B5EF4-FFF2-40B4-BE49-F238E27FC236}">
                <a16:creationId xmlns:a16="http://schemas.microsoft.com/office/drawing/2014/main" id="{6A742D5F-0456-468F-9200-9CF40878DEFC}"/>
              </a:ext>
            </a:extLst>
          </p:cNvPr>
          <p:cNvSpPr/>
          <p:nvPr/>
        </p:nvSpPr>
        <p:spPr>
          <a:xfrm>
            <a:off x="452977" y="4144325"/>
            <a:ext cx="8315103" cy="830997"/>
          </a:xfrm>
          <a:prstGeom prst="rect">
            <a:avLst/>
          </a:prstGeom>
        </p:spPr>
        <p:txBody>
          <a:bodyPr wrap="square">
            <a:spAutoFit/>
          </a:bodyPr>
          <a:lstStyle/>
          <a:p>
            <a:pPr algn="ctr"/>
            <a:r>
              <a:rPr lang="en-US" altLang="zh-CN" sz="2400" dirty="0"/>
              <a:t>How can we evaluate the multi-class classification with precision and recall?</a:t>
            </a:r>
          </a:p>
        </p:txBody>
      </p:sp>
    </p:spTree>
    <p:extLst>
      <p:ext uri="{BB962C8B-B14F-4D97-AF65-F5344CB8AC3E}">
        <p14:creationId xmlns:p14="http://schemas.microsoft.com/office/powerpoint/2010/main" val="28911643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B6F15528-21DE-4FAA-801E-634DDDAF4B2B}" type="slidenum">
              <a:rPr lang="en-US" smtClean="0"/>
              <a:pPr/>
              <a:t>25</a:t>
            </a:fld>
            <a:endParaRPr lang="en-US" dirty="0"/>
          </a:p>
        </p:txBody>
      </p:sp>
      <p:sp>
        <p:nvSpPr>
          <p:cNvPr id="5" name="文本框 4"/>
          <p:cNvSpPr txBox="1"/>
          <p:nvPr/>
        </p:nvSpPr>
        <p:spPr>
          <a:xfrm>
            <a:off x="228600" y="76200"/>
            <a:ext cx="3348161" cy="754694"/>
          </a:xfrm>
          <a:prstGeom prst="rect">
            <a:avLst/>
          </a:prstGeom>
          <a:noFill/>
        </p:spPr>
        <p:txBody>
          <a:bodyPr wrap="none" rtlCol="0">
            <a:spAutoFit/>
          </a:bodyPr>
          <a:lstStyle/>
          <a:p>
            <a:pPr>
              <a:lnSpc>
                <a:spcPct val="150000"/>
              </a:lnSpc>
            </a:pPr>
            <a:r>
              <a:rPr lang="en-US" altLang="zh-CN" sz="3200" b="1" dirty="0"/>
              <a:t>Evaluation Metrics</a:t>
            </a:r>
            <a:endParaRPr lang="en-US" sz="3200" b="1" dirty="0"/>
          </a:p>
        </p:txBody>
      </p:sp>
      <p:pic>
        <p:nvPicPr>
          <p:cNvPr id="9" name="图片 8">
            <a:extLst>
              <a:ext uri="{FF2B5EF4-FFF2-40B4-BE49-F238E27FC236}">
                <a16:creationId xmlns:a16="http://schemas.microsoft.com/office/drawing/2014/main" id="{D1EFD378-D114-4B1B-833D-18ED6F2FB15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95780" y="990600"/>
            <a:ext cx="5552440" cy="5181600"/>
          </a:xfrm>
          <a:prstGeom prst="rect">
            <a:avLst/>
          </a:prstGeom>
        </p:spPr>
      </p:pic>
      <p:sp>
        <p:nvSpPr>
          <p:cNvPr id="18" name="矩形 17">
            <a:extLst>
              <a:ext uri="{FF2B5EF4-FFF2-40B4-BE49-F238E27FC236}">
                <a16:creationId xmlns:a16="http://schemas.microsoft.com/office/drawing/2014/main" id="{85DF4124-5E3A-4CDB-A693-03B9A6A52DD2}"/>
              </a:ext>
            </a:extLst>
          </p:cNvPr>
          <p:cNvSpPr/>
          <p:nvPr/>
        </p:nvSpPr>
        <p:spPr>
          <a:xfrm>
            <a:off x="228600" y="6188178"/>
            <a:ext cx="8798560" cy="523220"/>
          </a:xfrm>
          <a:prstGeom prst="rect">
            <a:avLst/>
          </a:prstGeom>
        </p:spPr>
        <p:txBody>
          <a:bodyPr wrap="square">
            <a:spAutoFit/>
          </a:bodyPr>
          <a:lstStyle/>
          <a:p>
            <a:pPr algn="r"/>
            <a:r>
              <a:rPr lang="en-US" altLang="zh-CN" sz="1400" i="1" dirty="0"/>
              <a:t>S. Gopal and Y. Yang. Recursive regularization for large-scale classification with hierarchical and graphical dependencies. In ACM KDD, 2013. </a:t>
            </a:r>
            <a:endParaRPr lang="zh-CN" altLang="en-US" sz="1400" i="1" dirty="0"/>
          </a:p>
        </p:txBody>
      </p:sp>
      <p:sp>
        <p:nvSpPr>
          <p:cNvPr id="19" name="文本框 18">
            <a:extLst>
              <a:ext uri="{FF2B5EF4-FFF2-40B4-BE49-F238E27FC236}">
                <a16:creationId xmlns:a16="http://schemas.microsoft.com/office/drawing/2014/main" id="{28ED9B67-5A4C-4D07-A6CF-DF9C306C3542}"/>
              </a:ext>
            </a:extLst>
          </p:cNvPr>
          <p:cNvSpPr txBox="1"/>
          <p:nvPr/>
        </p:nvSpPr>
        <p:spPr>
          <a:xfrm>
            <a:off x="2520840" y="5673888"/>
            <a:ext cx="588623" cy="338554"/>
          </a:xfrm>
          <a:prstGeom prst="rect">
            <a:avLst/>
          </a:prstGeom>
          <a:noFill/>
        </p:spPr>
        <p:txBody>
          <a:bodyPr wrap="none" rtlCol="0">
            <a:spAutoFit/>
          </a:bodyPr>
          <a:lstStyle/>
          <a:p>
            <a:r>
              <a:rPr lang="zh-CN" altLang="en-US" sz="1600" b="1" dirty="0">
                <a:solidFill>
                  <a:srgbClr val="FF0000"/>
                </a:solidFill>
              </a:rPr>
              <a:t>宏</a:t>
            </a:r>
            <a:r>
              <a:rPr lang="en-US" altLang="zh-CN" sz="1600" b="1" dirty="0">
                <a:solidFill>
                  <a:srgbClr val="FF0000"/>
                </a:solidFill>
              </a:rPr>
              <a:t>F1</a:t>
            </a:r>
          </a:p>
        </p:txBody>
      </p:sp>
      <p:sp>
        <p:nvSpPr>
          <p:cNvPr id="20" name="文本框 19">
            <a:extLst>
              <a:ext uri="{FF2B5EF4-FFF2-40B4-BE49-F238E27FC236}">
                <a16:creationId xmlns:a16="http://schemas.microsoft.com/office/drawing/2014/main" id="{BEEC0107-0B3C-4FCF-8344-2D45393FD578}"/>
              </a:ext>
            </a:extLst>
          </p:cNvPr>
          <p:cNvSpPr txBox="1"/>
          <p:nvPr/>
        </p:nvSpPr>
        <p:spPr>
          <a:xfrm>
            <a:off x="2286000" y="5239215"/>
            <a:ext cx="1005403" cy="338554"/>
          </a:xfrm>
          <a:prstGeom prst="rect">
            <a:avLst/>
          </a:prstGeom>
          <a:noFill/>
        </p:spPr>
        <p:txBody>
          <a:bodyPr wrap="none" rtlCol="0">
            <a:spAutoFit/>
          </a:bodyPr>
          <a:lstStyle/>
          <a:p>
            <a:r>
              <a:rPr lang="zh-CN" altLang="en-US" sz="1600" b="1" dirty="0">
                <a:solidFill>
                  <a:srgbClr val="FF0000"/>
                </a:solidFill>
              </a:rPr>
              <a:t>宏查全率</a:t>
            </a:r>
            <a:endParaRPr lang="en-US" altLang="zh-CN" sz="1600" b="1" dirty="0">
              <a:solidFill>
                <a:srgbClr val="FF0000"/>
              </a:solidFill>
            </a:endParaRPr>
          </a:p>
        </p:txBody>
      </p:sp>
      <p:sp>
        <p:nvSpPr>
          <p:cNvPr id="21" name="文本框 20">
            <a:extLst>
              <a:ext uri="{FF2B5EF4-FFF2-40B4-BE49-F238E27FC236}">
                <a16:creationId xmlns:a16="http://schemas.microsoft.com/office/drawing/2014/main" id="{7F291A99-95EB-4884-AB9E-D8F80D020EDB}"/>
              </a:ext>
            </a:extLst>
          </p:cNvPr>
          <p:cNvSpPr txBox="1"/>
          <p:nvPr/>
        </p:nvSpPr>
        <p:spPr>
          <a:xfrm>
            <a:off x="2286000" y="4804541"/>
            <a:ext cx="1005403" cy="338554"/>
          </a:xfrm>
          <a:prstGeom prst="rect">
            <a:avLst/>
          </a:prstGeom>
          <a:noFill/>
        </p:spPr>
        <p:txBody>
          <a:bodyPr wrap="none" rtlCol="0">
            <a:spAutoFit/>
          </a:bodyPr>
          <a:lstStyle/>
          <a:p>
            <a:r>
              <a:rPr lang="zh-CN" altLang="en-US" sz="1600" b="1" dirty="0">
                <a:solidFill>
                  <a:srgbClr val="FF0000"/>
                </a:solidFill>
              </a:rPr>
              <a:t>宏查准率</a:t>
            </a:r>
            <a:endParaRPr lang="en-US" altLang="zh-CN" sz="1600" b="1" dirty="0">
              <a:solidFill>
                <a:srgbClr val="FF0000"/>
              </a:solidFill>
            </a:endParaRPr>
          </a:p>
        </p:txBody>
      </p:sp>
      <p:sp>
        <p:nvSpPr>
          <p:cNvPr id="22" name="文本框 21">
            <a:extLst>
              <a:ext uri="{FF2B5EF4-FFF2-40B4-BE49-F238E27FC236}">
                <a16:creationId xmlns:a16="http://schemas.microsoft.com/office/drawing/2014/main" id="{8BE89D7F-CDAF-4075-AB47-AE202EA783A9}"/>
              </a:ext>
            </a:extLst>
          </p:cNvPr>
          <p:cNvSpPr txBox="1"/>
          <p:nvPr/>
        </p:nvSpPr>
        <p:spPr>
          <a:xfrm>
            <a:off x="2541663" y="3339864"/>
            <a:ext cx="590226" cy="338554"/>
          </a:xfrm>
          <a:prstGeom prst="rect">
            <a:avLst/>
          </a:prstGeom>
          <a:noFill/>
        </p:spPr>
        <p:txBody>
          <a:bodyPr wrap="none" rtlCol="0">
            <a:spAutoFit/>
          </a:bodyPr>
          <a:lstStyle/>
          <a:p>
            <a:r>
              <a:rPr lang="zh-CN" altLang="en-US" sz="1600" b="1" dirty="0">
                <a:solidFill>
                  <a:srgbClr val="FF0000"/>
                </a:solidFill>
              </a:rPr>
              <a:t>微</a:t>
            </a:r>
            <a:r>
              <a:rPr lang="en-US" altLang="zh-CN" sz="1600" b="1" dirty="0">
                <a:solidFill>
                  <a:srgbClr val="FF0000"/>
                </a:solidFill>
              </a:rPr>
              <a:t>F1</a:t>
            </a:r>
          </a:p>
        </p:txBody>
      </p:sp>
      <p:sp>
        <p:nvSpPr>
          <p:cNvPr id="23" name="文本框 22">
            <a:extLst>
              <a:ext uri="{FF2B5EF4-FFF2-40B4-BE49-F238E27FC236}">
                <a16:creationId xmlns:a16="http://schemas.microsoft.com/office/drawing/2014/main" id="{55D1B303-EC96-41F0-9A2D-3F50C88E6576}"/>
              </a:ext>
            </a:extLst>
          </p:cNvPr>
          <p:cNvSpPr txBox="1"/>
          <p:nvPr/>
        </p:nvSpPr>
        <p:spPr>
          <a:xfrm>
            <a:off x="2306823" y="2905191"/>
            <a:ext cx="1011815" cy="338554"/>
          </a:xfrm>
          <a:prstGeom prst="rect">
            <a:avLst/>
          </a:prstGeom>
          <a:noFill/>
        </p:spPr>
        <p:txBody>
          <a:bodyPr wrap="none" rtlCol="0">
            <a:spAutoFit/>
          </a:bodyPr>
          <a:lstStyle/>
          <a:p>
            <a:r>
              <a:rPr lang="zh-CN" altLang="en-US" sz="1600" b="1" dirty="0">
                <a:solidFill>
                  <a:srgbClr val="FF0000"/>
                </a:solidFill>
              </a:rPr>
              <a:t>微查全率</a:t>
            </a:r>
            <a:endParaRPr lang="en-US" altLang="zh-CN" sz="1600" b="1" dirty="0">
              <a:solidFill>
                <a:srgbClr val="FF0000"/>
              </a:solidFill>
            </a:endParaRPr>
          </a:p>
        </p:txBody>
      </p:sp>
      <p:sp>
        <p:nvSpPr>
          <p:cNvPr id="24" name="文本框 23">
            <a:extLst>
              <a:ext uri="{FF2B5EF4-FFF2-40B4-BE49-F238E27FC236}">
                <a16:creationId xmlns:a16="http://schemas.microsoft.com/office/drawing/2014/main" id="{29BF3A2C-F7B7-47B4-9E82-4DD2AAC218BE}"/>
              </a:ext>
            </a:extLst>
          </p:cNvPr>
          <p:cNvSpPr txBox="1"/>
          <p:nvPr/>
        </p:nvSpPr>
        <p:spPr>
          <a:xfrm>
            <a:off x="2306823" y="2470517"/>
            <a:ext cx="1011815" cy="338554"/>
          </a:xfrm>
          <a:prstGeom prst="rect">
            <a:avLst/>
          </a:prstGeom>
          <a:noFill/>
        </p:spPr>
        <p:txBody>
          <a:bodyPr wrap="none" rtlCol="0">
            <a:spAutoFit/>
          </a:bodyPr>
          <a:lstStyle/>
          <a:p>
            <a:r>
              <a:rPr lang="zh-CN" altLang="en-US" sz="1600" b="1" dirty="0">
                <a:solidFill>
                  <a:srgbClr val="FF0000"/>
                </a:solidFill>
              </a:rPr>
              <a:t>微查准率</a:t>
            </a:r>
            <a:endParaRPr lang="en-US" altLang="zh-CN" sz="1600" b="1" dirty="0">
              <a:solidFill>
                <a:srgbClr val="FF0000"/>
              </a:solidFill>
            </a:endParaRPr>
          </a:p>
        </p:txBody>
      </p:sp>
      <p:grpSp>
        <p:nvGrpSpPr>
          <p:cNvPr id="30" name="组合 29">
            <a:extLst>
              <a:ext uri="{FF2B5EF4-FFF2-40B4-BE49-F238E27FC236}">
                <a16:creationId xmlns:a16="http://schemas.microsoft.com/office/drawing/2014/main" id="{049C9F7E-C584-45B2-9CA1-9C140A3AE83F}"/>
              </a:ext>
            </a:extLst>
          </p:cNvPr>
          <p:cNvGrpSpPr/>
          <p:nvPr/>
        </p:nvGrpSpPr>
        <p:grpSpPr>
          <a:xfrm>
            <a:off x="2306823" y="4271141"/>
            <a:ext cx="4551177" cy="457200"/>
            <a:chOff x="2306823" y="4191000"/>
            <a:chExt cx="4551177" cy="457200"/>
          </a:xfrm>
        </p:grpSpPr>
        <p:cxnSp>
          <p:nvCxnSpPr>
            <p:cNvPr id="26" name="直接连接符 25">
              <a:extLst>
                <a:ext uri="{FF2B5EF4-FFF2-40B4-BE49-F238E27FC236}">
                  <a16:creationId xmlns:a16="http://schemas.microsoft.com/office/drawing/2014/main" id="{DCBB5671-1403-48FE-975C-CC38CABD53C1}"/>
                </a:ext>
              </a:extLst>
            </p:cNvPr>
            <p:cNvCxnSpPr/>
            <p:nvPr/>
          </p:nvCxnSpPr>
          <p:spPr>
            <a:xfrm>
              <a:off x="4343400" y="4191000"/>
              <a:ext cx="251460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7" name="直接连接符 26">
              <a:extLst>
                <a:ext uri="{FF2B5EF4-FFF2-40B4-BE49-F238E27FC236}">
                  <a16:creationId xmlns:a16="http://schemas.microsoft.com/office/drawing/2014/main" id="{F38560DD-DF7D-466B-B2FE-9A537DBB877A}"/>
                </a:ext>
              </a:extLst>
            </p:cNvPr>
            <p:cNvCxnSpPr>
              <a:cxnSpLocks/>
            </p:cNvCxnSpPr>
            <p:nvPr/>
          </p:nvCxnSpPr>
          <p:spPr>
            <a:xfrm>
              <a:off x="2306823" y="4419600"/>
              <a:ext cx="4551177"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9" name="直接连接符 28">
              <a:extLst>
                <a:ext uri="{FF2B5EF4-FFF2-40B4-BE49-F238E27FC236}">
                  <a16:creationId xmlns:a16="http://schemas.microsoft.com/office/drawing/2014/main" id="{87E045FE-E46F-4B91-9878-143D188022AA}"/>
                </a:ext>
              </a:extLst>
            </p:cNvPr>
            <p:cNvCxnSpPr>
              <a:cxnSpLocks/>
            </p:cNvCxnSpPr>
            <p:nvPr/>
          </p:nvCxnSpPr>
          <p:spPr>
            <a:xfrm>
              <a:off x="2306823" y="4648200"/>
              <a:ext cx="4551177"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pic>
        <p:nvPicPr>
          <p:cNvPr id="16" name="图片 15" descr="屏幕剪辑">
            <a:extLst>
              <a:ext uri="{FF2B5EF4-FFF2-40B4-BE49-F238E27FC236}">
                <a16:creationId xmlns:a16="http://schemas.microsoft.com/office/drawing/2014/main" id="{0D7B18B5-8A2F-4FA0-9B30-A669AAA433D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10200" y="-42061"/>
            <a:ext cx="3733800" cy="1118178"/>
          </a:xfrm>
          <a:prstGeom prst="rect">
            <a:avLst/>
          </a:prstGeom>
        </p:spPr>
      </p:pic>
    </p:spTree>
    <p:extLst>
      <p:ext uri="{BB962C8B-B14F-4D97-AF65-F5344CB8AC3E}">
        <p14:creationId xmlns:p14="http://schemas.microsoft.com/office/powerpoint/2010/main" val="31567629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B6F15528-21DE-4FAA-801E-634DDDAF4B2B}" type="slidenum">
              <a:rPr lang="en-US" smtClean="0"/>
              <a:pPr/>
              <a:t>26</a:t>
            </a:fld>
            <a:endParaRPr lang="en-US" dirty="0"/>
          </a:p>
        </p:txBody>
      </p:sp>
      <p:sp>
        <p:nvSpPr>
          <p:cNvPr id="5" name="文本框 4"/>
          <p:cNvSpPr txBox="1"/>
          <p:nvPr/>
        </p:nvSpPr>
        <p:spPr>
          <a:xfrm>
            <a:off x="228600" y="76200"/>
            <a:ext cx="3348161" cy="754694"/>
          </a:xfrm>
          <a:prstGeom prst="rect">
            <a:avLst/>
          </a:prstGeom>
          <a:noFill/>
        </p:spPr>
        <p:txBody>
          <a:bodyPr wrap="none" rtlCol="0">
            <a:spAutoFit/>
          </a:bodyPr>
          <a:lstStyle/>
          <a:p>
            <a:pPr>
              <a:lnSpc>
                <a:spcPct val="150000"/>
              </a:lnSpc>
            </a:pPr>
            <a:r>
              <a:rPr lang="en-US" altLang="zh-CN" sz="3200" b="1" dirty="0"/>
              <a:t>Evaluation Metrics</a:t>
            </a:r>
            <a:endParaRPr lang="en-US" sz="3200" b="1" dirty="0"/>
          </a:p>
        </p:txBody>
      </p:sp>
      <p:pic>
        <p:nvPicPr>
          <p:cNvPr id="3" name="图片 2">
            <a:extLst>
              <a:ext uri="{FF2B5EF4-FFF2-40B4-BE49-F238E27FC236}">
                <a16:creationId xmlns:a16="http://schemas.microsoft.com/office/drawing/2014/main" id="{12839FDD-D0CC-4E8E-BC87-45C85F7F4D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77556" y="2568983"/>
            <a:ext cx="6372924" cy="2550411"/>
          </a:xfrm>
          <a:prstGeom prst="rect">
            <a:avLst/>
          </a:prstGeom>
        </p:spPr>
      </p:pic>
      <p:sp>
        <p:nvSpPr>
          <p:cNvPr id="11" name="矩形 10">
            <a:extLst>
              <a:ext uri="{FF2B5EF4-FFF2-40B4-BE49-F238E27FC236}">
                <a16:creationId xmlns:a16="http://schemas.microsoft.com/office/drawing/2014/main" id="{9E320883-5BC1-49D9-8C2C-3703B2ECB556}"/>
              </a:ext>
            </a:extLst>
          </p:cNvPr>
          <p:cNvSpPr/>
          <p:nvPr/>
        </p:nvSpPr>
        <p:spPr>
          <a:xfrm>
            <a:off x="228600" y="990600"/>
            <a:ext cx="8686800" cy="1646605"/>
          </a:xfrm>
          <a:prstGeom prst="rect">
            <a:avLst/>
          </a:prstGeom>
        </p:spPr>
        <p:txBody>
          <a:bodyPr wrap="square">
            <a:spAutoFit/>
          </a:bodyPr>
          <a:lstStyle/>
          <a:p>
            <a:pPr algn="just">
              <a:spcAft>
                <a:spcPts val="600"/>
              </a:spcAft>
            </a:pPr>
            <a:r>
              <a:rPr lang="en-US" altLang="zh-CN" sz="2400" b="1" u="sng" dirty="0"/>
              <a:t>Multi-classes (N=3)</a:t>
            </a:r>
            <a:endParaRPr lang="en-US" altLang="zh-CN" sz="2400" b="1" dirty="0"/>
          </a:p>
          <a:p>
            <a:pPr algn="just"/>
            <a:r>
              <a:rPr lang="en-US" altLang="zh-CN" sz="2400" dirty="0"/>
              <a:t>Imagine that we have a collection of photos. Each photo shows one animal: either a cat, a fish, or a hen. </a:t>
            </a:r>
          </a:p>
          <a:p>
            <a:pPr algn="just"/>
            <a:r>
              <a:rPr lang="en-US" altLang="zh-CN" sz="2400" dirty="0"/>
              <a:t>Our classifier needs to predict which animal is shown in each photo. </a:t>
            </a:r>
          </a:p>
        </p:txBody>
      </p:sp>
      <p:sp>
        <p:nvSpPr>
          <p:cNvPr id="13" name="文本框 12">
            <a:extLst>
              <a:ext uri="{FF2B5EF4-FFF2-40B4-BE49-F238E27FC236}">
                <a16:creationId xmlns:a16="http://schemas.microsoft.com/office/drawing/2014/main" id="{48729CE4-056E-4C82-823B-E372DF5E3A21}"/>
              </a:ext>
            </a:extLst>
          </p:cNvPr>
          <p:cNvSpPr txBox="1"/>
          <p:nvPr/>
        </p:nvSpPr>
        <p:spPr>
          <a:xfrm>
            <a:off x="228600" y="5581999"/>
            <a:ext cx="5730308" cy="830997"/>
          </a:xfrm>
          <a:prstGeom prst="rect">
            <a:avLst/>
          </a:prstGeom>
          <a:noFill/>
        </p:spPr>
        <p:txBody>
          <a:bodyPr wrap="square" rtlCol="0">
            <a:spAutoFit/>
          </a:bodyPr>
          <a:lstStyle/>
          <a:p>
            <a:r>
              <a:rPr lang="en-US" altLang="zh-CN" sz="2400" dirty="0"/>
              <a:t>What is the macro-precision, macro-recall, and macro-F1?</a:t>
            </a:r>
            <a:endParaRPr lang="zh-CN" altLang="en-US" sz="2400" dirty="0"/>
          </a:p>
        </p:txBody>
      </p:sp>
      <p:pic>
        <p:nvPicPr>
          <p:cNvPr id="15" name="图片 14">
            <a:extLst>
              <a:ext uri="{FF2B5EF4-FFF2-40B4-BE49-F238E27FC236}">
                <a16:creationId xmlns:a16="http://schemas.microsoft.com/office/drawing/2014/main" id="{1D6A0D70-0077-4BA7-8286-836D12BCAA59}"/>
              </a:ext>
            </a:extLst>
          </p:cNvPr>
          <p:cNvPicPr>
            <a:picLocks noChangeAspect="1"/>
          </p:cNvPicPr>
          <p:nvPr/>
        </p:nvPicPr>
        <p:blipFill rotWithShape="1">
          <a:blip r:embed="rId3">
            <a:extLst>
              <a:ext uri="{28A0092B-C50C-407E-A947-70E740481C1C}">
                <a14:useLocalDpi xmlns:a14="http://schemas.microsoft.com/office/drawing/2010/main" val="0"/>
              </a:ext>
            </a:extLst>
          </a:blip>
          <a:srcRect l="28042" t="72135" r="26670" b="-76"/>
          <a:stretch/>
        </p:blipFill>
        <p:spPr>
          <a:xfrm>
            <a:off x="5958908" y="5273596"/>
            <a:ext cx="2514600" cy="1447801"/>
          </a:xfrm>
          <a:prstGeom prst="rect">
            <a:avLst/>
          </a:prstGeom>
        </p:spPr>
      </p:pic>
    </p:spTree>
    <p:extLst>
      <p:ext uri="{BB962C8B-B14F-4D97-AF65-F5344CB8AC3E}">
        <p14:creationId xmlns:p14="http://schemas.microsoft.com/office/powerpoint/2010/main" val="24281762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B6F15528-21DE-4FAA-801E-634DDDAF4B2B}" type="slidenum">
              <a:rPr lang="en-US" smtClean="0"/>
              <a:pPr/>
              <a:t>27</a:t>
            </a:fld>
            <a:endParaRPr lang="en-US" dirty="0"/>
          </a:p>
        </p:txBody>
      </p:sp>
      <p:sp>
        <p:nvSpPr>
          <p:cNvPr id="5" name="文本框 4"/>
          <p:cNvSpPr txBox="1"/>
          <p:nvPr/>
        </p:nvSpPr>
        <p:spPr>
          <a:xfrm>
            <a:off x="228600" y="76200"/>
            <a:ext cx="3348161" cy="754694"/>
          </a:xfrm>
          <a:prstGeom prst="rect">
            <a:avLst/>
          </a:prstGeom>
          <a:noFill/>
        </p:spPr>
        <p:txBody>
          <a:bodyPr wrap="none" rtlCol="0">
            <a:spAutoFit/>
          </a:bodyPr>
          <a:lstStyle/>
          <a:p>
            <a:pPr>
              <a:lnSpc>
                <a:spcPct val="150000"/>
              </a:lnSpc>
            </a:pPr>
            <a:r>
              <a:rPr lang="en-US" altLang="zh-CN" sz="3200" b="1" dirty="0"/>
              <a:t>Evaluation Metrics</a:t>
            </a:r>
            <a:endParaRPr lang="en-US" sz="3200" b="1" dirty="0"/>
          </a:p>
        </p:txBody>
      </p:sp>
      <p:pic>
        <p:nvPicPr>
          <p:cNvPr id="10" name="图片 9">
            <a:extLst>
              <a:ext uri="{FF2B5EF4-FFF2-40B4-BE49-F238E27FC236}">
                <a16:creationId xmlns:a16="http://schemas.microsoft.com/office/drawing/2014/main" id="{831712FB-419C-4559-818D-0588837768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08195" y="1704598"/>
            <a:ext cx="5104384" cy="1627236"/>
          </a:xfrm>
          <a:prstGeom prst="rect">
            <a:avLst/>
          </a:prstGeom>
        </p:spPr>
      </p:pic>
      <p:pic>
        <p:nvPicPr>
          <p:cNvPr id="13" name="图片 12">
            <a:extLst>
              <a:ext uri="{FF2B5EF4-FFF2-40B4-BE49-F238E27FC236}">
                <a16:creationId xmlns:a16="http://schemas.microsoft.com/office/drawing/2014/main" id="{BAA30C2B-4D18-46F9-89C2-0D914246232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051996" y="-3595"/>
            <a:ext cx="4056444" cy="1623368"/>
          </a:xfrm>
          <a:prstGeom prst="rect">
            <a:avLst/>
          </a:prstGeom>
        </p:spPr>
      </p:pic>
      <p:sp>
        <p:nvSpPr>
          <p:cNvPr id="2" name="矩形 1">
            <a:extLst>
              <a:ext uri="{FF2B5EF4-FFF2-40B4-BE49-F238E27FC236}">
                <a16:creationId xmlns:a16="http://schemas.microsoft.com/office/drawing/2014/main" id="{D42200D7-8D83-45DE-83EF-3799A85577C3}"/>
              </a:ext>
            </a:extLst>
          </p:cNvPr>
          <p:cNvSpPr/>
          <p:nvPr/>
        </p:nvSpPr>
        <p:spPr>
          <a:xfrm>
            <a:off x="3352800" y="2209800"/>
            <a:ext cx="762000" cy="228600"/>
          </a:xfrm>
          <a:prstGeom prst="rect">
            <a:avLst/>
          </a:prstGeom>
          <a:solidFill>
            <a:srgbClr val="CFD5EA"/>
          </a:solidFill>
          <a:ln>
            <a:solidFill>
              <a:srgbClr val="CFD5E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a:extLst>
              <a:ext uri="{FF2B5EF4-FFF2-40B4-BE49-F238E27FC236}">
                <a16:creationId xmlns:a16="http://schemas.microsoft.com/office/drawing/2014/main" id="{5AE2F8F2-D3A3-46C7-BDF4-55DA2834931F}"/>
              </a:ext>
            </a:extLst>
          </p:cNvPr>
          <p:cNvSpPr/>
          <p:nvPr/>
        </p:nvSpPr>
        <p:spPr>
          <a:xfrm>
            <a:off x="4648202" y="2224237"/>
            <a:ext cx="762000" cy="228600"/>
          </a:xfrm>
          <a:prstGeom prst="rect">
            <a:avLst/>
          </a:prstGeom>
          <a:solidFill>
            <a:srgbClr val="CFD5EA"/>
          </a:solidFill>
          <a:ln>
            <a:solidFill>
              <a:srgbClr val="CFD5E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a:extLst>
              <a:ext uri="{FF2B5EF4-FFF2-40B4-BE49-F238E27FC236}">
                <a16:creationId xmlns:a16="http://schemas.microsoft.com/office/drawing/2014/main" id="{08F872DA-80F8-4AB7-BFB7-194C06EC2EBB}"/>
              </a:ext>
            </a:extLst>
          </p:cNvPr>
          <p:cNvSpPr/>
          <p:nvPr/>
        </p:nvSpPr>
        <p:spPr>
          <a:xfrm>
            <a:off x="5852162" y="2224237"/>
            <a:ext cx="762000" cy="228600"/>
          </a:xfrm>
          <a:prstGeom prst="rect">
            <a:avLst/>
          </a:prstGeom>
          <a:solidFill>
            <a:srgbClr val="CFD5EA"/>
          </a:solidFill>
          <a:ln>
            <a:solidFill>
              <a:srgbClr val="CFD5E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a:extLst>
              <a:ext uri="{FF2B5EF4-FFF2-40B4-BE49-F238E27FC236}">
                <a16:creationId xmlns:a16="http://schemas.microsoft.com/office/drawing/2014/main" id="{45910352-AAF1-4717-BFA8-944970CF0854}"/>
              </a:ext>
            </a:extLst>
          </p:cNvPr>
          <p:cNvSpPr/>
          <p:nvPr/>
        </p:nvSpPr>
        <p:spPr>
          <a:xfrm>
            <a:off x="5806440" y="2971012"/>
            <a:ext cx="762000" cy="228600"/>
          </a:xfrm>
          <a:prstGeom prst="rect">
            <a:avLst/>
          </a:prstGeom>
          <a:solidFill>
            <a:srgbClr val="CFD5EA"/>
          </a:solidFill>
          <a:ln>
            <a:solidFill>
              <a:srgbClr val="CFD5E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a:extLst>
              <a:ext uri="{FF2B5EF4-FFF2-40B4-BE49-F238E27FC236}">
                <a16:creationId xmlns:a16="http://schemas.microsoft.com/office/drawing/2014/main" id="{3508C337-8349-4C5E-9BC7-3186BF40116C}"/>
              </a:ext>
            </a:extLst>
          </p:cNvPr>
          <p:cNvSpPr/>
          <p:nvPr/>
        </p:nvSpPr>
        <p:spPr>
          <a:xfrm>
            <a:off x="4648202" y="3017731"/>
            <a:ext cx="762000" cy="228600"/>
          </a:xfrm>
          <a:prstGeom prst="rect">
            <a:avLst/>
          </a:prstGeom>
          <a:solidFill>
            <a:srgbClr val="CFD5EA"/>
          </a:solidFill>
          <a:ln>
            <a:solidFill>
              <a:srgbClr val="CFD5E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a:extLst>
              <a:ext uri="{FF2B5EF4-FFF2-40B4-BE49-F238E27FC236}">
                <a16:creationId xmlns:a16="http://schemas.microsoft.com/office/drawing/2014/main" id="{A7E540B6-90BD-4C41-AE5A-6445C7CC6BB1}"/>
              </a:ext>
            </a:extLst>
          </p:cNvPr>
          <p:cNvSpPr/>
          <p:nvPr/>
        </p:nvSpPr>
        <p:spPr>
          <a:xfrm>
            <a:off x="3380543" y="2996337"/>
            <a:ext cx="762000" cy="228600"/>
          </a:xfrm>
          <a:prstGeom prst="rect">
            <a:avLst/>
          </a:prstGeom>
          <a:solidFill>
            <a:srgbClr val="CFD5EA"/>
          </a:solidFill>
          <a:ln>
            <a:solidFill>
              <a:srgbClr val="CFD5E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a:extLst>
              <a:ext uri="{FF2B5EF4-FFF2-40B4-BE49-F238E27FC236}">
                <a16:creationId xmlns:a16="http://schemas.microsoft.com/office/drawing/2014/main" id="{FEE3E6F4-C5F8-4059-8596-9558FAE9EA1F}"/>
              </a:ext>
            </a:extLst>
          </p:cNvPr>
          <p:cNvSpPr/>
          <p:nvPr/>
        </p:nvSpPr>
        <p:spPr>
          <a:xfrm>
            <a:off x="3307078" y="2595753"/>
            <a:ext cx="762000" cy="228600"/>
          </a:xfrm>
          <a:prstGeom prst="rect">
            <a:avLst/>
          </a:prstGeom>
          <a:solidFill>
            <a:srgbClr val="E9EBF5"/>
          </a:solidFill>
          <a:ln>
            <a:solidFill>
              <a:srgbClr val="E9EBF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a:extLst>
              <a:ext uri="{FF2B5EF4-FFF2-40B4-BE49-F238E27FC236}">
                <a16:creationId xmlns:a16="http://schemas.microsoft.com/office/drawing/2014/main" id="{9DA12998-1181-4A7A-90E6-0B3A4C2525D6}"/>
              </a:ext>
            </a:extLst>
          </p:cNvPr>
          <p:cNvSpPr/>
          <p:nvPr/>
        </p:nvSpPr>
        <p:spPr>
          <a:xfrm>
            <a:off x="4602480" y="2610190"/>
            <a:ext cx="762000" cy="228600"/>
          </a:xfrm>
          <a:prstGeom prst="rect">
            <a:avLst/>
          </a:prstGeom>
          <a:solidFill>
            <a:srgbClr val="E9EBF5"/>
          </a:solidFill>
          <a:ln>
            <a:solidFill>
              <a:srgbClr val="E9EBF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7A980214-E2BD-410C-ADDB-A5CDA1C94C6C}"/>
              </a:ext>
            </a:extLst>
          </p:cNvPr>
          <p:cNvSpPr/>
          <p:nvPr/>
        </p:nvSpPr>
        <p:spPr>
          <a:xfrm>
            <a:off x="5806440" y="2610190"/>
            <a:ext cx="762000" cy="228600"/>
          </a:xfrm>
          <a:prstGeom prst="rect">
            <a:avLst/>
          </a:prstGeom>
          <a:solidFill>
            <a:srgbClr val="E9EBF5"/>
          </a:solidFill>
          <a:ln>
            <a:solidFill>
              <a:srgbClr val="E9EBF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84223628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B6F15528-21DE-4FAA-801E-634DDDAF4B2B}" type="slidenum">
              <a:rPr lang="en-US" smtClean="0"/>
              <a:pPr/>
              <a:t>28</a:t>
            </a:fld>
            <a:endParaRPr lang="en-US" dirty="0"/>
          </a:p>
        </p:txBody>
      </p:sp>
      <p:sp>
        <p:nvSpPr>
          <p:cNvPr id="5" name="文本框 4"/>
          <p:cNvSpPr txBox="1"/>
          <p:nvPr/>
        </p:nvSpPr>
        <p:spPr>
          <a:xfrm>
            <a:off x="228600" y="76200"/>
            <a:ext cx="3348161" cy="754694"/>
          </a:xfrm>
          <a:prstGeom prst="rect">
            <a:avLst/>
          </a:prstGeom>
          <a:noFill/>
        </p:spPr>
        <p:txBody>
          <a:bodyPr wrap="none" rtlCol="0">
            <a:spAutoFit/>
          </a:bodyPr>
          <a:lstStyle/>
          <a:p>
            <a:pPr>
              <a:lnSpc>
                <a:spcPct val="150000"/>
              </a:lnSpc>
            </a:pPr>
            <a:r>
              <a:rPr lang="en-US" altLang="zh-CN" sz="3200" b="1" dirty="0"/>
              <a:t>Evaluation Metrics</a:t>
            </a:r>
            <a:endParaRPr lang="en-US" sz="3200" b="1" dirty="0"/>
          </a:p>
        </p:txBody>
      </p:sp>
      <p:pic>
        <p:nvPicPr>
          <p:cNvPr id="10" name="图片 9">
            <a:extLst>
              <a:ext uri="{FF2B5EF4-FFF2-40B4-BE49-F238E27FC236}">
                <a16:creationId xmlns:a16="http://schemas.microsoft.com/office/drawing/2014/main" id="{831712FB-419C-4559-818D-0588837768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08195" y="1704598"/>
            <a:ext cx="5104384" cy="1627236"/>
          </a:xfrm>
          <a:prstGeom prst="rect">
            <a:avLst/>
          </a:prstGeom>
        </p:spPr>
      </p:pic>
      <p:pic>
        <p:nvPicPr>
          <p:cNvPr id="6" name="图片 5">
            <a:extLst>
              <a:ext uri="{FF2B5EF4-FFF2-40B4-BE49-F238E27FC236}">
                <a16:creationId xmlns:a16="http://schemas.microsoft.com/office/drawing/2014/main" id="{1BAC4E29-9C2C-4A7F-940F-874BB19D1EA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52600" y="3494159"/>
            <a:ext cx="4946904" cy="1003352"/>
          </a:xfrm>
          <a:prstGeom prst="rect">
            <a:avLst/>
          </a:prstGeom>
        </p:spPr>
      </p:pic>
      <p:pic>
        <p:nvPicPr>
          <p:cNvPr id="8" name="图片 7">
            <a:extLst>
              <a:ext uri="{FF2B5EF4-FFF2-40B4-BE49-F238E27FC236}">
                <a16:creationId xmlns:a16="http://schemas.microsoft.com/office/drawing/2014/main" id="{1728FE89-F301-4D40-9B1E-5AA1B60F833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757680" y="4627252"/>
            <a:ext cx="4959605" cy="584230"/>
          </a:xfrm>
          <a:prstGeom prst="rect">
            <a:avLst/>
          </a:prstGeom>
        </p:spPr>
      </p:pic>
      <p:grpSp>
        <p:nvGrpSpPr>
          <p:cNvPr id="12" name="组合 11">
            <a:extLst>
              <a:ext uri="{FF2B5EF4-FFF2-40B4-BE49-F238E27FC236}">
                <a16:creationId xmlns:a16="http://schemas.microsoft.com/office/drawing/2014/main" id="{5DF569AC-8E00-40BA-B863-FF43A96A7934}"/>
              </a:ext>
            </a:extLst>
          </p:cNvPr>
          <p:cNvGrpSpPr/>
          <p:nvPr/>
        </p:nvGrpSpPr>
        <p:grpSpPr>
          <a:xfrm>
            <a:off x="515245" y="5257800"/>
            <a:ext cx="7773149" cy="1387663"/>
            <a:chOff x="515245" y="5257800"/>
            <a:chExt cx="7773149" cy="1387663"/>
          </a:xfrm>
        </p:grpSpPr>
        <p:sp>
          <p:nvSpPr>
            <p:cNvPr id="9" name="文本框 8">
              <a:extLst>
                <a:ext uri="{FF2B5EF4-FFF2-40B4-BE49-F238E27FC236}">
                  <a16:creationId xmlns:a16="http://schemas.microsoft.com/office/drawing/2014/main" id="{D8805DB8-52F5-408F-A610-E9B8539DDE73}"/>
                </a:ext>
              </a:extLst>
            </p:cNvPr>
            <p:cNvSpPr txBox="1"/>
            <p:nvPr/>
          </p:nvSpPr>
          <p:spPr>
            <a:xfrm>
              <a:off x="515245" y="5536132"/>
              <a:ext cx="6037955" cy="830997"/>
            </a:xfrm>
            <a:prstGeom prst="rect">
              <a:avLst/>
            </a:prstGeom>
            <a:noFill/>
          </p:spPr>
          <p:txBody>
            <a:bodyPr wrap="square" rtlCol="0">
              <a:spAutoFit/>
            </a:bodyPr>
            <a:lstStyle/>
            <a:p>
              <a:r>
                <a:rPr lang="en-US" altLang="zh-CN" sz="2400" dirty="0"/>
                <a:t>What is the micro-precision, micro-recall, and micro-F1?</a:t>
              </a:r>
              <a:endParaRPr lang="zh-CN" altLang="en-US" sz="2400" dirty="0"/>
            </a:p>
          </p:txBody>
        </p:sp>
        <p:pic>
          <p:nvPicPr>
            <p:cNvPr id="11" name="图片 10">
              <a:extLst>
                <a:ext uri="{FF2B5EF4-FFF2-40B4-BE49-F238E27FC236}">
                  <a16:creationId xmlns:a16="http://schemas.microsoft.com/office/drawing/2014/main" id="{47B9BCD3-BEB0-4E37-87C8-57DF7E3B97B1}"/>
                </a:ext>
              </a:extLst>
            </p:cNvPr>
            <p:cNvPicPr>
              <a:picLocks noChangeAspect="1"/>
            </p:cNvPicPr>
            <p:nvPr/>
          </p:nvPicPr>
          <p:blipFill rotWithShape="1">
            <a:blip r:embed="rId5">
              <a:extLst>
                <a:ext uri="{28A0092B-C50C-407E-A947-70E740481C1C}">
                  <a14:useLocalDpi xmlns:a14="http://schemas.microsoft.com/office/drawing/2010/main" val="0"/>
                </a:ext>
              </a:extLst>
            </a:blip>
            <a:srcRect l="32624" t="26162" r="33066" b="47056"/>
            <a:stretch/>
          </p:blipFill>
          <p:spPr>
            <a:xfrm>
              <a:off x="6383395" y="5257800"/>
              <a:ext cx="1904999" cy="1387663"/>
            </a:xfrm>
            <a:prstGeom prst="rect">
              <a:avLst/>
            </a:prstGeom>
          </p:spPr>
        </p:pic>
      </p:grpSp>
      <p:pic>
        <p:nvPicPr>
          <p:cNvPr id="13" name="图片 12">
            <a:extLst>
              <a:ext uri="{FF2B5EF4-FFF2-40B4-BE49-F238E27FC236}">
                <a16:creationId xmlns:a16="http://schemas.microsoft.com/office/drawing/2014/main" id="{BAA30C2B-4D18-46F9-89C2-0D9142462320}"/>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051996" y="-3595"/>
            <a:ext cx="4056444" cy="1623368"/>
          </a:xfrm>
          <a:prstGeom prst="rect">
            <a:avLst/>
          </a:prstGeom>
        </p:spPr>
      </p:pic>
    </p:spTree>
    <p:extLst>
      <p:ext uri="{BB962C8B-B14F-4D97-AF65-F5344CB8AC3E}">
        <p14:creationId xmlns:p14="http://schemas.microsoft.com/office/powerpoint/2010/main" val="32129230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B6F15528-21DE-4FAA-801E-634DDDAF4B2B}" type="slidenum">
              <a:rPr lang="en-US" smtClean="0"/>
              <a:pPr/>
              <a:t>29</a:t>
            </a:fld>
            <a:endParaRPr lang="en-US" dirty="0"/>
          </a:p>
        </p:txBody>
      </p:sp>
      <p:sp>
        <p:nvSpPr>
          <p:cNvPr id="5" name="文本框 4"/>
          <p:cNvSpPr txBox="1"/>
          <p:nvPr/>
        </p:nvSpPr>
        <p:spPr>
          <a:xfrm>
            <a:off x="228600" y="76200"/>
            <a:ext cx="3348161" cy="754694"/>
          </a:xfrm>
          <a:prstGeom prst="rect">
            <a:avLst/>
          </a:prstGeom>
          <a:noFill/>
        </p:spPr>
        <p:txBody>
          <a:bodyPr wrap="none" rtlCol="0">
            <a:spAutoFit/>
          </a:bodyPr>
          <a:lstStyle/>
          <a:p>
            <a:pPr>
              <a:lnSpc>
                <a:spcPct val="150000"/>
              </a:lnSpc>
            </a:pPr>
            <a:r>
              <a:rPr lang="en-US" altLang="zh-CN" sz="3200" b="1" dirty="0"/>
              <a:t>Evaluation Metrics</a:t>
            </a:r>
            <a:endParaRPr lang="en-US" sz="3200" b="1" dirty="0"/>
          </a:p>
        </p:txBody>
      </p:sp>
      <p:pic>
        <p:nvPicPr>
          <p:cNvPr id="3" name="图片 2">
            <a:extLst>
              <a:ext uri="{FF2B5EF4-FFF2-40B4-BE49-F238E27FC236}">
                <a16:creationId xmlns:a16="http://schemas.microsoft.com/office/drawing/2014/main" id="{12839FDD-D0CC-4E8E-BC87-45C85F7F4D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2000" y="1199847"/>
            <a:ext cx="7259446" cy="2905192"/>
          </a:xfrm>
          <a:prstGeom prst="rect">
            <a:avLst/>
          </a:prstGeom>
        </p:spPr>
      </p:pic>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B4FED5A0-C7CF-4E80-BFB3-80A6895A09EA}"/>
                  </a:ext>
                </a:extLst>
              </p:cNvPr>
              <p:cNvSpPr txBox="1"/>
              <p:nvPr/>
            </p:nvSpPr>
            <p:spPr>
              <a:xfrm>
                <a:off x="762000" y="4362214"/>
                <a:ext cx="7331622" cy="199413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2000" i="1" dirty="0" smtClean="0">
                          <a:latin typeface="Cambria Math" panose="02040503050406030204" pitchFamily="18" charset="0"/>
                        </a:rPr>
                        <m:t>𝑚𝑖𝑐𝑟𝑜</m:t>
                      </m:r>
                      <m:r>
                        <a:rPr lang="en-US" altLang="zh-CN" sz="2000" b="0" i="1" dirty="0" smtClean="0">
                          <a:latin typeface="Cambria Math" panose="02040503050406030204" pitchFamily="18" charset="0"/>
                        </a:rPr>
                        <m:t>_</m:t>
                      </m:r>
                      <m:r>
                        <a:rPr lang="en-US" altLang="zh-CN" sz="2000" i="1" dirty="0" smtClean="0">
                          <a:latin typeface="Cambria Math" panose="02040503050406030204" pitchFamily="18" charset="0"/>
                        </a:rPr>
                        <m:t>𝑝𝑟𝑒𝑐𝑖𝑠𝑖𝑜𝑛</m:t>
                      </m:r>
                      <m:r>
                        <a:rPr lang="en-US" altLang="zh-CN" sz="2000" i="1" dirty="0" smtClean="0">
                          <a:latin typeface="Cambria Math" panose="02040503050406030204" pitchFamily="18" charset="0"/>
                        </a:rPr>
                        <m:t>=</m:t>
                      </m:r>
                      <m:f>
                        <m:fPr>
                          <m:ctrlPr>
                            <a:rPr lang="en-US" altLang="zh-CN" sz="2000" i="1" dirty="0">
                              <a:latin typeface="Cambria Math" panose="02040503050406030204" pitchFamily="18" charset="0"/>
                            </a:rPr>
                          </m:ctrlPr>
                        </m:fPr>
                        <m:num>
                          <m:r>
                            <a:rPr lang="en-US" altLang="zh-CN" sz="2000" i="1" dirty="0">
                              <a:latin typeface="Cambria Math" panose="02040503050406030204" pitchFamily="18" charset="0"/>
                            </a:rPr>
                            <m:t>4+2+6</m:t>
                          </m:r>
                        </m:num>
                        <m:den>
                          <m:r>
                            <a:rPr lang="en-US" altLang="zh-CN" sz="2000" i="1" dirty="0">
                              <a:latin typeface="Cambria Math" panose="02040503050406030204" pitchFamily="18" charset="0"/>
                            </a:rPr>
                            <m:t>(4+9)+(2+1)+(6+3)</m:t>
                          </m:r>
                        </m:den>
                      </m:f>
                      <m:r>
                        <a:rPr lang="en-US" altLang="zh-CN" sz="2000" i="1" dirty="0" smtClean="0">
                          <a:latin typeface="Cambria Math" panose="02040503050406030204" pitchFamily="18" charset="0"/>
                        </a:rPr>
                        <m:t>=12/25=48%</m:t>
                      </m:r>
                    </m:oMath>
                  </m:oMathPara>
                </a14:m>
                <a:endParaRPr lang="en-US" altLang="zh-CN" sz="2000" dirty="0"/>
              </a:p>
              <a:p>
                <a:pPr/>
                <a14:m>
                  <m:oMathPara xmlns:m="http://schemas.openxmlformats.org/officeDocument/2006/math">
                    <m:oMathParaPr>
                      <m:jc m:val="centerGroup"/>
                    </m:oMathParaPr>
                    <m:oMath xmlns:m="http://schemas.openxmlformats.org/officeDocument/2006/math">
                      <m:r>
                        <a:rPr lang="en-US" altLang="zh-CN" sz="2000" i="1" dirty="0" smtClean="0">
                          <a:latin typeface="Cambria Math" panose="02040503050406030204" pitchFamily="18" charset="0"/>
                        </a:rPr>
                        <m:t>𝑚𝑖𝑐𝑟𝑜</m:t>
                      </m:r>
                      <m:r>
                        <a:rPr lang="en-US" altLang="zh-CN" sz="2000" b="0" i="1" dirty="0" smtClean="0">
                          <a:latin typeface="Cambria Math" panose="02040503050406030204" pitchFamily="18" charset="0"/>
                        </a:rPr>
                        <m:t>_</m:t>
                      </m:r>
                      <m:r>
                        <a:rPr lang="en-US" altLang="zh-CN" sz="2000" i="1" dirty="0" smtClean="0">
                          <a:latin typeface="Cambria Math" panose="02040503050406030204" pitchFamily="18" charset="0"/>
                        </a:rPr>
                        <m:t>𝑟𝑒𝑐𝑎𝑙𝑙</m:t>
                      </m:r>
                      <m:r>
                        <a:rPr lang="en-US" altLang="zh-CN" sz="2000" i="1" dirty="0" smtClean="0">
                          <a:latin typeface="Cambria Math" panose="02040503050406030204" pitchFamily="18" charset="0"/>
                        </a:rPr>
                        <m:t>=</m:t>
                      </m:r>
                      <m:f>
                        <m:fPr>
                          <m:ctrlPr>
                            <a:rPr lang="en-US" altLang="zh-CN" sz="2000" i="1" dirty="0" smtClean="0">
                              <a:latin typeface="Cambria Math" panose="02040503050406030204" pitchFamily="18" charset="0"/>
                            </a:rPr>
                          </m:ctrlPr>
                        </m:fPr>
                        <m:num>
                          <m:r>
                            <a:rPr lang="en-US" altLang="zh-CN" sz="2000" b="0" i="1" dirty="0" smtClean="0">
                              <a:latin typeface="Cambria Math" panose="02040503050406030204" pitchFamily="18" charset="0"/>
                            </a:rPr>
                            <m:t>4</m:t>
                          </m:r>
                          <m:r>
                            <a:rPr lang="en-US" altLang="zh-CN" sz="2000" i="1" dirty="0">
                              <a:latin typeface="Cambria Math" panose="02040503050406030204" pitchFamily="18" charset="0"/>
                            </a:rPr>
                            <m:t>+</m:t>
                          </m:r>
                          <m:r>
                            <a:rPr lang="en-US" altLang="zh-CN" sz="2000" b="0" i="1" dirty="0" smtClean="0">
                              <a:latin typeface="Cambria Math" panose="02040503050406030204" pitchFamily="18" charset="0"/>
                            </a:rPr>
                            <m:t>2</m:t>
                          </m:r>
                          <m:r>
                            <a:rPr lang="en-US" altLang="zh-CN" sz="2000" i="1" dirty="0">
                              <a:latin typeface="Cambria Math" panose="02040503050406030204" pitchFamily="18" charset="0"/>
                            </a:rPr>
                            <m:t>+</m:t>
                          </m:r>
                          <m:r>
                            <a:rPr lang="en-US" altLang="zh-CN" sz="2000" i="1" dirty="0" smtClean="0">
                              <a:latin typeface="Cambria Math" panose="02040503050406030204" pitchFamily="18" charset="0"/>
                            </a:rPr>
                            <m:t>6</m:t>
                          </m:r>
                        </m:num>
                        <m:den>
                          <m:r>
                            <a:rPr lang="en-US" altLang="zh-CN" sz="2000" i="1" dirty="0">
                              <a:latin typeface="Cambria Math" panose="02040503050406030204" pitchFamily="18" charset="0"/>
                            </a:rPr>
                            <m:t>(4+2)+(2+8)+(3+6)</m:t>
                          </m:r>
                        </m:den>
                      </m:f>
                      <m:r>
                        <a:rPr lang="en-US" altLang="zh-CN" sz="2000" i="1" dirty="0" smtClean="0">
                          <a:latin typeface="Cambria Math" panose="02040503050406030204" pitchFamily="18" charset="0"/>
                        </a:rPr>
                        <m:t>=12/25=48%</m:t>
                      </m:r>
                    </m:oMath>
                  </m:oMathPara>
                </a14:m>
                <a:endParaRPr lang="en-US" altLang="zh-CN" sz="2000" dirty="0"/>
              </a:p>
              <a:p>
                <a:pPr/>
                <a14:m>
                  <m:oMathPara xmlns:m="http://schemas.openxmlformats.org/officeDocument/2006/math">
                    <m:oMathParaPr>
                      <m:jc m:val="centerGroup"/>
                    </m:oMathParaPr>
                    <m:oMath xmlns:m="http://schemas.openxmlformats.org/officeDocument/2006/math">
                      <m:r>
                        <a:rPr lang="en-US" altLang="zh-CN" sz="2000" i="1" dirty="0" smtClean="0">
                          <a:latin typeface="Cambria Math" panose="02040503050406030204" pitchFamily="18" charset="0"/>
                        </a:rPr>
                        <m:t>𝑚𝑖𝑐𝑟𝑜</m:t>
                      </m:r>
                      <m:r>
                        <a:rPr lang="en-US" altLang="zh-CN" sz="2000" b="0" i="1" dirty="0" smtClean="0">
                          <a:latin typeface="Cambria Math" panose="02040503050406030204" pitchFamily="18" charset="0"/>
                        </a:rPr>
                        <m:t>_</m:t>
                      </m:r>
                      <m:r>
                        <a:rPr lang="en-US" altLang="zh-CN" sz="2000" i="1" dirty="0" smtClean="0">
                          <a:latin typeface="Cambria Math" panose="02040503050406030204" pitchFamily="18" charset="0"/>
                        </a:rPr>
                        <m:t>𝐹</m:t>
                      </m:r>
                      <m:r>
                        <a:rPr lang="en-US" altLang="zh-CN" sz="2000" i="1" dirty="0" smtClean="0">
                          <a:latin typeface="Cambria Math" panose="02040503050406030204" pitchFamily="18" charset="0"/>
                        </a:rPr>
                        <m:t>1=2</m:t>
                      </m:r>
                      <m:f>
                        <m:fPr>
                          <m:ctrlPr>
                            <a:rPr lang="en-US" altLang="zh-CN" sz="2000" b="0" i="1" dirty="0" smtClean="0">
                              <a:latin typeface="Cambria Math" panose="02040503050406030204" pitchFamily="18" charset="0"/>
                            </a:rPr>
                          </m:ctrlPr>
                        </m:fPr>
                        <m:num>
                          <m:r>
                            <a:rPr lang="en-US" altLang="zh-CN" sz="2000" i="1" dirty="0">
                              <a:latin typeface="Cambria Math" panose="02040503050406030204" pitchFamily="18" charset="0"/>
                            </a:rPr>
                            <m:t>𝑚𝑖𝑐𝑟</m:t>
                          </m:r>
                          <m:r>
                            <a:rPr lang="en-US" altLang="zh-CN" sz="2000" b="0" i="1" dirty="0" smtClean="0">
                              <a:latin typeface="Cambria Math" panose="02040503050406030204" pitchFamily="18" charset="0"/>
                            </a:rPr>
                            <m:t>𝑜</m:t>
                          </m:r>
                          <m:r>
                            <a:rPr lang="en-US" altLang="zh-CN" sz="2000" b="0" i="1" dirty="0" smtClean="0">
                              <a:latin typeface="Cambria Math" panose="02040503050406030204" pitchFamily="18" charset="0"/>
                            </a:rPr>
                            <m:t>_</m:t>
                          </m:r>
                          <m:r>
                            <a:rPr lang="en-US" altLang="zh-CN" sz="2000" b="0" i="1" dirty="0" smtClean="0">
                              <a:latin typeface="Cambria Math" panose="02040503050406030204" pitchFamily="18" charset="0"/>
                            </a:rPr>
                            <m:t>𝑝𝑟𝑒𝑐𝑖𝑠𝑖𝑜𝑛</m:t>
                          </m:r>
                          <m:r>
                            <a:rPr lang="en-US" altLang="zh-CN" sz="2000" b="0" i="1" dirty="0" smtClean="0">
                              <a:latin typeface="Cambria Math" panose="02040503050406030204" pitchFamily="18" charset="0"/>
                            </a:rPr>
                            <m:t>∗</m:t>
                          </m:r>
                          <m:r>
                            <a:rPr lang="en-US" altLang="zh-CN" sz="2000" i="1" dirty="0">
                              <a:latin typeface="Cambria Math" panose="02040503050406030204" pitchFamily="18" charset="0"/>
                            </a:rPr>
                            <m:t>𝑚𝑖𝑐𝑟𝑜</m:t>
                          </m:r>
                          <m:r>
                            <a:rPr lang="en-US" altLang="zh-CN" sz="2000" i="1" dirty="0">
                              <a:latin typeface="Cambria Math" panose="02040503050406030204" pitchFamily="18" charset="0"/>
                            </a:rPr>
                            <m:t>_</m:t>
                          </m:r>
                          <m:r>
                            <a:rPr lang="en-US" altLang="zh-CN" sz="2000" b="0" i="1" dirty="0" smtClean="0">
                              <a:latin typeface="Cambria Math" panose="02040503050406030204" pitchFamily="18" charset="0"/>
                            </a:rPr>
                            <m:t>𝑟𝑒𝑐𝑎𝑙𝑙</m:t>
                          </m:r>
                        </m:num>
                        <m:den>
                          <m:r>
                            <a:rPr lang="en-US" altLang="zh-CN" sz="2000" i="1" dirty="0">
                              <a:latin typeface="Cambria Math" panose="02040503050406030204" pitchFamily="18" charset="0"/>
                            </a:rPr>
                            <m:t>𝑚𝑖𝑐𝑟𝑜</m:t>
                          </m:r>
                          <m:r>
                            <a:rPr lang="en-US" altLang="zh-CN" sz="2000" i="1" dirty="0">
                              <a:latin typeface="Cambria Math" panose="02040503050406030204" pitchFamily="18" charset="0"/>
                            </a:rPr>
                            <m:t>_</m:t>
                          </m:r>
                          <m:r>
                            <a:rPr lang="en-US" altLang="zh-CN" sz="2000" i="1" dirty="0">
                              <a:latin typeface="Cambria Math" panose="02040503050406030204" pitchFamily="18" charset="0"/>
                            </a:rPr>
                            <m:t>𝑝𝑟𝑒𝑐𝑖𝑠𝑖𝑜𝑛</m:t>
                          </m:r>
                          <m:r>
                            <a:rPr lang="en-US" altLang="zh-CN" sz="2000" i="1" dirty="0" smtClean="0">
                              <a:latin typeface="Cambria Math" panose="02040503050406030204" pitchFamily="18" charset="0"/>
                            </a:rPr>
                            <m:t>+</m:t>
                          </m:r>
                          <m:r>
                            <a:rPr lang="en-US" altLang="zh-CN" sz="2000" i="1" dirty="0">
                              <a:latin typeface="Cambria Math" panose="02040503050406030204" pitchFamily="18" charset="0"/>
                            </a:rPr>
                            <m:t>𝑚𝑖𝑐𝑟𝑜</m:t>
                          </m:r>
                          <m:r>
                            <a:rPr lang="en-US" altLang="zh-CN" sz="2000" i="1" dirty="0">
                              <a:latin typeface="Cambria Math" panose="02040503050406030204" pitchFamily="18" charset="0"/>
                            </a:rPr>
                            <m:t>_</m:t>
                          </m:r>
                          <m:r>
                            <a:rPr lang="en-US" altLang="zh-CN" sz="2000" i="1" dirty="0">
                              <a:latin typeface="Cambria Math" panose="02040503050406030204" pitchFamily="18" charset="0"/>
                            </a:rPr>
                            <m:t>𝑟𝑒𝑐𝑎𝑙𝑙</m:t>
                          </m:r>
                        </m:den>
                      </m:f>
                      <m:r>
                        <a:rPr lang="en-US" altLang="zh-CN" sz="2000" i="1" dirty="0">
                          <a:latin typeface="Cambria Math" panose="02040503050406030204" pitchFamily="18" charset="0"/>
                        </a:rPr>
                        <m:t>=</m:t>
                      </m:r>
                      <m:r>
                        <a:rPr lang="en-US" altLang="zh-CN" sz="2000" b="0" i="1" dirty="0" smtClean="0">
                          <a:latin typeface="Cambria Math" panose="02040503050406030204" pitchFamily="18" charset="0"/>
                        </a:rPr>
                        <m:t>48</m:t>
                      </m:r>
                      <m:r>
                        <a:rPr lang="en-US" altLang="zh-CN" sz="2000" i="1" dirty="0">
                          <a:latin typeface="Cambria Math" panose="02040503050406030204" pitchFamily="18" charset="0"/>
                        </a:rPr>
                        <m:t>%</m:t>
                      </m:r>
                    </m:oMath>
                  </m:oMathPara>
                </a14:m>
                <a:endParaRPr lang="zh-CN" altLang="en-US" sz="2000" dirty="0"/>
              </a:p>
            </p:txBody>
          </p:sp>
        </mc:Choice>
        <mc:Fallback xmlns="">
          <p:sp>
            <p:nvSpPr>
              <p:cNvPr id="6" name="文本框 5">
                <a:extLst>
                  <a:ext uri="{FF2B5EF4-FFF2-40B4-BE49-F238E27FC236}">
                    <a16:creationId xmlns:a16="http://schemas.microsoft.com/office/drawing/2014/main" id="{B4FED5A0-C7CF-4E80-BFB3-80A6895A09EA}"/>
                  </a:ext>
                </a:extLst>
              </p:cNvPr>
              <p:cNvSpPr txBox="1">
                <a:spLocks noRot="1" noChangeAspect="1" noMove="1" noResize="1" noEditPoints="1" noAdjustHandles="1" noChangeArrowheads="1" noChangeShapeType="1" noTextEdit="1"/>
              </p:cNvSpPr>
              <p:nvPr/>
            </p:nvSpPr>
            <p:spPr>
              <a:xfrm>
                <a:off x="762000" y="4362214"/>
                <a:ext cx="7331622" cy="1994136"/>
              </a:xfrm>
              <a:prstGeom prst="rect">
                <a:avLst/>
              </a:prstGeom>
              <a:blipFill>
                <a:blip r:embed="rId3"/>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3779305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圆角 8">
            <a:extLst>
              <a:ext uri="{FF2B5EF4-FFF2-40B4-BE49-F238E27FC236}">
                <a16:creationId xmlns:a16="http://schemas.microsoft.com/office/drawing/2014/main" id="{F1F508CA-4EDB-4B5A-A33A-BACFA2586914}"/>
              </a:ext>
            </a:extLst>
          </p:cNvPr>
          <p:cNvSpPr/>
          <p:nvPr/>
        </p:nvSpPr>
        <p:spPr>
          <a:xfrm>
            <a:off x="228600" y="1393893"/>
            <a:ext cx="8686800" cy="1569660"/>
          </a:xfrm>
          <a:prstGeom prst="roundRect">
            <a:avLst>
              <a:gd name="adj" fmla="val 3573"/>
            </a:avLst>
          </a:prstGeom>
          <a:solidFill>
            <a:srgbClr val="E6F5F0"/>
          </a:solidFill>
          <a:ln>
            <a:solidFill>
              <a:srgbClr val="FFFBD6"/>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800" dirty="0">
              <a:solidFill>
                <a:schemeClr val="tx1"/>
              </a:solidFill>
            </a:endParaRPr>
          </a:p>
        </p:txBody>
      </p:sp>
      <p:sp>
        <p:nvSpPr>
          <p:cNvPr id="4" name="灯片编号占位符 3"/>
          <p:cNvSpPr>
            <a:spLocks noGrp="1"/>
          </p:cNvSpPr>
          <p:nvPr>
            <p:ph type="sldNum" sz="quarter" idx="12"/>
          </p:nvPr>
        </p:nvSpPr>
        <p:spPr/>
        <p:txBody>
          <a:bodyPr/>
          <a:lstStyle/>
          <a:p>
            <a:fld id="{B6F15528-21DE-4FAA-801E-634DDDAF4B2B}" type="slidenum">
              <a:rPr lang="en-US" smtClean="0"/>
              <a:pPr/>
              <a:t>30</a:t>
            </a:fld>
            <a:endParaRPr lang="en-US" dirty="0"/>
          </a:p>
        </p:txBody>
      </p:sp>
      <p:sp>
        <p:nvSpPr>
          <p:cNvPr id="5" name="文本框 4"/>
          <p:cNvSpPr txBox="1"/>
          <p:nvPr/>
        </p:nvSpPr>
        <p:spPr>
          <a:xfrm>
            <a:off x="228600" y="76200"/>
            <a:ext cx="3348161" cy="754694"/>
          </a:xfrm>
          <a:prstGeom prst="rect">
            <a:avLst/>
          </a:prstGeom>
          <a:noFill/>
        </p:spPr>
        <p:txBody>
          <a:bodyPr wrap="none" rtlCol="0">
            <a:spAutoFit/>
          </a:bodyPr>
          <a:lstStyle/>
          <a:p>
            <a:pPr>
              <a:lnSpc>
                <a:spcPct val="150000"/>
              </a:lnSpc>
            </a:pPr>
            <a:r>
              <a:rPr lang="en-US" altLang="zh-CN" sz="3200" b="1" dirty="0"/>
              <a:t>Evaluation Metrics</a:t>
            </a:r>
            <a:endParaRPr lang="en-US" sz="3200" b="1" dirty="0"/>
          </a:p>
        </p:txBody>
      </p:sp>
      <mc:AlternateContent xmlns:mc="http://schemas.openxmlformats.org/markup-compatibility/2006" xmlns:a14="http://schemas.microsoft.com/office/drawing/2010/main">
        <mc:Choice Requires="a14">
          <p:sp>
            <p:nvSpPr>
              <p:cNvPr id="3" name="矩形 2">
                <a:extLst>
                  <a:ext uri="{FF2B5EF4-FFF2-40B4-BE49-F238E27FC236}">
                    <a16:creationId xmlns:a16="http://schemas.microsoft.com/office/drawing/2014/main" id="{CAF43079-61D7-42F2-A3C6-B3BD2E435DA4}"/>
                  </a:ext>
                </a:extLst>
              </p:cNvPr>
              <p:cNvSpPr/>
              <p:nvPr/>
            </p:nvSpPr>
            <p:spPr>
              <a:xfrm>
                <a:off x="233681" y="1410560"/>
                <a:ext cx="8229600" cy="1569660"/>
              </a:xfrm>
              <a:prstGeom prst="rect">
                <a:avLst/>
              </a:prstGeom>
            </p:spPr>
            <p:txBody>
              <a:bodyPr wrap="square">
                <a:spAutoFit/>
              </a:bodyPr>
              <a:lstStyle/>
              <a:p>
                <a:pPr marL="342900" lvl="0" indent="-342900">
                  <a:buFont typeface="Arial" panose="020B0604020202020204" pitchFamily="34" charset="0"/>
                  <a:buChar char="•"/>
                </a:pPr>
                <a:r>
                  <a:rPr lang="en-US" altLang="zh-CN" sz="2400" dirty="0">
                    <a:solidFill>
                      <a:srgbClr val="FF0000"/>
                    </a:solidFill>
                  </a:rPr>
                  <a:t>False Alarm Rate </a:t>
                </a:r>
                <a:r>
                  <a:rPr lang="en-US" altLang="zh-CN" sz="2400" dirty="0">
                    <a:solidFill>
                      <a:prstClr val="black"/>
                    </a:solidFill>
                  </a:rPr>
                  <a:t>or False Positive Rate (FPR)</a:t>
                </a:r>
              </a:p>
              <a:p>
                <a:pPr marL="800100" lvl="1" indent="-342900">
                  <a:buFont typeface="Arial" panose="020B0604020202020204" pitchFamily="34" charset="0"/>
                  <a:buChar char="•"/>
                </a:pPr>
                <a14:m>
                  <m:oMath xmlns:m="http://schemas.openxmlformats.org/officeDocument/2006/math">
                    <m:r>
                      <a:rPr lang="en-US" altLang="zh-CN" sz="2400" i="1" dirty="0">
                        <a:solidFill>
                          <a:prstClr val="black"/>
                        </a:solidFill>
                        <a:latin typeface="Cambria Math" panose="02040503050406030204" pitchFamily="18" charset="0"/>
                      </a:rPr>
                      <m:t>𝐹𝑃</m:t>
                    </m:r>
                    <m:r>
                      <a:rPr lang="en-US" altLang="zh-CN" sz="2400" i="1" dirty="0">
                        <a:solidFill>
                          <a:prstClr val="black"/>
                        </a:solidFill>
                        <a:latin typeface="Cambria Math" panose="02040503050406030204" pitchFamily="18" charset="0"/>
                      </a:rPr>
                      <m:t>/(</m:t>
                    </m:r>
                    <m:r>
                      <a:rPr lang="en-US" altLang="zh-CN" sz="2400" i="1" dirty="0">
                        <a:solidFill>
                          <a:prstClr val="black"/>
                        </a:solidFill>
                        <a:latin typeface="Cambria Math" panose="02040503050406030204" pitchFamily="18" charset="0"/>
                      </a:rPr>
                      <m:t>𝑇𝑁</m:t>
                    </m:r>
                    <m:r>
                      <a:rPr lang="en-US" altLang="zh-CN" sz="2400" i="1" dirty="0">
                        <a:solidFill>
                          <a:prstClr val="black"/>
                        </a:solidFill>
                        <a:latin typeface="Cambria Math" panose="02040503050406030204" pitchFamily="18" charset="0"/>
                      </a:rPr>
                      <m:t>+</m:t>
                    </m:r>
                    <m:r>
                      <a:rPr lang="en-US" altLang="zh-CN" sz="2400" i="1" dirty="0">
                        <a:solidFill>
                          <a:prstClr val="black"/>
                        </a:solidFill>
                        <a:latin typeface="Cambria Math" panose="02040503050406030204" pitchFamily="18" charset="0"/>
                      </a:rPr>
                      <m:t>𝐹𝑃</m:t>
                    </m:r>
                    <m:r>
                      <a:rPr lang="en-US" altLang="zh-CN" sz="2400" i="1" dirty="0">
                        <a:solidFill>
                          <a:prstClr val="black"/>
                        </a:solidFill>
                        <a:latin typeface="Cambria Math" panose="02040503050406030204" pitchFamily="18" charset="0"/>
                      </a:rPr>
                      <m:t>)</m:t>
                    </m:r>
                  </m:oMath>
                </a14:m>
                <a:endParaRPr lang="zh-CN" altLang="en-US" sz="2400" dirty="0">
                  <a:solidFill>
                    <a:prstClr val="black"/>
                  </a:solidFill>
                </a:endParaRPr>
              </a:p>
              <a:p>
                <a:pPr marL="342900" lvl="0" indent="-342900">
                  <a:buFont typeface="Arial" panose="020B0604020202020204" pitchFamily="34" charset="0"/>
                  <a:buChar char="•"/>
                </a:pPr>
                <a:r>
                  <a:rPr lang="en-US" altLang="zh-CN" sz="2400" dirty="0">
                    <a:solidFill>
                      <a:srgbClr val="FF0000"/>
                    </a:solidFill>
                  </a:rPr>
                  <a:t>Specificity</a:t>
                </a:r>
                <a:r>
                  <a:rPr lang="en-US" altLang="zh-CN" sz="2400" dirty="0">
                    <a:solidFill>
                      <a:prstClr val="black"/>
                    </a:solidFill>
                  </a:rPr>
                  <a:t> or True Negative Rate (TFR) </a:t>
                </a:r>
                <a:r>
                  <a:rPr lang="zh-CN" altLang="en-US" sz="2400" dirty="0">
                    <a:solidFill>
                      <a:prstClr val="black"/>
                    </a:solidFill>
                  </a:rPr>
                  <a:t>特异度</a:t>
                </a:r>
                <a:endParaRPr lang="en-US" altLang="zh-CN" sz="2400" dirty="0">
                  <a:solidFill>
                    <a:prstClr val="black"/>
                  </a:solidFill>
                </a:endParaRPr>
              </a:p>
              <a:p>
                <a:pPr marL="800100" lvl="1" indent="-342900">
                  <a:buFont typeface="Arial" panose="020B0604020202020204" pitchFamily="34" charset="0"/>
                  <a:buChar char="•"/>
                </a:pPr>
                <a14:m>
                  <m:oMath xmlns:m="http://schemas.openxmlformats.org/officeDocument/2006/math">
                    <m:r>
                      <a:rPr lang="en-US" altLang="zh-CN" sz="2400" i="1" dirty="0">
                        <a:solidFill>
                          <a:prstClr val="black"/>
                        </a:solidFill>
                        <a:latin typeface="Cambria Math" panose="02040503050406030204" pitchFamily="18" charset="0"/>
                      </a:rPr>
                      <m:t>𝑇𝑁</m:t>
                    </m:r>
                    <m:r>
                      <a:rPr lang="en-US" altLang="zh-CN" sz="2400" i="1" dirty="0">
                        <a:solidFill>
                          <a:prstClr val="black"/>
                        </a:solidFill>
                        <a:latin typeface="Cambria Math" panose="02040503050406030204" pitchFamily="18" charset="0"/>
                      </a:rPr>
                      <m:t>/(</m:t>
                    </m:r>
                    <m:r>
                      <a:rPr lang="en-US" altLang="zh-CN" sz="2400" i="1" dirty="0">
                        <a:solidFill>
                          <a:prstClr val="black"/>
                        </a:solidFill>
                        <a:latin typeface="Cambria Math" panose="02040503050406030204" pitchFamily="18" charset="0"/>
                      </a:rPr>
                      <m:t>𝑇𝑁</m:t>
                    </m:r>
                    <m:r>
                      <a:rPr lang="en-US" altLang="zh-CN" sz="2400" i="1" dirty="0">
                        <a:solidFill>
                          <a:prstClr val="black"/>
                        </a:solidFill>
                        <a:latin typeface="Cambria Math" panose="02040503050406030204" pitchFamily="18" charset="0"/>
                      </a:rPr>
                      <m:t>+ </m:t>
                    </m:r>
                    <m:r>
                      <a:rPr lang="en-US" altLang="zh-CN" sz="2400" i="1" dirty="0">
                        <a:solidFill>
                          <a:prstClr val="black"/>
                        </a:solidFill>
                        <a:latin typeface="Cambria Math" panose="02040503050406030204" pitchFamily="18" charset="0"/>
                      </a:rPr>
                      <m:t>𝐹𝑃</m:t>
                    </m:r>
                    <m:r>
                      <a:rPr lang="en-US" altLang="zh-CN" sz="2400" i="1" dirty="0">
                        <a:solidFill>
                          <a:prstClr val="black"/>
                        </a:solidFill>
                        <a:latin typeface="Cambria Math" panose="02040503050406030204" pitchFamily="18" charset="0"/>
                      </a:rPr>
                      <m:t>)</m:t>
                    </m:r>
                  </m:oMath>
                </a14:m>
                <a:endParaRPr lang="zh-CN" altLang="en-US" sz="2400" dirty="0">
                  <a:solidFill>
                    <a:prstClr val="black"/>
                  </a:solidFill>
                </a:endParaRPr>
              </a:p>
            </p:txBody>
          </p:sp>
        </mc:Choice>
        <mc:Fallback xmlns="">
          <p:sp>
            <p:nvSpPr>
              <p:cNvPr id="3" name="矩形 2">
                <a:extLst>
                  <a:ext uri="{FF2B5EF4-FFF2-40B4-BE49-F238E27FC236}">
                    <a16:creationId xmlns:a16="http://schemas.microsoft.com/office/drawing/2014/main" id="{CAF43079-61D7-42F2-A3C6-B3BD2E435DA4}"/>
                  </a:ext>
                </a:extLst>
              </p:cNvPr>
              <p:cNvSpPr>
                <a:spLocks noRot="1" noChangeAspect="1" noMove="1" noResize="1" noEditPoints="1" noAdjustHandles="1" noChangeArrowheads="1" noChangeShapeType="1" noTextEdit="1"/>
              </p:cNvSpPr>
              <p:nvPr/>
            </p:nvSpPr>
            <p:spPr>
              <a:xfrm>
                <a:off x="233681" y="1410560"/>
                <a:ext cx="8229600" cy="1569660"/>
              </a:xfrm>
              <a:prstGeom prst="rect">
                <a:avLst/>
              </a:prstGeom>
              <a:blipFill>
                <a:blip r:embed="rId3"/>
                <a:stretch>
                  <a:fillRect l="-963" t="-3101" b="-6202"/>
                </a:stretch>
              </a:blipFill>
            </p:spPr>
            <p:txBody>
              <a:bodyPr/>
              <a:lstStyle/>
              <a:p>
                <a:r>
                  <a:rPr lang="zh-CN" altLang="en-US">
                    <a:noFill/>
                  </a:rPr>
                  <a:t> </a:t>
                </a:r>
              </a:p>
            </p:txBody>
          </p:sp>
        </mc:Fallback>
      </mc:AlternateContent>
      <p:pic>
        <p:nvPicPr>
          <p:cNvPr id="10" name="图片 9" descr="屏幕剪辑">
            <a:extLst>
              <a:ext uri="{FF2B5EF4-FFF2-40B4-BE49-F238E27FC236}">
                <a16:creationId xmlns:a16="http://schemas.microsoft.com/office/drawing/2014/main" id="{B9440C42-9D11-4626-BDD4-3009C040309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410200" y="-42061"/>
            <a:ext cx="3733800" cy="1118178"/>
          </a:xfrm>
          <a:prstGeom prst="rect">
            <a:avLst/>
          </a:prstGeom>
        </p:spPr>
      </p:pic>
      <p:sp>
        <p:nvSpPr>
          <p:cNvPr id="11" name="矩形: 圆角 10">
            <a:extLst>
              <a:ext uri="{FF2B5EF4-FFF2-40B4-BE49-F238E27FC236}">
                <a16:creationId xmlns:a16="http://schemas.microsoft.com/office/drawing/2014/main" id="{ABF12C34-9570-45DD-A05B-64D127B1D146}"/>
              </a:ext>
            </a:extLst>
          </p:cNvPr>
          <p:cNvSpPr/>
          <p:nvPr/>
        </p:nvSpPr>
        <p:spPr>
          <a:xfrm>
            <a:off x="230659" y="3299870"/>
            <a:ext cx="8680623" cy="2415130"/>
          </a:xfrm>
          <a:prstGeom prst="roundRect">
            <a:avLst>
              <a:gd name="adj" fmla="val 3573"/>
            </a:avLst>
          </a:prstGeom>
          <a:solidFill>
            <a:srgbClr val="FFFBD6"/>
          </a:solidFill>
          <a:ln>
            <a:solidFill>
              <a:srgbClr val="FFFBD6"/>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800" dirty="0">
              <a:solidFill>
                <a:schemeClr val="tx1"/>
              </a:solidFill>
            </a:endParaRPr>
          </a:p>
        </p:txBody>
      </p:sp>
      <p:sp>
        <p:nvSpPr>
          <p:cNvPr id="12" name="矩形 11">
            <a:extLst>
              <a:ext uri="{FF2B5EF4-FFF2-40B4-BE49-F238E27FC236}">
                <a16:creationId xmlns:a16="http://schemas.microsoft.com/office/drawing/2014/main" id="{CBB5E196-317D-4CBB-8D38-B383AAF13478}"/>
              </a:ext>
            </a:extLst>
          </p:cNvPr>
          <p:cNvSpPr/>
          <p:nvPr/>
        </p:nvSpPr>
        <p:spPr>
          <a:xfrm>
            <a:off x="232718" y="3220485"/>
            <a:ext cx="8456141" cy="2251065"/>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en-US" altLang="zh-CN" sz="2400" dirty="0"/>
              <a:t>No single measure tells the whole story</a:t>
            </a:r>
          </a:p>
          <a:p>
            <a:pPr marL="285750" indent="-285750" algn="just">
              <a:buFont typeface="Arial" panose="020B0604020202020204" pitchFamily="34" charset="0"/>
              <a:buChar char="•"/>
            </a:pPr>
            <a:r>
              <a:rPr lang="en-US" altLang="zh-CN" sz="2400" dirty="0"/>
              <a:t>A classifier with 90% accuracy can be useless if 90% of the population does not have cancer and the 10% that do are misclassified by the classifier</a:t>
            </a:r>
          </a:p>
          <a:p>
            <a:pPr marL="285750" indent="-285750" algn="just">
              <a:lnSpc>
                <a:spcPct val="150000"/>
              </a:lnSpc>
              <a:buFont typeface="Arial" panose="020B0604020202020204" pitchFamily="34" charset="0"/>
              <a:buChar char="•"/>
            </a:pPr>
            <a:r>
              <a:rPr lang="en-US" altLang="zh-CN" sz="2400" dirty="0"/>
              <a:t>Use of multiple measures is recommended</a:t>
            </a:r>
            <a:endParaRPr lang="zh-CN" altLang="en-US" sz="2400" dirty="0"/>
          </a:p>
        </p:txBody>
      </p:sp>
    </p:spTree>
    <p:extLst>
      <p:ext uri="{BB962C8B-B14F-4D97-AF65-F5344CB8AC3E}">
        <p14:creationId xmlns:p14="http://schemas.microsoft.com/office/powerpoint/2010/main" val="25784412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descr="屏幕剪辑">
            <a:extLst>
              <a:ext uri="{FF2B5EF4-FFF2-40B4-BE49-F238E27FC236}">
                <a16:creationId xmlns:a16="http://schemas.microsoft.com/office/drawing/2014/main" id="{70DFEB2F-6F74-43C2-B471-15704CD3F11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37830" y="0"/>
            <a:ext cx="4284162" cy="1282997"/>
          </a:xfrm>
          <a:prstGeom prst="rect">
            <a:avLst/>
          </a:prstGeom>
        </p:spPr>
      </p:pic>
      <p:sp>
        <p:nvSpPr>
          <p:cNvPr id="4" name="灯片编号占位符 3"/>
          <p:cNvSpPr>
            <a:spLocks noGrp="1"/>
          </p:cNvSpPr>
          <p:nvPr>
            <p:ph type="sldNum" sz="quarter" idx="12"/>
          </p:nvPr>
        </p:nvSpPr>
        <p:spPr/>
        <p:txBody>
          <a:bodyPr/>
          <a:lstStyle/>
          <a:p>
            <a:fld id="{B6F15528-21DE-4FAA-801E-634DDDAF4B2B}" type="slidenum">
              <a:rPr lang="en-US" smtClean="0"/>
              <a:pPr/>
              <a:t>31</a:t>
            </a:fld>
            <a:endParaRPr lang="en-US" dirty="0"/>
          </a:p>
        </p:txBody>
      </p:sp>
      <p:sp>
        <p:nvSpPr>
          <p:cNvPr id="3" name="文本框 2"/>
          <p:cNvSpPr txBox="1"/>
          <p:nvPr/>
        </p:nvSpPr>
        <p:spPr>
          <a:xfrm>
            <a:off x="228600" y="76200"/>
            <a:ext cx="2076787" cy="754694"/>
          </a:xfrm>
          <a:prstGeom prst="rect">
            <a:avLst/>
          </a:prstGeom>
          <a:noFill/>
        </p:spPr>
        <p:txBody>
          <a:bodyPr wrap="none" rtlCol="0">
            <a:spAutoFit/>
          </a:bodyPr>
          <a:lstStyle/>
          <a:p>
            <a:pPr>
              <a:lnSpc>
                <a:spcPct val="150000"/>
              </a:lnSpc>
            </a:pPr>
            <a:r>
              <a:rPr lang="en-US" altLang="zh-CN" sz="3200" b="1" dirty="0"/>
              <a:t>ROC Curve </a:t>
            </a:r>
            <a:endParaRPr lang="en-US" sz="3200" b="1" dirty="0"/>
          </a:p>
        </p:txBody>
      </p:sp>
      <p:sp>
        <p:nvSpPr>
          <p:cNvPr id="5" name="文本框 4"/>
          <p:cNvSpPr txBox="1"/>
          <p:nvPr/>
        </p:nvSpPr>
        <p:spPr>
          <a:xfrm>
            <a:off x="179174" y="830894"/>
            <a:ext cx="8494240" cy="5586145"/>
          </a:xfrm>
          <a:prstGeom prst="rect">
            <a:avLst/>
          </a:prstGeom>
          <a:noFill/>
        </p:spPr>
        <p:txBody>
          <a:bodyPr wrap="square" rtlCol="0">
            <a:spAutoFit/>
          </a:bodyPr>
          <a:lstStyle/>
          <a:p>
            <a:pPr marL="342900" indent="-342900" algn="just">
              <a:buFont typeface="Arial" panose="020B0604020202020204" pitchFamily="34" charset="0"/>
              <a:buChar char="•"/>
            </a:pPr>
            <a:r>
              <a:rPr lang="en-US" altLang="zh-CN" sz="2400" dirty="0"/>
              <a:t>Receiver Operating Characteristic</a:t>
            </a:r>
          </a:p>
          <a:p>
            <a:pPr marL="800100" lvl="1" indent="-342900" algn="just">
              <a:spcAft>
                <a:spcPts val="1000"/>
              </a:spcAft>
              <a:buFont typeface="Arial" panose="020B0604020202020204" pitchFamily="34" charset="0"/>
              <a:buChar char="•"/>
            </a:pPr>
            <a:r>
              <a:rPr lang="en-US" altLang="zh-CN" sz="2400" dirty="0"/>
              <a:t>ROC</a:t>
            </a:r>
            <a:r>
              <a:rPr lang="zh-CN" altLang="en-US" sz="2400" dirty="0"/>
              <a:t>曲线起源于第二次世界大战时期雷达兵对雷达的信号判断。当时每一个雷达兵的任务就是去解析雷达的信号。但当时的雷达技术还没有那么先进，存在很多噪声（比如一只大鸟飞过），所以每当有信号出现在雷达屏幕上，雷达兵就需要对其进行破译。</a:t>
            </a:r>
            <a:endParaRPr lang="en-US" altLang="zh-CN" sz="2400" dirty="0"/>
          </a:p>
          <a:p>
            <a:pPr marL="800100" lvl="1" indent="-342900" algn="just">
              <a:spcAft>
                <a:spcPts val="1000"/>
              </a:spcAft>
              <a:buFont typeface="Arial" panose="020B0604020202020204" pitchFamily="34" charset="0"/>
              <a:buChar char="•"/>
            </a:pPr>
            <a:r>
              <a:rPr lang="zh-CN" altLang="en-US" sz="2400" dirty="0"/>
              <a:t>有的雷达兵比较谨慎，凡是有信号过来，他都会倾向于解析成是敌军轰炸机；有的雷达兵比较神经大条，会倾向于解析成是飞鸟。因此急需一套评估指标来帮助汇总每一个雷达兵的预测信息，以及评估这台雷达的可靠性。</a:t>
            </a:r>
            <a:endParaRPr lang="en-US" altLang="zh-CN" sz="2400" dirty="0"/>
          </a:p>
          <a:p>
            <a:pPr marL="800100" lvl="1" indent="-342900" algn="just">
              <a:spcAft>
                <a:spcPts val="1000"/>
              </a:spcAft>
              <a:buFont typeface="Arial" panose="020B0604020202020204" pitchFamily="34" charset="0"/>
              <a:buChar char="•"/>
            </a:pPr>
            <a:r>
              <a:rPr lang="en-US" altLang="zh-CN" sz="2400" dirty="0"/>
              <a:t>ROC analysis was developed as a standard methodology to quantify a signal receiver's ability to correctly distinguish objects of interest from the background noise in the system.</a:t>
            </a:r>
          </a:p>
          <a:p>
            <a:pPr algn="r"/>
            <a:r>
              <a:rPr lang="en-US" altLang="zh-CN" sz="2000" dirty="0">
                <a:hlinkClick r:id="rId4"/>
              </a:rPr>
              <a:t>https://www.ncbi.nlm.nih.gov/books/NBK22319/</a:t>
            </a:r>
            <a:endParaRPr lang="en-US" altLang="zh-CN" sz="2000" dirty="0"/>
          </a:p>
        </p:txBody>
      </p:sp>
    </p:spTree>
    <p:extLst>
      <p:ext uri="{BB962C8B-B14F-4D97-AF65-F5344CB8AC3E}">
        <p14:creationId xmlns:p14="http://schemas.microsoft.com/office/powerpoint/2010/main" val="112623240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descr="屏幕剪辑">
            <a:extLst>
              <a:ext uri="{FF2B5EF4-FFF2-40B4-BE49-F238E27FC236}">
                <a16:creationId xmlns:a16="http://schemas.microsoft.com/office/drawing/2014/main" id="{70DFEB2F-6F74-43C2-B471-15704CD3F11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37830" y="0"/>
            <a:ext cx="4284162" cy="1282997"/>
          </a:xfrm>
          <a:prstGeom prst="rect">
            <a:avLst/>
          </a:prstGeom>
        </p:spPr>
      </p:pic>
      <p:sp>
        <p:nvSpPr>
          <p:cNvPr id="4" name="灯片编号占位符 3"/>
          <p:cNvSpPr>
            <a:spLocks noGrp="1"/>
          </p:cNvSpPr>
          <p:nvPr>
            <p:ph type="sldNum" sz="quarter" idx="12"/>
          </p:nvPr>
        </p:nvSpPr>
        <p:spPr/>
        <p:txBody>
          <a:bodyPr/>
          <a:lstStyle/>
          <a:p>
            <a:fld id="{B6F15528-21DE-4FAA-801E-634DDDAF4B2B}" type="slidenum">
              <a:rPr lang="en-US" smtClean="0"/>
              <a:pPr/>
              <a:t>32</a:t>
            </a:fld>
            <a:endParaRPr lang="en-US" dirty="0"/>
          </a:p>
        </p:txBody>
      </p:sp>
      <p:sp>
        <p:nvSpPr>
          <p:cNvPr id="3" name="文本框 2"/>
          <p:cNvSpPr txBox="1"/>
          <p:nvPr/>
        </p:nvSpPr>
        <p:spPr>
          <a:xfrm>
            <a:off x="228600" y="76200"/>
            <a:ext cx="2076787" cy="754694"/>
          </a:xfrm>
          <a:prstGeom prst="rect">
            <a:avLst/>
          </a:prstGeom>
          <a:noFill/>
        </p:spPr>
        <p:txBody>
          <a:bodyPr wrap="none" rtlCol="0">
            <a:spAutoFit/>
          </a:bodyPr>
          <a:lstStyle/>
          <a:p>
            <a:pPr>
              <a:lnSpc>
                <a:spcPct val="150000"/>
              </a:lnSpc>
            </a:pPr>
            <a:r>
              <a:rPr lang="en-US" altLang="zh-CN" sz="3200" b="1" dirty="0"/>
              <a:t>ROC Curve </a:t>
            </a:r>
            <a:endParaRPr lang="en-US" sz="3200" b="1" dirty="0"/>
          </a:p>
        </p:txBody>
      </p:sp>
      <p:sp>
        <p:nvSpPr>
          <p:cNvPr id="5" name="文本框 4"/>
          <p:cNvSpPr txBox="1"/>
          <p:nvPr/>
        </p:nvSpPr>
        <p:spPr>
          <a:xfrm>
            <a:off x="179174" y="830894"/>
            <a:ext cx="8494240" cy="1569660"/>
          </a:xfrm>
          <a:prstGeom prst="rect">
            <a:avLst/>
          </a:prstGeom>
          <a:noFill/>
        </p:spPr>
        <p:txBody>
          <a:bodyPr wrap="square" rtlCol="0">
            <a:spAutoFit/>
          </a:bodyPr>
          <a:lstStyle/>
          <a:p>
            <a:pPr marL="342900" indent="-342900" algn="just">
              <a:buFont typeface="Arial" panose="020B0604020202020204" pitchFamily="34" charset="0"/>
              <a:buChar char="•"/>
            </a:pPr>
            <a:r>
              <a:rPr lang="en-US" altLang="zh-CN" sz="2400" dirty="0"/>
              <a:t>Receiver Operating Characteristic</a:t>
            </a:r>
          </a:p>
          <a:p>
            <a:pPr marL="800100" lvl="1" indent="-342900" algn="just">
              <a:buFont typeface="Arial" panose="020B0604020202020204" pitchFamily="34" charset="0"/>
              <a:buChar char="•"/>
            </a:pPr>
            <a:r>
              <a:rPr lang="en-US" altLang="zh-CN" sz="2400" dirty="0"/>
              <a:t>ROC graphs have long been used in signal detection theory to depict the tradeoff between hit rates (recall) and false alarm rates over noisy channel.</a:t>
            </a:r>
            <a:endParaRPr lang="zh-CN" altLang="en-US" sz="2400" dirty="0"/>
          </a:p>
        </p:txBody>
      </p:sp>
      <p:pic>
        <p:nvPicPr>
          <p:cNvPr id="6" name="图片 5">
            <a:extLst>
              <a:ext uri="{FF2B5EF4-FFF2-40B4-BE49-F238E27FC236}">
                <a16:creationId xmlns:a16="http://schemas.microsoft.com/office/drawing/2014/main" id="{25F83DA4-EC41-4F1E-84C1-1A5E2229FD1D}"/>
              </a:ext>
            </a:extLst>
          </p:cNvPr>
          <p:cNvPicPr>
            <a:picLocks noChangeAspect="1"/>
          </p:cNvPicPr>
          <p:nvPr/>
        </p:nvPicPr>
        <p:blipFill rotWithShape="1">
          <a:blip r:embed="rId4">
            <a:extLst>
              <a:ext uri="{28A0092B-C50C-407E-A947-70E740481C1C}">
                <a14:useLocalDpi xmlns:a14="http://schemas.microsoft.com/office/drawing/2010/main" val="0"/>
              </a:ext>
            </a:extLst>
          </a:blip>
          <a:srcRect l="4299"/>
          <a:stretch/>
        </p:blipFill>
        <p:spPr>
          <a:xfrm>
            <a:off x="4416254" y="2414704"/>
            <a:ext cx="4247120" cy="4281371"/>
          </a:xfrm>
          <a:prstGeom prst="rect">
            <a:avLst/>
          </a:prstGeom>
        </p:spPr>
      </p:pic>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D0FE06FD-B166-49D7-89E9-6215193031EF}"/>
                  </a:ext>
                </a:extLst>
              </p:cNvPr>
              <p:cNvSpPr/>
              <p:nvPr/>
            </p:nvSpPr>
            <p:spPr>
              <a:xfrm>
                <a:off x="-304800" y="2450264"/>
                <a:ext cx="4572000" cy="1643399"/>
              </a:xfrm>
              <a:prstGeom prst="rect">
                <a:avLst/>
              </a:prstGeom>
            </p:spPr>
            <p:txBody>
              <a:bodyPr>
                <a:spAutoFit/>
              </a:bodyPr>
              <a:lstStyle/>
              <a:p>
                <a:pPr marL="800100" lvl="1" indent="-342900">
                  <a:buFont typeface="Arial" panose="020B0604020202020204" pitchFamily="34" charset="0"/>
                  <a:buChar char="•"/>
                </a:pPr>
                <a14:m>
                  <m:oMath xmlns:m="http://schemas.openxmlformats.org/officeDocument/2006/math">
                    <m:r>
                      <a:rPr lang="en-US" altLang="zh-CN" sz="2000" i="1" dirty="0">
                        <a:latin typeface="Cambria Math" panose="02040503050406030204" pitchFamily="18" charset="0"/>
                      </a:rPr>
                      <m:t>𝑇𝑃𝑅</m:t>
                    </m:r>
                    <m:r>
                      <a:rPr lang="en-US" altLang="zh-CN" sz="2000" i="1" dirty="0">
                        <a:latin typeface="Cambria Math" panose="02040503050406030204" pitchFamily="18" charset="0"/>
                      </a:rPr>
                      <m:t>=</m:t>
                    </m:r>
                    <m:f>
                      <m:fPr>
                        <m:ctrlPr>
                          <a:rPr lang="en-US" altLang="zh-CN" sz="2000" i="1" dirty="0">
                            <a:latin typeface="Cambria Math" panose="02040503050406030204" pitchFamily="18" charset="0"/>
                          </a:rPr>
                        </m:ctrlPr>
                      </m:fPr>
                      <m:num>
                        <m:r>
                          <a:rPr lang="en-US" altLang="zh-CN" sz="2000" i="1" dirty="0">
                            <a:latin typeface="Cambria Math" panose="02040503050406030204" pitchFamily="18" charset="0"/>
                          </a:rPr>
                          <m:t>𝑇𝑃</m:t>
                        </m:r>
                      </m:num>
                      <m:den>
                        <m:r>
                          <a:rPr lang="en-US" altLang="zh-CN" sz="2000" i="1" dirty="0">
                            <a:latin typeface="Cambria Math" panose="02040503050406030204" pitchFamily="18" charset="0"/>
                          </a:rPr>
                          <m:t>𝑇𝑃</m:t>
                        </m:r>
                        <m:r>
                          <a:rPr lang="en-US" altLang="zh-CN" sz="2000" i="1" dirty="0">
                            <a:latin typeface="Cambria Math" panose="02040503050406030204" pitchFamily="18" charset="0"/>
                          </a:rPr>
                          <m:t>+</m:t>
                        </m:r>
                        <m:r>
                          <a:rPr lang="en-US" altLang="zh-CN" sz="2000" i="1" dirty="0">
                            <a:latin typeface="Cambria Math" panose="02040503050406030204" pitchFamily="18" charset="0"/>
                          </a:rPr>
                          <m:t>𝐹𝑁</m:t>
                        </m:r>
                      </m:den>
                    </m:f>
                  </m:oMath>
                </a14:m>
                <a:r>
                  <a:rPr lang="en-US" altLang="zh-CN" sz="2000" dirty="0"/>
                  <a:t>--y-axis  </a:t>
                </a:r>
                <a:r>
                  <a:rPr lang="en-US" altLang="zh-CN" sz="2000" dirty="0">
                    <a:solidFill>
                      <a:srgbClr val="FF0000"/>
                    </a:solidFill>
                  </a:rPr>
                  <a:t>Recall</a:t>
                </a:r>
                <a:endParaRPr lang="en-US" altLang="zh-CN" sz="2000" dirty="0"/>
              </a:p>
              <a:p>
                <a:pPr marL="800100" lvl="1" indent="-342900">
                  <a:buFont typeface="Arial" panose="020B0604020202020204" pitchFamily="34" charset="0"/>
                  <a:buChar char="•"/>
                </a:pPr>
                <a14:m>
                  <m:oMath xmlns:m="http://schemas.openxmlformats.org/officeDocument/2006/math">
                    <m:r>
                      <a:rPr lang="en-US" altLang="zh-CN" sz="2000" i="1" dirty="0">
                        <a:latin typeface="Cambria Math" panose="02040503050406030204" pitchFamily="18" charset="0"/>
                      </a:rPr>
                      <m:t>𝐹𝑃𝑅</m:t>
                    </m:r>
                    <m:r>
                      <a:rPr lang="en-US" altLang="zh-CN" sz="2000" i="1" dirty="0">
                        <a:latin typeface="Cambria Math" panose="02040503050406030204" pitchFamily="18" charset="0"/>
                      </a:rPr>
                      <m:t>=</m:t>
                    </m:r>
                    <m:f>
                      <m:fPr>
                        <m:ctrlPr>
                          <a:rPr lang="en-US" altLang="zh-CN" sz="2000" i="1" dirty="0">
                            <a:latin typeface="Cambria Math" panose="02040503050406030204" pitchFamily="18" charset="0"/>
                          </a:rPr>
                        </m:ctrlPr>
                      </m:fPr>
                      <m:num>
                        <m:r>
                          <a:rPr lang="en-US" altLang="zh-CN" sz="2000" i="1" dirty="0">
                            <a:latin typeface="Cambria Math" panose="02040503050406030204" pitchFamily="18" charset="0"/>
                          </a:rPr>
                          <m:t>𝐹𝑃</m:t>
                        </m:r>
                      </m:num>
                      <m:den>
                        <m:r>
                          <a:rPr lang="en-US" altLang="zh-CN" sz="2000" i="1" dirty="0">
                            <a:latin typeface="Cambria Math" panose="02040503050406030204" pitchFamily="18" charset="0"/>
                          </a:rPr>
                          <m:t>𝑇𝑁</m:t>
                        </m:r>
                        <m:r>
                          <a:rPr lang="en-US" altLang="zh-CN" sz="2000" i="1" dirty="0">
                            <a:latin typeface="Cambria Math" panose="02040503050406030204" pitchFamily="18" charset="0"/>
                          </a:rPr>
                          <m:t>+</m:t>
                        </m:r>
                        <m:r>
                          <a:rPr lang="en-US" altLang="zh-CN" sz="2000" i="1" dirty="0">
                            <a:latin typeface="Cambria Math" panose="02040503050406030204" pitchFamily="18" charset="0"/>
                          </a:rPr>
                          <m:t>𝐹𝑃</m:t>
                        </m:r>
                      </m:den>
                    </m:f>
                  </m:oMath>
                </a14:m>
                <a:r>
                  <a:rPr lang="en-US" altLang="zh-CN" sz="2000" dirty="0"/>
                  <a:t>--x-axis </a:t>
                </a:r>
                <a:r>
                  <a:rPr lang="en-US" altLang="zh-CN" sz="2000" dirty="0">
                    <a:solidFill>
                      <a:srgbClr val="FF0000"/>
                    </a:solidFill>
                  </a:rPr>
                  <a:t>False Alarm Rate </a:t>
                </a:r>
                <a:r>
                  <a:rPr lang="en-US" altLang="zh-CN" sz="2000" dirty="0"/>
                  <a:t>or</a:t>
                </a:r>
                <a:r>
                  <a:rPr lang="en-US" altLang="zh-CN" sz="2000" dirty="0">
                    <a:solidFill>
                      <a:srgbClr val="FF0000"/>
                    </a:solidFill>
                  </a:rPr>
                  <a:t> 1-specificity</a:t>
                </a:r>
                <a:r>
                  <a:rPr lang="en-US" altLang="zh-CN" sz="2000" dirty="0"/>
                  <a:t> </a:t>
                </a:r>
                <a:endParaRPr lang="zh-CN" altLang="en-US" sz="2000" dirty="0"/>
              </a:p>
              <a:p>
                <a:pPr marL="800100" lvl="1" indent="-342900">
                  <a:buFont typeface="Arial" panose="020B0604020202020204" pitchFamily="34" charset="0"/>
                  <a:buChar char="•"/>
                </a:pPr>
                <a:endParaRPr lang="zh-CN" altLang="en-US" sz="2000" dirty="0"/>
              </a:p>
            </p:txBody>
          </p:sp>
        </mc:Choice>
        <mc:Fallback xmlns="">
          <p:sp>
            <p:nvSpPr>
              <p:cNvPr id="2" name="矩形 1">
                <a:extLst>
                  <a:ext uri="{FF2B5EF4-FFF2-40B4-BE49-F238E27FC236}">
                    <a16:creationId xmlns:a16="http://schemas.microsoft.com/office/drawing/2014/main" id="{D0FE06FD-B166-49D7-89E9-6215193031EF}"/>
                  </a:ext>
                </a:extLst>
              </p:cNvPr>
              <p:cNvSpPr>
                <a:spLocks noRot="1" noChangeAspect="1" noMove="1" noResize="1" noEditPoints="1" noAdjustHandles="1" noChangeArrowheads="1" noChangeShapeType="1" noTextEdit="1"/>
              </p:cNvSpPr>
              <p:nvPr/>
            </p:nvSpPr>
            <p:spPr>
              <a:xfrm>
                <a:off x="-304800" y="2450264"/>
                <a:ext cx="4572000" cy="1643399"/>
              </a:xfrm>
              <a:prstGeom prst="rect">
                <a:avLst/>
              </a:prstGeom>
              <a:blipFill>
                <a:blip r:embed="rId5"/>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10235762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descr="屏幕剪辑">
            <a:extLst>
              <a:ext uri="{FF2B5EF4-FFF2-40B4-BE49-F238E27FC236}">
                <a16:creationId xmlns:a16="http://schemas.microsoft.com/office/drawing/2014/main" id="{70DFEB2F-6F74-43C2-B471-15704CD3F11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37830" y="0"/>
            <a:ext cx="4284162" cy="1282997"/>
          </a:xfrm>
          <a:prstGeom prst="rect">
            <a:avLst/>
          </a:prstGeom>
        </p:spPr>
      </p:pic>
      <p:sp>
        <p:nvSpPr>
          <p:cNvPr id="4" name="灯片编号占位符 3"/>
          <p:cNvSpPr>
            <a:spLocks noGrp="1"/>
          </p:cNvSpPr>
          <p:nvPr>
            <p:ph type="sldNum" sz="quarter" idx="12"/>
          </p:nvPr>
        </p:nvSpPr>
        <p:spPr/>
        <p:txBody>
          <a:bodyPr/>
          <a:lstStyle/>
          <a:p>
            <a:fld id="{B6F15528-21DE-4FAA-801E-634DDDAF4B2B}" type="slidenum">
              <a:rPr lang="en-US" smtClean="0"/>
              <a:pPr/>
              <a:t>33</a:t>
            </a:fld>
            <a:endParaRPr lang="en-US" dirty="0"/>
          </a:p>
        </p:txBody>
      </p:sp>
      <p:sp>
        <p:nvSpPr>
          <p:cNvPr id="3" name="文本框 2"/>
          <p:cNvSpPr txBox="1"/>
          <p:nvPr/>
        </p:nvSpPr>
        <p:spPr>
          <a:xfrm>
            <a:off x="228600" y="76200"/>
            <a:ext cx="1983813" cy="754694"/>
          </a:xfrm>
          <a:prstGeom prst="rect">
            <a:avLst/>
          </a:prstGeom>
          <a:noFill/>
        </p:spPr>
        <p:txBody>
          <a:bodyPr wrap="none" rtlCol="0">
            <a:spAutoFit/>
          </a:bodyPr>
          <a:lstStyle/>
          <a:p>
            <a:pPr>
              <a:lnSpc>
                <a:spcPct val="150000"/>
              </a:lnSpc>
            </a:pPr>
            <a:r>
              <a:rPr lang="en-US" altLang="zh-CN" sz="3200" b="1" dirty="0"/>
              <a:t>ROC Curve</a:t>
            </a:r>
            <a:endParaRPr lang="en-US" sz="3200" b="1" dirty="0"/>
          </a:p>
        </p:txBody>
      </p:sp>
      <mc:AlternateContent xmlns:mc="http://schemas.openxmlformats.org/markup-compatibility/2006" xmlns:a14="http://schemas.microsoft.com/office/drawing/2010/main">
        <mc:Choice Requires="a14">
          <p:sp>
            <p:nvSpPr>
              <p:cNvPr id="5" name="文本框 4"/>
              <p:cNvSpPr txBox="1"/>
              <p:nvPr/>
            </p:nvSpPr>
            <p:spPr>
              <a:xfrm>
                <a:off x="179173" y="830894"/>
                <a:ext cx="9139881" cy="2505173"/>
              </a:xfrm>
              <a:prstGeom prst="rect">
                <a:avLst/>
              </a:prstGeom>
              <a:noFill/>
            </p:spPr>
            <p:txBody>
              <a:bodyPr wrap="square" rtlCol="0">
                <a:spAutoFit/>
              </a:bodyPr>
              <a:lstStyle/>
              <a:p>
                <a:pPr marL="342900" indent="-342900">
                  <a:buFont typeface="Arial" panose="020B0604020202020204" pitchFamily="34" charset="0"/>
                  <a:buChar char="•"/>
                </a:pPr>
                <a:r>
                  <a:rPr lang="en-US" altLang="zh-CN" sz="2000" dirty="0"/>
                  <a:t>Receiver Operating Characteristic</a:t>
                </a:r>
              </a:p>
              <a:p>
                <a:pPr marL="800100" lvl="1" indent="-342900">
                  <a:buFont typeface="Arial" panose="020B0604020202020204" pitchFamily="34" charset="0"/>
                  <a:buChar char="•"/>
                </a:pPr>
                <a14:m>
                  <m:oMath xmlns:m="http://schemas.openxmlformats.org/officeDocument/2006/math">
                    <m:r>
                      <a:rPr lang="en-US" altLang="zh-CN" sz="2000" i="1" dirty="0" smtClean="0">
                        <a:latin typeface="Cambria Math" panose="02040503050406030204" pitchFamily="18" charset="0"/>
                      </a:rPr>
                      <m:t>𝑇𝑃𝑅</m:t>
                    </m:r>
                    <m:r>
                      <a:rPr lang="en-US" altLang="zh-CN" sz="2000" i="1" dirty="0" smtClean="0">
                        <a:latin typeface="Cambria Math" panose="02040503050406030204" pitchFamily="18" charset="0"/>
                      </a:rPr>
                      <m:t>=</m:t>
                    </m:r>
                    <m:f>
                      <m:fPr>
                        <m:ctrlPr>
                          <a:rPr lang="en-US" altLang="zh-CN" sz="2000" i="1" dirty="0">
                            <a:latin typeface="Cambria Math" panose="02040503050406030204" pitchFamily="18" charset="0"/>
                          </a:rPr>
                        </m:ctrlPr>
                      </m:fPr>
                      <m:num>
                        <m:r>
                          <a:rPr lang="en-US" altLang="zh-CN" sz="2000" i="1" dirty="0">
                            <a:latin typeface="Cambria Math" panose="02040503050406030204" pitchFamily="18" charset="0"/>
                          </a:rPr>
                          <m:t>𝑇𝑃</m:t>
                        </m:r>
                      </m:num>
                      <m:den>
                        <m:r>
                          <a:rPr lang="en-US" altLang="zh-CN" sz="2000" i="1" dirty="0" smtClean="0">
                            <a:latin typeface="Cambria Math" panose="02040503050406030204" pitchFamily="18" charset="0"/>
                          </a:rPr>
                          <m:t>𝑇𝑃</m:t>
                        </m:r>
                        <m:r>
                          <a:rPr lang="en-US" altLang="zh-CN" sz="2000" i="1" dirty="0" smtClean="0">
                            <a:latin typeface="Cambria Math" panose="02040503050406030204" pitchFamily="18" charset="0"/>
                          </a:rPr>
                          <m:t>+</m:t>
                        </m:r>
                        <m:r>
                          <a:rPr lang="en-US" altLang="zh-CN" sz="2000" i="1" dirty="0" smtClean="0">
                            <a:latin typeface="Cambria Math" panose="02040503050406030204" pitchFamily="18" charset="0"/>
                          </a:rPr>
                          <m:t>𝐹𝑁</m:t>
                        </m:r>
                      </m:den>
                    </m:f>
                  </m:oMath>
                </a14:m>
                <a:r>
                  <a:rPr lang="en-US" altLang="zh-CN" sz="2000" dirty="0"/>
                  <a:t>--y-axis </a:t>
                </a:r>
              </a:p>
              <a:p>
                <a:pPr marL="1257300" lvl="2" indent="-342900">
                  <a:buFont typeface="Arial" panose="020B0604020202020204" pitchFamily="34" charset="0"/>
                  <a:buChar char="•"/>
                </a:pPr>
                <a:r>
                  <a:rPr lang="en-US" altLang="zh-CN" sz="2000" dirty="0"/>
                  <a:t>The proportion of samples that are labeled by “1” are predicted with “1”.</a:t>
                </a:r>
              </a:p>
              <a:p>
                <a:pPr marL="1257300" lvl="2" indent="-342900">
                  <a:buFont typeface="Arial" panose="020B0604020202020204" pitchFamily="34" charset="0"/>
                  <a:buChar char="•"/>
                </a:pPr>
                <a:r>
                  <a:rPr lang="en-US" altLang="zh-CN" sz="2000" dirty="0"/>
                  <a:t>The probability that we predict the label as “1”, if its true label is “1”.</a:t>
                </a:r>
              </a:p>
              <a:p>
                <a:pPr marL="800100" lvl="1" indent="-342900">
                  <a:buFont typeface="Arial" panose="020B0604020202020204" pitchFamily="34" charset="0"/>
                  <a:buChar char="•"/>
                </a:pPr>
                <a14:m>
                  <m:oMath xmlns:m="http://schemas.openxmlformats.org/officeDocument/2006/math">
                    <m:r>
                      <a:rPr lang="en-US" altLang="zh-CN" sz="2000" i="1" dirty="0" smtClean="0">
                        <a:latin typeface="Cambria Math" panose="02040503050406030204" pitchFamily="18" charset="0"/>
                      </a:rPr>
                      <m:t>𝐹𝑃𝑅</m:t>
                    </m:r>
                    <m:r>
                      <a:rPr lang="en-US" altLang="zh-CN" sz="2000" i="1" dirty="0" smtClean="0">
                        <a:latin typeface="Cambria Math" panose="02040503050406030204" pitchFamily="18" charset="0"/>
                      </a:rPr>
                      <m:t>=</m:t>
                    </m:r>
                    <m:f>
                      <m:fPr>
                        <m:ctrlPr>
                          <a:rPr lang="en-US" altLang="zh-CN" sz="2000" i="1" dirty="0">
                            <a:latin typeface="Cambria Math" panose="02040503050406030204" pitchFamily="18" charset="0"/>
                          </a:rPr>
                        </m:ctrlPr>
                      </m:fPr>
                      <m:num>
                        <m:r>
                          <a:rPr lang="en-US" altLang="zh-CN" sz="2000" i="1" dirty="0">
                            <a:latin typeface="Cambria Math" panose="02040503050406030204" pitchFamily="18" charset="0"/>
                          </a:rPr>
                          <m:t>𝐹𝑃</m:t>
                        </m:r>
                      </m:num>
                      <m:den>
                        <m:r>
                          <a:rPr lang="en-US" altLang="zh-CN" sz="2000" i="1" dirty="0" smtClean="0">
                            <a:latin typeface="Cambria Math" panose="02040503050406030204" pitchFamily="18" charset="0"/>
                          </a:rPr>
                          <m:t>𝑇𝑁</m:t>
                        </m:r>
                        <m:r>
                          <a:rPr lang="en-US" altLang="zh-CN" sz="2000" i="1" dirty="0" smtClean="0">
                            <a:latin typeface="Cambria Math" panose="02040503050406030204" pitchFamily="18" charset="0"/>
                          </a:rPr>
                          <m:t>+</m:t>
                        </m:r>
                        <m:r>
                          <a:rPr lang="en-US" altLang="zh-CN" sz="2000" i="1" dirty="0" smtClean="0">
                            <a:latin typeface="Cambria Math" panose="02040503050406030204" pitchFamily="18" charset="0"/>
                          </a:rPr>
                          <m:t>𝐹𝑃</m:t>
                        </m:r>
                      </m:den>
                    </m:f>
                  </m:oMath>
                </a14:m>
                <a:r>
                  <a:rPr lang="en-US" altLang="zh-CN" sz="2000" dirty="0"/>
                  <a:t>--x-axis</a:t>
                </a:r>
              </a:p>
              <a:p>
                <a:pPr marL="1257300" lvl="2" indent="-342900">
                  <a:buFont typeface="Arial" panose="020B0604020202020204" pitchFamily="34" charset="0"/>
                  <a:buChar char="•"/>
                </a:pPr>
                <a:r>
                  <a:rPr lang="en-US" altLang="zh-CN" sz="2000" dirty="0"/>
                  <a:t>The proportion of samples that are labeled by “0” are predicted with “1”.</a:t>
                </a:r>
              </a:p>
              <a:p>
                <a:pPr marL="1257300" lvl="2" indent="-342900">
                  <a:buFont typeface="Arial" panose="020B0604020202020204" pitchFamily="34" charset="0"/>
                  <a:buChar char="•"/>
                </a:pPr>
                <a:r>
                  <a:rPr lang="en-US" altLang="zh-CN" sz="2000" dirty="0"/>
                  <a:t>The probability that we predict the label as “1”, if its true label is “0”.</a:t>
                </a:r>
              </a:p>
            </p:txBody>
          </p:sp>
        </mc:Choice>
        <mc:Fallback xmlns="">
          <p:sp>
            <p:nvSpPr>
              <p:cNvPr id="5" name="文本框 4"/>
              <p:cNvSpPr txBox="1">
                <a:spLocks noRot="1" noChangeAspect="1" noMove="1" noResize="1" noEditPoints="1" noAdjustHandles="1" noChangeArrowheads="1" noChangeShapeType="1" noTextEdit="1"/>
              </p:cNvSpPr>
              <p:nvPr/>
            </p:nvSpPr>
            <p:spPr>
              <a:xfrm>
                <a:off x="179173" y="830894"/>
                <a:ext cx="9139881" cy="2505173"/>
              </a:xfrm>
              <a:prstGeom prst="rect">
                <a:avLst/>
              </a:prstGeom>
              <a:blipFill>
                <a:blip r:embed="rId4"/>
                <a:stretch>
                  <a:fillRect l="-600" t="-1217" b="-3406"/>
                </a:stretch>
              </a:blipFill>
            </p:spPr>
            <p:txBody>
              <a:bodyPr/>
              <a:lstStyle/>
              <a:p>
                <a:r>
                  <a:rPr lang="zh-CN" altLang="en-US">
                    <a:noFill/>
                  </a:rPr>
                  <a:t> </a:t>
                </a:r>
              </a:p>
            </p:txBody>
          </p:sp>
        </mc:Fallback>
      </mc:AlternateContent>
      <p:pic>
        <p:nvPicPr>
          <p:cNvPr id="6" name="图片 5">
            <a:extLst>
              <a:ext uri="{FF2B5EF4-FFF2-40B4-BE49-F238E27FC236}">
                <a16:creationId xmlns:a16="http://schemas.microsoft.com/office/drawing/2014/main" id="{25F83DA4-EC41-4F1E-84C1-1A5E2229FD1D}"/>
              </a:ext>
            </a:extLst>
          </p:cNvPr>
          <p:cNvPicPr>
            <a:picLocks noChangeAspect="1"/>
          </p:cNvPicPr>
          <p:nvPr/>
        </p:nvPicPr>
        <p:blipFill rotWithShape="1">
          <a:blip r:embed="rId5">
            <a:extLst>
              <a:ext uri="{28A0092B-C50C-407E-A947-70E740481C1C}">
                <a14:useLocalDpi xmlns:a14="http://schemas.microsoft.com/office/drawing/2010/main" val="0"/>
              </a:ext>
            </a:extLst>
          </a:blip>
          <a:srcRect l="4299"/>
          <a:stretch/>
        </p:blipFill>
        <p:spPr>
          <a:xfrm>
            <a:off x="5410200" y="3330986"/>
            <a:ext cx="3401568" cy="3429000"/>
          </a:xfrm>
          <a:prstGeom prst="rect">
            <a:avLst/>
          </a:prstGeom>
        </p:spPr>
      </p:pic>
      <p:sp>
        <p:nvSpPr>
          <p:cNvPr id="7" name="矩形 6">
            <a:extLst>
              <a:ext uri="{FF2B5EF4-FFF2-40B4-BE49-F238E27FC236}">
                <a16:creationId xmlns:a16="http://schemas.microsoft.com/office/drawing/2014/main" id="{B293168C-37E1-46B1-AF81-16964080F775}"/>
              </a:ext>
            </a:extLst>
          </p:cNvPr>
          <p:cNvSpPr/>
          <p:nvPr/>
        </p:nvSpPr>
        <p:spPr>
          <a:xfrm>
            <a:off x="-266699" y="3521934"/>
            <a:ext cx="5715000" cy="1631216"/>
          </a:xfrm>
          <a:prstGeom prst="rect">
            <a:avLst/>
          </a:prstGeom>
        </p:spPr>
        <p:txBody>
          <a:bodyPr wrap="square">
            <a:spAutoFit/>
          </a:bodyPr>
          <a:lstStyle/>
          <a:p>
            <a:pPr marL="800100" lvl="1" indent="-342900">
              <a:buFont typeface="Arial" panose="020B0604020202020204" pitchFamily="34" charset="0"/>
              <a:buChar char="•"/>
            </a:pPr>
            <a:r>
              <a:rPr lang="en-US" altLang="zh-CN" sz="2000" dirty="0"/>
              <a:t>Points of interests (FPR, TPR)</a:t>
            </a:r>
          </a:p>
          <a:p>
            <a:pPr marL="1257300" lvl="2" indent="-342900">
              <a:buFont typeface="Arial" panose="020B0604020202020204" pitchFamily="34" charset="0"/>
              <a:buChar char="•"/>
            </a:pPr>
            <a:r>
              <a:rPr lang="en-US" altLang="zh-CN" sz="2000" dirty="0"/>
              <a:t>(0,0):</a:t>
            </a:r>
          </a:p>
          <a:p>
            <a:pPr marL="1257300" lvl="2" indent="-342900">
              <a:buFont typeface="Arial" panose="020B0604020202020204" pitchFamily="34" charset="0"/>
              <a:buChar char="•"/>
            </a:pPr>
            <a:r>
              <a:rPr lang="en-US" altLang="zh-CN" sz="2000" dirty="0"/>
              <a:t>(1,1): </a:t>
            </a:r>
          </a:p>
          <a:p>
            <a:pPr marL="1257300" lvl="2" indent="-342900">
              <a:buFont typeface="Arial" panose="020B0604020202020204" pitchFamily="34" charset="0"/>
              <a:buChar char="•"/>
            </a:pPr>
            <a:r>
              <a:rPr lang="en-US" altLang="zh-CN" sz="2000" dirty="0"/>
              <a:t>(0,1): </a:t>
            </a:r>
          </a:p>
          <a:p>
            <a:pPr marL="1257300" lvl="2" indent="-342900">
              <a:buFont typeface="Arial" panose="020B0604020202020204" pitchFamily="34" charset="0"/>
              <a:buChar char="•"/>
            </a:pPr>
            <a:r>
              <a:rPr lang="en-US" altLang="zh-CN" sz="2000" dirty="0"/>
              <a:t>Diagonal line (y=x)</a:t>
            </a:r>
          </a:p>
        </p:txBody>
      </p:sp>
      <p:sp>
        <p:nvSpPr>
          <p:cNvPr id="2" name="矩形 1">
            <a:extLst>
              <a:ext uri="{FF2B5EF4-FFF2-40B4-BE49-F238E27FC236}">
                <a16:creationId xmlns:a16="http://schemas.microsoft.com/office/drawing/2014/main" id="{C6ADC942-6DD1-4794-BC21-E2C15D03DB73}"/>
              </a:ext>
            </a:extLst>
          </p:cNvPr>
          <p:cNvSpPr/>
          <p:nvPr/>
        </p:nvSpPr>
        <p:spPr>
          <a:xfrm>
            <a:off x="1662975" y="3828109"/>
            <a:ext cx="2458109" cy="400110"/>
          </a:xfrm>
          <a:prstGeom prst="rect">
            <a:avLst/>
          </a:prstGeom>
        </p:spPr>
        <p:txBody>
          <a:bodyPr wrap="none">
            <a:spAutoFit/>
          </a:bodyPr>
          <a:lstStyle/>
          <a:p>
            <a:r>
              <a:rPr lang="en-US" altLang="zh-CN" sz="2000" dirty="0"/>
              <a:t>everything is negative</a:t>
            </a:r>
            <a:endParaRPr lang="zh-CN" altLang="en-US" sz="2000" dirty="0"/>
          </a:p>
        </p:txBody>
      </p:sp>
      <p:sp>
        <p:nvSpPr>
          <p:cNvPr id="11" name="矩形 10">
            <a:extLst>
              <a:ext uri="{FF2B5EF4-FFF2-40B4-BE49-F238E27FC236}">
                <a16:creationId xmlns:a16="http://schemas.microsoft.com/office/drawing/2014/main" id="{F1149F8C-A7CB-48F0-ACB8-084BDB4C073B}"/>
              </a:ext>
            </a:extLst>
          </p:cNvPr>
          <p:cNvSpPr/>
          <p:nvPr/>
        </p:nvSpPr>
        <p:spPr>
          <a:xfrm>
            <a:off x="1662975" y="4123854"/>
            <a:ext cx="2388283" cy="400110"/>
          </a:xfrm>
          <a:prstGeom prst="rect">
            <a:avLst/>
          </a:prstGeom>
        </p:spPr>
        <p:txBody>
          <a:bodyPr wrap="none">
            <a:spAutoFit/>
          </a:bodyPr>
          <a:lstStyle/>
          <a:p>
            <a:r>
              <a:rPr lang="en-US" altLang="zh-CN" sz="2000" dirty="0"/>
              <a:t>everything is positive</a:t>
            </a:r>
          </a:p>
        </p:txBody>
      </p:sp>
      <p:sp>
        <p:nvSpPr>
          <p:cNvPr id="12" name="矩形 11">
            <a:extLst>
              <a:ext uri="{FF2B5EF4-FFF2-40B4-BE49-F238E27FC236}">
                <a16:creationId xmlns:a16="http://schemas.microsoft.com/office/drawing/2014/main" id="{22616F3D-56F7-49F7-8768-41C8BC13172A}"/>
              </a:ext>
            </a:extLst>
          </p:cNvPr>
          <p:cNvSpPr/>
          <p:nvPr/>
        </p:nvSpPr>
        <p:spPr>
          <a:xfrm>
            <a:off x="1662975" y="4419600"/>
            <a:ext cx="1653017" cy="400110"/>
          </a:xfrm>
          <a:prstGeom prst="rect">
            <a:avLst/>
          </a:prstGeom>
        </p:spPr>
        <p:txBody>
          <a:bodyPr wrap="none">
            <a:spAutoFit/>
          </a:bodyPr>
          <a:lstStyle/>
          <a:p>
            <a:r>
              <a:rPr lang="en-US" altLang="zh-CN" sz="2000" dirty="0"/>
              <a:t>perfect (ideal)</a:t>
            </a:r>
          </a:p>
        </p:txBody>
      </p:sp>
      <p:sp>
        <p:nvSpPr>
          <p:cNvPr id="13" name="矩形 12">
            <a:extLst>
              <a:ext uri="{FF2B5EF4-FFF2-40B4-BE49-F238E27FC236}">
                <a16:creationId xmlns:a16="http://schemas.microsoft.com/office/drawing/2014/main" id="{134AF0AC-01EC-4C5D-B986-1CE4E6FC181B}"/>
              </a:ext>
            </a:extLst>
          </p:cNvPr>
          <p:cNvSpPr/>
          <p:nvPr/>
        </p:nvSpPr>
        <p:spPr>
          <a:xfrm>
            <a:off x="-391668" y="5128770"/>
            <a:ext cx="5676899" cy="1323439"/>
          </a:xfrm>
          <a:prstGeom prst="rect">
            <a:avLst/>
          </a:prstGeom>
        </p:spPr>
        <p:txBody>
          <a:bodyPr wrap="square">
            <a:spAutoFit/>
          </a:bodyPr>
          <a:lstStyle/>
          <a:p>
            <a:pPr marL="1714500" lvl="3" indent="-342900" algn="just">
              <a:buFont typeface="Arial" panose="020B0604020202020204" pitchFamily="34" charset="0"/>
              <a:buChar char="•"/>
            </a:pPr>
            <a:r>
              <a:rPr lang="en-US" altLang="zh-CN" sz="2000" dirty="0"/>
              <a:t>No matter the ground truth label of a sample is 1 or 0, the probability that we predict it as 1 is the same.</a:t>
            </a:r>
          </a:p>
          <a:p>
            <a:pPr marL="1714500" lvl="3" indent="-342900" algn="just">
              <a:buFont typeface="Arial" panose="020B0604020202020204" pitchFamily="34" charset="0"/>
              <a:buChar char="•"/>
            </a:pPr>
            <a:r>
              <a:rPr lang="en-US" altLang="zh-CN" sz="2000" dirty="0"/>
              <a:t>Has no discrimination power</a:t>
            </a:r>
          </a:p>
        </p:txBody>
      </p:sp>
    </p:spTree>
    <p:extLst>
      <p:ext uri="{BB962C8B-B14F-4D97-AF65-F5344CB8AC3E}">
        <p14:creationId xmlns:p14="http://schemas.microsoft.com/office/powerpoint/2010/main" val="2071451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 grpId="0"/>
      <p:bldP spid="11" grpId="0"/>
      <p:bldP spid="13"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B6F15528-21DE-4FAA-801E-634DDDAF4B2B}" type="slidenum">
              <a:rPr lang="en-US" smtClean="0"/>
              <a:pPr/>
              <a:t>34</a:t>
            </a:fld>
            <a:endParaRPr lang="en-US" dirty="0"/>
          </a:p>
        </p:txBody>
      </p:sp>
      <p:sp>
        <p:nvSpPr>
          <p:cNvPr id="3" name="文本框 2"/>
          <p:cNvSpPr txBox="1"/>
          <p:nvPr/>
        </p:nvSpPr>
        <p:spPr>
          <a:xfrm>
            <a:off x="228600" y="76200"/>
            <a:ext cx="1983813" cy="754694"/>
          </a:xfrm>
          <a:prstGeom prst="rect">
            <a:avLst/>
          </a:prstGeom>
          <a:noFill/>
        </p:spPr>
        <p:txBody>
          <a:bodyPr wrap="none" rtlCol="0">
            <a:spAutoFit/>
          </a:bodyPr>
          <a:lstStyle/>
          <a:p>
            <a:pPr>
              <a:lnSpc>
                <a:spcPct val="150000"/>
              </a:lnSpc>
            </a:pPr>
            <a:r>
              <a:rPr lang="en-US" altLang="zh-CN" sz="3200" b="1" dirty="0"/>
              <a:t>ROC Curve</a:t>
            </a:r>
            <a:endParaRPr lang="en-US" sz="3200" b="1" dirty="0"/>
          </a:p>
        </p:txBody>
      </p:sp>
      <mc:AlternateContent xmlns:mc="http://schemas.openxmlformats.org/markup-compatibility/2006" xmlns:a14="http://schemas.microsoft.com/office/drawing/2010/main">
        <mc:Choice Requires="a14">
          <p:sp>
            <p:nvSpPr>
              <p:cNvPr id="8" name="文本框 7"/>
              <p:cNvSpPr txBox="1"/>
              <p:nvPr/>
            </p:nvSpPr>
            <p:spPr>
              <a:xfrm>
                <a:off x="210207" y="917284"/>
                <a:ext cx="8579069" cy="5348131"/>
              </a:xfrm>
              <a:prstGeom prst="rect">
                <a:avLst/>
              </a:prstGeom>
              <a:noFill/>
            </p:spPr>
            <p:txBody>
              <a:bodyPr wrap="square" rtlCol="0">
                <a:spAutoFit/>
              </a:bodyPr>
              <a:lstStyle/>
              <a:p>
                <a:pPr marL="342900" indent="-342900">
                  <a:buFont typeface="Arial" panose="020B0604020202020204" pitchFamily="34" charset="0"/>
                  <a:buChar char="•"/>
                </a:pPr>
                <a:r>
                  <a:rPr lang="en-US" altLang="zh-CN" sz="2400" dirty="0"/>
                  <a:t>A discrete classifier produces a (FPR, TPR) pair corresponding to a single point in ROC space.</a:t>
                </a:r>
              </a:p>
              <a:p>
                <a:pPr marL="342900" indent="-342900">
                  <a:buFont typeface="Arial" panose="020B0604020202020204" pitchFamily="34" charset="0"/>
                  <a:buChar char="•"/>
                </a:pPr>
                <a:r>
                  <a:rPr lang="en-US" altLang="zh-CN" sz="2400" dirty="0"/>
                  <a:t>Some classifiers, such as a Naive Bayes, naturally yield a numeric value (score) for each instance that represents the probability that the instance belongs to a class.</a:t>
                </a:r>
              </a:p>
              <a:p>
                <a:pPr/>
                <a14:m>
                  <m:oMathPara xmlns:m="http://schemas.openxmlformats.org/officeDocument/2006/math">
                    <m:oMathParaPr>
                      <m:jc m:val="centerGroup"/>
                    </m:oMathParaPr>
                    <m:oMath xmlns:m="http://schemas.openxmlformats.org/officeDocument/2006/math">
                      <m:r>
                        <a:rPr lang="en-US" altLang="zh-CN" sz="2400" b="0" i="1" dirty="0" smtClean="0">
                          <a:latin typeface="Cambria Math" panose="02040503050406030204" pitchFamily="18" charset="0"/>
                        </a:rPr>
                        <m:t>0</m:t>
                      </m:r>
                      <m:r>
                        <a:rPr lang="en-US" altLang="zh-CN" sz="2400" b="0" i="1" dirty="0" smtClean="0">
                          <a:latin typeface="Cambria Math" panose="02040503050406030204" pitchFamily="18" charset="0"/>
                          <a:ea typeface="Cambria Math" panose="02040503050406030204" pitchFamily="18" charset="0"/>
                        </a:rPr>
                        <m:t>≤</m:t>
                      </m:r>
                      <m:r>
                        <a:rPr lang="en-US" altLang="zh-CN" sz="2400" b="0" i="1" dirty="0" smtClean="0">
                          <a:latin typeface="Cambria Math" panose="02040503050406030204" pitchFamily="18" charset="0"/>
                        </a:rPr>
                        <m:t>𝑓</m:t>
                      </m:r>
                      <m:r>
                        <a:rPr lang="en-US" altLang="zh-CN" sz="2400" i="1" dirty="0" smtClean="0">
                          <a:latin typeface="Cambria Math" panose="02040503050406030204" pitchFamily="18" charset="0"/>
                        </a:rPr>
                        <m:t>(</m:t>
                      </m:r>
                      <m:r>
                        <a:rPr lang="en-US" altLang="zh-CN" sz="2400" b="1" i="1" dirty="0" smtClean="0">
                          <a:latin typeface="Cambria Math" panose="02040503050406030204" pitchFamily="18" charset="0"/>
                        </a:rPr>
                        <m:t>𝒙</m:t>
                      </m:r>
                      <m:r>
                        <a:rPr lang="en-US" altLang="zh-CN" sz="2400" i="1" dirty="0" smtClean="0">
                          <a:latin typeface="Cambria Math" panose="02040503050406030204" pitchFamily="18" charset="0"/>
                        </a:rPr>
                        <m:t>)</m:t>
                      </m:r>
                      <m:r>
                        <a:rPr lang="en-US" altLang="zh-CN" sz="2400" i="1" dirty="0" smtClean="0">
                          <a:latin typeface="Cambria Math" panose="02040503050406030204" pitchFamily="18" charset="0"/>
                          <a:ea typeface="Cambria Math" panose="02040503050406030204" pitchFamily="18" charset="0"/>
                        </a:rPr>
                        <m:t>≤</m:t>
                      </m:r>
                      <m:r>
                        <a:rPr lang="en-US" altLang="zh-CN" sz="2400" b="0" i="1" dirty="0" smtClean="0">
                          <a:latin typeface="Cambria Math" panose="02040503050406030204" pitchFamily="18" charset="0"/>
                          <a:ea typeface="Cambria Math" panose="02040503050406030204" pitchFamily="18" charset="0"/>
                        </a:rPr>
                        <m:t>1</m:t>
                      </m:r>
                    </m:oMath>
                  </m:oMathPara>
                </a14:m>
                <a:endParaRPr lang="en-US" altLang="zh-CN" sz="2400" dirty="0"/>
              </a:p>
              <a:p>
                <a:pPr marL="342900" indent="-342900">
                  <a:buFont typeface="Arial" panose="020B0604020202020204" pitchFamily="34" charset="0"/>
                  <a:buChar char="•"/>
                </a:pPr>
                <a:r>
                  <a:rPr lang="en-US" altLang="zh-CN" sz="2400" dirty="0"/>
                  <a:t>Such a scoring classifier can be used with a </a:t>
                </a:r>
                <a:r>
                  <a:rPr lang="en-US" altLang="zh-CN" sz="2400" dirty="0">
                    <a:solidFill>
                      <a:srgbClr val="FF0000"/>
                    </a:solidFill>
                  </a:rPr>
                  <a:t>threshold</a:t>
                </a:r>
                <a:r>
                  <a:rPr lang="en-US" altLang="zh-CN" sz="2400" dirty="0"/>
                  <a:t> </a:t>
                </a:r>
                <a14:m>
                  <m:oMath xmlns:m="http://schemas.openxmlformats.org/officeDocument/2006/math">
                    <m:r>
                      <a:rPr lang="zh-CN" altLang="en-US" sz="2400" i="1" smtClean="0">
                        <a:latin typeface="Cambria Math" panose="02040503050406030204" pitchFamily="18" charset="0"/>
                      </a:rPr>
                      <m:t>𝜃</m:t>
                    </m:r>
                  </m:oMath>
                </a14:m>
                <a:r>
                  <a:rPr lang="en-US" altLang="zh-CN" sz="2400" dirty="0"/>
                  <a:t> to produce a discrete classifier </a:t>
                </a:r>
              </a:p>
              <a:p>
                <a:pPr/>
                <a14:m>
                  <m:oMathPara xmlns:m="http://schemas.openxmlformats.org/officeDocument/2006/math">
                    <m:oMathParaPr>
                      <m:jc m:val="centerGroup"/>
                    </m:oMathParaPr>
                    <m:oMath xmlns:m="http://schemas.openxmlformats.org/officeDocument/2006/math">
                      <m:r>
                        <a:rPr lang="en-US" altLang="zh-CN" sz="2400" i="1" dirty="0">
                          <a:latin typeface="Cambria Math" panose="02040503050406030204" pitchFamily="18" charset="0"/>
                        </a:rPr>
                        <m:t>𝐶</m:t>
                      </m:r>
                      <m:d>
                        <m:dPr>
                          <m:ctrlPr>
                            <a:rPr lang="en-US" altLang="zh-CN" sz="2400" i="1" dirty="0">
                              <a:latin typeface="Cambria Math" panose="02040503050406030204" pitchFamily="18" charset="0"/>
                            </a:rPr>
                          </m:ctrlPr>
                        </m:dPr>
                        <m:e>
                          <m:r>
                            <a:rPr lang="en-US" altLang="zh-CN" sz="2400" b="1" i="1" dirty="0">
                              <a:latin typeface="Cambria Math" panose="02040503050406030204" pitchFamily="18" charset="0"/>
                            </a:rPr>
                            <m:t>𝒙</m:t>
                          </m:r>
                        </m:e>
                      </m:d>
                      <m:r>
                        <a:rPr lang="en-US" altLang="zh-CN" sz="2400" i="1" dirty="0">
                          <a:latin typeface="Cambria Math" panose="02040503050406030204" pitchFamily="18" charset="0"/>
                        </a:rPr>
                        <m:t>=</m:t>
                      </m:r>
                      <m:d>
                        <m:dPr>
                          <m:begChr m:val="{"/>
                          <m:endChr m:val=""/>
                          <m:ctrlPr>
                            <a:rPr lang="en-US" altLang="zh-CN" sz="2400" i="1">
                              <a:latin typeface="Cambria Math" panose="02040503050406030204" pitchFamily="18" charset="0"/>
                            </a:rPr>
                          </m:ctrlPr>
                        </m:dPr>
                        <m:e>
                          <m:eqArr>
                            <m:eqArrPr>
                              <m:ctrlPr>
                                <a:rPr lang="en-US" altLang="zh-CN" sz="2400" i="1">
                                  <a:latin typeface="Cambria Math" panose="02040503050406030204" pitchFamily="18" charset="0"/>
                                </a:rPr>
                              </m:ctrlPr>
                            </m:eqArrPr>
                            <m:e>
                              <m:r>
                                <a:rPr lang="en-US" altLang="zh-CN" sz="2400" i="1">
                                  <a:latin typeface="Cambria Math" panose="02040503050406030204" pitchFamily="18" charset="0"/>
                                </a:rPr>
                                <m:t>+,  </m:t>
                              </m:r>
                              <m:r>
                                <a:rPr lang="en-US" altLang="zh-CN" sz="2400" i="1">
                                  <a:latin typeface="Cambria Math" panose="02040503050406030204" pitchFamily="18" charset="0"/>
                                </a:rPr>
                                <m:t>𝑖𝑓</m:t>
                              </m:r>
                              <m:r>
                                <a:rPr lang="en-US" altLang="zh-CN" sz="2400" i="1">
                                  <a:latin typeface="Cambria Math" panose="02040503050406030204" pitchFamily="18" charset="0"/>
                                </a:rPr>
                                <m:t> </m:t>
                              </m:r>
                              <m:r>
                                <a:rPr lang="en-US" altLang="zh-CN" sz="2400" i="1" dirty="0">
                                  <a:latin typeface="Cambria Math" panose="02040503050406030204" pitchFamily="18" charset="0"/>
                                </a:rPr>
                                <m:t>𝑓</m:t>
                              </m:r>
                              <m:d>
                                <m:dPr>
                                  <m:ctrlPr>
                                    <a:rPr lang="en-US" altLang="zh-CN" sz="2400" i="1" dirty="0">
                                      <a:latin typeface="Cambria Math" panose="02040503050406030204" pitchFamily="18" charset="0"/>
                                    </a:rPr>
                                  </m:ctrlPr>
                                </m:dPr>
                                <m:e>
                                  <m:r>
                                    <a:rPr lang="en-US" altLang="zh-CN" sz="2400" b="1" i="1" dirty="0">
                                      <a:latin typeface="Cambria Math" panose="02040503050406030204" pitchFamily="18" charset="0"/>
                                    </a:rPr>
                                    <m:t>𝒙</m:t>
                                  </m:r>
                                </m:e>
                              </m:d>
                              <m:r>
                                <a:rPr lang="en-US" altLang="zh-CN" sz="2400" i="1" dirty="0">
                                  <a:latin typeface="Cambria Math" panose="02040503050406030204" pitchFamily="18" charset="0"/>
                                </a:rPr>
                                <m:t>&gt;</m:t>
                              </m:r>
                              <m:r>
                                <a:rPr lang="zh-CN" altLang="en-US" sz="2400" i="1" dirty="0">
                                  <a:latin typeface="Cambria Math" panose="02040503050406030204" pitchFamily="18" charset="0"/>
                                </a:rPr>
                                <m:t>𝜃</m:t>
                              </m:r>
                            </m:e>
                            <m:e>
                              <m:r>
                                <a:rPr lang="en-US" altLang="zh-CN" sz="2400" i="1">
                                  <a:latin typeface="Cambria Math" panose="02040503050406030204" pitchFamily="18" charset="0"/>
                                </a:rPr>
                                <m:t>−,  </m:t>
                              </m:r>
                              <m:r>
                                <a:rPr lang="en-US" altLang="zh-CN" sz="2400" i="1">
                                  <a:latin typeface="Cambria Math" panose="02040503050406030204" pitchFamily="18" charset="0"/>
                                </a:rPr>
                                <m:t>𝑖𝑓</m:t>
                              </m:r>
                              <m:r>
                                <a:rPr lang="en-US" altLang="zh-CN" sz="2400" i="1">
                                  <a:latin typeface="Cambria Math" panose="02040503050406030204" pitchFamily="18" charset="0"/>
                                </a:rPr>
                                <m:t> </m:t>
                              </m:r>
                              <m:r>
                                <a:rPr lang="en-US" altLang="zh-CN" sz="2400" i="1" dirty="0">
                                  <a:latin typeface="Cambria Math" panose="02040503050406030204" pitchFamily="18" charset="0"/>
                                </a:rPr>
                                <m:t>𝑓</m:t>
                              </m:r>
                              <m:d>
                                <m:dPr>
                                  <m:ctrlPr>
                                    <a:rPr lang="en-US" altLang="zh-CN" sz="2400" i="1" dirty="0">
                                      <a:latin typeface="Cambria Math" panose="02040503050406030204" pitchFamily="18" charset="0"/>
                                    </a:rPr>
                                  </m:ctrlPr>
                                </m:dPr>
                                <m:e>
                                  <m:r>
                                    <a:rPr lang="en-US" altLang="zh-CN" sz="2400" b="1" i="1" dirty="0">
                                      <a:latin typeface="Cambria Math" panose="02040503050406030204" pitchFamily="18" charset="0"/>
                                    </a:rPr>
                                    <m:t>𝒙</m:t>
                                  </m:r>
                                </m:e>
                              </m:d>
                              <m:r>
                                <a:rPr lang="en-US" altLang="zh-CN" sz="2400" i="1" dirty="0">
                                  <a:latin typeface="Cambria Math" panose="02040503050406030204" pitchFamily="18" charset="0"/>
                                </a:rPr>
                                <m:t>&lt;</m:t>
                              </m:r>
                              <m:r>
                                <a:rPr lang="zh-CN" altLang="en-US" sz="2400" i="1" dirty="0">
                                  <a:latin typeface="Cambria Math" panose="02040503050406030204" pitchFamily="18" charset="0"/>
                                </a:rPr>
                                <m:t>𝜃</m:t>
                              </m:r>
                            </m:e>
                          </m:eqArr>
                        </m:e>
                      </m:d>
                    </m:oMath>
                  </m:oMathPara>
                </a14:m>
                <a:endParaRPr lang="zh-CN" altLang="en-US" sz="2400" dirty="0"/>
              </a:p>
              <a:p>
                <a:pPr marL="342900" indent="-342900">
                  <a:buFont typeface="Arial" panose="020B0604020202020204" pitchFamily="34" charset="0"/>
                  <a:buChar char="•"/>
                </a:pPr>
                <a:endParaRPr lang="en-US" altLang="zh-CN" sz="2400" dirty="0"/>
              </a:p>
              <a:p>
                <a:pPr marL="342900" indent="-342900">
                  <a:buFont typeface="Arial" panose="020B0604020202020204" pitchFamily="34" charset="0"/>
                  <a:buChar char="•"/>
                </a:pPr>
                <a:endParaRPr lang="en-US" altLang="zh-CN" sz="2400" dirty="0"/>
              </a:p>
              <a:p>
                <a:pPr marL="342900" indent="-342900">
                  <a:buFont typeface="Arial" panose="020B0604020202020204" pitchFamily="34" charset="0"/>
                  <a:buChar char="•"/>
                </a:pPr>
                <a:r>
                  <a:rPr lang="en-US" altLang="zh-CN" sz="2400" dirty="0"/>
                  <a:t>Plotting the ROC point </a:t>
                </a:r>
                <a:r>
                  <a:rPr lang="en-US" altLang="zh-CN" sz="2400" dirty="0">
                    <a:solidFill>
                      <a:srgbClr val="FF0000"/>
                    </a:solidFill>
                  </a:rPr>
                  <a:t>for each possible threshold value</a:t>
                </a:r>
                <a:r>
                  <a:rPr lang="en-US" altLang="zh-CN" sz="2400" dirty="0"/>
                  <a:t> results in a curve.</a:t>
                </a:r>
                <a:endParaRPr lang="zh-CN" altLang="en-US" sz="2400" dirty="0"/>
              </a:p>
            </p:txBody>
          </p:sp>
        </mc:Choice>
        <mc:Fallback xmlns="">
          <p:sp>
            <p:nvSpPr>
              <p:cNvPr id="8" name="文本框 7"/>
              <p:cNvSpPr txBox="1">
                <a:spLocks noRot="1" noChangeAspect="1" noMove="1" noResize="1" noEditPoints="1" noAdjustHandles="1" noChangeArrowheads="1" noChangeShapeType="1" noTextEdit="1"/>
              </p:cNvSpPr>
              <p:nvPr/>
            </p:nvSpPr>
            <p:spPr>
              <a:xfrm>
                <a:off x="210207" y="917284"/>
                <a:ext cx="8579069" cy="5348131"/>
              </a:xfrm>
              <a:prstGeom prst="rect">
                <a:avLst/>
              </a:prstGeom>
              <a:blipFill>
                <a:blip r:embed="rId2"/>
                <a:stretch>
                  <a:fillRect l="-923" t="-911" r="-710" b="-1595"/>
                </a:stretch>
              </a:blipFill>
            </p:spPr>
            <p:txBody>
              <a:bodyPr/>
              <a:lstStyle/>
              <a:p>
                <a:r>
                  <a:rPr lang="zh-CN" altLang="en-US">
                    <a:noFill/>
                  </a:rPr>
                  <a:t> </a:t>
                </a:r>
              </a:p>
            </p:txBody>
          </p:sp>
        </mc:Fallback>
      </mc:AlternateContent>
      <p:sp>
        <p:nvSpPr>
          <p:cNvPr id="2" name="文本框 1">
            <a:extLst>
              <a:ext uri="{FF2B5EF4-FFF2-40B4-BE49-F238E27FC236}">
                <a16:creationId xmlns:a16="http://schemas.microsoft.com/office/drawing/2014/main" id="{77CAEA92-91E1-4155-8A4D-F761015870FF}"/>
              </a:ext>
            </a:extLst>
          </p:cNvPr>
          <p:cNvSpPr txBox="1"/>
          <p:nvPr/>
        </p:nvSpPr>
        <p:spPr>
          <a:xfrm>
            <a:off x="2649074" y="4267200"/>
            <a:ext cx="65" cy="369332"/>
          </a:xfrm>
          <a:prstGeom prst="rect">
            <a:avLst/>
          </a:prstGeom>
          <a:noFill/>
        </p:spPr>
        <p:txBody>
          <a:bodyPr wrap="none" lIns="0" tIns="0" rIns="0" bIns="0" rtlCol="0">
            <a:spAutoFit/>
          </a:bodyPr>
          <a:lstStyle/>
          <a:p>
            <a:endParaRPr lang="zh-CN" altLang="en-US" sz="2400" dirty="0"/>
          </a:p>
        </p:txBody>
      </p:sp>
    </p:spTree>
    <p:extLst>
      <p:ext uri="{BB962C8B-B14F-4D97-AF65-F5344CB8AC3E}">
        <p14:creationId xmlns:p14="http://schemas.microsoft.com/office/powerpoint/2010/main" val="23407592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8">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a:extLst>
              <a:ext uri="{FF2B5EF4-FFF2-40B4-BE49-F238E27FC236}">
                <a16:creationId xmlns:a16="http://schemas.microsoft.com/office/drawing/2014/main" id="{869ADC13-DDD0-4AC8-9A84-61BCF545F3F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51304" y="780094"/>
            <a:ext cx="4292696" cy="4035428"/>
          </a:xfrm>
          <a:prstGeom prst="rect">
            <a:avLst/>
          </a:prstGeom>
        </p:spPr>
      </p:pic>
      <p:sp>
        <p:nvSpPr>
          <p:cNvPr id="4" name="灯片编号占位符 3">
            <a:extLst>
              <a:ext uri="{FF2B5EF4-FFF2-40B4-BE49-F238E27FC236}">
                <a16:creationId xmlns:a16="http://schemas.microsoft.com/office/drawing/2014/main" id="{2125C4BD-FCFE-4EAC-AF7A-335853070390}"/>
              </a:ext>
            </a:extLst>
          </p:cNvPr>
          <p:cNvSpPr>
            <a:spLocks noGrp="1"/>
          </p:cNvSpPr>
          <p:nvPr>
            <p:ph type="sldNum" sz="quarter" idx="12"/>
          </p:nvPr>
        </p:nvSpPr>
        <p:spPr/>
        <p:txBody>
          <a:bodyPr/>
          <a:lstStyle/>
          <a:p>
            <a:fld id="{B6F15528-21DE-4FAA-801E-634DDDAF4B2B}" type="slidenum">
              <a:rPr lang="en-US" smtClean="0"/>
              <a:pPr/>
              <a:t>35</a:t>
            </a:fld>
            <a:endParaRPr lang="en-US" dirty="0"/>
          </a:p>
        </p:txBody>
      </p:sp>
      <p:sp>
        <p:nvSpPr>
          <p:cNvPr id="5" name="矩形 4">
            <a:extLst>
              <a:ext uri="{FF2B5EF4-FFF2-40B4-BE49-F238E27FC236}">
                <a16:creationId xmlns:a16="http://schemas.microsoft.com/office/drawing/2014/main" id="{642C431F-BB8F-4664-960F-A41CD8D82C89}"/>
              </a:ext>
            </a:extLst>
          </p:cNvPr>
          <p:cNvSpPr/>
          <p:nvPr/>
        </p:nvSpPr>
        <p:spPr>
          <a:xfrm>
            <a:off x="152400" y="2633513"/>
            <a:ext cx="4724400" cy="1200329"/>
          </a:xfrm>
          <a:prstGeom prst="rect">
            <a:avLst/>
          </a:prstGeom>
        </p:spPr>
        <p:txBody>
          <a:bodyPr wrap="square">
            <a:spAutoFit/>
          </a:bodyPr>
          <a:lstStyle/>
          <a:p>
            <a:pPr marL="342900" indent="-342900" algn="just">
              <a:buFont typeface="Arial" panose="020B0604020202020204" pitchFamily="34" charset="0"/>
              <a:buChar char="•"/>
            </a:pPr>
            <a:r>
              <a:rPr lang="en-US" altLang="zh-CN" sz="2400" dirty="0"/>
              <a:t>To compare classifiers, we may want to reduce ROC performance to a single scalar value.</a:t>
            </a:r>
          </a:p>
        </p:txBody>
      </p:sp>
      <p:sp>
        <p:nvSpPr>
          <p:cNvPr id="6" name="文本框 5">
            <a:extLst>
              <a:ext uri="{FF2B5EF4-FFF2-40B4-BE49-F238E27FC236}">
                <a16:creationId xmlns:a16="http://schemas.microsoft.com/office/drawing/2014/main" id="{64E116E6-DB0F-4CDE-BDD6-1EE4F81EFC5E}"/>
              </a:ext>
            </a:extLst>
          </p:cNvPr>
          <p:cNvSpPr txBox="1"/>
          <p:nvPr/>
        </p:nvSpPr>
        <p:spPr>
          <a:xfrm>
            <a:off x="158486" y="4776272"/>
            <a:ext cx="8909314" cy="1938992"/>
          </a:xfrm>
          <a:prstGeom prst="rect">
            <a:avLst/>
          </a:prstGeom>
          <a:noFill/>
        </p:spPr>
        <p:txBody>
          <a:bodyPr wrap="square" rtlCol="0">
            <a:spAutoFit/>
          </a:bodyPr>
          <a:lstStyle/>
          <a:p>
            <a:pPr marL="342900" indent="-342900">
              <a:buFont typeface="Arial" panose="020B0604020202020204" pitchFamily="34" charset="0"/>
              <a:buChar char="•"/>
            </a:pPr>
            <a:r>
              <a:rPr lang="en-US" altLang="zh-CN" sz="2400" dirty="0"/>
              <a:t>Area Under Curve (AUC)</a:t>
            </a:r>
          </a:p>
          <a:p>
            <a:pPr marL="800100" lvl="1" indent="-342900">
              <a:buFont typeface="Arial" panose="020B0604020202020204" pitchFamily="34" charset="0"/>
              <a:buChar char="•"/>
            </a:pPr>
            <a:r>
              <a:rPr lang="en-US" altLang="zh-CN" sz="2400" dirty="0"/>
              <a:t>Measurement how good the model on the average</a:t>
            </a:r>
          </a:p>
          <a:p>
            <a:pPr marL="800100" lvl="1" indent="-342900">
              <a:buFont typeface="Arial" panose="020B0604020202020204" pitchFamily="34" charset="0"/>
              <a:buChar char="•"/>
            </a:pPr>
            <a:r>
              <a:rPr lang="en-US" altLang="zh-CN" sz="2400" dirty="0"/>
              <a:t>AUC(B) &gt; AUC(A): classifier B has better average performance.</a:t>
            </a:r>
          </a:p>
          <a:p>
            <a:pPr marL="800100" lvl="1" indent="-342900">
              <a:buFont typeface="Arial" panose="020B0604020202020204" pitchFamily="34" charset="0"/>
              <a:buChar char="•"/>
            </a:pPr>
            <a:r>
              <a:rPr lang="en-US" altLang="zh-CN" sz="2400" dirty="0"/>
              <a:t>The score is a value between 0 and 1, with 1 indicating a perfect classifier.</a:t>
            </a:r>
            <a:endParaRPr lang="zh-CN" altLang="en-US" sz="2400" dirty="0"/>
          </a:p>
        </p:txBody>
      </p:sp>
      <p:sp>
        <p:nvSpPr>
          <p:cNvPr id="10" name="文本框 9">
            <a:extLst>
              <a:ext uri="{FF2B5EF4-FFF2-40B4-BE49-F238E27FC236}">
                <a16:creationId xmlns:a16="http://schemas.microsoft.com/office/drawing/2014/main" id="{F972C403-2B8D-4F49-B5DC-C429DCE4483B}"/>
              </a:ext>
            </a:extLst>
          </p:cNvPr>
          <p:cNvSpPr txBox="1"/>
          <p:nvPr/>
        </p:nvSpPr>
        <p:spPr>
          <a:xfrm>
            <a:off x="228600" y="76200"/>
            <a:ext cx="1983813" cy="754694"/>
          </a:xfrm>
          <a:prstGeom prst="rect">
            <a:avLst/>
          </a:prstGeom>
          <a:noFill/>
        </p:spPr>
        <p:txBody>
          <a:bodyPr wrap="none" rtlCol="0">
            <a:spAutoFit/>
          </a:bodyPr>
          <a:lstStyle/>
          <a:p>
            <a:pPr>
              <a:lnSpc>
                <a:spcPct val="150000"/>
              </a:lnSpc>
            </a:pPr>
            <a:r>
              <a:rPr lang="en-US" altLang="zh-CN" sz="3200" b="1" dirty="0"/>
              <a:t>ROC Curve</a:t>
            </a:r>
            <a:endParaRPr lang="en-US" sz="3200" b="1" dirty="0"/>
          </a:p>
        </p:txBody>
      </p:sp>
      <p:sp>
        <p:nvSpPr>
          <p:cNvPr id="11" name="矩形 10">
            <a:extLst>
              <a:ext uri="{FF2B5EF4-FFF2-40B4-BE49-F238E27FC236}">
                <a16:creationId xmlns:a16="http://schemas.microsoft.com/office/drawing/2014/main" id="{E92D3111-633F-48C4-8B44-1B0CAB3A0B43}"/>
              </a:ext>
            </a:extLst>
          </p:cNvPr>
          <p:cNvSpPr/>
          <p:nvPr/>
        </p:nvSpPr>
        <p:spPr>
          <a:xfrm>
            <a:off x="152400" y="1132039"/>
            <a:ext cx="4622704" cy="1200329"/>
          </a:xfrm>
          <a:prstGeom prst="rect">
            <a:avLst/>
          </a:prstGeom>
        </p:spPr>
        <p:txBody>
          <a:bodyPr wrap="square">
            <a:spAutoFit/>
          </a:bodyPr>
          <a:lstStyle/>
          <a:p>
            <a:pPr marL="342900" indent="-342900" algn="just">
              <a:buFont typeface="Arial" panose="020B0604020202020204" pitchFamily="34" charset="0"/>
              <a:buChar char="•"/>
            </a:pPr>
            <a:r>
              <a:rPr lang="en-US" altLang="zh-CN" sz="2400" dirty="0"/>
              <a:t>Plotting the ROC point </a:t>
            </a:r>
            <a:r>
              <a:rPr lang="en-US" altLang="zh-CN" sz="2400" dirty="0">
                <a:solidFill>
                  <a:srgbClr val="FF0000"/>
                </a:solidFill>
              </a:rPr>
              <a:t>for each possible threshold value</a:t>
            </a:r>
            <a:r>
              <a:rPr lang="en-US" altLang="zh-CN" sz="2400" dirty="0"/>
              <a:t> results in a curve.</a:t>
            </a:r>
            <a:endParaRPr lang="zh-CN" altLang="en-US" sz="2400" dirty="0"/>
          </a:p>
        </p:txBody>
      </p:sp>
    </p:spTree>
    <p:extLst>
      <p:ext uri="{BB962C8B-B14F-4D97-AF65-F5344CB8AC3E}">
        <p14:creationId xmlns:p14="http://schemas.microsoft.com/office/powerpoint/2010/main" val="30007581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xEl>
                                              <p:pRg st="1" end="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42D2A586-332A-48D8-8877-E88283075415}"/>
              </a:ext>
            </a:extLst>
          </p:cNvPr>
          <p:cNvSpPr>
            <a:spLocks noGrp="1"/>
          </p:cNvSpPr>
          <p:nvPr>
            <p:ph type="sldNum" sz="quarter" idx="12"/>
          </p:nvPr>
        </p:nvSpPr>
        <p:spPr/>
        <p:txBody>
          <a:bodyPr/>
          <a:lstStyle/>
          <a:p>
            <a:fld id="{B6F15528-21DE-4FAA-801E-634DDDAF4B2B}" type="slidenum">
              <a:rPr lang="en-US" smtClean="0"/>
              <a:pPr/>
              <a:t>36</a:t>
            </a:fld>
            <a:endParaRPr lang="en-US" dirty="0"/>
          </a:p>
        </p:txBody>
      </p:sp>
      <p:sp>
        <p:nvSpPr>
          <p:cNvPr id="5" name="矩形 4">
            <a:extLst>
              <a:ext uri="{FF2B5EF4-FFF2-40B4-BE49-F238E27FC236}">
                <a16:creationId xmlns:a16="http://schemas.microsoft.com/office/drawing/2014/main" id="{0FE36FE7-6BAE-4F21-B169-18287EFB1D96}"/>
              </a:ext>
            </a:extLst>
          </p:cNvPr>
          <p:cNvSpPr/>
          <p:nvPr/>
        </p:nvSpPr>
        <p:spPr>
          <a:xfrm>
            <a:off x="241300" y="914400"/>
            <a:ext cx="5930900" cy="1200329"/>
          </a:xfrm>
          <a:prstGeom prst="rect">
            <a:avLst/>
          </a:prstGeom>
        </p:spPr>
        <p:txBody>
          <a:bodyPr wrap="square">
            <a:spAutoFit/>
          </a:bodyPr>
          <a:lstStyle/>
          <a:p>
            <a:pPr algn="just"/>
            <a:r>
              <a:rPr lang="en-US" altLang="zh-CN" sz="2400" dirty="0"/>
              <a:t>A precision-recall curve (or PR Curve) is a plot of the precision (y-axis) and the recall (x-axis) for different probability </a:t>
            </a:r>
            <a:r>
              <a:rPr lang="en-US" altLang="zh-CN" sz="2400" dirty="0">
                <a:solidFill>
                  <a:srgbClr val="FF0000"/>
                </a:solidFill>
              </a:rPr>
              <a:t>thresholds</a:t>
            </a:r>
            <a:r>
              <a:rPr lang="en-US" altLang="zh-CN" sz="2400" dirty="0"/>
              <a:t>.</a:t>
            </a:r>
            <a:endParaRPr lang="zh-CN" altLang="en-US" sz="2400" dirty="0"/>
          </a:p>
        </p:txBody>
      </p:sp>
      <p:sp>
        <p:nvSpPr>
          <p:cNvPr id="6" name="文本框 5">
            <a:extLst>
              <a:ext uri="{FF2B5EF4-FFF2-40B4-BE49-F238E27FC236}">
                <a16:creationId xmlns:a16="http://schemas.microsoft.com/office/drawing/2014/main" id="{234A8866-BA1F-4822-8752-7D6A55600D48}"/>
              </a:ext>
            </a:extLst>
          </p:cNvPr>
          <p:cNvSpPr txBox="1"/>
          <p:nvPr/>
        </p:nvSpPr>
        <p:spPr>
          <a:xfrm>
            <a:off x="228600" y="76200"/>
            <a:ext cx="3851695" cy="754694"/>
          </a:xfrm>
          <a:prstGeom prst="rect">
            <a:avLst/>
          </a:prstGeom>
          <a:noFill/>
        </p:spPr>
        <p:txBody>
          <a:bodyPr wrap="none" rtlCol="0">
            <a:spAutoFit/>
          </a:bodyPr>
          <a:lstStyle/>
          <a:p>
            <a:pPr>
              <a:lnSpc>
                <a:spcPct val="150000"/>
              </a:lnSpc>
            </a:pPr>
            <a:r>
              <a:rPr lang="en-US" altLang="zh-CN" sz="3200" b="1" dirty="0"/>
              <a:t>Precision-recall Curve</a:t>
            </a:r>
            <a:endParaRPr lang="en-US" sz="3200" b="1" dirty="0"/>
          </a:p>
        </p:txBody>
      </p:sp>
      <p:pic>
        <p:nvPicPr>
          <p:cNvPr id="7" name="图片 6">
            <a:extLst>
              <a:ext uri="{FF2B5EF4-FFF2-40B4-BE49-F238E27FC236}">
                <a16:creationId xmlns:a16="http://schemas.microsoft.com/office/drawing/2014/main" id="{F0774CBB-816F-4F0D-A359-69ACEB146436}"/>
              </a:ext>
            </a:extLst>
          </p:cNvPr>
          <p:cNvPicPr>
            <a:picLocks noChangeAspect="1"/>
          </p:cNvPicPr>
          <p:nvPr/>
        </p:nvPicPr>
        <p:blipFill rotWithShape="1">
          <a:blip r:embed="rId2"/>
          <a:srcRect l="8830" t="6880" r="8303"/>
          <a:stretch/>
        </p:blipFill>
        <p:spPr>
          <a:xfrm>
            <a:off x="0" y="2743200"/>
            <a:ext cx="9067800" cy="3821112"/>
          </a:xfrm>
          <a:prstGeom prst="rect">
            <a:avLst/>
          </a:prstGeom>
        </p:spPr>
      </p:pic>
      <p:sp>
        <p:nvSpPr>
          <p:cNvPr id="9" name="矩形 8">
            <a:extLst>
              <a:ext uri="{FF2B5EF4-FFF2-40B4-BE49-F238E27FC236}">
                <a16:creationId xmlns:a16="http://schemas.microsoft.com/office/drawing/2014/main" id="{B68EF33E-D70A-4208-B8C1-B82BABD3C68A}"/>
              </a:ext>
            </a:extLst>
          </p:cNvPr>
          <p:cNvSpPr/>
          <p:nvPr/>
        </p:nvSpPr>
        <p:spPr>
          <a:xfrm>
            <a:off x="1600200" y="2317690"/>
            <a:ext cx="1139927" cy="400110"/>
          </a:xfrm>
          <a:prstGeom prst="rect">
            <a:avLst/>
          </a:prstGeom>
        </p:spPr>
        <p:txBody>
          <a:bodyPr wrap="none">
            <a:spAutoFit/>
          </a:bodyPr>
          <a:lstStyle/>
          <a:p>
            <a:r>
              <a:rPr lang="en-US" altLang="zh-CN" sz="2000" b="1" dirty="0"/>
              <a:t>PR Curve</a:t>
            </a:r>
            <a:endParaRPr lang="zh-CN" altLang="en-US" sz="2000" b="1" dirty="0"/>
          </a:p>
        </p:txBody>
      </p:sp>
      <p:sp>
        <p:nvSpPr>
          <p:cNvPr id="10" name="矩形 9">
            <a:extLst>
              <a:ext uri="{FF2B5EF4-FFF2-40B4-BE49-F238E27FC236}">
                <a16:creationId xmlns:a16="http://schemas.microsoft.com/office/drawing/2014/main" id="{A90FBA9D-6A16-4368-BC11-D219356253F7}"/>
              </a:ext>
            </a:extLst>
          </p:cNvPr>
          <p:cNvSpPr/>
          <p:nvPr/>
        </p:nvSpPr>
        <p:spPr>
          <a:xfrm>
            <a:off x="6441485" y="2317690"/>
            <a:ext cx="1310552" cy="400110"/>
          </a:xfrm>
          <a:prstGeom prst="rect">
            <a:avLst/>
          </a:prstGeom>
        </p:spPr>
        <p:txBody>
          <a:bodyPr wrap="none">
            <a:spAutoFit/>
          </a:bodyPr>
          <a:lstStyle/>
          <a:p>
            <a:r>
              <a:rPr lang="en-US" altLang="zh-CN" sz="2000" b="1" dirty="0"/>
              <a:t>ROC Curve</a:t>
            </a:r>
            <a:endParaRPr lang="zh-CN" altLang="en-US" sz="2000" b="1" dirty="0"/>
          </a:p>
        </p:txBody>
      </p:sp>
      <p:sp>
        <p:nvSpPr>
          <p:cNvPr id="13" name="矩形 12">
            <a:extLst>
              <a:ext uri="{FF2B5EF4-FFF2-40B4-BE49-F238E27FC236}">
                <a16:creationId xmlns:a16="http://schemas.microsoft.com/office/drawing/2014/main" id="{11B6ED22-0CF5-48BC-9243-995E67D99041}"/>
              </a:ext>
            </a:extLst>
          </p:cNvPr>
          <p:cNvSpPr/>
          <p:nvPr/>
        </p:nvSpPr>
        <p:spPr>
          <a:xfrm>
            <a:off x="491705" y="5593080"/>
            <a:ext cx="3623095" cy="5395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5" name="直接连接符 14">
            <a:extLst>
              <a:ext uri="{FF2B5EF4-FFF2-40B4-BE49-F238E27FC236}">
                <a16:creationId xmlns:a16="http://schemas.microsoft.com/office/drawing/2014/main" id="{79A87384-A689-4E90-A2B0-A47D56646481}"/>
              </a:ext>
            </a:extLst>
          </p:cNvPr>
          <p:cNvCxnSpPr/>
          <p:nvPr/>
        </p:nvCxnSpPr>
        <p:spPr>
          <a:xfrm>
            <a:off x="481914" y="5562600"/>
            <a:ext cx="3598381"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95F43683-1557-4FA3-9B85-96BDADC40460}"/>
                  </a:ext>
                </a:extLst>
              </p:cNvPr>
              <p:cNvSpPr/>
              <p:nvPr/>
            </p:nvSpPr>
            <p:spPr>
              <a:xfrm>
                <a:off x="6466885" y="76200"/>
                <a:ext cx="3048000" cy="1323439"/>
              </a:xfrm>
              <a:prstGeom prst="rect">
                <a:avLst/>
              </a:prstGeom>
            </p:spPr>
            <p:txBody>
              <a:bodyPr wrap="square">
                <a:spAutoFit/>
              </a:bodyPr>
              <a:lstStyle/>
              <a:p>
                <a:pPr marL="342900" indent="-342900">
                  <a:buFont typeface="Arial" panose="020B0604020202020204" pitchFamily="34" charset="0"/>
                  <a:buChar char="•"/>
                </a:pPr>
                <a:r>
                  <a:rPr lang="en-US" altLang="zh-CN" sz="2000" dirty="0">
                    <a:solidFill>
                      <a:srgbClr val="FF0000"/>
                    </a:solidFill>
                  </a:rPr>
                  <a:t>Precision</a:t>
                </a:r>
                <a:r>
                  <a:rPr lang="en-US" altLang="zh-CN" sz="2000" dirty="0"/>
                  <a:t> </a:t>
                </a:r>
              </a:p>
              <a:p>
                <a:pPr marL="800100" lvl="1" indent="-342900">
                  <a:buFont typeface="Arial" panose="020B0604020202020204" pitchFamily="34" charset="0"/>
                  <a:buChar char="•"/>
                </a:pPr>
                <a14:m>
                  <m:oMath xmlns:m="http://schemas.openxmlformats.org/officeDocument/2006/math">
                    <m:r>
                      <a:rPr lang="en-US" altLang="zh-CN" sz="2000" i="1" dirty="0">
                        <a:latin typeface="Cambria Math" panose="02040503050406030204" pitchFamily="18" charset="0"/>
                      </a:rPr>
                      <m:t>𝑇𝑃</m:t>
                    </m:r>
                    <m:r>
                      <a:rPr lang="en-US" altLang="zh-CN" sz="2000" i="1" dirty="0">
                        <a:latin typeface="Cambria Math" panose="02040503050406030204" pitchFamily="18" charset="0"/>
                      </a:rPr>
                      <m:t>/(</m:t>
                    </m:r>
                    <m:r>
                      <a:rPr lang="en-US" altLang="zh-CN" sz="2000" i="1" dirty="0">
                        <a:latin typeface="Cambria Math" panose="02040503050406030204" pitchFamily="18" charset="0"/>
                      </a:rPr>
                      <m:t>𝑇𝑃</m:t>
                    </m:r>
                    <m:r>
                      <a:rPr lang="en-US" altLang="zh-CN" sz="2000" i="1" dirty="0">
                        <a:latin typeface="Cambria Math" panose="02040503050406030204" pitchFamily="18" charset="0"/>
                      </a:rPr>
                      <m:t>+</m:t>
                    </m:r>
                    <m:r>
                      <a:rPr lang="en-US" altLang="zh-CN" sz="2000" i="1" dirty="0">
                        <a:latin typeface="Cambria Math" panose="02040503050406030204" pitchFamily="18" charset="0"/>
                      </a:rPr>
                      <m:t>𝐹𝑃</m:t>
                    </m:r>
                    <m:r>
                      <a:rPr lang="en-US" altLang="zh-CN" sz="2000" i="1" dirty="0">
                        <a:latin typeface="Cambria Math" panose="02040503050406030204" pitchFamily="18" charset="0"/>
                      </a:rPr>
                      <m:t>)</m:t>
                    </m:r>
                  </m:oMath>
                </a14:m>
                <a:endParaRPr lang="en-US" altLang="zh-CN" sz="2000" dirty="0"/>
              </a:p>
              <a:p>
                <a:pPr marL="342900" indent="-342900">
                  <a:buFont typeface="Arial" panose="020B0604020202020204" pitchFamily="34" charset="0"/>
                  <a:buChar char="•"/>
                </a:pPr>
                <a:r>
                  <a:rPr lang="en-US" altLang="zh-CN" sz="2000" dirty="0">
                    <a:solidFill>
                      <a:srgbClr val="FF0000"/>
                    </a:solidFill>
                  </a:rPr>
                  <a:t>Recall</a:t>
                </a:r>
                <a:endParaRPr lang="en-US" altLang="zh-CN" sz="2000" dirty="0"/>
              </a:p>
              <a:p>
                <a:pPr marL="800100" lvl="1" indent="-342900">
                  <a:buFont typeface="Arial" panose="020B0604020202020204" pitchFamily="34" charset="0"/>
                  <a:buChar char="•"/>
                </a:pPr>
                <a14:m>
                  <m:oMath xmlns:m="http://schemas.openxmlformats.org/officeDocument/2006/math">
                    <m:r>
                      <a:rPr lang="en-US" altLang="zh-CN" sz="2000" i="1" dirty="0">
                        <a:latin typeface="Cambria Math" panose="02040503050406030204" pitchFamily="18" charset="0"/>
                      </a:rPr>
                      <m:t>𝑇𝑃</m:t>
                    </m:r>
                    <m:r>
                      <a:rPr lang="en-US" altLang="zh-CN" sz="2000" i="1" dirty="0">
                        <a:latin typeface="Cambria Math" panose="02040503050406030204" pitchFamily="18" charset="0"/>
                      </a:rPr>
                      <m:t>/(</m:t>
                    </m:r>
                    <m:r>
                      <a:rPr lang="en-US" altLang="zh-CN" sz="2000" i="1" dirty="0">
                        <a:latin typeface="Cambria Math" panose="02040503050406030204" pitchFamily="18" charset="0"/>
                      </a:rPr>
                      <m:t>𝑇𝑃</m:t>
                    </m:r>
                    <m:r>
                      <a:rPr lang="en-US" altLang="zh-CN" sz="2000" i="1" dirty="0">
                        <a:latin typeface="Cambria Math" panose="02040503050406030204" pitchFamily="18" charset="0"/>
                      </a:rPr>
                      <m:t>+</m:t>
                    </m:r>
                    <m:r>
                      <a:rPr lang="en-US" altLang="zh-CN" sz="2000" i="1" dirty="0">
                        <a:latin typeface="Cambria Math" panose="02040503050406030204" pitchFamily="18" charset="0"/>
                      </a:rPr>
                      <m:t>𝐹𝑁</m:t>
                    </m:r>
                    <m:r>
                      <a:rPr lang="en-US" altLang="zh-CN" sz="2000" i="1" dirty="0">
                        <a:latin typeface="Cambria Math" panose="02040503050406030204" pitchFamily="18" charset="0"/>
                      </a:rPr>
                      <m:t>)</m:t>
                    </m:r>
                  </m:oMath>
                </a14:m>
                <a:endParaRPr lang="en-US" altLang="zh-CN" sz="2000" dirty="0"/>
              </a:p>
            </p:txBody>
          </p:sp>
        </mc:Choice>
        <mc:Fallback xmlns="">
          <p:sp>
            <p:nvSpPr>
              <p:cNvPr id="2" name="矩形 1">
                <a:extLst>
                  <a:ext uri="{FF2B5EF4-FFF2-40B4-BE49-F238E27FC236}">
                    <a16:creationId xmlns:a16="http://schemas.microsoft.com/office/drawing/2014/main" id="{95F43683-1557-4FA3-9B85-96BDADC40460}"/>
                  </a:ext>
                </a:extLst>
              </p:cNvPr>
              <p:cNvSpPr>
                <a:spLocks noRot="1" noChangeAspect="1" noMove="1" noResize="1" noEditPoints="1" noAdjustHandles="1" noChangeArrowheads="1" noChangeShapeType="1" noTextEdit="1"/>
              </p:cNvSpPr>
              <p:nvPr/>
            </p:nvSpPr>
            <p:spPr>
              <a:xfrm>
                <a:off x="6466885" y="76200"/>
                <a:ext cx="3048000" cy="1323439"/>
              </a:xfrm>
              <a:prstGeom prst="rect">
                <a:avLst/>
              </a:prstGeom>
              <a:blipFill>
                <a:blip r:embed="rId3"/>
                <a:stretch>
                  <a:fillRect l="-1800" t="-2765" b="-553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09368558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42D2A586-332A-48D8-8877-E88283075415}"/>
              </a:ext>
            </a:extLst>
          </p:cNvPr>
          <p:cNvSpPr>
            <a:spLocks noGrp="1"/>
          </p:cNvSpPr>
          <p:nvPr>
            <p:ph type="sldNum" sz="quarter" idx="12"/>
          </p:nvPr>
        </p:nvSpPr>
        <p:spPr/>
        <p:txBody>
          <a:bodyPr/>
          <a:lstStyle/>
          <a:p>
            <a:fld id="{B6F15528-21DE-4FAA-801E-634DDDAF4B2B}" type="slidenum">
              <a:rPr lang="en-US" smtClean="0"/>
              <a:pPr/>
              <a:t>37</a:t>
            </a:fld>
            <a:endParaRPr lang="en-US" dirty="0"/>
          </a:p>
        </p:txBody>
      </p:sp>
      <p:sp>
        <p:nvSpPr>
          <p:cNvPr id="6" name="文本框 5">
            <a:extLst>
              <a:ext uri="{FF2B5EF4-FFF2-40B4-BE49-F238E27FC236}">
                <a16:creationId xmlns:a16="http://schemas.microsoft.com/office/drawing/2014/main" id="{234A8866-BA1F-4822-8752-7D6A55600D48}"/>
              </a:ext>
            </a:extLst>
          </p:cNvPr>
          <p:cNvSpPr txBox="1"/>
          <p:nvPr/>
        </p:nvSpPr>
        <p:spPr>
          <a:xfrm>
            <a:off x="228600" y="76200"/>
            <a:ext cx="3851695" cy="754694"/>
          </a:xfrm>
          <a:prstGeom prst="rect">
            <a:avLst/>
          </a:prstGeom>
          <a:noFill/>
        </p:spPr>
        <p:txBody>
          <a:bodyPr wrap="none" rtlCol="0">
            <a:spAutoFit/>
          </a:bodyPr>
          <a:lstStyle/>
          <a:p>
            <a:pPr>
              <a:lnSpc>
                <a:spcPct val="150000"/>
              </a:lnSpc>
            </a:pPr>
            <a:r>
              <a:rPr lang="en-US" altLang="zh-CN" sz="3200" b="1" dirty="0"/>
              <a:t>Precision-recall Curve</a:t>
            </a:r>
            <a:endParaRPr lang="en-US" sz="3200" b="1" dirty="0"/>
          </a:p>
        </p:txBody>
      </p:sp>
      <p:pic>
        <p:nvPicPr>
          <p:cNvPr id="7" name="图片 6">
            <a:extLst>
              <a:ext uri="{FF2B5EF4-FFF2-40B4-BE49-F238E27FC236}">
                <a16:creationId xmlns:a16="http://schemas.microsoft.com/office/drawing/2014/main" id="{F0774CBB-816F-4F0D-A359-69ACEB146436}"/>
              </a:ext>
            </a:extLst>
          </p:cNvPr>
          <p:cNvPicPr>
            <a:picLocks noChangeAspect="1"/>
          </p:cNvPicPr>
          <p:nvPr/>
        </p:nvPicPr>
        <p:blipFill rotWithShape="1">
          <a:blip r:embed="rId2"/>
          <a:srcRect l="8830" t="6880" r="51477"/>
          <a:stretch/>
        </p:blipFill>
        <p:spPr>
          <a:xfrm>
            <a:off x="0" y="2743200"/>
            <a:ext cx="4343400" cy="3821112"/>
          </a:xfrm>
          <a:prstGeom prst="rect">
            <a:avLst/>
          </a:prstGeom>
        </p:spPr>
      </p:pic>
      <p:sp>
        <p:nvSpPr>
          <p:cNvPr id="9" name="矩形 8">
            <a:extLst>
              <a:ext uri="{FF2B5EF4-FFF2-40B4-BE49-F238E27FC236}">
                <a16:creationId xmlns:a16="http://schemas.microsoft.com/office/drawing/2014/main" id="{B68EF33E-D70A-4208-B8C1-B82BABD3C68A}"/>
              </a:ext>
            </a:extLst>
          </p:cNvPr>
          <p:cNvSpPr/>
          <p:nvPr/>
        </p:nvSpPr>
        <p:spPr>
          <a:xfrm>
            <a:off x="1600200" y="2317690"/>
            <a:ext cx="1139927" cy="400110"/>
          </a:xfrm>
          <a:prstGeom prst="rect">
            <a:avLst/>
          </a:prstGeom>
        </p:spPr>
        <p:txBody>
          <a:bodyPr wrap="none">
            <a:spAutoFit/>
          </a:bodyPr>
          <a:lstStyle/>
          <a:p>
            <a:r>
              <a:rPr lang="en-US" altLang="zh-CN" sz="2000" b="1" dirty="0"/>
              <a:t>PR Curve</a:t>
            </a:r>
            <a:endParaRPr lang="zh-CN" altLang="en-US" sz="2000" b="1" dirty="0"/>
          </a:p>
        </p:txBody>
      </p:sp>
      <p:sp>
        <p:nvSpPr>
          <p:cNvPr id="10" name="矩形 9">
            <a:extLst>
              <a:ext uri="{FF2B5EF4-FFF2-40B4-BE49-F238E27FC236}">
                <a16:creationId xmlns:a16="http://schemas.microsoft.com/office/drawing/2014/main" id="{A90FBA9D-6A16-4368-BC11-D219356253F7}"/>
              </a:ext>
            </a:extLst>
          </p:cNvPr>
          <p:cNvSpPr/>
          <p:nvPr/>
        </p:nvSpPr>
        <p:spPr>
          <a:xfrm>
            <a:off x="4343400" y="2717800"/>
            <a:ext cx="4648201" cy="3785652"/>
          </a:xfrm>
          <a:prstGeom prst="rect">
            <a:avLst/>
          </a:prstGeom>
        </p:spPr>
        <p:txBody>
          <a:bodyPr wrap="square">
            <a:spAutoFit/>
          </a:bodyPr>
          <a:lstStyle/>
          <a:p>
            <a:pPr algn="just"/>
            <a:r>
              <a:rPr lang="en-US" altLang="zh-CN" sz="2000" dirty="0"/>
              <a:t>Points of interests (Recall, Precision)</a:t>
            </a:r>
          </a:p>
          <a:p>
            <a:pPr marL="342900" indent="-342900" algn="just">
              <a:buFont typeface="Arial" panose="020B0604020202020204" pitchFamily="34" charset="0"/>
              <a:buChar char="•"/>
            </a:pPr>
            <a:r>
              <a:rPr lang="en-US" altLang="zh-CN" sz="2000" dirty="0"/>
              <a:t>Perfect model</a:t>
            </a:r>
          </a:p>
          <a:p>
            <a:pPr marL="800100" lvl="1" indent="-342900" algn="just">
              <a:buFont typeface="Arial" panose="020B0604020202020204" pitchFamily="34" charset="0"/>
              <a:buChar char="•"/>
            </a:pPr>
            <a:r>
              <a:rPr lang="en-US" altLang="zh-CN" sz="2000" dirty="0"/>
              <a:t>A skillful model is represented by a curve that bows towards (1,1)</a:t>
            </a:r>
          </a:p>
          <a:p>
            <a:pPr marL="342900" indent="-342900" algn="just">
              <a:buFont typeface="Arial" panose="020B0604020202020204" pitchFamily="34" charset="0"/>
              <a:buChar char="•"/>
            </a:pPr>
            <a:r>
              <a:rPr lang="en-US" altLang="zh-CN" sz="2000" dirty="0"/>
              <a:t>A no-skill classifier </a:t>
            </a:r>
          </a:p>
          <a:p>
            <a:pPr marL="800100" lvl="1" indent="-342900" algn="just">
              <a:buFont typeface="Arial" panose="020B0604020202020204" pitchFamily="34" charset="0"/>
              <a:buChar char="•"/>
            </a:pPr>
            <a:r>
              <a:rPr lang="en-US" altLang="zh-CN" sz="2000" dirty="0"/>
              <a:t>A horizontal line on the plot with a precision that is proportional to the number of positive examples in the dataset. </a:t>
            </a:r>
          </a:p>
          <a:p>
            <a:pPr marL="800100" lvl="1" indent="-342900" algn="just">
              <a:buFont typeface="Arial" panose="020B0604020202020204" pitchFamily="34" charset="0"/>
              <a:buChar char="•"/>
            </a:pPr>
            <a:r>
              <a:rPr lang="en-US" altLang="zh-CN" sz="2000" dirty="0"/>
              <a:t>For a balanced dataset, this will be 0.5.</a:t>
            </a:r>
          </a:p>
          <a:p>
            <a:pPr algn="just"/>
            <a:endParaRPr lang="zh-CN" altLang="en-US" sz="2000" dirty="0"/>
          </a:p>
        </p:txBody>
      </p:sp>
      <p:sp>
        <p:nvSpPr>
          <p:cNvPr id="13" name="矩形 12">
            <a:extLst>
              <a:ext uri="{FF2B5EF4-FFF2-40B4-BE49-F238E27FC236}">
                <a16:creationId xmlns:a16="http://schemas.microsoft.com/office/drawing/2014/main" id="{11B6ED22-0CF5-48BC-9243-995E67D99041}"/>
              </a:ext>
            </a:extLst>
          </p:cNvPr>
          <p:cNvSpPr/>
          <p:nvPr/>
        </p:nvSpPr>
        <p:spPr>
          <a:xfrm>
            <a:off x="491705" y="5593080"/>
            <a:ext cx="3623095" cy="5395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5" name="直接连接符 14">
            <a:extLst>
              <a:ext uri="{FF2B5EF4-FFF2-40B4-BE49-F238E27FC236}">
                <a16:creationId xmlns:a16="http://schemas.microsoft.com/office/drawing/2014/main" id="{79A87384-A689-4E90-A2B0-A47D56646481}"/>
              </a:ext>
            </a:extLst>
          </p:cNvPr>
          <p:cNvCxnSpPr/>
          <p:nvPr/>
        </p:nvCxnSpPr>
        <p:spPr>
          <a:xfrm>
            <a:off x="481914" y="5562600"/>
            <a:ext cx="3598381"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95F43683-1557-4FA3-9B85-96BDADC40460}"/>
                  </a:ext>
                </a:extLst>
              </p:cNvPr>
              <p:cNvSpPr/>
              <p:nvPr/>
            </p:nvSpPr>
            <p:spPr>
              <a:xfrm>
                <a:off x="5271985" y="99604"/>
                <a:ext cx="3851695" cy="830997"/>
              </a:xfrm>
              <a:prstGeom prst="rect">
                <a:avLst/>
              </a:prstGeom>
            </p:spPr>
            <p:txBody>
              <a:bodyPr wrap="square">
                <a:spAutoFit/>
              </a:bodyPr>
              <a:lstStyle/>
              <a:p>
                <a:pPr marL="342900" indent="-342900">
                  <a:buFont typeface="Arial" panose="020B0604020202020204" pitchFamily="34" charset="0"/>
                  <a:buChar char="•"/>
                </a:pPr>
                <a:r>
                  <a:rPr lang="en-US" altLang="zh-CN" sz="2400" dirty="0">
                    <a:solidFill>
                      <a:srgbClr val="FF0000"/>
                    </a:solidFill>
                  </a:rPr>
                  <a:t>Precision</a:t>
                </a:r>
                <a:r>
                  <a:rPr lang="en-US" altLang="zh-CN" sz="2400" dirty="0"/>
                  <a:t> </a:t>
                </a:r>
                <a14:m>
                  <m:oMath xmlns:m="http://schemas.openxmlformats.org/officeDocument/2006/math">
                    <m:r>
                      <a:rPr lang="en-US" altLang="zh-CN" sz="2400" b="0" i="0" dirty="0" smtClean="0">
                        <a:latin typeface="Cambria Math" panose="02040503050406030204" pitchFamily="18" charset="0"/>
                      </a:rPr>
                      <m:t> </m:t>
                    </m:r>
                    <m:r>
                      <a:rPr lang="en-US" altLang="zh-CN" sz="2400" i="1" dirty="0">
                        <a:latin typeface="Cambria Math" panose="02040503050406030204" pitchFamily="18" charset="0"/>
                      </a:rPr>
                      <m:t>𝑇𝑃</m:t>
                    </m:r>
                    <m:r>
                      <a:rPr lang="en-US" altLang="zh-CN" sz="2400" i="1" dirty="0">
                        <a:latin typeface="Cambria Math" panose="02040503050406030204" pitchFamily="18" charset="0"/>
                      </a:rPr>
                      <m:t>/(</m:t>
                    </m:r>
                    <m:r>
                      <a:rPr lang="en-US" altLang="zh-CN" sz="2400" i="1" dirty="0">
                        <a:latin typeface="Cambria Math" panose="02040503050406030204" pitchFamily="18" charset="0"/>
                      </a:rPr>
                      <m:t>𝑇𝑃</m:t>
                    </m:r>
                    <m:r>
                      <a:rPr lang="en-US" altLang="zh-CN" sz="2400" i="1" dirty="0">
                        <a:latin typeface="Cambria Math" panose="02040503050406030204" pitchFamily="18" charset="0"/>
                      </a:rPr>
                      <m:t>+</m:t>
                    </m:r>
                    <m:r>
                      <a:rPr lang="en-US" altLang="zh-CN" sz="2400" i="1" dirty="0">
                        <a:latin typeface="Cambria Math" panose="02040503050406030204" pitchFamily="18" charset="0"/>
                      </a:rPr>
                      <m:t>𝐹𝑃</m:t>
                    </m:r>
                    <m:r>
                      <a:rPr lang="en-US" altLang="zh-CN" sz="2400" i="1" dirty="0">
                        <a:latin typeface="Cambria Math" panose="02040503050406030204" pitchFamily="18" charset="0"/>
                      </a:rPr>
                      <m:t>)</m:t>
                    </m:r>
                  </m:oMath>
                </a14:m>
                <a:endParaRPr lang="en-US" altLang="zh-CN" sz="2400" dirty="0"/>
              </a:p>
              <a:p>
                <a:pPr marL="342900" indent="-342900">
                  <a:buFont typeface="Arial" panose="020B0604020202020204" pitchFamily="34" charset="0"/>
                  <a:buChar char="•"/>
                </a:pPr>
                <a:r>
                  <a:rPr lang="en-US" altLang="zh-CN" sz="2400" dirty="0">
                    <a:solidFill>
                      <a:srgbClr val="FF0000"/>
                    </a:solidFill>
                  </a:rPr>
                  <a:t>Recall</a:t>
                </a:r>
                <a14:m>
                  <m:oMath xmlns:m="http://schemas.openxmlformats.org/officeDocument/2006/math">
                    <m:r>
                      <a:rPr lang="en-US" altLang="zh-CN" sz="2400" b="0" i="0" dirty="0" smtClean="0">
                        <a:latin typeface="Cambria Math" panose="02040503050406030204" pitchFamily="18" charset="0"/>
                      </a:rPr>
                      <m:t>       </m:t>
                    </m:r>
                    <m:r>
                      <a:rPr lang="en-US" altLang="zh-CN" sz="2400" i="1" dirty="0">
                        <a:latin typeface="Cambria Math" panose="02040503050406030204" pitchFamily="18" charset="0"/>
                      </a:rPr>
                      <m:t>𝑇𝑃</m:t>
                    </m:r>
                    <m:r>
                      <a:rPr lang="en-US" altLang="zh-CN" sz="2400" i="1" dirty="0">
                        <a:latin typeface="Cambria Math" panose="02040503050406030204" pitchFamily="18" charset="0"/>
                      </a:rPr>
                      <m:t>/(</m:t>
                    </m:r>
                    <m:r>
                      <a:rPr lang="en-US" altLang="zh-CN" sz="2400" i="1" dirty="0">
                        <a:latin typeface="Cambria Math" panose="02040503050406030204" pitchFamily="18" charset="0"/>
                      </a:rPr>
                      <m:t>𝑇𝑃</m:t>
                    </m:r>
                    <m:r>
                      <a:rPr lang="en-US" altLang="zh-CN" sz="2400" i="1" dirty="0">
                        <a:latin typeface="Cambria Math" panose="02040503050406030204" pitchFamily="18" charset="0"/>
                      </a:rPr>
                      <m:t>+</m:t>
                    </m:r>
                    <m:r>
                      <a:rPr lang="en-US" altLang="zh-CN" sz="2400" i="1" dirty="0">
                        <a:latin typeface="Cambria Math" panose="02040503050406030204" pitchFamily="18" charset="0"/>
                      </a:rPr>
                      <m:t>𝐹𝑁</m:t>
                    </m:r>
                    <m:r>
                      <a:rPr lang="en-US" altLang="zh-CN" sz="2400" i="1" dirty="0">
                        <a:latin typeface="Cambria Math" panose="02040503050406030204" pitchFamily="18" charset="0"/>
                      </a:rPr>
                      <m:t>)</m:t>
                    </m:r>
                  </m:oMath>
                </a14:m>
                <a:endParaRPr lang="en-US" altLang="zh-CN" sz="2400" dirty="0"/>
              </a:p>
            </p:txBody>
          </p:sp>
        </mc:Choice>
        <mc:Fallback xmlns="">
          <p:sp>
            <p:nvSpPr>
              <p:cNvPr id="2" name="矩形 1">
                <a:extLst>
                  <a:ext uri="{FF2B5EF4-FFF2-40B4-BE49-F238E27FC236}">
                    <a16:creationId xmlns:a16="http://schemas.microsoft.com/office/drawing/2014/main" id="{95F43683-1557-4FA3-9B85-96BDADC40460}"/>
                  </a:ext>
                </a:extLst>
              </p:cNvPr>
              <p:cNvSpPr>
                <a:spLocks noRot="1" noChangeAspect="1" noMove="1" noResize="1" noEditPoints="1" noAdjustHandles="1" noChangeArrowheads="1" noChangeShapeType="1" noTextEdit="1"/>
              </p:cNvSpPr>
              <p:nvPr/>
            </p:nvSpPr>
            <p:spPr>
              <a:xfrm>
                <a:off x="5271985" y="99604"/>
                <a:ext cx="3851695" cy="830997"/>
              </a:xfrm>
              <a:prstGeom prst="rect">
                <a:avLst/>
              </a:prstGeom>
              <a:blipFill>
                <a:blip r:embed="rId3"/>
                <a:stretch>
                  <a:fillRect l="-2215" t="-5839" b="-15328"/>
                </a:stretch>
              </a:blipFill>
            </p:spPr>
            <p:txBody>
              <a:bodyPr/>
              <a:lstStyle/>
              <a:p>
                <a:r>
                  <a:rPr lang="zh-CN" altLang="en-US">
                    <a:noFill/>
                  </a:rPr>
                  <a:t> </a:t>
                </a:r>
              </a:p>
            </p:txBody>
          </p:sp>
        </mc:Fallback>
      </mc:AlternateContent>
      <p:sp>
        <p:nvSpPr>
          <p:cNvPr id="11" name="矩形 10">
            <a:extLst>
              <a:ext uri="{FF2B5EF4-FFF2-40B4-BE49-F238E27FC236}">
                <a16:creationId xmlns:a16="http://schemas.microsoft.com/office/drawing/2014/main" id="{DD89E418-4C44-458D-AAA8-D7B5B9477001}"/>
              </a:ext>
            </a:extLst>
          </p:cNvPr>
          <p:cNvSpPr/>
          <p:nvPr/>
        </p:nvSpPr>
        <p:spPr>
          <a:xfrm>
            <a:off x="6216895" y="3039348"/>
            <a:ext cx="785793" cy="369332"/>
          </a:xfrm>
          <a:prstGeom prst="rect">
            <a:avLst/>
          </a:prstGeom>
        </p:spPr>
        <p:txBody>
          <a:bodyPr wrap="none">
            <a:spAutoFit/>
          </a:bodyPr>
          <a:lstStyle/>
          <a:p>
            <a:r>
              <a:rPr lang="en-US" altLang="zh-CN" dirty="0"/>
              <a:t>: (1,1) </a:t>
            </a:r>
            <a:endParaRPr lang="zh-CN" altLang="en-US" dirty="0"/>
          </a:p>
        </p:txBody>
      </p:sp>
      <mc:AlternateContent xmlns:mc="http://schemas.openxmlformats.org/markup-compatibility/2006" xmlns:a14="http://schemas.microsoft.com/office/drawing/2010/main">
        <mc:Choice Requires="a14">
          <p:sp>
            <p:nvSpPr>
              <p:cNvPr id="3" name="矩形 2">
                <a:extLst>
                  <a:ext uri="{FF2B5EF4-FFF2-40B4-BE49-F238E27FC236}">
                    <a16:creationId xmlns:a16="http://schemas.microsoft.com/office/drawing/2014/main" id="{AD7FD79B-3C9A-44CE-B9BE-C0B796A884C4}"/>
                  </a:ext>
                </a:extLst>
              </p:cNvPr>
              <p:cNvSpPr/>
              <p:nvPr/>
            </p:nvSpPr>
            <p:spPr>
              <a:xfrm>
                <a:off x="-381000" y="991569"/>
                <a:ext cx="9667285" cy="966290"/>
              </a:xfrm>
              <a:prstGeom prst="rect">
                <a:avLst/>
              </a:prstGeom>
            </p:spPr>
            <p:txBody>
              <a:bodyPr wrap="square">
                <a:spAutoFit/>
              </a:bodyPr>
              <a:lstStyle/>
              <a:p>
                <a:pPr marL="800100" lvl="1" indent="-342900">
                  <a:buFont typeface="Arial" panose="020B0604020202020204" pitchFamily="34" charset="0"/>
                  <a:buChar char="•"/>
                </a:pPr>
                <a14:m>
                  <m:oMath xmlns:m="http://schemas.openxmlformats.org/officeDocument/2006/math">
                    <m:f>
                      <m:fPr>
                        <m:ctrlPr>
                          <a:rPr lang="en-US" altLang="zh-CN" sz="2000" i="1" dirty="0" smtClean="0">
                            <a:latin typeface="Cambria Math" panose="02040503050406030204" pitchFamily="18" charset="0"/>
                          </a:rPr>
                        </m:ctrlPr>
                      </m:fPr>
                      <m:num>
                        <m:r>
                          <a:rPr lang="en-US" altLang="zh-CN" sz="2000" i="1" dirty="0">
                            <a:latin typeface="Cambria Math" panose="02040503050406030204" pitchFamily="18" charset="0"/>
                          </a:rPr>
                          <m:t>𝑇𝑃</m:t>
                        </m:r>
                      </m:num>
                      <m:den>
                        <m:r>
                          <a:rPr lang="en-US" altLang="zh-CN" sz="2000" i="1" dirty="0">
                            <a:latin typeface="Cambria Math" panose="02040503050406030204" pitchFamily="18" charset="0"/>
                          </a:rPr>
                          <m:t>𝑇𝑃</m:t>
                        </m:r>
                        <m:r>
                          <a:rPr lang="en-US" altLang="zh-CN" sz="2000" i="1" dirty="0">
                            <a:latin typeface="Cambria Math" panose="02040503050406030204" pitchFamily="18" charset="0"/>
                          </a:rPr>
                          <m:t>+</m:t>
                        </m:r>
                        <m:r>
                          <a:rPr lang="en-US" altLang="zh-CN" sz="2000" i="1" dirty="0">
                            <a:latin typeface="Cambria Math" panose="02040503050406030204" pitchFamily="18" charset="0"/>
                          </a:rPr>
                          <m:t>𝐹𝑃</m:t>
                        </m:r>
                      </m:den>
                    </m:f>
                  </m:oMath>
                </a14:m>
                <a:r>
                  <a:rPr lang="en-US" altLang="zh-CN" sz="2000" dirty="0"/>
                  <a:t>(P): The proportion of samples that are </a:t>
                </a:r>
                <a:r>
                  <a:rPr lang="en-US" altLang="zh-CN" sz="2000" dirty="0">
                    <a:solidFill>
                      <a:srgbClr val="FF0000"/>
                    </a:solidFill>
                  </a:rPr>
                  <a:t>predicted</a:t>
                </a:r>
                <a:r>
                  <a:rPr lang="en-US" altLang="zh-CN" sz="2000" dirty="0"/>
                  <a:t> with “1” </a:t>
                </a:r>
                <a:r>
                  <a:rPr lang="en-US" altLang="zh-CN" sz="2000" dirty="0">
                    <a:solidFill>
                      <a:srgbClr val="FF0000"/>
                    </a:solidFill>
                  </a:rPr>
                  <a:t>are labeled </a:t>
                </a:r>
                <a:r>
                  <a:rPr lang="en-US" altLang="zh-CN" sz="2000" dirty="0"/>
                  <a:t>by “1”.</a:t>
                </a:r>
              </a:p>
              <a:p>
                <a:pPr marL="800100" lvl="1" indent="-342900">
                  <a:buFont typeface="Arial" panose="020B0604020202020204" pitchFamily="34" charset="0"/>
                  <a:buChar char="•"/>
                </a:pPr>
                <a14:m>
                  <m:oMath xmlns:m="http://schemas.openxmlformats.org/officeDocument/2006/math">
                    <m:f>
                      <m:fPr>
                        <m:ctrlPr>
                          <a:rPr lang="en-US" altLang="zh-CN" sz="2000" i="1" dirty="0">
                            <a:latin typeface="Cambria Math" panose="02040503050406030204" pitchFamily="18" charset="0"/>
                          </a:rPr>
                        </m:ctrlPr>
                      </m:fPr>
                      <m:num>
                        <m:r>
                          <a:rPr lang="en-US" altLang="zh-CN" sz="2000" i="1" dirty="0">
                            <a:latin typeface="Cambria Math" panose="02040503050406030204" pitchFamily="18" charset="0"/>
                          </a:rPr>
                          <m:t>𝑇𝑃</m:t>
                        </m:r>
                      </m:num>
                      <m:den>
                        <m:r>
                          <a:rPr lang="en-US" altLang="zh-CN" sz="2000" i="1" dirty="0">
                            <a:latin typeface="Cambria Math" panose="02040503050406030204" pitchFamily="18" charset="0"/>
                          </a:rPr>
                          <m:t>𝑇𝑃</m:t>
                        </m:r>
                        <m:r>
                          <a:rPr lang="en-US" altLang="zh-CN" sz="2000" i="1" dirty="0">
                            <a:latin typeface="Cambria Math" panose="02040503050406030204" pitchFamily="18" charset="0"/>
                          </a:rPr>
                          <m:t>+</m:t>
                        </m:r>
                        <m:r>
                          <a:rPr lang="en-US" altLang="zh-CN" sz="2000" i="1" dirty="0">
                            <a:latin typeface="Cambria Math" panose="02040503050406030204" pitchFamily="18" charset="0"/>
                          </a:rPr>
                          <m:t>𝐹𝑁</m:t>
                        </m:r>
                      </m:den>
                    </m:f>
                  </m:oMath>
                </a14:m>
                <a:r>
                  <a:rPr lang="en-US" altLang="zh-CN" sz="2000" dirty="0"/>
                  <a:t>(R): The proportion of samples that are </a:t>
                </a:r>
                <a:r>
                  <a:rPr lang="en-US" altLang="zh-CN" sz="2000" dirty="0">
                    <a:solidFill>
                      <a:srgbClr val="FF0000"/>
                    </a:solidFill>
                  </a:rPr>
                  <a:t>labeled</a:t>
                </a:r>
                <a:r>
                  <a:rPr lang="en-US" altLang="zh-CN" sz="2000" dirty="0"/>
                  <a:t> by “1” </a:t>
                </a:r>
                <a:r>
                  <a:rPr lang="en-US" altLang="zh-CN" sz="2000" dirty="0">
                    <a:solidFill>
                      <a:srgbClr val="FF0000"/>
                    </a:solidFill>
                  </a:rPr>
                  <a:t>are predicted </a:t>
                </a:r>
                <a:r>
                  <a:rPr lang="en-US" altLang="zh-CN" sz="2000" dirty="0"/>
                  <a:t>with “1”.</a:t>
                </a:r>
              </a:p>
            </p:txBody>
          </p:sp>
        </mc:Choice>
        <mc:Fallback xmlns="">
          <p:sp>
            <p:nvSpPr>
              <p:cNvPr id="3" name="矩形 2">
                <a:extLst>
                  <a:ext uri="{FF2B5EF4-FFF2-40B4-BE49-F238E27FC236}">
                    <a16:creationId xmlns:a16="http://schemas.microsoft.com/office/drawing/2014/main" id="{AD7FD79B-3C9A-44CE-B9BE-C0B796A884C4}"/>
                  </a:ext>
                </a:extLst>
              </p:cNvPr>
              <p:cNvSpPr>
                <a:spLocks noRot="1" noChangeAspect="1" noMove="1" noResize="1" noEditPoints="1" noAdjustHandles="1" noChangeArrowheads="1" noChangeShapeType="1" noTextEdit="1"/>
              </p:cNvSpPr>
              <p:nvPr/>
            </p:nvSpPr>
            <p:spPr>
              <a:xfrm>
                <a:off x="-381000" y="991569"/>
                <a:ext cx="9667285" cy="966290"/>
              </a:xfrm>
              <a:prstGeom prst="rect">
                <a:avLst/>
              </a:prstGeom>
              <a:blipFill>
                <a:blip r:embed="rId4"/>
                <a:stretch>
                  <a:fillRect b="-443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4399119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圆角 8">
            <a:extLst>
              <a:ext uri="{FF2B5EF4-FFF2-40B4-BE49-F238E27FC236}">
                <a16:creationId xmlns:a16="http://schemas.microsoft.com/office/drawing/2014/main" id="{6F09C6F8-8103-4D12-A707-EF2C61F6CFE0}"/>
              </a:ext>
            </a:extLst>
          </p:cNvPr>
          <p:cNvSpPr/>
          <p:nvPr/>
        </p:nvSpPr>
        <p:spPr>
          <a:xfrm>
            <a:off x="304799" y="3276600"/>
            <a:ext cx="8456141" cy="3243838"/>
          </a:xfrm>
          <a:prstGeom prst="roundRect">
            <a:avLst>
              <a:gd name="adj" fmla="val 3573"/>
            </a:avLst>
          </a:prstGeom>
          <a:solidFill>
            <a:srgbClr val="E6F5F0"/>
          </a:solidFill>
          <a:ln>
            <a:solidFill>
              <a:srgbClr val="FFFBD6"/>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800" dirty="0">
              <a:solidFill>
                <a:schemeClr val="tx1"/>
              </a:solidFill>
            </a:endParaRPr>
          </a:p>
        </p:txBody>
      </p:sp>
      <p:sp>
        <p:nvSpPr>
          <p:cNvPr id="8" name="矩形: 圆角 7">
            <a:extLst>
              <a:ext uri="{FF2B5EF4-FFF2-40B4-BE49-F238E27FC236}">
                <a16:creationId xmlns:a16="http://schemas.microsoft.com/office/drawing/2014/main" id="{84CF5F28-71F2-45F7-B4DF-485A8E35F387}"/>
              </a:ext>
            </a:extLst>
          </p:cNvPr>
          <p:cNvSpPr/>
          <p:nvPr/>
        </p:nvSpPr>
        <p:spPr>
          <a:xfrm>
            <a:off x="304800" y="1143000"/>
            <a:ext cx="8456141" cy="1752600"/>
          </a:xfrm>
          <a:prstGeom prst="roundRect">
            <a:avLst>
              <a:gd name="adj" fmla="val 3573"/>
            </a:avLst>
          </a:prstGeom>
          <a:solidFill>
            <a:srgbClr val="FFFBD6"/>
          </a:solidFill>
          <a:ln>
            <a:solidFill>
              <a:srgbClr val="FFFBD6"/>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800" dirty="0">
              <a:solidFill>
                <a:schemeClr val="tx1"/>
              </a:solidFill>
            </a:endParaRPr>
          </a:p>
        </p:txBody>
      </p:sp>
      <p:sp>
        <p:nvSpPr>
          <p:cNvPr id="4" name="灯片编号占位符 3">
            <a:extLst>
              <a:ext uri="{FF2B5EF4-FFF2-40B4-BE49-F238E27FC236}">
                <a16:creationId xmlns:a16="http://schemas.microsoft.com/office/drawing/2014/main" id="{791CB215-43D7-4B34-A820-D9304651CE26}"/>
              </a:ext>
            </a:extLst>
          </p:cNvPr>
          <p:cNvSpPr>
            <a:spLocks noGrp="1"/>
          </p:cNvSpPr>
          <p:nvPr>
            <p:ph type="sldNum" sz="quarter" idx="12"/>
          </p:nvPr>
        </p:nvSpPr>
        <p:spPr/>
        <p:txBody>
          <a:bodyPr/>
          <a:lstStyle/>
          <a:p>
            <a:fld id="{B6F15528-21DE-4FAA-801E-634DDDAF4B2B}" type="slidenum">
              <a:rPr lang="en-US" smtClean="0"/>
              <a:pPr/>
              <a:t>38</a:t>
            </a:fld>
            <a:endParaRPr lang="en-US" dirty="0"/>
          </a:p>
        </p:txBody>
      </p:sp>
      <p:sp>
        <p:nvSpPr>
          <p:cNvPr id="5" name="矩形 4">
            <a:extLst>
              <a:ext uri="{FF2B5EF4-FFF2-40B4-BE49-F238E27FC236}">
                <a16:creationId xmlns:a16="http://schemas.microsoft.com/office/drawing/2014/main" id="{F6D8F094-2243-4140-9A3E-FA12E4B68819}"/>
              </a:ext>
            </a:extLst>
          </p:cNvPr>
          <p:cNvSpPr/>
          <p:nvPr/>
        </p:nvSpPr>
        <p:spPr>
          <a:xfrm>
            <a:off x="266700" y="1143000"/>
            <a:ext cx="8572500" cy="1569660"/>
          </a:xfrm>
          <a:prstGeom prst="rect">
            <a:avLst/>
          </a:prstGeom>
        </p:spPr>
        <p:txBody>
          <a:bodyPr wrap="square">
            <a:spAutoFit/>
          </a:bodyPr>
          <a:lstStyle/>
          <a:p>
            <a:pPr marL="342900" indent="-342900" algn="just">
              <a:buFont typeface="Arial" panose="020B0604020202020204" pitchFamily="34" charset="0"/>
              <a:buChar char="•"/>
            </a:pPr>
            <a:r>
              <a:rPr lang="en-US" altLang="zh-CN" sz="2400" dirty="0"/>
              <a:t>PR curve is particularly useful in Information Retrieval domain.</a:t>
            </a:r>
          </a:p>
          <a:p>
            <a:pPr marL="342900" indent="-342900" algn="just">
              <a:buFont typeface="Arial" panose="020B0604020202020204" pitchFamily="34" charset="0"/>
              <a:buChar char="•"/>
            </a:pPr>
            <a:endParaRPr lang="en-US" altLang="zh-CN" sz="2400" dirty="0"/>
          </a:p>
          <a:p>
            <a:pPr marL="342900" indent="-342900" algn="just">
              <a:buFont typeface="Arial" panose="020B0604020202020204" pitchFamily="34" charset="0"/>
              <a:buChar char="•"/>
            </a:pPr>
            <a:r>
              <a:rPr lang="en-US" altLang="zh-CN" sz="2400" dirty="0"/>
              <a:t>Information Retrieval involves searching a pool of documents to find ones which are relevant to a particular user query. </a:t>
            </a:r>
          </a:p>
        </p:txBody>
      </p:sp>
      <p:sp>
        <p:nvSpPr>
          <p:cNvPr id="6" name="文本框 5">
            <a:extLst>
              <a:ext uri="{FF2B5EF4-FFF2-40B4-BE49-F238E27FC236}">
                <a16:creationId xmlns:a16="http://schemas.microsoft.com/office/drawing/2014/main" id="{75DB686A-7D60-4AE1-A106-D6EC439BA163}"/>
              </a:ext>
            </a:extLst>
          </p:cNvPr>
          <p:cNvSpPr txBox="1"/>
          <p:nvPr/>
        </p:nvSpPr>
        <p:spPr>
          <a:xfrm>
            <a:off x="228600" y="76200"/>
            <a:ext cx="3851695" cy="754694"/>
          </a:xfrm>
          <a:prstGeom prst="rect">
            <a:avLst/>
          </a:prstGeom>
          <a:noFill/>
        </p:spPr>
        <p:txBody>
          <a:bodyPr wrap="none" rtlCol="0">
            <a:spAutoFit/>
          </a:bodyPr>
          <a:lstStyle/>
          <a:p>
            <a:pPr>
              <a:lnSpc>
                <a:spcPct val="150000"/>
              </a:lnSpc>
            </a:pPr>
            <a:r>
              <a:rPr lang="en-US" altLang="zh-CN" sz="3200" b="1" dirty="0"/>
              <a:t>Precision-recall Curve</a:t>
            </a:r>
            <a:endParaRPr lang="en-US" sz="3200" b="1" dirty="0"/>
          </a:p>
        </p:txBody>
      </p:sp>
      <p:sp>
        <p:nvSpPr>
          <p:cNvPr id="2" name="矩形 1">
            <a:extLst>
              <a:ext uri="{FF2B5EF4-FFF2-40B4-BE49-F238E27FC236}">
                <a16:creationId xmlns:a16="http://schemas.microsoft.com/office/drawing/2014/main" id="{728622C1-2F5B-41FF-9F7C-C842A303AD8A}"/>
              </a:ext>
            </a:extLst>
          </p:cNvPr>
          <p:cNvSpPr/>
          <p:nvPr/>
        </p:nvSpPr>
        <p:spPr>
          <a:xfrm>
            <a:off x="304799" y="3309362"/>
            <a:ext cx="8456141" cy="3046988"/>
          </a:xfrm>
          <a:prstGeom prst="rect">
            <a:avLst/>
          </a:prstGeom>
        </p:spPr>
        <p:txBody>
          <a:bodyPr wrap="square">
            <a:spAutoFit/>
          </a:bodyPr>
          <a:lstStyle/>
          <a:p>
            <a:pPr marL="342900" indent="-342900" algn="just">
              <a:buFont typeface="Arial" panose="020B0604020202020204" pitchFamily="34" charset="0"/>
              <a:buChar char="•"/>
            </a:pPr>
            <a:r>
              <a:rPr lang="en-US" altLang="zh-CN" sz="2400" dirty="0"/>
              <a:t>For instance, assume that the user enters a search query “Pink Elephants”. </a:t>
            </a:r>
          </a:p>
          <a:p>
            <a:pPr marL="342900" indent="-342900" algn="just">
              <a:buFont typeface="Arial" panose="020B0604020202020204" pitchFamily="34" charset="0"/>
              <a:buChar char="•"/>
            </a:pPr>
            <a:r>
              <a:rPr lang="en-US" altLang="zh-CN" sz="2400" dirty="0"/>
              <a:t>The search engine skims through millions of documents (using some optimized algorithms) to retrieve a handful of relevant documents. </a:t>
            </a:r>
          </a:p>
          <a:p>
            <a:pPr marL="342900" indent="-342900" algn="just">
              <a:buFont typeface="Arial" panose="020B0604020202020204" pitchFamily="34" charset="0"/>
              <a:buChar char="•"/>
            </a:pPr>
            <a:r>
              <a:rPr lang="en-US" altLang="zh-CN" sz="2400" dirty="0"/>
              <a:t>In</a:t>
            </a:r>
            <a:r>
              <a:rPr lang="zh-CN" altLang="en-US" sz="2400" dirty="0"/>
              <a:t> </a:t>
            </a:r>
            <a:r>
              <a:rPr lang="en-US" altLang="zh-CN" sz="2400" dirty="0"/>
              <a:t>a</a:t>
            </a:r>
            <a:r>
              <a:rPr lang="zh-CN" altLang="en-US" sz="2400" dirty="0"/>
              <a:t> </a:t>
            </a:r>
            <a:r>
              <a:rPr lang="en-US" altLang="zh-CN" sz="2400" dirty="0"/>
              <a:t>sense, we can safely assume that the </a:t>
            </a:r>
            <a:r>
              <a:rPr lang="en-US" altLang="zh-CN" sz="2400" dirty="0">
                <a:solidFill>
                  <a:srgbClr val="FF0000"/>
                </a:solidFill>
              </a:rPr>
              <a:t>#relevant documents </a:t>
            </a:r>
            <a:r>
              <a:rPr lang="en-US" altLang="zh-CN" sz="2400" dirty="0"/>
              <a:t>will be very </a:t>
            </a:r>
            <a:r>
              <a:rPr lang="en-US" altLang="zh-CN" sz="2400" dirty="0">
                <a:solidFill>
                  <a:srgbClr val="FF0000"/>
                </a:solidFill>
              </a:rPr>
              <a:t>less</a:t>
            </a:r>
            <a:r>
              <a:rPr lang="en-US" altLang="zh-CN" sz="2400" dirty="0"/>
              <a:t> compared to the </a:t>
            </a:r>
            <a:r>
              <a:rPr lang="en-US" altLang="zh-CN" sz="2400" dirty="0">
                <a:solidFill>
                  <a:srgbClr val="FF0000"/>
                </a:solidFill>
              </a:rPr>
              <a:t>#non-relevant documents</a:t>
            </a:r>
            <a:r>
              <a:rPr lang="en-US" altLang="zh-CN" sz="2400" dirty="0"/>
              <a:t>. (relevant: minority; non-relevant: majority)</a:t>
            </a:r>
            <a:endParaRPr lang="zh-CN" altLang="en-US" sz="2400" dirty="0"/>
          </a:p>
        </p:txBody>
      </p:sp>
    </p:spTree>
    <p:extLst>
      <p:ext uri="{BB962C8B-B14F-4D97-AF65-F5344CB8AC3E}">
        <p14:creationId xmlns:p14="http://schemas.microsoft.com/office/powerpoint/2010/main" val="11092709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2"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圆角 8">
            <a:extLst>
              <a:ext uri="{FF2B5EF4-FFF2-40B4-BE49-F238E27FC236}">
                <a16:creationId xmlns:a16="http://schemas.microsoft.com/office/drawing/2014/main" id="{A032AC86-37AD-4028-9AD1-E655A19239B6}"/>
              </a:ext>
            </a:extLst>
          </p:cNvPr>
          <p:cNvSpPr/>
          <p:nvPr/>
        </p:nvSpPr>
        <p:spPr>
          <a:xfrm>
            <a:off x="314958" y="856294"/>
            <a:ext cx="8456141" cy="1981629"/>
          </a:xfrm>
          <a:prstGeom prst="roundRect">
            <a:avLst>
              <a:gd name="adj" fmla="val 3573"/>
            </a:avLst>
          </a:prstGeom>
          <a:solidFill>
            <a:srgbClr val="FFFBD6"/>
          </a:solidFill>
          <a:ln>
            <a:solidFill>
              <a:srgbClr val="FFFBD6"/>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800" dirty="0">
              <a:solidFill>
                <a:schemeClr val="tx1"/>
              </a:solidFill>
            </a:endParaRPr>
          </a:p>
        </p:txBody>
      </p:sp>
      <p:sp>
        <p:nvSpPr>
          <p:cNvPr id="8" name="矩形: 圆角 7">
            <a:extLst>
              <a:ext uri="{FF2B5EF4-FFF2-40B4-BE49-F238E27FC236}">
                <a16:creationId xmlns:a16="http://schemas.microsoft.com/office/drawing/2014/main" id="{44B003B7-C3F3-45B2-8728-E9BC859F1F2A}"/>
              </a:ext>
            </a:extLst>
          </p:cNvPr>
          <p:cNvSpPr/>
          <p:nvPr/>
        </p:nvSpPr>
        <p:spPr>
          <a:xfrm>
            <a:off x="314957" y="3125211"/>
            <a:ext cx="8456141" cy="2132589"/>
          </a:xfrm>
          <a:prstGeom prst="roundRect">
            <a:avLst>
              <a:gd name="adj" fmla="val 3573"/>
            </a:avLst>
          </a:prstGeom>
          <a:solidFill>
            <a:srgbClr val="E6F5F0"/>
          </a:solidFill>
          <a:ln>
            <a:solidFill>
              <a:srgbClr val="FFFBD6"/>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800" dirty="0">
              <a:solidFill>
                <a:schemeClr val="tx1"/>
              </a:solidFill>
            </a:endParaRPr>
          </a:p>
        </p:txBody>
      </p:sp>
      <p:sp>
        <p:nvSpPr>
          <p:cNvPr id="4" name="灯片编号占位符 3">
            <a:extLst>
              <a:ext uri="{FF2B5EF4-FFF2-40B4-BE49-F238E27FC236}">
                <a16:creationId xmlns:a16="http://schemas.microsoft.com/office/drawing/2014/main" id="{AA21BA45-7398-42A5-B889-088B22615C88}"/>
              </a:ext>
            </a:extLst>
          </p:cNvPr>
          <p:cNvSpPr>
            <a:spLocks noGrp="1"/>
          </p:cNvSpPr>
          <p:nvPr>
            <p:ph type="sldNum" sz="quarter" idx="12"/>
          </p:nvPr>
        </p:nvSpPr>
        <p:spPr/>
        <p:txBody>
          <a:bodyPr/>
          <a:lstStyle/>
          <a:p>
            <a:fld id="{B6F15528-21DE-4FAA-801E-634DDDAF4B2B}" type="slidenum">
              <a:rPr lang="en-US" smtClean="0"/>
              <a:pPr/>
              <a:t>39</a:t>
            </a:fld>
            <a:endParaRPr lang="en-US" dirty="0"/>
          </a:p>
        </p:txBody>
      </p:sp>
      <p:sp>
        <p:nvSpPr>
          <p:cNvPr id="5" name="矩形 4">
            <a:extLst>
              <a:ext uri="{FF2B5EF4-FFF2-40B4-BE49-F238E27FC236}">
                <a16:creationId xmlns:a16="http://schemas.microsoft.com/office/drawing/2014/main" id="{56394ED7-8C0B-41A7-BEB9-F3E2D91EC200}"/>
              </a:ext>
            </a:extLst>
          </p:cNvPr>
          <p:cNvSpPr/>
          <p:nvPr/>
        </p:nvSpPr>
        <p:spPr>
          <a:xfrm>
            <a:off x="370842" y="898931"/>
            <a:ext cx="8458200" cy="1938992"/>
          </a:xfrm>
          <a:prstGeom prst="rect">
            <a:avLst/>
          </a:prstGeom>
        </p:spPr>
        <p:txBody>
          <a:bodyPr wrap="square">
            <a:spAutoFit/>
          </a:bodyPr>
          <a:lstStyle/>
          <a:p>
            <a:pPr algn="just"/>
            <a:r>
              <a:rPr lang="en-US" altLang="zh-CN" sz="2400" dirty="0"/>
              <a:t>In this scenario,</a:t>
            </a:r>
          </a:p>
          <a:p>
            <a:pPr marL="342900" indent="-342900" algn="just">
              <a:buFont typeface="Arial" panose="020B0604020202020204" pitchFamily="34" charset="0"/>
              <a:buChar char="•"/>
            </a:pPr>
            <a:r>
              <a:rPr lang="en-US" altLang="zh-CN" sz="2400" dirty="0"/>
              <a:t>TP = #</a:t>
            </a:r>
            <a:r>
              <a:rPr lang="en-US" altLang="zh-CN" sz="2400" dirty="0">
                <a:solidFill>
                  <a:srgbClr val="FF0000"/>
                </a:solidFill>
              </a:rPr>
              <a:t>retrieved</a:t>
            </a:r>
            <a:r>
              <a:rPr lang="en-US" altLang="zh-CN" sz="2400" dirty="0"/>
              <a:t> documents that are actually </a:t>
            </a:r>
            <a:r>
              <a:rPr lang="en-US" altLang="zh-CN" sz="2400" dirty="0">
                <a:solidFill>
                  <a:srgbClr val="FF0000"/>
                </a:solidFill>
              </a:rPr>
              <a:t>relevant.</a:t>
            </a:r>
            <a:endParaRPr lang="en-US" altLang="zh-CN" sz="2400" dirty="0"/>
          </a:p>
          <a:p>
            <a:pPr marL="342900" indent="-342900" algn="just">
              <a:buFont typeface="Arial" panose="020B0604020202020204" pitchFamily="34" charset="0"/>
              <a:buChar char="•"/>
            </a:pPr>
            <a:r>
              <a:rPr lang="en-US" altLang="zh-CN" sz="2400" dirty="0"/>
              <a:t>FP = #</a:t>
            </a:r>
            <a:r>
              <a:rPr lang="en-US" altLang="zh-CN" sz="2400" dirty="0">
                <a:solidFill>
                  <a:srgbClr val="FF0000"/>
                </a:solidFill>
              </a:rPr>
              <a:t>retrieved</a:t>
            </a:r>
            <a:r>
              <a:rPr lang="en-US" altLang="zh-CN" sz="2400" dirty="0"/>
              <a:t> documents that are actually </a:t>
            </a:r>
            <a:r>
              <a:rPr lang="en-US" altLang="zh-CN" sz="2400" dirty="0">
                <a:solidFill>
                  <a:srgbClr val="FF0000"/>
                </a:solidFill>
              </a:rPr>
              <a:t>non-relevant.</a:t>
            </a:r>
          </a:p>
          <a:p>
            <a:pPr marL="342900" indent="-342900" algn="just">
              <a:buFont typeface="Arial" panose="020B0604020202020204" pitchFamily="34" charset="0"/>
              <a:buChar char="•"/>
            </a:pPr>
            <a:r>
              <a:rPr lang="en-US" altLang="zh-CN" sz="2400" dirty="0"/>
              <a:t>TN = #</a:t>
            </a:r>
            <a:r>
              <a:rPr lang="en-US" altLang="zh-CN" sz="2400" dirty="0">
                <a:solidFill>
                  <a:srgbClr val="FF0000"/>
                </a:solidFill>
              </a:rPr>
              <a:t>non-retrieved</a:t>
            </a:r>
            <a:r>
              <a:rPr lang="en-US" altLang="zh-CN" sz="2400" dirty="0"/>
              <a:t> documents that are actually </a:t>
            </a:r>
            <a:r>
              <a:rPr lang="en-US" altLang="zh-CN" sz="2400" dirty="0">
                <a:solidFill>
                  <a:srgbClr val="FF0000"/>
                </a:solidFill>
              </a:rPr>
              <a:t>non-relevant</a:t>
            </a:r>
            <a:r>
              <a:rPr lang="en-US" altLang="zh-CN" sz="2400" dirty="0"/>
              <a:t>.</a:t>
            </a:r>
          </a:p>
          <a:p>
            <a:pPr marL="342900" indent="-342900" algn="just">
              <a:buFont typeface="Arial" panose="020B0604020202020204" pitchFamily="34" charset="0"/>
              <a:buChar char="•"/>
            </a:pPr>
            <a:r>
              <a:rPr lang="en-US" altLang="zh-CN" sz="2400" dirty="0"/>
              <a:t>FN = #</a:t>
            </a:r>
            <a:r>
              <a:rPr lang="en-US" altLang="zh-CN" sz="2400" dirty="0">
                <a:solidFill>
                  <a:srgbClr val="FF0000"/>
                </a:solidFill>
              </a:rPr>
              <a:t>non-retrieved</a:t>
            </a:r>
            <a:r>
              <a:rPr lang="en-US" altLang="zh-CN" sz="2400" dirty="0"/>
              <a:t> documents that are actually </a:t>
            </a:r>
            <a:r>
              <a:rPr lang="en-US" altLang="zh-CN" sz="2400" dirty="0">
                <a:solidFill>
                  <a:srgbClr val="FF0000"/>
                </a:solidFill>
              </a:rPr>
              <a:t>relevant.</a:t>
            </a:r>
            <a:endParaRPr lang="zh-CN" altLang="en-US" sz="2400" dirty="0"/>
          </a:p>
        </p:txBody>
      </p:sp>
      <p:sp>
        <p:nvSpPr>
          <p:cNvPr id="6" name="矩形 5">
            <a:extLst>
              <a:ext uri="{FF2B5EF4-FFF2-40B4-BE49-F238E27FC236}">
                <a16:creationId xmlns:a16="http://schemas.microsoft.com/office/drawing/2014/main" id="{73FD67B6-982D-4BEA-9ABC-6FB7D595B939}"/>
              </a:ext>
            </a:extLst>
          </p:cNvPr>
          <p:cNvSpPr/>
          <p:nvPr/>
        </p:nvSpPr>
        <p:spPr>
          <a:xfrm>
            <a:off x="314958" y="3217287"/>
            <a:ext cx="8458200" cy="1938992"/>
          </a:xfrm>
          <a:prstGeom prst="rect">
            <a:avLst/>
          </a:prstGeom>
        </p:spPr>
        <p:txBody>
          <a:bodyPr wrap="square">
            <a:spAutoFit/>
          </a:bodyPr>
          <a:lstStyle/>
          <a:p>
            <a:pPr marL="342900" indent="-342900" algn="just">
              <a:buFont typeface="Wingdings" panose="05000000000000000000" pitchFamily="2" charset="2"/>
              <a:buChar char="Ø"/>
            </a:pPr>
            <a:r>
              <a:rPr lang="en-US" altLang="zh-CN" sz="2400" dirty="0"/>
              <a:t>ROC curve is a plot containing </a:t>
            </a:r>
            <a:r>
              <a:rPr lang="en-US" altLang="zh-CN" sz="2400" dirty="0">
                <a:solidFill>
                  <a:srgbClr val="FF0000"/>
                </a:solidFill>
              </a:rPr>
              <a:t>Recall</a:t>
            </a:r>
            <a:r>
              <a:rPr lang="en-US" altLang="zh-CN" sz="2400" dirty="0"/>
              <a:t> = TPR = TP/(TP+FN) on the x-axis and </a:t>
            </a:r>
            <a:r>
              <a:rPr lang="en-US" altLang="zh-CN" sz="2400" dirty="0">
                <a:solidFill>
                  <a:srgbClr val="FF0000"/>
                </a:solidFill>
              </a:rPr>
              <a:t>FPR</a:t>
            </a:r>
            <a:r>
              <a:rPr lang="en-US" altLang="zh-CN" sz="2400" dirty="0"/>
              <a:t> = FP/(FP+</a:t>
            </a:r>
            <a:r>
              <a:rPr lang="en-US" altLang="zh-CN" sz="2400" dirty="0">
                <a:solidFill>
                  <a:srgbClr val="FF0000"/>
                </a:solidFill>
              </a:rPr>
              <a:t>TN</a:t>
            </a:r>
            <a:r>
              <a:rPr lang="en-US" altLang="zh-CN" sz="2400" dirty="0"/>
              <a:t>) on the y-axis. </a:t>
            </a:r>
          </a:p>
          <a:p>
            <a:pPr marL="800100" lvl="1" indent="-342900" algn="just">
              <a:buFont typeface="Wingdings" panose="05000000000000000000" pitchFamily="2" charset="2"/>
              <a:buChar char="Ø"/>
            </a:pPr>
            <a:r>
              <a:rPr lang="en-US" altLang="zh-CN" sz="2400" dirty="0"/>
              <a:t>FPR does not really help us evaluate a retrieval system well because we want to focus more on the retrieved documents, and not the non-retrieved ones.</a:t>
            </a:r>
            <a:endParaRPr lang="zh-CN" altLang="en-US" sz="2400" dirty="0"/>
          </a:p>
        </p:txBody>
      </p:sp>
      <p:sp>
        <p:nvSpPr>
          <p:cNvPr id="7" name="文本框 6">
            <a:extLst>
              <a:ext uri="{FF2B5EF4-FFF2-40B4-BE49-F238E27FC236}">
                <a16:creationId xmlns:a16="http://schemas.microsoft.com/office/drawing/2014/main" id="{426C0FA5-1795-4B18-9E3A-56EF7ACCBFA8}"/>
              </a:ext>
            </a:extLst>
          </p:cNvPr>
          <p:cNvSpPr txBox="1"/>
          <p:nvPr/>
        </p:nvSpPr>
        <p:spPr>
          <a:xfrm>
            <a:off x="228600" y="76200"/>
            <a:ext cx="3851695" cy="754694"/>
          </a:xfrm>
          <a:prstGeom prst="rect">
            <a:avLst/>
          </a:prstGeom>
          <a:noFill/>
        </p:spPr>
        <p:txBody>
          <a:bodyPr wrap="none" rtlCol="0">
            <a:spAutoFit/>
          </a:bodyPr>
          <a:lstStyle/>
          <a:p>
            <a:pPr>
              <a:lnSpc>
                <a:spcPct val="150000"/>
              </a:lnSpc>
            </a:pPr>
            <a:r>
              <a:rPr lang="en-US" altLang="zh-CN" sz="3200" b="1" dirty="0"/>
              <a:t>Precision-recall Curve</a:t>
            </a:r>
            <a:endParaRPr lang="en-US" sz="3200" b="1" dirty="0"/>
          </a:p>
        </p:txBody>
      </p:sp>
    </p:spTree>
    <p:extLst>
      <p:ext uri="{BB962C8B-B14F-4D97-AF65-F5344CB8AC3E}">
        <p14:creationId xmlns:p14="http://schemas.microsoft.com/office/powerpoint/2010/main" val="311327741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圆角 4">
            <a:extLst>
              <a:ext uri="{FF2B5EF4-FFF2-40B4-BE49-F238E27FC236}">
                <a16:creationId xmlns:a16="http://schemas.microsoft.com/office/drawing/2014/main" id="{1375B48A-E2CF-4F34-A39C-6C0DE26DBD32}"/>
              </a:ext>
            </a:extLst>
          </p:cNvPr>
          <p:cNvSpPr/>
          <p:nvPr/>
        </p:nvSpPr>
        <p:spPr>
          <a:xfrm>
            <a:off x="314958" y="3202239"/>
            <a:ext cx="8456141" cy="2799467"/>
          </a:xfrm>
          <a:prstGeom prst="roundRect">
            <a:avLst>
              <a:gd name="adj" fmla="val 3573"/>
            </a:avLst>
          </a:prstGeom>
          <a:solidFill>
            <a:srgbClr val="E6F5F0"/>
          </a:solidFill>
          <a:ln>
            <a:solidFill>
              <a:srgbClr val="FFFBD6"/>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800" dirty="0">
              <a:solidFill>
                <a:schemeClr val="tx1"/>
              </a:solidFill>
            </a:endParaRPr>
          </a:p>
        </p:txBody>
      </p:sp>
      <p:sp>
        <p:nvSpPr>
          <p:cNvPr id="4" name="灯片编号占位符 3">
            <a:extLst>
              <a:ext uri="{FF2B5EF4-FFF2-40B4-BE49-F238E27FC236}">
                <a16:creationId xmlns:a16="http://schemas.microsoft.com/office/drawing/2014/main" id="{AA21BA45-7398-42A5-B889-088B22615C88}"/>
              </a:ext>
            </a:extLst>
          </p:cNvPr>
          <p:cNvSpPr>
            <a:spLocks noGrp="1"/>
          </p:cNvSpPr>
          <p:nvPr>
            <p:ph type="sldNum" sz="quarter" idx="12"/>
          </p:nvPr>
        </p:nvSpPr>
        <p:spPr/>
        <p:txBody>
          <a:bodyPr/>
          <a:lstStyle/>
          <a:p>
            <a:fld id="{B6F15528-21DE-4FAA-801E-634DDDAF4B2B}" type="slidenum">
              <a:rPr lang="en-US" smtClean="0"/>
              <a:pPr/>
              <a:t>40</a:t>
            </a:fld>
            <a:endParaRPr lang="en-US" dirty="0"/>
          </a:p>
        </p:txBody>
      </p:sp>
      <p:sp>
        <p:nvSpPr>
          <p:cNvPr id="7" name="文本框 6">
            <a:extLst>
              <a:ext uri="{FF2B5EF4-FFF2-40B4-BE49-F238E27FC236}">
                <a16:creationId xmlns:a16="http://schemas.microsoft.com/office/drawing/2014/main" id="{426C0FA5-1795-4B18-9E3A-56EF7ACCBFA8}"/>
              </a:ext>
            </a:extLst>
          </p:cNvPr>
          <p:cNvSpPr txBox="1"/>
          <p:nvPr/>
        </p:nvSpPr>
        <p:spPr>
          <a:xfrm>
            <a:off x="228600" y="76200"/>
            <a:ext cx="3851695" cy="754694"/>
          </a:xfrm>
          <a:prstGeom prst="rect">
            <a:avLst/>
          </a:prstGeom>
          <a:noFill/>
        </p:spPr>
        <p:txBody>
          <a:bodyPr wrap="none" rtlCol="0">
            <a:spAutoFit/>
          </a:bodyPr>
          <a:lstStyle/>
          <a:p>
            <a:pPr>
              <a:lnSpc>
                <a:spcPct val="150000"/>
              </a:lnSpc>
            </a:pPr>
            <a:r>
              <a:rPr lang="en-US" altLang="zh-CN" sz="3200" b="1" dirty="0"/>
              <a:t>Precision-recall Curve</a:t>
            </a:r>
            <a:endParaRPr lang="en-US" sz="3200" b="1" dirty="0"/>
          </a:p>
        </p:txBody>
      </p:sp>
      <p:sp>
        <p:nvSpPr>
          <p:cNvPr id="2" name="矩形 1">
            <a:extLst>
              <a:ext uri="{FF2B5EF4-FFF2-40B4-BE49-F238E27FC236}">
                <a16:creationId xmlns:a16="http://schemas.microsoft.com/office/drawing/2014/main" id="{2D07B575-0EB0-435B-BD41-FAFE40DC301F}"/>
              </a:ext>
            </a:extLst>
          </p:cNvPr>
          <p:cNvSpPr/>
          <p:nvPr/>
        </p:nvSpPr>
        <p:spPr>
          <a:xfrm>
            <a:off x="325118" y="3276600"/>
            <a:ext cx="8458200" cy="2677656"/>
          </a:xfrm>
          <a:prstGeom prst="rect">
            <a:avLst/>
          </a:prstGeom>
        </p:spPr>
        <p:txBody>
          <a:bodyPr wrap="square">
            <a:spAutoFit/>
          </a:bodyPr>
          <a:lstStyle/>
          <a:p>
            <a:pPr marL="342900" indent="-342900" algn="just">
              <a:buFont typeface="Wingdings" panose="05000000000000000000" pitchFamily="2" charset="2"/>
              <a:buChar char="Ø"/>
            </a:pPr>
            <a:r>
              <a:rPr lang="en-US" altLang="zh-CN" sz="2400" dirty="0"/>
              <a:t>ROC curve is a plot containing </a:t>
            </a:r>
            <a:r>
              <a:rPr lang="en-US" altLang="zh-CN" sz="2400" dirty="0">
                <a:solidFill>
                  <a:srgbClr val="FF0000"/>
                </a:solidFill>
              </a:rPr>
              <a:t>Recall</a:t>
            </a:r>
            <a:r>
              <a:rPr lang="en-US" altLang="zh-CN" sz="2400" dirty="0"/>
              <a:t> = TPR = TP/(TP+FN) on the x-axis and </a:t>
            </a:r>
            <a:r>
              <a:rPr lang="en-US" altLang="zh-CN" sz="2400" dirty="0">
                <a:solidFill>
                  <a:srgbClr val="FF0000"/>
                </a:solidFill>
              </a:rPr>
              <a:t>FPR</a:t>
            </a:r>
            <a:r>
              <a:rPr lang="en-US" altLang="zh-CN" sz="2400" dirty="0"/>
              <a:t> = FP/(FP+</a:t>
            </a:r>
            <a:r>
              <a:rPr lang="en-US" altLang="zh-CN" sz="2400" dirty="0">
                <a:solidFill>
                  <a:srgbClr val="FF0000"/>
                </a:solidFill>
              </a:rPr>
              <a:t>TN</a:t>
            </a:r>
            <a:r>
              <a:rPr lang="en-US" altLang="zh-CN" sz="2400" dirty="0"/>
              <a:t>) on the y-axis. </a:t>
            </a:r>
          </a:p>
          <a:p>
            <a:pPr marL="800100" lvl="1" indent="-342900" algn="just">
              <a:buFont typeface="Wingdings" panose="05000000000000000000" pitchFamily="2" charset="2"/>
              <a:buChar char="Ø"/>
            </a:pPr>
            <a:r>
              <a:rPr lang="en-US" altLang="zh-CN" sz="2400" dirty="0"/>
              <a:t>PR curve helps solve this issue. PR curve has the </a:t>
            </a:r>
            <a:r>
              <a:rPr lang="en-US" altLang="zh-CN" sz="2400" dirty="0">
                <a:solidFill>
                  <a:srgbClr val="FF0000"/>
                </a:solidFill>
              </a:rPr>
              <a:t>Recall</a:t>
            </a:r>
            <a:r>
              <a:rPr lang="en-US" altLang="zh-CN" sz="2400" dirty="0"/>
              <a:t>=TP/(TP+FN) on the x-axis, and </a:t>
            </a:r>
            <a:r>
              <a:rPr lang="en-US" altLang="zh-CN" sz="2400" dirty="0">
                <a:solidFill>
                  <a:srgbClr val="FF0000"/>
                </a:solidFill>
              </a:rPr>
              <a:t>precision</a:t>
            </a:r>
            <a:r>
              <a:rPr lang="en-US" altLang="zh-CN" sz="2400" dirty="0"/>
              <a:t> = TP/(TP+FP) on the y-axis. </a:t>
            </a:r>
          </a:p>
          <a:p>
            <a:pPr marL="800100" lvl="1" indent="-342900" algn="just">
              <a:buFont typeface="Wingdings" panose="05000000000000000000" pitchFamily="2" charset="2"/>
              <a:buChar char="Ø"/>
            </a:pPr>
            <a:r>
              <a:rPr lang="en-US" altLang="zh-CN" sz="2400" dirty="0"/>
              <a:t>Precision helps highlight how relevant the retrieved results are, which is more important while judging an IR system.</a:t>
            </a:r>
          </a:p>
        </p:txBody>
      </p:sp>
      <p:sp>
        <p:nvSpPr>
          <p:cNvPr id="6" name="矩形: 圆角 5">
            <a:extLst>
              <a:ext uri="{FF2B5EF4-FFF2-40B4-BE49-F238E27FC236}">
                <a16:creationId xmlns:a16="http://schemas.microsoft.com/office/drawing/2014/main" id="{827FDD9D-957E-4756-BB03-FC5B20714580}"/>
              </a:ext>
            </a:extLst>
          </p:cNvPr>
          <p:cNvSpPr/>
          <p:nvPr/>
        </p:nvSpPr>
        <p:spPr>
          <a:xfrm>
            <a:off x="314958" y="856294"/>
            <a:ext cx="8456141" cy="1981629"/>
          </a:xfrm>
          <a:prstGeom prst="roundRect">
            <a:avLst>
              <a:gd name="adj" fmla="val 3573"/>
            </a:avLst>
          </a:prstGeom>
          <a:solidFill>
            <a:srgbClr val="FFFBD6"/>
          </a:solidFill>
          <a:ln>
            <a:solidFill>
              <a:srgbClr val="FFFBD6"/>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800" dirty="0">
              <a:solidFill>
                <a:schemeClr val="tx1"/>
              </a:solidFill>
            </a:endParaRPr>
          </a:p>
        </p:txBody>
      </p:sp>
      <p:sp>
        <p:nvSpPr>
          <p:cNvPr id="8" name="矩形 7">
            <a:extLst>
              <a:ext uri="{FF2B5EF4-FFF2-40B4-BE49-F238E27FC236}">
                <a16:creationId xmlns:a16="http://schemas.microsoft.com/office/drawing/2014/main" id="{0D0FD146-C919-4155-85F9-73A794354DEE}"/>
              </a:ext>
            </a:extLst>
          </p:cNvPr>
          <p:cNvSpPr/>
          <p:nvPr/>
        </p:nvSpPr>
        <p:spPr>
          <a:xfrm>
            <a:off x="370842" y="898931"/>
            <a:ext cx="8458200" cy="1938992"/>
          </a:xfrm>
          <a:prstGeom prst="rect">
            <a:avLst/>
          </a:prstGeom>
        </p:spPr>
        <p:txBody>
          <a:bodyPr wrap="square">
            <a:spAutoFit/>
          </a:bodyPr>
          <a:lstStyle/>
          <a:p>
            <a:pPr algn="just"/>
            <a:r>
              <a:rPr lang="en-US" altLang="zh-CN" sz="2400" dirty="0"/>
              <a:t>In this scenario,</a:t>
            </a:r>
          </a:p>
          <a:p>
            <a:pPr marL="342900" indent="-342900" algn="just">
              <a:buFont typeface="Arial" panose="020B0604020202020204" pitchFamily="34" charset="0"/>
              <a:buChar char="•"/>
            </a:pPr>
            <a:r>
              <a:rPr lang="en-US" altLang="zh-CN" sz="2400" dirty="0"/>
              <a:t>TP = #</a:t>
            </a:r>
            <a:r>
              <a:rPr lang="en-US" altLang="zh-CN" sz="2400" dirty="0">
                <a:solidFill>
                  <a:srgbClr val="FF0000"/>
                </a:solidFill>
              </a:rPr>
              <a:t>retrieved</a:t>
            </a:r>
            <a:r>
              <a:rPr lang="en-US" altLang="zh-CN" sz="2400" dirty="0"/>
              <a:t> documents that are actually </a:t>
            </a:r>
            <a:r>
              <a:rPr lang="en-US" altLang="zh-CN" sz="2400" dirty="0">
                <a:solidFill>
                  <a:srgbClr val="FF0000"/>
                </a:solidFill>
              </a:rPr>
              <a:t>relevant.</a:t>
            </a:r>
            <a:endParaRPr lang="en-US" altLang="zh-CN" sz="2400" dirty="0"/>
          </a:p>
          <a:p>
            <a:pPr marL="342900" indent="-342900" algn="just">
              <a:buFont typeface="Arial" panose="020B0604020202020204" pitchFamily="34" charset="0"/>
              <a:buChar char="•"/>
            </a:pPr>
            <a:r>
              <a:rPr lang="en-US" altLang="zh-CN" sz="2400" dirty="0"/>
              <a:t>FP = #</a:t>
            </a:r>
            <a:r>
              <a:rPr lang="en-US" altLang="zh-CN" sz="2400" dirty="0">
                <a:solidFill>
                  <a:srgbClr val="FF0000"/>
                </a:solidFill>
              </a:rPr>
              <a:t>retrieved</a:t>
            </a:r>
            <a:r>
              <a:rPr lang="en-US" altLang="zh-CN" sz="2400" dirty="0"/>
              <a:t> documents that are actually </a:t>
            </a:r>
            <a:r>
              <a:rPr lang="en-US" altLang="zh-CN" sz="2400" dirty="0">
                <a:solidFill>
                  <a:srgbClr val="FF0000"/>
                </a:solidFill>
              </a:rPr>
              <a:t>non-relevant.</a:t>
            </a:r>
          </a:p>
          <a:p>
            <a:pPr marL="342900" indent="-342900" algn="just">
              <a:buFont typeface="Arial" panose="020B0604020202020204" pitchFamily="34" charset="0"/>
              <a:buChar char="•"/>
            </a:pPr>
            <a:r>
              <a:rPr lang="en-US" altLang="zh-CN" sz="2400" dirty="0"/>
              <a:t>TN = #</a:t>
            </a:r>
            <a:r>
              <a:rPr lang="en-US" altLang="zh-CN" sz="2400" dirty="0">
                <a:solidFill>
                  <a:srgbClr val="FF0000"/>
                </a:solidFill>
              </a:rPr>
              <a:t>non-retrieved</a:t>
            </a:r>
            <a:r>
              <a:rPr lang="en-US" altLang="zh-CN" sz="2400" dirty="0"/>
              <a:t> documents that are actually </a:t>
            </a:r>
            <a:r>
              <a:rPr lang="en-US" altLang="zh-CN" sz="2400" dirty="0">
                <a:solidFill>
                  <a:srgbClr val="FF0000"/>
                </a:solidFill>
              </a:rPr>
              <a:t>non-relevant</a:t>
            </a:r>
            <a:r>
              <a:rPr lang="en-US" altLang="zh-CN" sz="2400" dirty="0"/>
              <a:t>.</a:t>
            </a:r>
          </a:p>
          <a:p>
            <a:pPr marL="342900" indent="-342900" algn="just">
              <a:buFont typeface="Arial" panose="020B0604020202020204" pitchFamily="34" charset="0"/>
              <a:buChar char="•"/>
            </a:pPr>
            <a:r>
              <a:rPr lang="en-US" altLang="zh-CN" sz="2400" dirty="0"/>
              <a:t>FN = #</a:t>
            </a:r>
            <a:r>
              <a:rPr lang="en-US" altLang="zh-CN" sz="2400" dirty="0">
                <a:solidFill>
                  <a:srgbClr val="FF0000"/>
                </a:solidFill>
              </a:rPr>
              <a:t>non-retrieved</a:t>
            </a:r>
            <a:r>
              <a:rPr lang="en-US" altLang="zh-CN" sz="2400" dirty="0"/>
              <a:t> documents that are actually </a:t>
            </a:r>
            <a:r>
              <a:rPr lang="en-US" altLang="zh-CN" sz="2400" dirty="0">
                <a:solidFill>
                  <a:srgbClr val="FF0000"/>
                </a:solidFill>
              </a:rPr>
              <a:t>relevant.</a:t>
            </a:r>
            <a:endParaRPr lang="zh-CN" altLang="en-US" sz="2400" dirty="0"/>
          </a:p>
        </p:txBody>
      </p:sp>
    </p:spTree>
    <p:extLst>
      <p:ext uri="{BB962C8B-B14F-4D97-AF65-F5344CB8AC3E}">
        <p14:creationId xmlns:p14="http://schemas.microsoft.com/office/powerpoint/2010/main" val="390901058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42D2A586-332A-48D8-8877-E88283075415}"/>
              </a:ext>
            </a:extLst>
          </p:cNvPr>
          <p:cNvSpPr>
            <a:spLocks noGrp="1"/>
          </p:cNvSpPr>
          <p:nvPr>
            <p:ph type="sldNum" sz="quarter" idx="12"/>
          </p:nvPr>
        </p:nvSpPr>
        <p:spPr/>
        <p:txBody>
          <a:bodyPr/>
          <a:lstStyle/>
          <a:p>
            <a:fld id="{B6F15528-21DE-4FAA-801E-634DDDAF4B2B}" type="slidenum">
              <a:rPr lang="en-US" smtClean="0"/>
              <a:pPr/>
              <a:t>41</a:t>
            </a:fld>
            <a:endParaRPr lang="en-US" dirty="0"/>
          </a:p>
        </p:txBody>
      </p:sp>
      <p:pic>
        <p:nvPicPr>
          <p:cNvPr id="3" name="图片 2">
            <a:extLst>
              <a:ext uri="{FF2B5EF4-FFF2-40B4-BE49-F238E27FC236}">
                <a16:creationId xmlns:a16="http://schemas.microsoft.com/office/drawing/2014/main" id="{EEEEECD1-D600-4924-B65D-7C899045B31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84309" y="572309"/>
            <a:ext cx="7282290" cy="5425201"/>
          </a:xfrm>
          <a:prstGeom prst="rect">
            <a:avLst/>
          </a:prstGeom>
        </p:spPr>
      </p:pic>
      <p:sp>
        <p:nvSpPr>
          <p:cNvPr id="11" name="矩形 10">
            <a:extLst>
              <a:ext uri="{FF2B5EF4-FFF2-40B4-BE49-F238E27FC236}">
                <a16:creationId xmlns:a16="http://schemas.microsoft.com/office/drawing/2014/main" id="{F85B10E7-BC9C-4431-BA61-D1DEB650DD77}"/>
              </a:ext>
            </a:extLst>
          </p:cNvPr>
          <p:cNvSpPr/>
          <p:nvPr/>
        </p:nvSpPr>
        <p:spPr>
          <a:xfrm>
            <a:off x="0" y="136525"/>
            <a:ext cx="9372600" cy="400110"/>
          </a:xfrm>
          <a:prstGeom prst="rect">
            <a:avLst/>
          </a:prstGeom>
        </p:spPr>
        <p:txBody>
          <a:bodyPr wrap="square">
            <a:spAutoFit/>
          </a:bodyPr>
          <a:lstStyle/>
          <a:p>
            <a:r>
              <a:rPr lang="en-US" altLang="zh-CN" sz="2000" b="1" dirty="0"/>
              <a:t>By varying the Hamming radius from 0 to c with a </a:t>
            </a:r>
            <a:r>
              <a:rPr lang="en-US" altLang="zh-CN" sz="2000" b="1" dirty="0" err="1"/>
              <a:t>stepsize</a:t>
            </a:r>
            <a:r>
              <a:rPr lang="en-US" altLang="zh-CN" sz="2000" b="1" dirty="0"/>
              <a:t> 1, we can get the PR curve.</a:t>
            </a:r>
            <a:endParaRPr lang="zh-CN" altLang="en-US" sz="2000" b="1" dirty="0"/>
          </a:p>
        </p:txBody>
      </p:sp>
      <p:sp>
        <p:nvSpPr>
          <p:cNvPr id="2" name="矩形 1">
            <a:extLst>
              <a:ext uri="{FF2B5EF4-FFF2-40B4-BE49-F238E27FC236}">
                <a16:creationId xmlns:a16="http://schemas.microsoft.com/office/drawing/2014/main" id="{F85C712B-FD8C-4687-A918-D8F94B3408EE}"/>
              </a:ext>
            </a:extLst>
          </p:cNvPr>
          <p:cNvSpPr/>
          <p:nvPr/>
        </p:nvSpPr>
        <p:spPr>
          <a:xfrm>
            <a:off x="486854" y="6033184"/>
            <a:ext cx="8077200" cy="646331"/>
          </a:xfrm>
          <a:prstGeom prst="rect">
            <a:avLst/>
          </a:prstGeom>
        </p:spPr>
        <p:txBody>
          <a:bodyPr wrap="square">
            <a:spAutoFit/>
          </a:bodyPr>
          <a:lstStyle/>
          <a:p>
            <a:pPr algn="r"/>
            <a:r>
              <a:rPr lang="en-US" altLang="zh-CN" i="1" dirty="0" err="1"/>
              <a:t>Changchang</a:t>
            </a:r>
            <a:r>
              <a:rPr lang="en-US" altLang="zh-CN" i="1" dirty="0"/>
              <a:t> Sun, </a:t>
            </a:r>
            <a:r>
              <a:rPr lang="en-US" altLang="zh-CN" i="1" dirty="0" err="1"/>
              <a:t>Xuemeng</a:t>
            </a:r>
            <a:r>
              <a:rPr lang="en-US" altLang="zh-CN" i="1" dirty="0"/>
              <a:t> Song, </a:t>
            </a:r>
            <a:r>
              <a:rPr lang="en-US" altLang="zh-CN" i="1" dirty="0" err="1"/>
              <a:t>Fuli</a:t>
            </a:r>
            <a:r>
              <a:rPr lang="en-US" altLang="zh-CN" i="1" dirty="0"/>
              <a:t> Feng, Wayne Xin Zhao, Hao Zhang, </a:t>
            </a:r>
            <a:r>
              <a:rPr lang="en-US" altLang="zh-CN" i="1" dirty="0" err="1"/>
              <a:t>Liqiang</a:t>
            </a:r>
            <a:r>
              <a:rPr lang="en-US" altLang="zh-CN" i="1" dirty="0"/>
              <a:t> </a:t>
            </a:r>
            <a:r>
              <a:rPr lang="en-US" altLang="zh-CN" i="1" dirty="0" err="1"/>
              <a:t>Nie</a:t>
            </a:r>
            <a:r>
              <a:rPr lang="en-US" altLang="zh-CN" i="1" dirty="0"/>
              <a:t>:</a:t>
            </a:r>
          </a:p>
          <a:p>
            <a:pPr algn="r"/>
            <a:r>
              <a:rPr lang="en-US" altLang="zh-CN" b="1" i="1" dirty="0"/>
              <a:t>Supervised Hierarchical Cross-Modal Hashing</a:t>
            </a:r>
            <a:r>
              <a:rPr lang="en-US" altLang="zh-CN" i="1" dirty="0"/>
              <a:t>. SIGIR 2019.</a:t>
            </a:r>
            <a:endParaRPr lang="zh-CN" altLang="en-US" i="1" dirty="0"/>
          </a:p>
        </p:txBody>
      </p:sp>
    </p:spTree>
    <p:extLst>
      <p:ext uri="{BB962C8B-B14F-4D97-AF65-F5344CB8AC3E}">
        <p14:creationId xmlns:p14="http://schemas.microsoft.com/office/powerpoint/2010/main" val="57145636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AA21BA45-7398-42A5-B889-088B22615C88}"/>
              </a:ext>
            </a:extLst>
          </p:cNvPr>
          <p:cNvSpPr>
            <a:spLocks noGrp="1"/>
          </p:cNvSpPr>
          <p:nvPr>
            <p:ph type="sldNum" sz="quarter" idx="12"/>
          </p:nvPr>
        </p:nvSpPr>
        <p:spPr/>
        <p:txBody>
          <a:bodyPr/>
          <a:lstStyle/>
          <a:p>
            <a:fld id="{B6F15528-21DE-4FAA-801E-634DDDAF4B2B}" type="slidenum">
              <a:rPr lang="en-US" smtClean="0"/>
              <a:pPr/>
              <a:t>42</a:t>
            </a:fld>
            <a:endParaRPr lang="en-US" dirty="0"/>
          </a:p>
        </p:txBody>
      </p:sp>
      <p:sp>
        <p:nvSpPr>
          <p:cNvPr id="7" name="文本框 6">
            <a:extLst>
              <a:ext uri="{FF2B5EF4-FFF2-40B4-BE49-F238E27FC236}">
                <a16:creationId xmlns:a16="http://schemas.microsoft.com/office/drawing/2014/main" id="{426C0FA5-1795-4B18-9E3A-56EF7ACCBFA8}"/>
              </a:ext>
            </a:extLst>
          </p:cNvPr>
          <p:cNvSpPr txBox="1"/>
          <p:nvPr/>
        </p:nvSpPr>
        <p:spPr>
          <a:xfrm>
            <a:off x="228600" y="76200"/>
            <a:ext cx="4128438" cy="754694"/>
          </a:xfrm>
          <a:prstGeom prst="rect">
            <a:avLst/>
          </a:prstGeom>
          <a:noFill/>
        </p:spPr>
        <p:txBody>
          <a:bodyPr wrap="none" rtlCol="0">
            <a:spAutoFit/>
          </a:bodyPr>
          <a:lstStyle/>
          <a:p>
            <a:pPr>
              <a:lnSpc>
                <a:spcPct val="150000"/>
              </a:lnSpc>
            </a:pPr>
            <a:r>
              <a:rPr lang="en-US" altLang="zh-CN" sz="3200" b="1" dirty="0"/>
              <a:t>PR Curve VS ROC Curve</a:t>
            </a:r>
            <a:endParaRPr lang="en-US" sz="3200" b="1" dirty="0"/>
          </a:p>
        </p:txBody>
      </p:sp>
      <p:sp>
        <p:nvSpPr>
          <p:cNvPr id="3" name="矩形 2">
            <a:extLst>
              <a:ext uri="{FF2B5EF4-FFF2-40B4-BE49-F238E27FC236}">
                <a16:creationId xmlns:a16="http://schemas.microsoft.com/office/drawing/2014/main" id="{105F0FE0-2FB1-4B39-8371-DC30A41B495C}"/>
              </a:ext>
            </a:extLst>
          </p:cNvPr>
          <p:cNvSpPr/>
          <p:nvPr/>
        </p:nvSpPr>
        <p:spPr>
          <a:xfrm>
            <a:off x="228600" y="3309362"/>
            <a:ext cx="8458200" cy="3046988"/>
          </a:xfrm>
          <a:prstGeom prst="rect">
            <a:avLst/>
          </a:prstGeom>
        </p:spPr>
        <p:txBody>
          <a:bodyPr wrap="square">
            <a:spAutoFit/>
          </a:bodyPr>
          <a:lstStyle/>
          <a:p>
            <a:pPr marL="342900" indent="-342900" algn="just">
              <a:buFont typeface="Wingdings" panose="05000000000000000000" pitchFamily="2" charset="2"/>
              <a:buChar char="p"/>
            </a:pPr>
            <a:r>
              <a:rPr lang="en-US" altLang="zh-CN" sz="2400" dirty="0"/>
              <a:t>We have 1,000 total examples, where 990 for class 0 and 10 for class 1.</a:t>
            </a:r>
          </a:p>
          <a:p>
            <a:pPr marL="342900" indent="-342900" algn="just">
              <a:buFont typeface="Wingdings" panose="05000000000000000000" pitchFamily="2" charset="2"/>
              <a:buChar char="p"/>
            </a:pPr>
            <a:r>
              <a:rPr lang="en-US" altLang="zh-CN" sz="2400" dirty="0"/>
              <a:t>We then split the dataset into training and test sets with stratified sampling.</a:t>
            </a:r>
          </a:p>
          <a:p>
            <a:pPr marL="342900" indent="-342900" algn="just">
              <a:buFont typeface="Wingdings" panose="05000000000000000000" pitchFamily="2" charset="2"/>
              <a:buChar char="p"/>
            </a:pPr>
            <a:r>
              <a:rPr lang="en-US" altLang="zh-CN" sz="2400" dirty="0"/>
              <a:t>Then we can develop a </a:t>
            </a:r>
            <a:r>
              <a:rPr lang="en-US" altLang="zh-CN" sz="2400" dirty="0">
                <a:solidFill>
                  <a:srgbClr val="FF0000"/>
                </a:solidFill>
              </a:rPr>
              <a:t>Logistic Regression model </a:t>
            </a:r>
            <a:r>
              <a:rPr lang="en-US" altLang="zh-CN" sz="2400" dirty="0"/>
              <a:t>on the dataset and evaluate the performance of the model using a ROC Curve and a PR Curve, and </a:t>
            </a:r>
            <a:r>
              <a:rPr lang="en-US" altLang="zh-CN" sz="2400" dirty="0">
                <a:solidFill>
                  <a:srgbClr val="FF0000"/>
                </a:solidFill>
              </a:rPr>
              <a:t>compare the results to a no skill classifier.</a:t>
            </a:r>
            <a:endParaRPr lang="zh-CN" altLang="en-US" sz="2400" dirty="0">
              <a:solidFill>
                <a:srgbClr val="FF0000"/>
              </a:solidFill>
            </a:endParaRPr>
          </a:p>
        </p:txBody>
      </p:sp>
      <mc:AlternateContent xmlns:mc="http://schemas.openxmlformats.org/markup-compatibility/2006" xmlns:a14="http://schemas.microsoft.com/office/drawing/2010/main">
        <mc:Choice Requires="a14">
          <p:sp>
            <p:nvSpPr>
              <p:cNvPr id="6" name="矩形 5">
                <a:extLst>
                  <a:ext uri="{FF2B5EF4-FFF2-40B4-BE49-F238E27FC236}">
                    <a16:creationId xmlns:a16="http://schemas.microsoft.com/office/drawing/2014/main" id="{5AFCFA8C-526F-4185-B74A-E4CE74993314}"/>
                  </a:ext>
                </a:extLst>
              </p:cNvPr>
              <p:cNvSpPr/>
              <p:nvPr/>
            </p:nvSpPr>
            <p:spPr>
              <a:xfrm>
                <a:off x="190500" y="945948"/>
                <a:ext cx="8763000" cy="2197396"/>
              </a:xfrm>
              <a:prstGeom prst="rect">
                <a:avLst/>
              </a:prstGeom>
            </p:spPr>
            <p:txBody>
              <a:bodyPr wrap="square">
                <a:spAutoFit/>
              </a:bodyPr>
              <a:lstStyle/>
              <a:p>
                <a:pPr marL="342900" indent="-342900" algn="just">
                  <a:buFont typeface="Wingdings" panose="05000000000000000000" pitchFamily="2" charset="2"/>
                  <a:buChar char="Ø"/>
                </a:pPr>
                <a:r>
                  <a:rPr lang="en-US" altLang="zh-CN" sz="2000" dirty="0"/>
                  <a:t>PR Curve </a:t>
                </a:r>
              </a:p>
              <a:p>
                <a:pPr marL="800100" lvl="1" indent="-342900">
                  <a:buFont typeface="Arial" panose="020B0604020202020204" pitchFamily="34" charset="0"/>
                  <a:buChar char="•"/>
                </a:pPr>
                <a14:m>
                  <m:oMath xmlns:m="http://schemas.openxmlformats.org/officeDocument/2006/math">
                    <m:r>
                      <a:rPr lang="en-US" altLang="zh-CN" sz="2000" i="1" dirty="0">
                        <a:latin typeface="Cambria Math" panose="02040503050406030204" pitchFamily="18" charset="0"/>
                      </a:rPr>
                      <m:t>𝑇𝑃</m:t>
                    </m:r>
                    <m:r>
                      <a:rPr lang="en-US" altLang="zh-CN" sz="2000" i="1" dirty="0">
                        <a:latin typeface="Cambria Math" panose="02040503050406030204" pitchFamily="18" charset="0"/>
                      </a:rPr>
                      <m:t>/(</m:t>
                    </m:r>
                    <m:r>
                      <a:rPr lang="en-US" altLang="zh-CN" sz="2000" i="1" dirty="0">
                        <a:latin typeface="Cambria Math" panose="02040503050406030204" pitchFamily="18" charset="0"/>
                      </a:rPr>
                      <m:t>𝑇𝑃</m:t>
                    </m:r>
                    <m:r>
                      <a:rPr lang="en-US" altLang="zh-CN" sz="2000" i="1" dirty="0">
                        <a:latin typeface="Cambria Math" panose="02040503050406030204" pitchFamily="18" charset="0"/>
                      </a:rPr>
                      <m:t>+</m:t>
                    </m:r>
                    <m:r>
                      <a:rPr lang="en-US" altLang="zh-CN" sz="2000" i="1" dirty="0">
                        <a:latin typeface="Cambria Math" panose="02040503050406030204" pitchFamily="18" charset="0"/>
                      </a:rPr>
                      <m:t>𝐹𝑃</m:t>
                    </m:r>
                    <m:r>
                      <a:rPr lang="en-US" altLang="zh-CN" sz="2000" i="1" dirty="0">
                        <a:latin typeface="Cambria Math" panose="02040503050406030204" pitchFamily="18" charset="0"/>
                      </a:rPr>
                      <m:t>)</m:t>
                    </m:r>
                  </m:oMath>
                </a14:m>
                <a:r>
                  <a:rPr lang="en-US" altLang="zh-CN" sz="2000" dirty="0"/>
                  <a:t> --y-axis </a:t>
                </a:r>
                <a:r>
                  <a:rPr lang="en-US" altLang="zh-CN" sz="2000" dirty="0">
                    <a:solidFill>
                      <a:srgbClr val="FF0000"/>
                    </a:solidFill>
                  </a:rPr>
                  <a:t>Precision</a:t>
                </a:r>
                <a:endParaRPr lang="en-US" altLang="zh-CN" sz="2000" dirty="0"/>
              </a:p>
              <a:p>
                <a:pPr marL="800100" lvl="1" indent="-342900">
                  <a:buFont typeface="Arial" panose="020B0604020202020204" pitchFamily="34" charset="0"/>
                  <a:buChar char="•"/>
                </a:pPr>
                <a14:m>
                  <m:oMath xmlns:m="http://schemas.openxmlformats.org/officeDocument/2006/math">
                    <m:r>
                      <a:rPr lang="en-US" altLang="zh-CN" sz="2000" i="1" dirty="0">
                        <a:latin typeface="Cambria Math" panose="02040503050406030204" pitchFamily="18" charset="0"/>
                      </a:rPr>
                      <m:t>𝑇𝑃</m:t>
                    </m:r>
                    <m:r>
                      <a:rPr lang="en-US" altLang="zh-CN" sz="2000" i="1" dirty="0">
                        <a:latin typeface="Cambria Math" panose="02040503050406030204" pitchFamily="18" charset="0"/>
                      </a:rPr>
                      <m:t>/(</m:t>
                    </m:r>
                    <m:r>
                      <a:rPr lang="en-US" altLang="zh-CN" sz="2000" i="1" dirty="0">
                        <a:latin typeface="Cambria Math" panose="02040503050406030204" pitchFamily="18" charset="0"/>
                      </a:rPr>
                      <m:t>𝑇𝑃</m:t>
                    </m:r>
                    <m:r>
                      <a:rPr lang="en-US" altLang="zh-CN" sz="2000" i="1" dirty="0">
                        <a:latin typeface="Cambria Math" panose="02040503050406030204" pitchFamily="18" charset="0"/>
                      </a:rPr>
                      <m:t>+</m:t>
                    </m:r>
                    <m:r>
                      <a:rPr lang="en-US" altLang="zh-CN" sz="2000" i="1" dirty="0">
                        <a:latin typeface="Cambria Math" panose="02040503050406030204" pitchFamily="18" charset="0"/>
                      </a:rPr>
                      <m:t>𝐹𝑁</m:t>
                    </m:r>
                    <m:r>
                      <a:rPr lang="en-US" altLang="zh-CN" sz="2000" i="1" dirty="0">
                        <a:latin typeface="Cambria Math" panose="02040503050406030204" pitchFamily="18" charset="0"/>
                      </a:rPr>
                      <m:t>)</m:t>
                    </m:r>
                  </m:oMath>
                </a14:m>
                <a:r>
                  <a:rPr lang="en-US" altLang="zh-CN" sz="2000" dirty="0"/>
                  <a:t> --x-axis</a:t>
                </a:r>
                <a:r>
                  <a:rPr lang="en-US" altLang="zh-CN" sz="2000" dirty="0">
                    <a:solidFill>
                      <a:srgbClr val="FF0000"/>
                    </a:solidFill>
                  </a:rPr>
                  <a:t> Recall</a:t>
                </a:r>
                <a:endParaRPr lang="en-US" altLang="zh-CN" sz="2000" dirty="0"/>
              </a:p>
              <a:p>
                <a:pPr marL="342900" indent="-342900" algn="just">
                  <a:buFont typeface="Wingdings" panose="05000000000000000000" pitchFamily="2" charset="2"/>
                  <a:buChar char="Ø"/>
                </a:pPr>
                <a:r>
                  <a:rPr lang="en-US" altLang="zh-CN" sz="2000" dirty="0"/>
                  <a:t>ROC Curve </a:t>
                </a:r>
              </a:p>
              <a:p>
                <a:pPr marL="800100" lvl="1" indent="-342900">
                  <a:buFont typeface="Arial" panose="020B0604020202020204" pitchFamily="34" charset="0"/>
                  <a:buChar char="•"/>
                </a:pPr>
                <a14:m>
                  <m:oMath xmlns:m="http://schemas.openxmlformats.org/officeDocument/2006/math">
                    <m:r>
                      <a:rPr lang="en-US" altLang="zh-CN" sz="2000" i="1" dirty="0">
                        <a:latin typeface="Cambria Math" panose="02040503050406030204" pitchFamily="18" charset="0"/>
                      </a:rPr>
                      <m:t>𝑇𝑃𝑅</m:t>
                    </m:r>
                    <m:r>
                      <a:rPr lang="en-US" altLang="zh-CN" sz="2000" i="1" dirty="0">
                        <a:latin typeface="Cambria Math" panose="02040503050406030204" pitchFamily="18" charset="0"/>
                      </a:rPr>
                      <m:t>=</m:t>
                    </m:r>
                    <m:f>
                      <m:fPr>
                        <m:ctrlPr>
                          <a:rPr lang="en-US" altLang="zh-CN" sz="2000" i="1" dirty="0">
                            <a:latin typeface="Cambria Math" panose="02040503050406030204" pitchFamily="18" charset="0"/>
                          </a:rPr>
                        </m:ctrlPr>
                      </m:fPr>
                      <m:num>
                        <m:r>
                          <a:rPr lang="en-US" altLang="zh-CN" sz="2000" i="1" dirty="0">
                            <a:latin typeface="Cambria Math" panose="02040503050406030204" pitchFamily="18" charset="0"/>
                          </a:rPr>
                          <m:t>𝑇𝑃</m:t>
                        </m:r>
                      </m:num>
                      <m:den>
                        <m:r>
                          <a:rPr lang="en-US" altLang="zh-CN" sz="2000" i="1" dirty="0">
                            <a:latin typeface="Cambria Math" panose="02040503050406030204" pitchFamily="18" charset="0"/>
                          </a:rPr>
                          <m:t>𝑇𝑃</m:t>
                        </m:r>
                        <m:r>
                          <a:rPr lang="en-US" altLang="zh-CN" sz="2000" i="1" dirty="0">
                            <a:latin typeface="Cambria Math" panose="02040503050406030204" pitchFamily="18" charset="0"/>
                          </a:rPr>
                          <m:t>+</m:t>
                        </m:r>
                        <m:r>
                          <a:rPr lang="en-US" altLang="zh-CN" sz="2000" i="1" dirty="0">
                            <a:latin typeface="Cambria Math" panose="02040503050406030204" pitchFamily="18" charset="0"/>
                          </a:rPr>
                          <m:t>𝐹𝑁</m:t>
                        </m:r>
                      </m:den>
                    </m:f>
                  </m:oMath>
                </a14:m>
                <a:r>
                  <a:rPr lang="en-US" altLang="zh-CN" sz="2000" dirty="0"/>
                  <a:t>--y-axis </a:t>
                </a:r>
                <a:r>
                  <a:rPr lang="en-US" altLang="zh-CN" sz="2000" dirty="0">
                    <a:solidFill>
                      <a:srgbClr val="FF0000"/>
                    </a:solidFill>
                  </a:rPr>
                  <a:t>Recall</a:t>
                </a:r>
                <a:endParaRPr lang="en-US" altLang="zh-CN" sz="2000" i="1" dirty="0">
                  <a:solidFill>
                    <a:srgbClr val="FF0000"/>
                  </a:solidFill>
                  <a:latin typeface="Cambria Math" panose="02040503050406030204" pitchFamily="18" charset="0"/>
                </a:endParaRPr>
              </a:p>
              <a:p>
                <a:pPr marL="800100" lvl="1" indent="-342900">
                  <a:buFont typeface="Arial" panose="020B0604020202020204" pitchFamily="34" charset="0"/>
                  <a:buChar char="•"/>
                </a:pPr>
                <a14:m>
                  <m:oMath xmlns:m="http://schemas.openxmlformats.org/officeDocument/2006/math">
                    <m:r>
                      <a:rPr lang="en-US" altLang="zh-CN" sz="2000" i="1" dirty="0">
                        <a:latin typeface="Cambria Math" panose="02040503050406030204" pitchFamily="18" charset="0"/>
                      </a:rPr>
                      <m:t>𝐹𝑃𝑅</m:t>
                    </m:r>
                    <m:r>
                      <a:rPr lang="en-US" altLang="zh-CN" sz="2000" i="1" dirty="0">
                        <a:latin typeface="Cambria Math" panose="02040503050406030204" pitchFamily="18" charset="0"/>
                      </a:rPr>
                      <m:t>=</m:t>
                    </m:r>
                    <m:f>
                      <m:fPr>
                        <m:ctrlPr>
                          <a:rPr lang="en-US" altLang="zh-CN" sz="2000" i="1" dirty="0">
                            <a:latin typeface="Cambria Math" panose="02040503050406030204" pitchFamily="18" charset="0"/>
                          </a:rPr>
                        </m:ctrlPr>
                      </m:fPr>
                      <m:num>
                        <m:r>
                          <a:rPr lang="en-US" altLang="zh-CN" sz="2000" i="1" dirty="0">
                            <a:latin typeface="Cambria Math" panose="02040503050406030204" pitchFamily="18" charset="0"/>
                          </a:rPr>
                          <m:t>𝐹𝑃</m:t>
                        </m:r>
                      </m:num>
                      <m:den>
                        <m:r>
                          <a:rPr lang="en-US" altLang="zh-CN" sz="2000" i="1" dirty="0" smtClean="0">
                            <a:solidFill>
                              <a:srgbClr val="FF0000"/>
                            </a:solidFill>
                            <a:latin typeface="Cambria Math" panose="02040503050406030204" pitchFamily="18" charset="0"/>
                          </a:rPr>
                          <m:t>𝑇𝑁</m:t>
                        </m:r>
                        <m:r>
                          <a:rPr lang="en-US" altLang="zh-CN" sz="2000" i="1" dirty="0">
                            <a:latin typeface="Cambria Math" panose="02040503050406030204" pitchFamily="18" charset="0"/>
                          </a:rPr>
                          <m:t>+</m:t>
                        </m:r>
                        <m:r>
                          <a:rPr lang="en-US" altLang="zh-CN" sz="2000" i="1" dirty="0">
                            <a:latin typeface="Cambria Math" panose="02040503050406030204" pitchFamily="18" charset="0"/>
                          </a:rPr>
                          <m:t>𝐹𝑃</m:t>
                        </m:r>
                      </m:den>
                    </m:f>
                  </m:oMath>
                </a14:m>
                <a:r>
                  <a:rPr lang="en-US" altLang="zh-CN" sz="2000" dirty="0"/>
                  <a:t>--x-axis </a:t>
                </a:r>
                <a:r>
                  <a:rPr lang="en-US" altLang="zh-CN" sz="2000" dirty="0">
                    <a:solidFill>
                      <a:srgbClr val="FF0000"/>
                    </a:solidFill>
                  </a:rPr>
                  <a:t>False Alarm Rate </a:t>
                </a:r>
                <a:endParaRPr lang="zh-CN" altLang="en-US" sz="2000" dirty="0"/>
              </a:p>
            </p:txBody>
          </p:sp>
        </mc:Choice>
        <mc:Fallback xmlns="">
          <p:sp>
            <p:nvSpPr>
              <p:cNvPr id="6" name="矩形 5">
                <a:extLst>
                  <a:ext uri="{FF2B5EF4-FFF2-40B4-BE49-F238E27FC236}">
                    <a16:creationId xmlns:a16="http://schemas.microsoft.com/office/drawing/2014/main" id="{5AFCFA8C-526F-4185-B74A-E4CE74993314}"/>
                  </a:ext>
                </a:extLst>
              </p:cNvPr>
              <p:cNvSpPr>
                <a:spLocks noRot="1" noChangeAspect="1" noMove="1" noResize="1" noEditPoints="1" noAdjustHandles="1" noChangeArrowheads="1" noChangeShapeType="1" noTextEdit="1"/>
              </p:cNvSpPr>
              <p:nvPr/>
            </p:nvSpPr>
            <p:spPr>
              <a:xfrm>
                <a:off x="190500" y="945948"/>
                <a:ext cx="8763000" cy="2197396"/>
              </a:xfrm>
              <a:prstGeom prst="rect">
                <a:avLst/>
              </a:prstGeom>
              <a:blipFill>
                <a:blip r:embed="rId2"/>
                <a:stretch>
                  <a:fillRect l="-626" t="-1385" b="-1108"/>
                </a:stretch>
              </a:blipFill>
            </p:spPr>
            <p:txBody>
              <a:bodyPr/>
              <a:lstStyle/>
              <a:p>
                <a:r>
                  <a:rPr lang="zh-CN" altLang="en-US">
                    <a:noFill/>
                  </a:rPr>
                  <a:t> </a:t>
                </a:r>
              </a:p>
            </p:txBody>
          </p:sp>
        </mc:Fallback>
      </mc:AlternateContent>
      <p:pic>
        <p:nvPicPr>
          <p:cNvPr id="8" name="图片 7" descr="屏幕剪辑">
            <a:extLst>
              <a:ext uri="{FF2B5EF4-FFF2-40B4-BE49-F238E27FC236}">
                <a16:creationId xmlns:a16="http://schemas.microsoft.com/office/drawing/2014/main" id="{880B19D8-BB1A-4395-943B-E34227A00EC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37830" y="-40640"/>
            <a:ext cx="4284162" cy="1282997"/>
          </a:xfrm>
          <a:prstGeom prst="rect">
            <a:avLst/>
          </a:prstGeom>
        </p:spPr>
      </p:pic>
    </p:spTree>
    <p:extLst>
      <p:ext uri="{BB962C8B-B14F-4D97-AF65-F5344CB8AC3E}">
        <p14:creationId xmlns:p14="http://schemas.microsoft.com/office/powerpoint/2010/main" val="39269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AA21BA45-7398-42A5-B889-088B22615C88}"/>
              </a:ext>
            </a:extLst>
          </p:cNvPr>
          <p:cNvSpPr>
            <a:spLocks noGrp="1"/>
          </p:cNvSpPr>
          <p:nvPr>
            <p:ph type="sldNum" sz="quarter" idx="12"/>
          </p:nvPr>
        </p:nvSpPr>
        <p:spPr/>
        <p:txBody>
          <a:bodyPr/>
          <a:lstStyle/>
          <a:p>
            <a:fld id="{B6F15528-21DE-4FAA-801E-634DDDAF4B2B}" type="slidenum">
              <a:rPr lang="en-US" smtClean="0"/>
              <a:pPr/>
              <a:t>43</a:t>
            </a:fld>
            <a:endParaRPr lang="en-US" dirty="0"/>
          </a:p>
        </p:txBody>
      </p:sp>
      <p:sp>
        <p:nvSpPr>
          <p:cNvPr id="7" name="文本框 6">
            <a:extLst>
              <a:ext uri="{FF2B5EF4-FFF2-40B4-BE49-F238E27FC236}">
                <a16:creationId xmlns:a16="http://schemas.microsoft.com/office/drawing/2014/main" id="{426C0FA5-1795-4B18-9E3A-56EF7ACCBFA8}"/>
              </a:ext>
            </a:extLst>
          </p:cNvPr>
          <p:cNvSpPr txBox="1"/>
          <p:nvPr/>
        </p:nvSpPr>
        <p:spPr>
          <a:xfrm>
            <a:off x="228600" y="76200"/>
            <a:ext cx="4128438" cy="754694"/>
          </a:xfrm>
          <a:prstGeom prst="rect">
            <a:avLst/>
          </a:prstGeom>
          <a:noFill/>
        </p:spPr>
        <p:txBody>
          <a:bodyPr wrap="none" rtlCol="0">
            <a:spAutoFit/>
          </a:bodyPr>
          <a:lstStyle/>
          <a:p>
            <a:pPr>
              <a:lnSpc>
                <a:spcPct val="150000"/>
              </a:lnSpc>
            </a:pPr>
            <a:r>
              <a:rPr lang="en-US" altLang="zh-CN" sz="3200" b="1" dirty="0"/>
              <a:t>PR Curve VS ROC Curve</a:t>
            </a:r>
            <a:endParaRPr lang="en-US" sz="3200" b="1" dirty="0"/>
          </a:p>
        </p:txBody>
      </p:sp>
      <p:pic>
        <p:nvPicPr>
          <p:cNvPr id="10" name="图片 9">
            <a:extLst>
              <a:ext uri="{FF2B5EF4-FFF2-40B4-BE49-F238E27FC236}">
                <a16:creationId xmlns:a16="http://schemas.microsoft.com/office/drawing/2014/main" id="{6A06AA41-0D83-4C41-B5B3-69A201459150}"/>
              </a:ext>
            </a:extLst>
          </p:cNvPr>
          <p:cNvPicPr>
            <a:picLocks noChangeAspect="1"/>
          </p:cNvPicPr>
          <p:nvPr/>
        </p:nvPicPr>
        <p:blipFill rotWithShape="1">
          <a:blip r:embed="rId2">
            <a:extLst>
              <a:ext uri="{28A0092B-C50C-407E-A947-70E740481C1C}">
                <a14:useLocalDpi xmlns:a14="http://schemas.microsoft.com/office/drawing/2010/main" val="0"/>
              </a:ext>
            </a:extLst>
          </a:blip>
          <a:srcRect b="3192"/>
          <a:stretch/>
        </p:blipFill>
        <p:spPr>
          <a:xfrm>
            <a:off x="248920" y="680720"/>
            <a:ext cx="6019800" cy="6172200"/>
          </a:xfrm>
          <a:prstGeom prst="rect">
            <a:avLst/>
          </a:prstGeom>
        </p:spPr>
      </p:pic>
      <p:pic>
        <p:nvPicPr>
          <p:cNvPr id="12" name="图片 11">
            <a:extLst>
              <a:ext uri="{FF2B5EF4-FFF2-40B4-BE49-F238E27FC236}">
                <a16:creationId xmlns:a16="http://schemas.microsoft.com/office/drawing/2014/main" id="{10643A63-E4F5-4C80-A559-1ACF7EFC374B}"/>
              </a:ext>
            </a:extLst>
          </p:cNvPr>
          <p:cNvPicPr>
            <a:picLocks noChangeAspect="1"/>
          </p:cNvPicPr>
          <p:nvPr/>
        </p:nvPicPr>
        <p:blipFill rotWithShape="1">
          <a:blip r:embed="rId3">
            <a:extLst>
              <a:ext uri="{28A0092B-C50C-407E-A947-70E740481C1C}">
                <a14:useLocalDpi xmlns:a14="http://schemas.microsoft.com/office/drawing/2010/main" val="0"/>
              </a:ext>
            </a:extLst>
          </a:blip>
          <a:srcRect t="4934" r="39299" b="1"/>
          <a:stretch/>
        </p:blipFill>
        <p:spPr>
          <a:xfrm>
            <a:off x="4442951" y="5080"/>
            <a:ext cx="4644275" cy="1425212"/>
          </a:xfrm>
          <a:prstGeom prst="rect">
            <a:avLst/>
          </a:prstGeom>
        </p:spPr>
      </p:pic>
      <p:sp>
        <p:nvSpPr>
          <p:cNvPr id="13" name="文本框 12">
            <a:extLst>
              <a:ext uri="{FF2B5EF4-FFF2-40B4-BE49-F238E27FC236}">
                <a16:creationId xmlns:a16="http://schemas.microsoft.com/office/drawing/2014/main" id="{04D365F8-9E44-484C-B76B-A354C38B11E1}"/>
              </a:ext>
            </a:extLst>
          </p:cNvPr>
          <p:cNvSpPr txBox="1"/>
          <p:nvPr/>
        </p:nvSpPr>
        <p:spPr>
          <a:xfrm>
            <a:off x="6019800" y="4800600"/>
            <a:ext cx="3162300" cy="646331"/>
          </a:xfrm>
          <a:prstGeom prst="rect">
            <a:avLst/>
          </a:prstGeom>
          <a:noFill/>
        </p:spPr>
        <p:txBody>
          <a:bodyPr wrap="square" rtlCol="0">
            <a:spAutoFit/>
          </a:bodyPr>
          <a:lstStyle/>
          <a:p>
            <a:r>
              <a:rPr lang="en-US" altLang="zh-CN" b="1" dirty="0"/>
              <a:t>Example of ROC Curve and AUC for the imbalanced dataset.</a:t>
            </a:r>
            <a:endParaRPr lang="zh-CN" altLang="en-US" b="1" dirty="0"/>
          </a:p>
        </p:txBody>
      </p:sp>
    </p:spTree>
    <p:extLst>
      <p:ext uri="{BB962C8B-B14F-4D97-AF65-F5344CB8AC3E}">
        <p14:creationId xmlns:p14="http://schemas.microsoft.com/office/powerpoint/2010/main" val="126175863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AA21BA45-7398-42A5-B889-088B22615C88}"/>
              </a:ext>
            </a:extLst>
          </p:cNvPr>
          <p:cNvSpPr>
            <a:spLocks noGrp="1"/>
          </p:cNvSpPr>
          <p:nvPr>
            <p:ph type="sldNum" sz="quarter" idx="12"/>
          </p:nvPr>
        </p:nvSpPr>
        <p:spPr/>
        <p:txBody>
          <a:bodyPr/>
          <a:lstStyle/>
          <a:p>
            <a:fld id="{B6F15528-21DE-4FAA-801E-634DDDAF4B2B}" type="slidenum">
              <a:rPr lang="en-US" smtClean="0"/>
              <a:pPr/>
              <a:t>44</a:t>
            </a:fld>
            <a:endParaRPr lang="en-US" dirty="0"/>
          </a:p>
        </p:txBody>
      </p:sp>
      <p:sp>
        <p:nvSpPr>
          <p:cNvPr id="7" name="文本框 6">
            <a:extLst>
              <a:ext uri="{FF2B5EF4-FFF2-40B4-BE49-F238E27FC236}">
                <a16:creationId xmlns:a16="http://schemas.microsoft.com/office/drawing/2014/main" id="{426C0FA5-1795-4B18-9E3A-56EF7ACCBFA8}"/>
              </a:ext>
            </a:extLst>
          </p:cNvPr>
          <p:cNvSpPr txBox="1"/>
          <p:nvPr/>
        </p:nvSpPr>
        <p:spPr>
          <a:xfrm>
            <a:off x="228600" y="76200"/>
            <a:ext cx="4128438" cy="754694"/>
          </a:xfrm>
          <a:prstGeom prst="rect">
            <a:avLst/>
          </a:prstGeom>
          <a:noFill/>
        </p:spPr>
        <p:txBody>
          <a:bodyPr wrap="none" rtlCol="0">
            <a:spAutoFit/>
          </a:bodyPr>
          <a:lstStyle/>
          <a:p>
            <a:pPr>
              <a:lnSpc>
                <a:spcPct val="150000"/>
              </a:lnSpc>
            </a:pPr>
            <a:r>
              <a:rPr lang="en-US" altLang="zh-CN" sz="3200" b="1" dirty="0"/>
              <a:t>PR Curve VS ROC Curve</a:t>
            </a:r>
            <a:endParaRPr lang="en-US" sz="3200" b="1" dirty="0"/>
          </a:p>
        </p:txBody>
      </p:sp>
      <p:pic>
        <p:nvPicPr>
          <p:cNvPr id="3" name="图片 2">
            <a:extLst>
              <a:ext uri="{FF2B5EF4-FFF2-40B4-BE49-F238E27FC236}">
                <a16:creationId xmlns:a16="http://schemas.microsoft.com/office/drawing/2014/main" id="{39FFE50D-56FC-48AB-8FCA-D8EB14410814}"/>
              </a:ext>
            </a:extLst>
          </p:cNvPr>
          <p:cNvPicPr>
            <a:picLocks noChangeAspect="1"/>
          </p:cNvPicPr>
          <p:nvPr/>
        </p:nvPicPr>
        <p:blipFill rotWithShape="1">
          <a:blip r:embed="rId2">
            <a:extLst>
              <a:ext uri="{28A0092B-C50C-407E-A947-70E740481C1C}">
                <a14:useLocalDpi xmlns:a14="http://schemas.microsoft.com/office/drawing/2010/main" val="0"/>
              </a:ext>
            </a:extLst>
          </a:blip>
          <a:srcRect b="3501"/>
          <a:stretch/>
        </p:blipFill>
        <p:spPr>
          <a:xfrm>
            <a:off x="152400" y="1447800"/>
            <a:ext cx="6006628" cy="5181600"/>
          </a:xfrm>
          <a:prstGeom prst="rect">
            <a:avLst/>
          </a:prstGeom>
        </p:spPr>
      </p:pic>
      <p:pic>
        <p:nvPicPr>
          <p:cNvPr id="8" name="图片 7">
            <a:extLst>
              <a:ext uri="{FF2B5EF4-FFF2-40B4-BE49-F238E27FC236}">
                <a16:creationId xmlns:a16="http://schemas.microsoft.com/office/drawing/2014/main" id="{5A7C7EBF-C93D-4BDA-BB4B-EE5A26E15728}"/>
              </a:ext>
            </a:extLst>
          </p:cNvPr>
          <p:cNvPicPr>
            <a:picLocks noChangeAspect="1"/>
          </p:cNvPicPr>
          <p:nvPr/>
        </p:nvPicPr>
        <p:blipFill rotWithShape="1">
          <a:blip r:embed="rId3">
            <a:extLst>
              <a:ext uri="{28A0092B-C50C-407E-A947-70E740481C1C}">
                <a14:useLocalDpi xmlns:a14="http://schemas.microsoft.com/office/drawing/2010/main" val="0"/>
              </a:ext>
            </a:extLst>
          </a:blip>
          <a:srcRect r="13846"/>
          <a:stretch/>
        </p:blipFill>
        <p:spPr>
          <a:xfrm>
            <a:off x="4153838" y="-2946"/>
            <a:ext cx="5029200" cy="2566899"/>
          </a:xfrm>
          <a:prstGeom prst="rect">
            <a:avLst/>
          </a:prstGeom>
        </p:spPr>
      </p:pic>
      <p:sp>
        <p:nvSpPr>
          <p:cNvPr id="9" name="文本框 8">
            <a:extLst>
              <a:ext uri="{FF2B5EF4-FFF2-40B4-BE49-F238E27FC236}">
                <a16:creationId xmlns:a16="http://schemas.microsoft.com/office/drawing/2014/main" id="{E6744141-B148-4911-978E-D85A3DF0A615}"/>
              </a:ext>
            </a:extLst>
          </p:cNvPr>
          <p:cNvSpPr txBox="1"/>
          <p:nvPr/>
        </p:nvSpPr>
        <p:spPr>
          <a:xfrm>
            <a:off x="6057900" y="4800600"/>
            <a:ext cx="3124200" cy="646331"/>
          </a:xfrm>
          <a:prstGeom prst="rect">
            <a:avLst/>
          </a:prstGeom>
          <a:noFill/>
        </p:spPr>
        <p:txBody>
          <a:bodyPr wrap="square" rtlCol="0">
            <a:spAutoFit/>
          </a:bodyPr>
          <a:lstStyle/>
          <a:p>
            <a:r>
              <a:rPr lang="en-US" altLang="zh-CN" b="1" dirty="0"/>
              <a:t>Example of PR Curve and AUC for the imbalanced dataset.</a:t>
            </a:r>
            <a:endParaRPr lang="zh-CN" altLang="en-US" b="1" dirty="0"/>
          </a:p>
        </p:txBody>
      </p:sp>
    </p:spTree>
    <p:extLst>
      <p:ext uri="{BB962C8B-B14F-4D97-AF65-F5344CB8AC3E}">
        <p14:creationId xmlns:p14="http://schemas.microsoft.com/office/powerpoint/2010/main" val="192281675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AA21BA45-7398-42A5-B889-088B22615C88}"/>
              </a:ext>
            </a:extLst>
          </p:cNvPr>
          <p:cNvSpPr>
            <a:spLocks noGrp="1"/>
          </p:cNvSpPr>
          <p:nvPr>
            <p:ph type="sldNum" sz="quarter" idx="12"/>
          </p:nvPr>
        </p:nvSpPr>
        <p:spPr/>
        <p:txBody>
          <a:bodyPr/>
          <a:lstStyle/>
          <a:p>
            <a:fld id="{B6F15528-21DE-4FAA-801E-634DDDAF4B2B}" type="slidenum">
              <a:rPr lang="en-US" smtClean="0"/>
              <a:pPr/>
              <a:t>45</a:t>
            </a:fld>
            <a:endParaRPr lang="en-US" dirty="0"/>
          </a:p>
        </p:txBody>
      </p:sp>
      <p:sp>
        <p:nvSpPr>
          <p:cNvPr id="7" name="文本框 6">
            <a:extLst>
              <a:ext uri="{FF2B5EF4-FFF2-40B4-BE49-F238E27FC236}">
                <a16:creationId xmlns:a16="http://schemas.microsoft.com/office/drawing/2014/main" id="{426C0FA5-1795-4B18-9E3A-56EF7ACCBFA8}"/>
              </a:ext>
            </a:extLst>
          </p:cNvPr>
          <p:cNvSpPr txBox="1"/>
          <p:nvPr/>
        </p:nvSpPr>
        <p:spPr>
          <a:xfrm>
            <a:off x="228600" y="76200"/>
            <a:ext cx="4128438" cy="754694"/>
          </a:xfrm>
          <a:prstGeom prst="rect">
            <a:avLst/>
          </a:prstGeom>
          <a:noFill/>
        </p:spPr>
        <p:txBody>
          <a:bodyPr wrap="none" rtlCol="0">
            <a:spAutoFit/>
          </a:bodyPr>
          <a:lstStyle/>
          <a:p>
            <a:pPr>
              <a:lnSpc>
                <a:spcPct val="150000"/>
              </a:lnSpc>
            </a:pPr>
            <a:r>
              <a:rPr lang="en-US" altLang="zh-CN" sz="3200" b="1" dirty="0"/>
              <a:t>PR Curve VS ROC Curve</a:t>
            </a:r>
            <a:endParaRPr lang="en-US" sz="3200" b="1" dirty="0"/>
          </a:p>
        </p:txBody>
      </p:sp>
      <p:sp>
        <p:nvSpPr>
          <p:cNvPr id="12" name="矩形 11">
            <a:extLst>
              <a:ext uri="{FF2B5EF4-FFF2-40B4-BE49-F238E27FC236}">
                <a16:creationId xmlns:a16="http://schemas.microsoft.com/office/drawing/2014/main" id="{79150B68-A16E-4EE6-9E6D-6D2573FC9C09}"/>
              </a:ext>
            </a:extLst>
          </p:cNvPr>
          <p:cNvSpPr/>
          <p:nvPr/>
        </p:nvSpPr>
        <p:spPr>
          <a:xfrm>
            <a:off x="337488" y="5472036"/>
            <a:ext cx="8469024" cy="1200329"/>
          </a:xfrm>
          <a:prstGeom prst="rect">
            <a:avLst/>
          </a:prstGeom>
        </p:spPr>
        <p:txBody>
          <a:bodyPr wrap="square">
            <a:spAutoFit/>
          </a:bodyPr>
          <a:lstStyle/>
          <a:p>
            <a:pPr marL="342900" indent="-342900" algn="just">
              <a:buFont typeface="Arial" panose="020B0604020202020204" pitchFamily="34" charset="0"/>
              <a:buChar char="•"/>
            </a:pPr>
            <a:r>
              <a:rPr lang="en-US" altLang="zh-CN" sz="2400" dirty="0"/>
              <a:t>The ROC and PR curves tell a different story, recall that the PR curve focuses on the minority class, whereas the ROC curve covers both classes.</a:t>
            </a:r>
            <a:endParaRPr lang="zh-CN" altLang="en-US" sz="2400" dirty="0"/>
          </a:p>
        </p:txBody>
      </p:sp>
      <p:pic>
        <p:nvPicPr>
          <p:cNvPr id="17" name="图片 16">
            <a:extLst>
              <a:ext uri="{FF2B5EF4-FFF2-40B4-BE49-F238E27FC236}">
                <a16:creationId xmlns:a16="http://schemas.microsoft.com/office/drawing/2014/main" id="{3BC40831-C0BA-4A85-90EE-F24BACA7695E}"/>
              </a:ext>
            </a:extLst>
          </p:cNvPr>
          <p:cNvPicPr>
            <a:picLocks noChangeAspect="1"/>
          </p:cNvPicPr>
          <p:nvPr/>
        </p:nvPicPr>
        <p:blipFill rotWithShape="1">
          <a:blip r:embed="rId2">
            <a:extLst>
              <a:ext uri="{28A0092B-C50C-407E-A947-70E740481C1C}">
                <a14:useLocalDpi xmlns:a14="http://schemas.microsoft.com/office/drawing/2010/main" val="0"/>
              </a:ext>
            </a:extLst>
          </a:blip>
          <a:srcRect b="5570"/>
          <a:stretch/>
        </p:blipFill>
        <p:spPr>
          <a:xfrm>
            <a:off x="485122" y="1729540"/>
            <a:ext cx="3744961" cy="2790105"/>
          </a:xfrm>
          <a:prstGeom prst="rect">
            <a:avLst/>
          </a:prstGeom>
        </p:spPr>
      </p:pic>
      <p:pic>
        <p:nvPicPr>
          <p:cNvPr id="18" name="图片 17">
            <a:extLst>
              <a:ext uri="{FF2B5EF4-FFF2-40B4-BE49-F238E27FC236}">
                <a16:creationId xmlns:a16="http://schemas.microsoft.com/office/drawing/2014/main" id="{B20B04D8-5046-4F9F-B4F6-A4BD87BB05B3}"/>
              </a:ext>
            </a:extLst>
          </p:cNvPr>
          <p:cNvPicPr>
            <a:picLocks noChangeAspect="1"/>
          </p:cNvPicPr>
          <p:nvPr/>
        </p:nvPicPr>
        <p:blipFill rotWithShape="1">
          <a:blip r:embed="rId3">
            <a:extLst>
              <a:ext uri="{28A0092B-C50C-407E-A947-70E740481C1C}">
                <a14:useLocalDpi xmlns:a14="http://schemas.microsoft.com/office/drawing/2010/main" val="0"/>
              </a:ext>
            </a:extLst>
          </a:blip>
          <a:srcRect b="6241"/>
          <a:stretch/>
        </p:blipFill>
        <p:spPr>
          <a:xfrm>
            <a:off x="5016656" y="1653340"/>
            <a:ext cx="3826930" cy="2954658"/>
          </a:xfrm>
          <a:prstGeom prst="rect">
            <a:avLst/>
          </a:prstGeom>
        </p:spPr>
      </p:pic>
      <p:sp>
        <p:nvSpPr>
          <p:cNvPr id="19" name="文本框 18">
            <a:extLst>
              <a:ext uri="{FF2B5EF4-FFF2-40B4-BE49-F238E27FC236}">
                <a16:creationId xmlns:a16="http://schemas.microsoft.com/office/drawing/2014/main" id="{AE2A4A79-2828-4480-8FDB-50EC0CF8BE36}"/>
              </a:ext>
            </a:extLst>
          </p:cNvPr>
          <p:cNvSpPr txBox="1"/>
          <p:nvPr/>
        </p:nvSpPr>
        <p:spPr>
          <a:xfrm>
            <a:off x="318438" y="4648200"/>
            <a:ext cx="4038600" cy="646331"/>
          </a:xfrm>
          <a:prstGeom prst="rect">
            <a:avLst/>
          </a:prstGeom>
          <a:noFill/>
        </p:spPr>
        <p:txBody>
          <a:bodyPr wrap="square" rtlCol="0">
            <a:spAutoFit/>
          </a:bodyPr>
          <a:lstStyle/>
          <a:p>
            <a:pPr algn="just"/>
            <a:r>
              <a:rPr lang="en-US" altLang="zh-CN" b="1" dirty="0">
                <a:solidFill>
                  <a:srgbClr val="FF0000"/>
                </a:solidFill>
              </a:rPr>
              <a:t>ROC Curve </a:t>
            </a:r>
            <a:r>
              <a:rPr lang="en-US" altLang="zh-CN" dirty="0"/>
              <a:t>for Logistic Regression on Imbalanced Classification Dataset.</a:t>
            </a:r>
            <a:endParaRPr lang="zh-CN" altLang="en-US" dirty="0"/>
          </a:p>
        </p:txBody>
      </p:sp>
      <p:sp>
        <p:nvSpPr>
          <p:cNvPr id="20" name="文本框 19">
            <a:extLst>
              <a:ext uri="{FF2B5EF4-FFF2-40B4-BE49-F238E27FC236}">
                <a16:creationId xmlns:a16="http://schemas.microsoft.com/office/drawing/2014/main" id="{D6F605E3-2DF0-4D98-A24F-E67C6ED2D5B2}"/>
              </a:ext>
            </a:extLst>
          </p:cNvPr>
          <p:cNvSpPr txBox="1"/>
          <p:nvPr/>
        </p:nvSpPr>
        <p:spPr>
          <a:xfrm>
            <a:off x="4941755" y="4648200"/>
            <a:ext cx="4038600" cy="646331"/>
          </a:xfrm>
          <a:prstGeom prst="rect">
            <a:avLst/>
          </a:prstGeom>
          <a:noFill/>
        </p:spPr>
        <p:txBody>
          <a:bodyPr wrap="square" rtlCol="0">
            <a:spAutoFit/>
          </a:bodyPr>
          <a:lstStyle/>
          <a:p>
            <a:pPr algn="just"/>
            <a:r>
              <a:rPr lang="en-US" altLang="zh-CN" b="1" dirty="0">
                <a:solidFill>
                  <a:srgbClr val="FF0000"/>
                </a:solidFill>
              </a:rPr>
              <a:t>PR Curve </a:t>
            </a:r>
            <a:r>
              <a:rPr lang="en-US" altLang="zh-CN" dirty="0"/>
              <a:t>for Logistic Regression on Imbalanced Classification Dataset.</a:t>
            </a:r>
            <a:endParaRPr lang="zh-CN" altLang="en-US" dirty="0"/>
          </a:p>
        </p:txBody>
      </p:sp>
      <p:sp>
        <p:nvSpPr>
          <p:cNvPr id="21" name="矩形 20">
            <a:extLst>
              <a:ext uri="{FF2B5EF4-FFF2-40B4-BE49-F238E27FC236}">
                <a16:creationId xmlns:a16="http://schemas.microsoft.com/office/drawing/2014/main" id="{1E38184E-56A7-4512-97BB-DB9008FB147A}"/>
              </a:ext>
            </a:extLst>
          </p:cNvPr>
          <p:cNvSpPr/>
          <p:nvPr/>
        </p:nvSpPr>
        <p:spPr>
          <a:xfrm>
            <a:off x="5016656" y="971011"/>
            <a:ext cx="3973224" cy="646331"/>
          </a:xfrm>
          <a:prstGeom prst="rect">
            <a:avLst/>
          </a:prstGeom>
        </p:spPr>
        <p:txBody>
          <a:bodyPr wrap="square">
            <a:spAutoFit/>
          </a:bodyPr>
          <a:lstStyle/>
          <a:p>
            <a:r>
              <a:rPr lang="en-US" altLang="zh-CN" dirty="0"/>
              <a:t>The zig-zag line of the logistic regression curve close to the no skill line.</a:t>
            </a:r>
            <a:endParaRPr lang="zh-CN" altLang="en-US" dirty="0"/>
          </a:p>
        </p:txBody>
      </p:sp>
      <p:sp>
        <p:nvSpPr>
          <p:cNvPr id="22" name="矩形 21">
            <a:extLst>
              <a:ext uri="{FF2B5EF4-FFF2-40B4-BE49-F238E27FC236}">
                <a16:creationId xmlns:a16="http://schemas.microsoft.com/office/drawing/2014/main" id="{699BE97A-07DF-4C76-BCFA-DD868F1C59B1}"/>
              </a:ext>
            </a:extLst>
          </p:cNvPr>
          <p:cNvSpPr/>
          <p:nvPr/>
        </p:nvSpPr>
        <p:spPr>
          <a:xfrm>
            <a:off x="417801" y="971011"/>
            <a:ext cx="4343400" cy="646331"/>
          </a:xfrm>
          <a:prstGeom prst="rect">
            <a:avLst/>
          </a:prstGeom>
        </p:spPr>
        <p:txBody>
          <a:bodyPr wrap="square">
            <a:spAutoFit/>
          </a:bodyPr>
          <a:lstStyle/>
          <a:p>
            <a:r>
              <a:rPr lang="en-US" altLang="zh-CN" dirty="0"/>
              <a:t>Definitely skillful performance as compared to the diagonal no skill.</a:t>
            </a:r>
          </a:p>
        </p:txBody>
      </p:sp>
      <p:pic>
        <p:nvPicPr>
          <p:cNvPr id="3" name="图片 2">
            <a:extLst>
              <a:ext uri="{FF2B5EF4-FFF2-40B4-BE49-F238E27FC236}">
                <a16:creationId xmlns:a16="http://schemas.microsoft.com/office/drawing/2014/main" id="{FD22F72C-B4D2-40F0-890C-6359CD47138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133600" y="3429000"/>
            <a:ext cx="1931866" cy="585679"/>
          </a:xfrm>
          <a:prstGeom prst="rect">
            <a:avLst/>
          </a:prstGeom>
        </p:spPr>
      </p:pic>
      <p:pic>
        <p:nvPicPr>
          <p:cNvPr id="6" name="图片 5">
            <a:extLst>
              <a:ext uri="{FF2B5EF4-FFF2-40B4-BE49-F238E27FC236}">
                <a16:creationId xmlns:a16="http://schemas.microsoft.com/office/drawing/2014/main" id="{00150C02-E9AA-4C20-B991-F261B25DC64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003268" y="2644512"/>
            <a:ext cx="1718997" cy="480080"/>
          </a:xfrm>
          <a:prstGeom prst="rect">
            <a:avLst/>
          </a:prstGeom>
        </p:spPr>
      </p:pic>
    </p:spTree>
    <p:extLst>
      <p:ext uri="{BB962C8B-B14F-4D97-AF65-F5344CB8AC3E}">
        <p14:creationId xmlns:p14="http://schemas.microsoft.com/office/powerpoint/2010/main" val="400983075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AA21BA45-7398-42A5-B889-088B22615C88}"/>
              </a:ext>
            </a:extLst>
          </p:cNvPr>
          <p:cNvSpPr>
            <a:spLocks noGrp="1"/>
          </p:cNvSpPr>
          <p:nvPr>
            <p:ph type="sldNum" sz="quarter" idx="12"/>
          </p:nvPr>
        </p:nvSpPr>
        <p:spPr/>
        <p:txBody>
          <a:bodyPr/>
          <a:lstStyle/>
          <a:p>
            <a:fld id="{B6F15528-21DE-4FAA-801E-634DDDAF4B2B}" type="slidenum">
              <a:rPr lang="en-US" smtClean="0"/>
              <a:pPr/>
              <a:t>46</a:t>
            </a:fld>
            <a:endParaRPr lang="en-US" dirty="0"/>
          </a:p>
        </p:txBody>
      </p:sp>
      <p:sp>
        <p:nvSpPr>
          <p:cNvPr id="7" name="文本框 6">
            <a:extLst>
              <a:ext uri="{FF2B5EF4-FFF2-40B4-BE49-F238E27FC236}">
                <a16:creationId xmlns:a16="http://schemas.microsoft.com/office/drawing/2014/main" id="{426C0FA5-1795-4B18-9E3A-56EF7ACCBFA8}"/>
              </a:ext>
            </a:extLst>
          </p:cNvPr>
          <p:cNvSpPr txBox="1"/>
          <p:nvPr/>
        </p:nvSpPr>
        <p:spPr>
          <a:xfrm>
            <a:off x="228600" y="76200"/>
            <a:ext cx="4128438" cy="754694"/>
          </a:xfrm>
          <a:prstGeom prst="rect">
            <a:avLst/>
          </a:prstGeom>
          <a:noFill/>
        </p:spPr>
        <p:txBody>
          <a:bodyPr wrap="none" rtlCol="0">
            <a:spAutoFit/>
          </a:bodyPr>
          <a:lstStyle/>
          <a:p>
            <a:pPr>
              <a:lnSpc>
                <a:spcPct val="150000"/>
              </a:lnSpc>
            </a:pPr>
            <a:r>
              <a:rPr lang="en-US" altLang="zh-CN" sz="3200" b="1" dirty="0"/>
              <a:t>PR Curve VS ROC Curve</a:t>
            </a:r>
            <a:endParaRPr lang="en-US" sz="3200" b="1" dirty="0"/>
          </a:p>
        </p:txBody>
      </p:sp>
      <p:pic>
        <p:nvPicPr>
          <p:cNvPr id="16" name="图片 15">
            <a:extLst>
              <a:ext uri="{FF2B5EF4-FFF2-40B4-BE49-F238E27FC236}">
                <a16:creationId xmlns:a16="http://schemas.microsoft.com/office/drawing/2014/main" id="{F3D90DEC-6A9F-46B0-AA90-155BAC3FD8D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4975" y="897535"/>
            <a:ext cx="8228025" cy="1463554"/>
          </a:xfrm>
          <a:prstGeom prst="rect">
            <a:avLst/>
          </a:prstGeom>
        </p:spPr>
      </p:pic>
      <p:sp>
        <p:nvSpPr>
          <p:cNvPr id="3" name="矩形 2">
            <a:extLst>
              <a:ext uri="{FF2B5EF4-FFF2-40B4-BE49-F238E27FC236}">
                <a16:creationId xmlns:a16="http://schemas.microsoft.com/office/drawing/2014/main" id="{FA5A55F5-7D3C-4F87-B527-45AB9E3A2910}"/>
              </a:ext>
            </a:extLst>
          </p:cNvPr>
          <p:cNvSpPr/>
          <p:nvPr/>
        </p:nvSpPr>
        <p:spPr>
          <a:xfrm>
            <a:off x="3412944" y="3204557"/>
            <a:ext cx="5294176" cy="2308324"/>
          </a:xfrm>
          <a:prstGeom prst="rect">
            <a:avLst/>
          </a:prstGeom>
        </p:spPr>
        <p:txBody>
          <a:bodyPr wrap="square">
            <a:spAutoFit/>
          </a:bodyPr>
          <a:lstStyle/>
          <a:p>
            <a:r>
              <a:rPr lang="en-US" altLang="zh-CN" dirty="0"/>
              <a:t>https://books.google.com/books?id=jaXJDwAAQBAJ&amp;pg=PA77&amp;lpg=PA77&amp;dq=We+will+use+a+99+percent+and+1+percent+weighting+with+1,000+total+examples,+meaning+there+would+be+about+990+for+class+0+and+about+10+for+class+1.&amp;source=bl&amp;ots=CeOEeLN0WT&amp;sig=ACfU3U2M00bE5YT3BDnOQwOBr2cDa_oLMg&amp;hl=en&amp;sa=X&amp;ved=2ahUKEwiYht344J7pAhWaSH0KHbshCvAQ6AEwAHoECAkQAQ#v=onepage&amp;q&amp;f=false</a:t>
            </a:r>
            <a:endParaRPr lang="zh-CN" altLang="en-US" dirty="0"/>
          </a:p>
        </p:txBody>
      </p:sp>
      <p:pic>
        <p:nvPicPr>
          <p:cNvPr id="6" name="图片 5">
            <a:extLst>
              <a:ext uri="{FF2B5EF4-FFF2-40B4-BE49-F238E27FC236}">
                <a16:creationId xmlns:a16="http://schemas.microsoft.com/office/drawing/2014/main" id="{56DD4F2D-9B86-491F-A10B-0819C7962792}"/>
              </a:ext>
            </a:extLst>
          </p:cNvPr>
          <p:cNvPicPr>
            <a:picLocks noChangeAspect="1"/>
          </p:cNvPicPr>
          <p:nvPr/>
        </p:nvPicPr>
        <p:blipFill>
          <a:blip r:embed="rId3"/>
          <a:stretch>
            <a:fillRect/>
          </a:stretch>
        </p:blipFill>
        <p:spPr>
          <a:xfrm>
            <a:off x="268424" y="2427730"/>
            <a:ext cx="2971800" cy="4205097"/>
          </a:xfrm>
          <a:prstGeom prst="rect">
            <a:avLst/>
          </a:prstGeom>
        </p:spPr>
      </p:pic>
    </p:spTree>
    <p:extLst>
      <p:ext uri="{BB962C8B-B14F-4D97-AF65-F5344CB8AC3E}">
        <p14:creationId xmlns:p14="http://schemas.microsoft.com/office/powerpoint/2010/main" val="288460260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F15528-21DE-4FAA-801E-634DDDAF4B2B}" type="slidenum">
              <a:rPr lang="en-US" smtClean="0"/>
              <a:pPr/>
              <a:t>47</a:t>
            </a:fld>
            <a:endParaRPr lang="en-US"/>
          </a:p>
        </p:txBody>
      </p:sp>
      <p:sp>
        <p:nvSpPr>
          <p:cNvPr id="4" name="文本框 3">
            <a:extLst>
              <a:ext uri="{FF2B5EF4-FFF2-40B4-BE49-F238E27FC236}">
                <a16:creationId xmlns:a16="http://schemas.microsoft.com/office/drawing/2014/main" id="{60049FE2-D3F5-4096-9FC9-B63B2A1EDC37}"/>
              </a:ext>
            </a:extLst>
          </p:cNvPr>
          <p:cNvSpPr txBox="1"/>
          <p:nvPr/>
        </p:nvSpPr>
        <p:spPr>
          <a:xfrm>
            <a:off x="3097077" y="3051653"/>
            <a:ext cx="2949846" cy="754694"/>
          </a:xfrm>
          <a:prstGeom prst="rect">
            <a:avLst/>
          </a:prstGeom>
          <a:noFill/>
        </p:spPr>
        <p:txBody>
          <a:bodyPr wrap="none" rtlCol="0">
            <a:spAutoFit/>
          </a:bodyPr>
          <a:lstStyle/>
          <a:p>
            <a:pPr>
              <a:lnSpc>
                <a:spcPct val="150000"/>
              </a:lnSpc>
            </a:pPr>
            <a:r>
              <a:rPr lang="en-US" sz="3200" b="1" dirty="0"/>
              <a:t>Model Selection</a:t>
            </a:r>
          </a:p>
        </p:txBody>
      </p:sp>
    </p:spTree>
    <p:extLst>
      <p:ext uri="{BB962C8B-B14F-4D97-AF65-F5344CB8AC3E}">
        <p14:creationId xmlns:p14="http://schemas.microsoft.com/office/powerpoint/2010/main" val="343637689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圆角 7">
            <a:extLst>
              <a:ext uri="{FF2B5EF4-FFF2-40B4-BE49-F238E27FC236}">
                <a16:creationId xmlns:a16="http://schemas.microsoft.com/office/drawing/2014/main" id="{DC8E9541-2902-45E2-A2F6-8FB122BF09B3}"/>
              </a:ext>
            </a:extLst>
          </p:cNvPr>
          <p:cNvSpPr/>
          <p:nvPr/>
        </p:nvSpPr>
        <p:spPr>
          <a:xfrm>
            <a:off x="304800" y="1109942"/>
            <a:ext cx="8534400" cy="997653"/>
          </a:xfrm>
          <a:prstGeom prst="roundRect">
            <a:avLst>
              <a:gd name="adj" fmla="val 3573"/>
            </a:avLst>
          </a:prstGeom>
          <a:solidFill>
            <a:srgbClr val="F9E6E6"/>
          </a:solidFill>
          <a:ln>
            <a:solidFill>
              <a:srgbClr val="FFFBD6"/>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800" dirty="0">
              <a:solidFill>
                <a:schemeClr val="tx1"/>
              </a:solidFill>
            </a:endParaRPr>
          </a:p>
        </p:txBody>
      </p:sp>
      <p:sp>
        <p:nvSpPr>
          <p:cNvPr id="2" name="灯片编号占位符 1"/>
          <p:cNvSpPr>
            <a:spLocks noGrp="1"/>
          </p:cNvSpPr>
          <p:nvPr>
            <p:ph type="sldNum" sz="quarter" idx="12"/>
          </p:nvPr>
        </p:nvSpPr>
        <p:spPr/>
        <p:txBody>
          <a:bodyPr/>
          <a:lstStyle/>
          <a:p>
            <a:fld id="{B6F15528-21DE-4FAA-801E-634DDDAF4B2B}" type="slidenum">
              <a:rPr lang="en-US" smtClean="0"/>
              <a:pPr/>
              <a:t>48</a:t>
            </a:fld>
            <a:endParaRPr lang="en-US"/>
          </a:p>
        </p:txBody>
      </p:sp>
      <p:sp>
        <p:nvSpPr>
          <p:cNvPr id="4" name="文本框 3">
            <a:extLst>
              <a:ext uri="{FF2B5EF4-FFF2-40B4-BE49-F238E27FC236}">
                <a16:creationId xmlns:a16="http://schemas.microsoft.com/office/drawing/2014/main" id="{60049FE2-D3F5-4096-9FC9-B63B2A1EDC37}"/>
              </a:ext>
            </a:extLst>
          </p:cNvPr>
          <p:cNvSpPr txBox="1"/>
          <p:nvPr/>
        </p:nvSpPr>
        <p:spPr>
          <a:xfrm>
            <a:off x="304800" y="152400"/>
            <a:ext cx="2949846" cy="754694"/>
          </a:xfrm>
          <a:prstGeom prst="rect">
            <a:avLst/>
          </a:prstGeom>
          <a:noFill/>
        </p:spPr>
        <p:txBody>
          <a:bodyPr wrap="none" rtlCol="0">
            <a:spAutoFit/>
          </a:bodyPr>
          <a:lstStyle/>
          <a:p>
            <a:pPr>
              <a:lnSpc>
                <a:spcPct val="150000"/>
              </a:lnSpc>
            </a:pPr>
            <a:r>
              <a:rPr lang="en-US" sz="3200" b="1" dirty="0"/>
              <a:t>Model Selection</a:t>
            </a:r>
          </a:p>
        </p:txBody>
      </p:sp>
      <p:sp>
        <p:nvSpPr>
          <p:cNvPr id="5" name="矩形 4"/>
          <p:cNvSpPr/>
          <p:nvPr/>
        </p:nvSpPr>
        <p:spPr>
          <a:xfrm>
            <a:off x="381000" y="1174320"/>
            <a:ext cx="8382000" cy="830997"/>
          </a:xfrm>
          <a:prstGeom prst="rect">
            <a:avLst/>
          </a:prstGeom>
        </p:spPr>
        <p:txBody>
          <a:bodyPr wrap="square">
            <a:spAutoFit/>
          </a:bodyPr>
          <a:lstStyle/>
          <a:p>
            <a:pPr algn="just"/>
            <a:r>
              <a:rPr lang="en-US" altLang="zh-CN" sz="2400" i="1" dirty="0">
                <a:solidFill>
                  <a:srgbClr val="404040"/>
                </a:solidFill>
              </a:rPr>
              <a:t>Model selection</a:t>
            </a:r>
            <a:r>
              <a:rPr lang="en-US" altLang="zh-CN" sz="2400" dirty="0">
                <a:solidFill>
                  <a:srgbClr val="404040"/>
                </a:solidFill>
              </a:rPr>
              <a:t> refers to the process of selecting the right model (or type of model) that fits the data. </a:t>
            </a:r>
            <a:endParaRPr lang="zh-CN" altLang="en-US" sz="2400" dirty="0"/>
          </a:p>
        </p:txBody>
      </p:sp>
      <p:sp>
        <p:nvSpPr>
          <p:cNvPr id="8" name="矩形 7">
            <a:extLst>
              <a:ext uri="{FF2B5EF4-FFF2-40B4-BE49-F238E27FC236}">
                <a16:creationId xmlns:a16="http://schemas.microsoft.com/office/drawing/2014/main" id="{0FBAA08B-DD7C-417D-A8B4-5A4570FDEA36}"/>
              </a:ext>
            </a:extLst>
          </p:cNvPr>
          <p:cNvSpPr/>
          <p:nvPr/>
        </p:nvSpPr>
        <p:spPr>
          <a:xfrm>
            <a:off x="401320" y="2644677"/>
            <a:ext cx="8361680" cy="2308324"/>
          </a:xfrm>
          <a:prstGeom prst="rect">
            <a:avLst/>
          </a:prstGeom>
        </p:spPr>
        <p:txBody>
          <a:bodyPr wrap="square">
            <a:spAutoFit/>
          </a:bodyPr>
          <a:lstStyle/>
          <a:p>
            <a:pPr marL="342900" indent="-342900" algn="just">
              <a:buFont typeface="Arial" panose="020B0604020202020204" pitchFamily="34" charset="0"/>
              <a:buChar char="•"/>
            </a:pPr>
            <a:r>
              <a:rPr lang="en-US" altLang="zh-CN" sz="2400" dirty="0"/>
              <a:t>Most machine learning algorithms have several settings that we can use to control the behavior of the learning algorithm. These settings are called </a:t>
            </a:r>
            <a:r>
              <a:rPr lang="en-US" altLang="zh-CN" sz="2400" dirty="0">
                <a:solidFill>
                  <a:srgbClr val="FF0000"/>
                </a:solidFill>
              </a:rPr>
              <a:t>hyperparameters</a:t>
            </a:r>
            <a:r>
              <a:rPr lang="en-US" altLang="zh-CN" sz="2400" dirty="0"/>
              <a:t>. </a:t>
            </a:r>
          </a:p>
          <a:p>
            <a:pPr marL="342900" indent="-342900" algn="just">
              <a:buFont typeface="Arial" panose="020B0604020202020204" pitchFamily="34" charset="0"/>
              <a:buChar char="•"/>
            </a:pPr>
            <a:endParaRPr lang="en-US" altLang="zh-CN" sz="2400" dirty="0"/>
          </a:p>
          <a:p>
            <a:pPr marL="342900" indent="-342900" algn="just">
              <a:buFont typeface="Arial" panose="020B0604020202020204" pitchFamily="34" charset="0"/>
              <a:buChar char="•"/>
            </a:pPr>
            <a:r>
              <a:rPr lang="en-US" altLang="zh-CN" sz="2400" dirty="0"/>
              <a:t>The values of hyperparameters are not adapted by the learning algorithm itself.</a:t>
            </a:r>
            <a:endParaRPr lang="zh-CN" altLang="en-US" sz="2400" dirty="0"/>
          </a:p>
        </p:txBody>
      </p:sp>
    </p:spTree>
    <p:extLst>
      <p:ext uri="{BB962C8B-B14F-4D97-AF65-F5344CB8AC3E}">
        <p14:creationId xmlns:p14="http://schemas.microsoft.com/office/powerpoint/2010/main" val="265549370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圆角 7">
            <a:extLst>
              <a:ext uri="{FF2B5EF4-FFF2-40B4-BE49-F238E27FC236}">
                <a16:creationId xmlns:a16="http://schemas.microsoft.com/office/drawing/2014/main" id="{DC8E9541-2902-45E2-A2F6-8FB122BF09B3}"/>
              </a:ext>
            </a:extLst>
          </p:cNvPr>
          <p:cNvSpPr/>
          <p:nvPr/>
        </p:nvSpPr>
        <p:spPr>
          <a:xfrm>
            <a:off x="304800" y="1065835"/>
            <a:ext cx="8367346" cy="1081767"/>
          </a:xfrm>
          <a:prstGeom prst="roundRect">
            <a:avLst>
              <a:gd name="adj" fmla="val 3573"/>
            </a:avLst>
          </a:prstGeom>
          <a:solidFill>
            <a:srgbClr val="FFFBD6"/>
          </a:solidFill>
          <a:ln>
            <a:solidFill>
              <a:srgbClr val="FFFBD6"/>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800" dirty="0">
              <a:solidFill>
                <a:schemeClr val="tx1"/>
              </a:solidFill>
            </a:endParaRPr>
          </a:p>
        </p:txBody>
      </p:sp>
      <p:sp>
        <p:nvSpPr>
          <p:cNvPr id="19" name="矩形: 圆角 7">
            <a:extLst>
              <a:ext uri="{FF2B5EF4-FFF2-40B4-BE49-F238E27FC236}">
                <a16:creationId xmlns:a16="http://schemas.microsoft.com/office/drawing/2014/main" id="{DC8E9541-2902-45E2-A2F6-8FB122BF09B3}"/>
              </a:ext>
            </a:extLst>
          </p:cNvPr>
          <p:cNvSpPr/>
          <p:nvPr/>
        </p:nvSpPr>
        <p:spPr>
          <a:xfrm>
            <a:off x="304800" y="2369201"/>
            <a:ext cx="8367346" cy="1828800"/>
          </a:xfrm>
          <a:prstGeom prst="roundRect">
            <a:avLst>
              <a:gd name="adj" fmla="val 3573"/>
            </a:avLst>
          </a:prstGeom>
          <a:solidFill>
            <a:srgbClr val="F9E6E6"/>
          </a:solidFill>
          <a:ln>
            <a:solidFill>
              <a:srgbClr val="FFFBD6"/>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800" dirty="0">
              <a:solidFill>
                <a:schemeClr val="tx1"/>
              </a:solidFill>
            </a:endParaRPr>
          </a:p>
        </p:txBody>
      </p:sp>
      <p:sp>
        <p:nvSpPr>
          <p:cNvPr id="17" name="矩形: 圆角 7">
            <a:extLst>
              <a:ext uri="{FF2B5EF4-FFF2-40B4-BE49-F238E27FC236}">
                <a16:creationId xmlns:a16="http://schemas.microsoft.com/office/drawing/2014/main" id="{DC8E9541-2902-45E2-A2F6-8FB122BF09B3}"/>
              </a:ext>
            </a:extLst>
          </p:cNvPr>
          <p:cNvSpPr/>
          <p:nvPr/>
        </p:nvSpPr>
        <p:spPr>
          <a:xfrm>
            <a:off x="319454" y="4419600"/>
            <a:ext cx="8367346" cy="2057400"/>
          </a:xfrm>
          <a:prstGeom prst="roundRect">
            <a:avLst>
              <a:gd name="adj" fmla="val 3573"/>
            </a:avLst>
          </a:prstGeom>
          <a:solidFill>
            <a:srgbClr val="E6F5F0"/>
          </a:solidFill>
          <a:ln>
            <a:solidFill>
              <a:srgbClr val="FFFBD6"/>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800" dirty="0">
              <a:solidFill>
                <a:schemeClr val="tx1"/>
              </a:solidFill>
            </a:endParaRPr>
          </a:p>
        </p:txBody>
      </p:sp>
      <p:sp>
        <p:nvSpPr>
          <p:cNvPr id="2" name="灯片编号占位符 1"/>
          <p:cNvSpPr>
            <a:spLocks noGrp="1"/>
          </p:cNvSpPr>
          <p:nvPr>
            <p:ph type="sldNum" sz="quarter" idx="12"/>
          </p:nvPr>
        </p:nvSpPr>
        <p:spPr/>
        <p:txBody>
          <a:bodyPr/>
          <a:lstStyle/>
          <a:p>
            <a:fld id="{B6F15528-21DE-4FAA-801E-634DDDAF4B2B}" type="slidenum">
              <a:rPr lang="en-US" smtClean="0"/>
              <a:pPr/>
              <a:t>49</a:t>
            </a:fld>
            <a:endParaRPr lang="en-US"/>
          </a:p>
        </p:txBody>
      </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0DBF42EE-829E-4E81-A8D9-A059B296FBCA}"/>
                  </a:ext>
                </a:extLst>
              </p:cNvPr>
              <p:cNvSpPr txBox="1"/>
              <p:nvPr/>
            </p:nvSpPr>
            <p:spPr>
              <a:xfrm>
                <a:off x="603738" y="2498579"/>
                <a:ext cx="2185855" cy="400110"/>
              </a:xfrm>
              <a:prstGeom prst="rect">
                <a:avLst/>
              </a:prstGeom>
              <a:noFill/>
            </p:spPr>
            <p:txBody>
              <a:bodyPr wrap="none" rtlCol="0">
                <a:spAutoFit/>
              </a:bodyPr>
              <a:lstStyle/>
              <a:p>
                <a:r>
                  <a:rPr lang="en-US" sz="2000" b="1" dirty="0"/>
                  <a:t>Linear regression: </a:t>
                </a:r>
                <a14:m>
                  <m:oMath xmlns:m="http://schemas.openxmlformats.org/officeDocument/2006/math">
                    <m:r>
                      <a:rPr lang="en-US" altLang="zh-CN" sz="2000" b="0" i="1" dirty="0" smtClean="0">
                        <a:latin typeface="Cambria Math" panose="02040503050406030204" pitchFamily="18" charset="0"/>
                      </a:rPr>
                      <m:t> </m:t>
                    </m:r>
                  </m:oMath>
                </a14:m>
                <a:endParaRPr lang="en-US" sz="2000" dirty="0"/>
              </a:p>
            </p:txBody>
          </p:sp>
        </mc:Choice>
        <mc:Fallback xmlns="">
          <p:sp>
            <p:nvSpPr>
              <p:cNvPr id="3" name="文本框 2">
                <a:extLst>
                  <a:ext uri="{FF2B5EF4-FFF2-40B4-BE49-F238E27FC236}">
                    <a16:creationId xmlns:a16="http://schemas.microsoft.com/office/drawing/2014/main" xmlns:a14="http://schemas.microsoft.com/office/drawing/2010/main" xmlns="" id="{0DBF42EE-829E-4E81-A8D9-A059B296FBCA}"/>
                  </a:ext>
                </a:extLst>
              </p:cNvPr>
              <p:cNvSpPr txBox="1">
                <a:spLocks noRot="1" noChangeAspect="1" noMove="1" noResize="1" noEditPoints="1" noAdjustHandles="1" noChangeArrowheads="1" noChangeShapeType="1" noTextEdit="1"/>
              </p:cNvSpPr>
              <p:nvPr/>
            </p:nvSpPr>
            <p:spPr>
              <a:xfrm>
                <a:off x="603738" y="2498579"/>
                <a:ext cx="2185855" cy="400110"/>
              </a:xfrm>
              <a:prstGeom prst="rect">
                <a:avLst/>
              </a:prstGeom>
              <a:blipFill rotWithShape="0">
                <a:blip r:embed="rId2"/>
                <a:stretch>
                  <a:fillRect l="-2786" t="-9091" b="-2575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矩形 4">
                <a:extLst>
                  <a:ext uri="{FF2B5EF4-FFF2-40B4-BE49-F238E27FC236}">
                    <a16:creationId xmlns:a16="http://schemas.microsoft.com/office/drawing/2014/main" id="{C03F7F37-AE63-4232-986A-53276FC486D4}"/>
                  </a:ext>
                </a:extLst>
              </p:cNvPr>
              <p:cNvSpPr/>
              <p:nvPr/>
            </p:nvSpPr>
            <p:spPr>
              <a:xfrm>
                <a:off x="3194538" y="2286000"/>
                <a:ext cx="4113756" cy="647100"/>
              </a:xfrm>
              <a:prstGeom prst="rect">
                <a:avLst/>
              </a:prstGeom>
            </p:spPr>
            <p:txBody>
              <a:bodyPr wrap="square">
                <a:spAutoFit/>
              </a:bodyPr>
              <a:lstStyle/>
              <a:p>
                <a:pPr>
                  <a:lnSpc>
                    <a:spcPct val="120000"/>
                  </a:lnSpc>
                </a:pPr>
                <a14:m>
                  <m:oMath xmlns:m="http://schemas.openxmlformats.org/officeDocument/2006/math">
                    <m:func>
                      <m:funcPr>
                        <m:ctrlPr>
                          <a:rPr lang="pt-BR" altLang="zh-CN" sz="2000" i="1" dirty="0" smtClean="0">
                            <a:latin typeface="Cambria Math" panose="02040503050406030204" pitchFamily="18" charset="0"/>
                          </a:rPr>
                        </m:ctrlPr>
                      </m:funcPr>
                      <m:fName>
                        <m:limLow>
                          <m:limLowPr>
                            <m:ctrlPr>
                              <a:rPr lang="pt-BR" altLang="zh-CN" sz="2000" i="1" dirty="0">
                                <a:latin typeface="Cambria Math" panose="02040503050406030204" pitchFamily="18" charset="0"/>
                              </a:rPr>
                            </m:ctrlPr>
                          </m:limLowPr>
                          <m:e>
                            <m:r>
                              <m:rPr>
                                <m:sty m:val="p"/>
                              </m:rPr>
                              <a:rPr lang="pt-BR" altLang="zh-CN" sz="2000" dirty="0">
                                <a:latin typeface="Cambria Math" panose="02040503050406030204" pitchFamily="18" charset="0"/>
                              </a:rPr>
                              <m:t>m</m:t>
                            </m:r>
                            <m:r>
                              <m:rPr>
                                <m:sty m:val="p"/>
                              </m:rPr>
                              <a:rPr lang="en-US" altLang="zh-CN" sz="2000" dirty="0">
                                <a:latin typeface="Cambria Math" panose="02040503050406030204" pitchFamily="18" charset="0"/>
                              </a:rPr>
                              <m:t>in</m:t>
                            </m:r>
                          </m:e>
                          <m:lim>
                            <m:r>
                              <a:rPr lang="en-US" altLang="zh-CN" sz="2000" b="1" i="1" dirty="0">
                                <a:solidFill>
                                  <a:srgbClr val="C55A11"/>
                                </a:solidFill>
                                <a:latin typeface="Cambria Math" panose="02040503050406030204" pitchFamily="18" charset="0"/>
                              </a:rPr>
                              <m:t>𝒘</m:t>
                            </m:r>
                          </m:lim>
                        </m:limLow>
                      </m:fName>
                      <m:e>
                        <m:r>
                          <a:rPr lang="en-US" altLang="zh-CN" sz="2000" i="1" dirty="0">
                            <a:latin typeface="Cambria Math" panose="02040503050406030204" pitchFamily="18" charset="0"/>
                          </a:rPr>
                          <m:t>𝐸</m:t>
                        </m:r>
                        <m:d>
                          <m:dPr>
                            <m:ctrlPr>
                              <a:rPr lang="en-US" altLang="zh-CN" sz="2000" i="1" dirty="0">
                                <a:latin typeface="Cambria Math" panose="02040503050406030204" pitchFamily="18" charset="0"/>
                              </a:rPr>
                            </m:ctrlPr>
                          </m:dPr>
                          <m:e>
                            <m:r>
                              <a:rPr lang="en-US" altLang="zh-CN" sz="2000" b="1" i="1" dirty="0">
                                <a:solidFill>
                                  <a:srgbClr val="C55A11"/>
                                </a:solidFill>
                                <a:latin typeface="Cambria Math" panose="02040503050406030204" pitchFamily="18" charset="0"/>
                              </a:rPr>
                              <m:t>𝒘</m:t>
                            </m:r>
                          </m:e>
                        </m:d>
                        <m:r>
                          <a:rPr lang="en-US" altLang="zh-CN" sz="2000" i="1" dirty="0">
                            <a:latin typeface="Cambria Math" panose="02040503050406030204" pitchFamily="18" charset="0"/>
                          </a:rPr>
                          <m:t>=</m:t>
                        </m:r>
                        <m:f>
                          <m:fPr>
                            <m:ctrlPr>
                              <a:rPr lang="en-US" altLang="zh-CN" sz="2000" b="0" i="1" dirty="0" smtClean="0">
                                <a:latin typeface="Cambria Math" panose="02040503050406030204" pitchFamily="18" charset="0"/>
                              </a:rPr>
                            </m:ctrlPr>
                          </m:fPr>
                          <m:num>
                            <m:r>
                              <a:rPr lang="en-US" altLang="zh-CN" sz="2000" b="0" i="1" dirty="0" smtClean="0">
                                <a:latin typeface="Cambria Math" panose="02040503050406030204" pitchFamily="18" charset="0"/>
                              </a:rPr>
                              <m:t>1</m:t>
                            </m:r>
                          </m:num>
                          <m:den>
                            <m:r>
                              <a:rPr lang="en-US" altLang="zh-CN" sz="2000" b="0" i="1" dirty="0" smtClean="0">
                                <a:latin typeface="Cambria Math" panose="02040503050406030204" pitchFamily="18" charset="0"/>
                              </a:rPr>
                              <m:t>2</m:t>
                            </m:r>
                            <m:r>
                              <a:rPr lang="en-US" altLang="zh-CN" sz="2000" b="0" i="1" dirty="0" smtClean="0">
                                <a:latin typeface="Cambria Math" panose="02040503050406030204" pitchFamily="18" charset="0"/>
                              </a:rPr>
                              <m:t>𝑁</m:t>
                            </m:r>
                          </m:den>
                        </m:f>
                        <m:sSup>
                          <m:sSupPr>
                            <m:ctrlPr>
                              <a:rPr lang="en-US" altLang="zh-CN" sz="2000" i="1">
                                <a:latin typeface="Cambria Math" panose="02040503050406030204" pitchFamily="18" charset="0"/>
                              </a:rPr>
                            </m:ctrlPr>
                          </m:sSupPr>
                          <m:e>
                            <m:d>
                              <m:dPr>
                                <m:begChr m:val="‖"/>
                                <m:endChr m:val="‖"/>
                                <m:ctrlPr>
                                  <a:rPr lang="en-US" altLang="zh-CN" sz="2000" i="1">
                                    <a:latin typeface="Cambria Math" panose="02040503050406030204" pitchFamily="18" charset="0"/>
                                  </a:rPr>
                                </m:ctrlPr>
                              </m:dPr>
                              <m:e>
                                <m:r>
                                  <a:rPr lang="en-US" altLang="zh-CN" sz="2000" b="1" i="1" smtClean="0">
                                    <a:solidFill>
                                      <a:schemeClr val="tx1"/>
                                    </a:solidFill>
                                    <a:latin typeface="Cambria Math" panose="02040503050406030204" pitchFamily="18" charset="0"/>
                                  </a:rPr>
                                  <m:t>𝑿</m:t>
                                </m:r>
                                <m:r>
                                  <a:rPr lang="en-US" altLang="zh-CN" sz="2000" b="1" i="1" dirty="0">
                                    <a:solidFill>
                                      <a:srgbClr val="C55A11"/>
                                    </a:solidFill>
                                    <a:latin typeface="Cambria Math" panose="02040503050406030204" pitchFamily="18" charset="0"/>
                                  </a:rPr>
                                  <m:t>𝒘</m:t>
                                </m:r>
                                <m:r>
                                  <a:rPr lang="en-US" altLang="zh-CN" sz="2000" b="1" i="1" smtClean="0">
                                    <a:solidFill>
                                      <a:schemeClr val="tx1"/>
                                    </a:solidFill>
                                    <a:latin typeface="Cambria Math" panose="02040503050406030204" pitchFamily="18" charset="0"/>
                                  </a:rPr>
                                  <m:t>−</m:t>
                                </m:r>
                                <m:r>
                                  <a:rPr lang="en-US" altLang="zh-CN" sz="2000" b="1" i="1" smtClean="0">
                                    <a:solidFill>
                                      <a:schemeClr val="tx1"/>
                                    </a:solidFill>
                                    <a:latin typeface="Cambria Math" panose="02040503050406030204" pitchFamily="18" charset="0"/>
                                  </a:rPr>
                                  <m:t>𝒚</m:t>
                                </m:r>
                              </m:e>
                            </m:d>
                          </m:e>
                          <m:sup>
                            <m:r>
                              <a:rPr lang="en-US" altLang="zh-CN" sz="2000" i="1">
                                <a:latin typeface="Cambria Math" panose="02040503050406030204" pitchFamily="18" charset="0"/>
                              </a:rPr>
                              <m:t>2</m:t>
                            </m:r>
                          </m:sup>
                        </m:sSup>
                      </m:e>
                    </m:func>
                  </m:oMath>
                </a14:m>
                <a:r>
                  <a:rPr lang="en-US" sz="2000" dirty="0"/>
                  <a:t> </a:t>
                </a:r>
              </a:p>
            </p:txBody>
          </p:sp>
        </mc:Choice>
        <mc:Fallback xmlns="">
          <p:sp>
            <p:nvSpPr>
              <p:cNvPr id="5" name="矩形 4">
                <a:extLst>
                  <a:ext uri="{FF2B5EF4-FFF2-40B4-BE49-F238E27FC236}">
                    <a16:creationId xmlns:a16="http://schemas.microsoft.com/office/drawing/2014/main" xmlns:a14="http://schemas.microsoft.com/office/drawing/2010/main" xmlns="" id="{C03F7F37-AE63-4232-986A-53276FC486D4}"/>
                  </a:ext>
                </a:extLst>
              </p:cNvPr>
              <p:cNvSpPr>
                <a:spLocks noRot="1" noChangeAspect="1" noMove="1" noResize="1" noEditPoints="1" noAdjustHandles="1" noChangeArrowheads="1" noChangeShapeType="1" noTextEdit="1"/>
              </p:cNvSpPr>
              <p:nvPr/>
            </p:nvSpPr>
            <p:spPr>
              <a:xfrm>
                <a:off x="3194538" y="2286000"/>
                <a:ext cx="4113756" cy="647100"/>
              </a:xfrm>
              <a:prstGeom prst="rect">
                <a:avLst/>
              </a:prstGeom>
              <a:blipFill rotWithShape="0">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矩形 7">
                <a:extLst>
                  <a:ext uri="{FF2B5EF4-FFF2-40B4-BE49-F238E27FC236}">
                    <a16:creationId xmlns:a16="http://schemas.microsoft.com/office/drawing/2014/main" id="{C03F7F37-AE63-4232-986A-53276FC486D4}"/>
                  </a:ext>
                </a:extLst>
              </p:cNvPr>
              <p:cNvSpPr/>
              <p:nvPr/>
            </p:nvSpPr>
            <p:spPr>
              <a:xfrm>
                <a:off x="3194538" y="2846185"/>
                <a:ext cx="5334000" cy="666336"/>
              </a:xfrm>
              <a:prstGeom prst="rect">
                <a:avLst/>
              </a:prstGeom>
            </p:spPr>
            <p:txBody>
              <a:bodyPr wrap="square">
                <a:spAutoFit/>
              </a:bodyPr>
              <a:lstStyle/>
              <a:p>
                <a:pPr>
                  <a:lnSpc>
                    <a:spcPct val="120000"/>
                  </a:lnSpc>
                </a:pPr>
                <a14:m>
                  <m:oMath xmlns:m="http://schemas.openxmlformats.org/officeDocument/2006/math">
                    <m:func>
                      <m:funcPr>
                        <m:ctrlPr>
                          <a:rPr lang="pt-BR" altLang="zh-CN" sz="2000" i="1" dirty="0" smtClean="0">
                            <a:latin typeface="Cambria Math" panose="02040503050406030204" pitchFamily="18" charset="0"/>
                          </a:rPr>
                        </m:ctrlPr>
                      </m:funcPr>
                      <m:fName>
                        <m:limLow>
                          <m:limLowPr>
                            <m:ctrlPr>
                              <a:rPr lang="pt-BR" altLang="zh-CN" sz="2000" i="1" dirty="0">
                                <a:latin typeface="Cambria Math" panose="02040503050406030204" pitchFamily="18" charset="0"/>
                              </a:rPr>
                            </m:ctrlPr>
                          </m:limLowPr>
                          <m:e>
                            <m:r>
                              <m:rPr>
                                <m:sty m:val="p"/>
                              </m:rPr>
                              <a:rPr lang="pt-BR" altLang="zh-CN" sz="2000" dirty="0">
                                <a:latin typeface="Cambria Math" panose="02040503050406030204" pitchFamily="18" charset="0"/>
                              </a:rPr>
                              <m:t>m</m:t>
                            </m:r>
                            <m:r>
                              <m:rPr>
                                <m:sty m:val="p"/>
                              </m:rPr>
                              <a:rPr lang="en-US" altLang="zh-CN" sz="2000" dirty="0">
                                <a:latin typeface="Cambria Math" panose="02040503050406030204" pitchFamily="18" charset="0"/>
                              </a:rPr>
                              <m:t>in</m:t>
                            </m:r>
                          </m:e>
                          <m:lim>
                            <m:r>
                              <a:rPr lang="en-US" altLang="zh-CN" sz="2000" b="1" i="1" dirty="0">
                                <a:solidFill>
                                  <a:srgbClr val="C55A11"/>
                                </a:solidFill>
                                <a:latin typeface="Cambria Math" panose="02040503050406030204" pitchFamily="18" charset="0"/>
                              </a:rPr>
                              <m:t>𝒘</m:t>
                            </m:r>
                          </m:lim>
                        </m:limLow>
                      </m:fName>
                      <m:e>
                        <m:r>
                          <a:rPr lang="en-US" altLang="zh-CN" sz="2000" i="1" dirty="0">
                            <a:latin typeface="Cambria Math" panose="02040503050406030204" pitchFamily="18" charset="0"/>
                          </a:rPr>
                          <m:t>𝐸</m:t>
                        </m:r>
                        <m:d>
                          <m:dPr>
                            <m:ctrlPr>
                              <a:rPr lang="en-US" altLang="zh-CN" sz="2000" i="1" dirty="0">
                                <a:latin typeface="Cambria Math" panose="02040503050406030204" pitchFamily="18" charset="0"/>
                              </a:rPr>
                            </m:ctrlPr>
                          </m:dPr>
                          <m:e>
                            <m:r>
                              <a:rPr lang="en-US" altLang="zh-CN" sz="2000" b="1" i="1" dirty="0">
                                <a:solidFill>
                                  <a:srgbClr val="C55A11"/>
                                </a:solidFill>
                                <a:latin typeface="Cambria Math" panose="02040503050406030204" pitchFamily="18" charset="0"/>
                              </a:rPr>
                              <m:t>𝒘</m:t>
                            </m:r>
                          </m:e>
                        </m:d>
                        <m:r>
                          <a:rPr lang="en-US" altLang="zh-CN" sz="2000" i="1" dirty="0">
                            <a:latin typeface="Cambria Math" panose="02040503050406030204" pitchFamily="18" charset="0"/>
                          </a:rPr>
                          <m:t>=</m:t>
                        </m:r>
                        <m:f>
                          <m:fPr>
                            <m:ctrlPr>
                              <a:rPr lang="en-US" altLang="zh-CN" sz="2000" b="0" i="1" dirty="0" smtClean="0">
                                <a:latin typeface="Cambria Math" panose="02040503050406030204" pitchFamily="18" charset="0"/>
                              </a:rPr>
                            </m:ctrlPr>
                          </m:fPr>
                          <m:num>
                            <m:r>
                              <a:rPr lang="en-US" altLang="zh-CN" sz="2000" b="0" i="1" dirty="0" smtClean="0">
                                <a:latin typeface="Cambria Math" panose="02040503050406030204" pitchFamily="18" charset="0"/>
                              </a:rPr>
                              <m:t>1</m:t>
                            </m:r>
                          </m:num>
                          <m:den>
                            <m:r>
                              <a:rPr lang="en-US" altLang="zh-CN" sz="2000" b="0" i="1" dirty="0" smtClean="0">
                                <a:latin typeface="Cambria Math" panose="02040503050406030204" pitchFamily="18" charset="0"/>
                              </a:rPr>
                              <m:t>2</m:t>
                            </m:r>
                            <m:r>
                              <a:rPr lang="en-US" altLang="zh-CN" sz="2000" b="0" i="1" dirty="0" smtClean="0">
                                <a:latin typeface="Cambria Math" panose="02040503050406030204" pitchFamily="18" charset="0"/>
                              </a:rPr>
                              <m:t>𝑁</m:t>
                            </m:r>
                          </m:den>
                        </m:f>
                        <m:sSup>
                          <m:sSupPr>
                            <m:ctrlPr>
                              <a:rPr lang="en-US" altLang="zh-CN" sz="2000" i="1">
                                <a:latin typeface="Cambria Math" panose="02040503050406030204" pitchFamily="18" charset="0"/>
                              </a:rPr>
                            </m:ctrlPr>
                          </m:sSupPr>
                          <m:e>
                            <m:d>
                              <m:dPr>
                                <m:begChr m:val="‖"/>
                                <m:endChr m:val="‖"/>
                                <m:ctrlPr>
                                  <a:rPr lang="en-US" altLang="zh-CN" sz="2000" i="1">
                                    <a:latin typeface="Cambria Math" panose="02040503050406030204" pitchFamily="18" charset="0"/>
                                  </a:rPr>
                                </m:ctrlPr>
                              </m:dPr>
                              <m:e>
                                <m:r>
                                  <a:rPr lang="en-US" altLang="zh-CN" sz="2000" b="1" i="1" smtClean="0">
                                    <a:solidFill>
                                      <a:schemeClr val="tx1"/>
                                    </a:solidFill>
                                    <a:latin typeface="Cambria Math" panose="02040503050406030204" pitchFamily="18" charset="0"/>
                                  </a:rPr>
                                  <m:t>𝑿</m:t>
                                </m:r>
                                <m:r>
                                  <a:rPr lang="en-US" altLang="zh-CN" sz="2000" b="1" i="1" dirty="0">
                                    <a:solidFill>
                                      <a:srgbClr val="C55A11"/>
                                    </a:solidFill>
                                    <a:latin typeface="Cambria Math" panose="02040503050406030204" pitchFamily="18" charset="0"/>
                                  </a:rPr>
                                  <m:t>𝒘</m:t>
                                </m:r>
                                <m:r>
                                  <a:rPr lang="en-US" altLang="zh-CN" sz="2000" b="1" i="1" smtClean="0">
                                    <a:solidFill>
                                      <a:schemeClr val="tx1"/>
                                    </a:solidFill>
                                    <a:latin typeface="Cambria Math" panose="02040503050406030204" pitchFamily="18" charset="0"/>
                                  </a:rPr>
                                  <m:t>−</m:t>
                                </m:r>
                                <m:r>
                                  <a:rPr lang="en-US" altLang="zh-CN" sz="2000" b="1" i="1" smtClean="0">
                                    <a:solidFill>
                                      <a:schemeClr val="tx1"/>
                                    </a:solidFill>
                                    <a:latin typeface="Cambria Math" panose="02040503050406030204" pitchFamily="18" charset="0"/>
                                  </a:rPr>
                                  <m:t>𝒚</m:t>
                                </m:r>
                              </m:e>
                            </m:d>
                          </m:e>
                          <m:sup>
                            <m:r>
                              <a:rPr lang="en-US" altLang="zh-CN" sz="2000" i="1">
                                <a:latin typeface="Cambria Math" panose="02040503050406030204" pitchFamily="18" charset="0"/>
                              </a:rPr>
                              <m:t>2</m:t>
                            </m:r>
                          </m:sup>
                        </m:sSup>
                        <m:r>
                          <a:rPr lang="en-US" altLang="zh-CN" sz="2000" b="0" i="1" smtClean="0">
                            <a:latin typeface="Cambria Math" panose="02040503050406030204" pitchFamily="18" charset="0"/>
                          </a:rPr>
                          <m:t>+</m:t>
                        </m:r>
                        <m:f>
                          <m:fPr>
                            <m:ctrlPr>
                              <a:rPr lang="en-US" altLang="zh-CN" sz="2000" b="0" i="1" smtClean="0">
                                <a:latin typeface="Cambria Math" panose="02040503050406030204" pitchFamily="18" charset="0"/>
                              </a:rPr>
                            </m:ctrlPr>
                          </m:fPr>
                          <m:num>
                            <m:r>
                              <a:rPr lang="zh-CN" altLang="en-US" sz="2000" b="0" i="1" smtClean="0">
                                <a:solidFill>
                                  <a:srgbClr val="FF0000"/>
                                </a:solidFill>
                                <a:latin typeface="Cambria Math" panose="02040503050406030204" pitchFamily="18" charset="0"/>
                              </a:rPr>
                              <m:t>𝜆</m:t>
                            </m:r>
                          </m:num>
                          <m:den>
                            <m:r>
                              <a:rPr lang="en-US" altLang="zh-CN" sz="2000" b="0" i="1" smtClean="0">
                                <a:latin typeface="Cambria Math" panose="02040503050406030204" pitchFamily="18" charset="0"/>
                              </a:rPr>
                              <m:t>2</m:t>
                            </m:r>
                          </m:den>
                        </m:f>
                        <m:sSup>
                          <m:sSupPr>
                            <m:ctrlPr>
                              <a:rPr lang="en-US" altLang="zh-CN" sz="2000" b="1" i="1" smtClean="0">
                                <a:latin typeface="Cambria Math" panose="02040503050406030204" pitchFamily="18" charset="0"/>
                              </a:rPr>
                            </m:ctrlPr>
                          </m:sSupPr>
                          <m:e>
                            <m:r>
                              <a:rPr lang="en-US" altLang="zh-CN" sz="2000" b="1" i="1" smtClean="0">
                                <a:latin typeface="Cambria Math" panose="02040503050406030204" pitchFamily="18" charset="0"/>
                              </a:rPr>
                              <m:t>𝒘</m:t>
                            </m:r>
                          </m:e>
                          <m:sup>
                            <m:r>
                              <a:rPr lang="en-US" altLang="zh-CN" sz="2000" b="1" i="1" smtClean="0">
                                <a:latin typeface="Cambria Math" panose="02040503050406030204" pitchFamily="18" charset="0"/>
                              </a:rPr>
                              <m:t>𝑻</m:t>
                            </m:r>
                          </m:sup>
                        </m:sSup>
                        <m:r>
                          <a:rPr lang="en-US" altLang="zh-CN" sz="2000" b="1" i="1" smtClean="0">
                            <a:latin typeface="Cambria Math" panose="02040503050406030204" pitchFamily="18" charset="0"/>
                          </a:rPr>
                          <m:t>𝒘</m:t>
                        </m:r>
                      </m:e>
                    </m:func>
                  </m:oMath>
                </a14:m>
                <a:r>
                  <a:rPr lang="en-US" sz="2000" dirty="0"/>
                  <a:t> </a:t>
                </a:r>
              </a:p>
            </p:txBody>
          </p:sp>
        </mc:Choice>
        <mc:Fallback xmlns="">
          <p:sp>
            <p:nvSpPr>
              <p:cNvPr id="8" name="矩形 7">
                <a:extLst>
                  <a:ext uri="{FF2B5EF4-FFF2-40B4-BE49-F238E27FC236}">
                    <a16:creationId xmlns:a16="http://schemas.microsoft.com/office/drawing/2014/main" xmlns:a14="http://schemas.microsoft.com/office/drawing/2010/main" xmlns="" id="{C03F7F37-AE63-4232-986A-53276FC486D4}"/>
                  </a:ext>
                </a:extLst>
              </p:cNvPr>
              <p:cNvSpPr>
                <a:spLocks noRot="1" noChangeAspect="1" noMove="1" noResize="1" noEditPoints="1" noAdjustHandles="1" noChangeArrowheads="1" noChangeShapeType="1" noTextEdit="1"/>
              </p:cNvSpPr>
              <p:nvPr/>
            </p:nvSpPr>
            <p:spPr>
              <a:xfrm>
                <a:off x="3194538" y="2846185"/>
                <a:ext cx="5334000" cy="666336"/>
              </a:xfrm>
              <a:prstGeom prst="rect">
                <a:avLst/>
              </a:prstGeom>
              <a:blipFill rotWithShape="0">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矩形 8">
                <a:extLst>
                  <a:ext uri="{FF2B5EF4-FFF2-40B4-BE49-F238E27FC236}">
                    <a16:creationId xmlns:a16="http://schemas.microsoft.com/office/drawing/2014/main" id="{C03F7F37-AE63-4232-986A-53276FC486D4}"/>
                  </a:ext>
                </a:extLst>
              </p:cNvPr>
              <p:cNvSpPr/>
              <p:nvPr/>
            </p:nvSpPr>
            <p:spPr>
              <a:xfrm>
                <a:off x="3194538" y="3425606"/>
                <a:ext cx="5334000" cy="666336"/>
              </a:xfrm>
              <a:prstGeom prst="rect">
                <a:avLst/>
              </a:prstGeom>
            </p:spPr>
            <p:txBody>
              <a:bodyPr wrap="square">
                <a:spAutoFit/>
              </a:bodyPr>
              <a:lstStyle/>
              <a:p>
                <a:pPr>
                  <a:lnSpc>
                    <a:spcPct val="120000"/>
                  </a:lnSpc>
                </a:pPr>
                <a14:m>
                  <m:oMath xmlns:m="http://schemas.openxmlformats.org/officeDocument/2006/math">
                    <m:func>
                      <m:funcPr>
                        <m:ctrlPr>
                          <a:rPr lang="pt-BR" altLang="zh-CN" sz="2000" i="1" dirty="0" smtClean="0">
                            <a:latin typeface="Cambria Math" panose="02040503050406030204" pitchFamily="18" charset="0"/>
                          </a:rPr>
                        </m:ctrlPr>
                      </m:funcPr>
                      <m:fName>
                        <m:limLow>
                          <m:limLowPr>
                            <m:ctrlPr>
                              <a:rPr lang="pt-BR" altLang="zh-CN" sz="2000" i="1" dirty="0">
                                <a:latin typeface="Cambria Math" panose="02040503050406030204" pitchFamily="18" charset="0"/>
                              </a:rPr>
                            </m:ctrlPr>
                          </m:limLowPr>
                          <m:e>
                            <m:r>
                              <m:rPr>
                                <m:sty m:val="p"/>
                              </m:rPr>
                              <a:rPr lang="pt-BR" altLang="zh-CN" sz="2000" dirty="0">
                                <a:latin typeface="Cambria Math" panose="02040503050406030204" pitchFamily="18" charset="0"/>
                              </a:rPr>
                              <m:t>m</m:t>
                            </m:r>
                            <m:r>
                              <m:rPr>
                                <m:sty m:val="p"/>
                              </m:rPr>
                              <a:rPr lang="en-US" altLang="zh-CN" sz="2000" dirty="0">
                                <a:latin typeface="Cambria Math" panose="02040503050406030204" pitchFamily="18" charset="0"/>
                              </a:rPr>
                              <m:t>in</m:t>
                            </m:r>
                          </m:e>
                          <m:lim>
                            <m:r>
                              <a:rPr lang="en-US" altLang="zh-CN" sz="2000" b="1" i="1" dirty="0">
                                <a:solidFill>
                                  <a:srgbClr val="C55A11"/>
                                </a:solidFill>
                                <a:latin typeface="Cambria Math" panose="02040503050406030204" pitchFamily="18" charset="0"/>
                              </a:rPr>
                              <m:t>𝒘</m:t>
                            </m:r>
                          </m:lim>
                        </m:limLow>
                      </m:fName>
                      <m:e>
                        <m:r>
                          <a:rPr lang="en-US" altLang="zh-CN" sz="2000" i="1" dirty="0">
                            <a:latin typeface="Cambria Math" panose="02040503050406030204" pitchFamily="18" charset="0"/>
                          </a:rPr>
                          <m:t>𝐸</m:t>
                        </m:r>
                        <m:d>
                          <m:dPr>
                            <m:ctrlPr>
                              <a:rPr lang="en-US" altLang="zh-CN" sz="2000" i="1" dirty="0">
                                <a:latin typeface="Cambria Math" panose="02040503050406030204" pitchFamily="18" charset="0"/>
                              </a:rPr>
                            </m:ctrlPr>
                          </m:dPr>
                          <m:e>
                            <m:r>
                              <a:rPr lang="en-US" altLang="zh-CN" sz="2000" b="1" i="1" dirty="0">
                                <a:solidFill>
                                  <a:srgbClr val="C55A11"/>
                                </a:solidFill>
                                <a:latin typeface="Cambria Math" panose="02040503050406030204" pitchFamily="18" charset="0"/>
                              </a:rPr>
                              <m:t>𝒘</m:t>
                            </m:r>
                          </m:e>
                        </m:d>
                        <m:r>
                          <a:rPr lang="en-US" altLang="zh-CN" sz="2000" i="1" dirty="0">
                            <a:latin typeface="Cambria Math" panose="02040503050406030204" pitchFamily="18" charset="0"/>
                          </a:rPr>
                          <m:t>=</m:t>
                        </m:r>
                        <m:f>
                          <m:fPr>
                            <m:ctrlPr>
                              <a:rPr lang="en-US" altLang="zh-CN" sz="2000" b="0" i="1" dirty="0" smtClean="0">
                                <a:latin typeface="Cambria Math" panose="02040503050406030204" pitchFamily="18" charset="0"/>
                              </a:rPr>
                            </m:ctrlPr>
                          </m:fPr>
                          <m:num>
                            <m:r>
                              <a:rPr lang="en-US" altLang="zh-CN" sz="2000" b="0" i="1" dirty="0" smtClean="0">
                                <a:latin typeface="Cambria Math" panose="02040503050406030204" pitchFamily="18" charset="0"/>
                              </a:rPr>
                              <m:t>1</m:t>
                            </m:r>
                          </m:num>
                          <m:den>
                            <m:r>
                              <a:rPr lang="en-US" altLang="zh-CN" sz="2000" b="0" i="1" dirty="0" smtClean="0">
                                <a:latin typeface="Cambria Math" panose="02040503050406030204" pitchFamily="18" charset="0"/>
                              </a:rPr>
                              <m:t>2</m:t>
                            </m:r>
                            <m:r>
                              <a:rPr lang="en-US" altLang="zh-CN" sz="2000" b="0" i="1" dirty="0" smtClean="0">
                                <a:latin typeface="Cambria Math" panose="02040503050406030204" pitchFamily="18" charset="0"/>
                              </a:rPr>
                              <m:t>𝑁</m:t>
                            </m:r>
                          </m:den>
                        </m:f>
                        <m:sSup>
                          <m:sSupPr>
                            <m:ctrlPr>
                              <a:rPr lang="en-US" altLang="zh-CN" sz="2000" i="1">
                                <a:latin typeface="Cambria Math" panose="02040503050406030204" pitchFamily="18" charset="0"/>
                              </a:rPr>
                            </m:ctrlPr>
                          </m:sSupPr>
                          <m:e>
                            <m:d>
                              <m:dPr>
                                <m:begChr m:val="‖"/>
                                <m:endChr m:val="‖"/>
                                <m:ctrlPr>
                                  <a:rPr lang="en-US" altLang="zh-CN" sz="2000" i="1">
                                    <a:latin typeface="Cambria Math" panose="02040503050406030204" pitchFamily="18" charset="0"/>
                                  </a:rPr>
                                </m:ctrlPr>
                              </m:dPr>
                              <m:e>
                                <m:r>
                                  <a:rPr lang="en-US" altLang="zh-CN" sz="2000" b="1" i="1" smtClean="0">
                                    <a:solidFill>
                                      <a:schemeClr val="tx1"/>
                                    </a:solidFill>
                                    <a:latin typeface="Cambria Math" panose="02040503050406030204" pitchFamily="18" charset="0"/>
                                  </a:rPr>
                                  <m:t>𝑿</m:t>
                                </m:r>
                                <m:r>
                                  <a:rPr lang="en-US" altLang="zh-CN" sz="2000" b="1" i="1" dirty="0">
                                    <a:solidFill>
                                      <a:srgbClr val="C55A11"/>
                                    </a:solidFill>
                                    <a:latin typeface="Cambria Math" panose="02040503050406030204" pitchFamily="18" charset="0"/>
                                  </a:rPr>
                                  <m:t>𝒘</m:t>
                                </m:r>
                                <m:r>
                                  <a:rPr lang="en-US" altLang="zh-CN" sz="2000" b="1" i="1" smtClean="0">
                                    <a:solidFill>
                                      <a:schemeClr val="tx1"/>
                                    </a:solidFill>
                                    <a:latin typeface="Cambria Math" panose="02040503050406030204" pitchFamily="18" charset="0"/>
                                  </a:rPr>
                                  <m:t>−</m:t>
                                </m:r>
                                <m:r>
                                  <a:rPr lang="en-US" altLang="zh-CN" sz="2000" b="1" i="1" smtClean="0">
                                    <a:solidFill>
                                      <a:schemeClr val="tx1"/>
                                    </a:solidFill>
                                    <a:latin typeface="Cambria Math" panose="02040503050406030204" pitchFamily="18" charset="0"/>
                                  </a:rPr>
                                  <m:t>𝒚</m:t>
                                </m:r>
                              </m:e>
                            </m:d>
                          </m:e>
                          <m:sup>
                            <m:r>
                              <a:rPr lang="en-US" altLang="zh-CN" sz="2000" i="1">
                                <a:latin typeface="Cambria Math" panose="02040503050406030204" pitchFamily="18" charset="0"/>
                              </a:rPr>
                              <m:t>2</m:t>
                            </m:r>
                          </m:sup>
                        </m:sSup>
                        <m:r>
                          <a:rPr lang="en-US" altLang="zh-CN" sz="2000" b="0" i="1" smtClean="0">
                            <a:latin typeface="Cambria Math" panose="02040503050406030204" pitchFamily="18" charset="0"/>
                          </a:rPr>
                          <m:t>+</m:t>
                        </m:r>
                        <m:f>
                          <m:fPr>
                            <m:ctrlPr>
                              <a:rPr lang="en-US" altLang="zh-CN" sz="2000" b="0" i="1" smtClean="0">
                                <a:latin typeface="Cambria Math" panose="02040503050406030204" pitchFamily="18" charset="0"/>
                              </a:rPr>
                            </m:ctrlPr>
                          </m:fPr>
                          <m:num>
                            <m:r>
                              <a:rPr lang="zh-CN" altLang="en-US" sz="2000" b="0" i="1" smtClean="0">
                                <a:solidFill>
                                  <a:srgbClr val="FF0000"/>
                                </a:solidFill>
                                <a:latin typeface="Cambria Math" panose="02040503050406030204" pitchFamily="18" charset="0"/>
                              </a:rPr>
                              <m:t>𝜆</m:t>
                            </m:r>
                          </m:num>
                          <m:den>
                            <m:r>
                              <a:rPr lang="en-US" altLang="zh-CN" sz="2000" b="0" i="1" smtClean="0">
                                <a:latin typeface="Cambria Math" panose="02040503050406030204" pitchFamily="18" charset="0"/>
                              </a:rPr>
                              <m:t>2</m:t>
                            </m:r>
                          </m:den>
                        </m:f>
                        <m:sSub>
                          <m:sSubPr>
                            <m:ctrlPr>
                              <a:rPr lang="en-US" altLang="zh-CN" sz="2000" i="1">
                                <a:latin typeface="Cambria Math" panose="02040503050406030204" pitchFamily="18" charset="0"/>
                                <a:ea typeface="Cambria Math" panose="02040503050406030204" pitchFamily="18" charset="0"/>
                              </a:rPr>
                            </m:ctrlPr>
                          </m:sSubPr>
                          <m:e>
                            <m:d>
                              <m:dPr>
                                <m:begChr m:val="‖"/>
                                <m:endChr m:val="‖"/>
                                <m:ctrlPr>
                                  <a:rPr lang="en-US" altLang="zh-CN" sz="2000" i="1">
                                    <a:latin typeface="Cambria Math" panose="02040503050406030204" pitchFamily="18" charset="0"/>
                                    <a:ea typeface="Cambria Math" panose="02040503050406030204" pitchFamily="18" charset="0"/>
                                  </a:rPr>
                                </m:ctrlPr>
                              </m:dPr>
                              <m:e>
                                <m:r>
                                  <a:rPr lang="en-US" altLang="zh-CN" sz="2000" b="1" i="1" smtClean="0">
                                    <a:latin typeface="Cambria Math" panose="02040503050406030204" pitchFamily="18" charset="0"/>
                                    <a:ea typeface="Cambria Math" panose="02040503050406030204" pitchFamily="18" charset="0"/>
                                  </a:rPr>
                                  <m:t>𝒘</m:t>
                                </m:r>
                              </m:e>
                            </m:d>
                          </m:e>
                          <m:sub>
                            <m:r>
                              <a:rPr lang="en-US" altLang="zh-CN" sz="2000" i="1">
                                <a:latin typeface="Cambria Math" panose="02040503050406030204" pitchFamily="18" charset="0"/>
                                <a:ea typeface="Cambria Math" panose="02040503050406030204" pitchFamily="18" charset="0"/>
                              </a:rPr>
                              <m:t>1</m:t>
                            </m:r>
                          </m:sub>
                        </m:sSub>
                      </m:e>
                    </m:func>
                  </m:oMath>
                </a14:m>
                <a:r>
                  <a:rPr lang="en-US" sz="2000" dirty="0"/>
                  <a:t> </a:t>
                </a:r>
              </a:p>
            </p:txBody>
          </p:sp>
        </mc:Choice>
        <mc:Fallback xmlns="">
          <p:sp>
            <p:nvSpPr>
              <p:cNvPr id="9" name="矩形 8">
                <a:extLst>
                  <a:ext uri="{FF2B5EF4-FFF2-40B4-BE49-F238E27FC236}">
                    <a16:creationId xmlns:a16="http://schemas.microsoft.com/office/drawing/2014/main" xmlns:a14="http://schemas.microsoft.com/office/drawing/2010/main" xmlns="" id="{C03F7F37-AE63-4232-986A-53276FC486D4}"/>
                  </a:ext>
                </a:extLst>
              </p:cNvPr>
              <p:cNvSpPr>
                <a:spLocks noRot="1" noChangeAspect="1" noMove="1" noResize="1" noEditPoints="1" noAdjustHandles="1" noChangeArrowheads="1" noChangeShapeType="1" noTextEdit="1"/>
              </p:cNvSpPr>
              <p:nvPr/>
            </p:nvSpPr>
            <p:spPr>
              <a:xfrm>
                <a:off x="3194538" y="3425606"/>
                <a:ext cx="5334000" cy="666336"/>
              </a:xfrm>
              <a:prstGeom prst="rect">
                <a:avLst/>
              </a:prstGeom>
              <a:blipFill rotWithShape="0">
                <a:blip r:embed="rId5"/>
                <a:stretch>
                  <a:fillRect/>
                </a:stretch>
              </a:blipFill>
            </p:spPr>
            <p:txBody>
              <a:bodyPr/>
              <a:lstStyle/>
              <a:p>
                <a:r>
                  <a:rPr lang="zh-CN" altLang="en-US">
                    <a:noFill/>
                  </a:rPr>
                  <a:t> </a:t>
                </a:r>
              </a:p>
            </p:txBody>
          </p:sp>
        </mc:Fallback>
      </mc:AlternateContent>
      <p:sp>
        <p:nvSpPr>
          <p:cNvPr id="10" name="矩形 9">
            <a:extLst>
              <a:ext uri="{FF2B5EF4-FFF2-40B4-BE49-F238E27FC236}">
                <a16:creationId xmlns:a16="http://schemas.microsoft.com/office/drawing/2014/main" id="{63713A00-0699-44CA-9F0B-A3762564B1F2}"/>
              </a:ext>
            </a:extLst>
          </p:cNvPr>
          <p:cNvSpPr/>
          <p:nvPr/>
        </p:nvSpPr>
        <p:spPr>
          <a:xfrm>
            <a:off x="615461" y="3039390"/>
            <a:ext cx="2181495" cy="400110"/>
          </a:xfrm>
          <a:prstGeom prst="rect">
            <a:avLst/>
          </a:prstGeom>
        </p:spPr>
        <p:txBody>
          <a:bodyPr wrap="none">
            <a:spAutoFit/>
          </a:bodyPr>
          <a:lstStyle/>
          <a:p>
            <a:r>
              <a:rPr lang="en-US" altLang="zh-CN" sz="2000" b="1" dirty="0"/>
              <a:t>Ridge  regression</a:t>
            </a:r>
            <a:r>
              <a:rPr lang="en-US" sz="2000" b="1" dirty="0"/>
              <a:t>: </a:t>
            </a:r>
            <a:endParaRPr lang="en-US" sz="2000" dirty="0"/>
          </a:p>
        </p:txBody>
      </p:sp>
      <p:sp>
        <p:nvSpPr>
          <p:cNvPr id="11" name="矩形 10">
            <a:extLst>
              <a:ext uri="{FF2B5EF4-FFF2-40B4-BE49-F238E27FC236}">
                <a16:creationId xmlns:a16="http://schemas.microsoft.com/office/drawing/2014/main" id="{63713A00-0699-44CA-9F0B-A3762564B1F2}"/>
              </a:ext>
            </a:extLst>
          </p:cNvPr>
          <p:cNvSpPr/>
          <p:nvPr/>
        </p:nvSpPr>
        <p:spPr>
          <a:xfrm>
            <a:off x="595970" y="3580200"/>
            <a:ext cx="833883" cy="400110"/>
          </a:xfrm>
          <a:prstGeom prst="rect">
            <a:avLst/>
          </a:prstGeom>
        </p:spPr>
        <p:txBody>
          <a:bodyPr wrap="none">
            <a:spAutoFit/>
          </a:bodyPr>
          <a:lstStyle/>
          <a:p>
            <a:r>
              <a:rPr lang="en-US" sz="2000" b="1" dirty="0"/>
              <a:t>Lasso</a:t>
            </a:r>
            <a:r>
              <a:rPr lang="en-US" altLang="zh-CN" sz="2000" b="1" dirty="0"/>
              <a:t>:</a:t>
            </a:r>
            <a:endParaRPr lang="en-US" sz="2000" b="1" dirty="0"/>
          </a:p>
        </p:txBody>
      </p:sp>
      <mc:AlternateContent xmlns:mc="http://schemas.openxmlformats.org/markup-compatibility/2006" xmlns:a14="http://schemas.microsoft.com/office/drawing/2010/main">
        <mc:Choice Requires="a14">
          <p:sp>
            <p:nvSpPr>
              <p:cNvPr id="12" name="矩形 11"/>
              <p:cNvSpPr/>
              <p:nvPr/>
            </p:nvSpPr>
            <p:spPr>
              <a:xfrm>
                <a:off x="339968" y="4462159"/>
                <a:ext cx="8270631" cy="1938992"/>
              </a:xfrm>
              <a:prstGeom prst="rect">
                <a:avLst/>
              </a:prstGeom>
            </p:spPr>
            <p:txBody>
              <a:bodyPr wrap="square">
                <a:spAutoFit/>
              </a:bodyPr>
              <a:lstStyle/>
              <a:p>
                <a:pPr marL="285750" indent="-285750" algn="just">
                  <a:buFont typeface="Arial" panose="020B0604020202020204" pitchFamily="34" charset="0"/>
                  <a:buChar char="•"/>
                </a:pPr>
                <a:r>
                  <a:rPr lang="en-US" altLang="zh-CN" sz="2400" dirty="0"/>
                  <a:t>Decision trees </a:t>
                </a:r>
                <a14:m>
                  <m:oMath xmlns:m="http://schemas.openxmlformats.org/officeDocument/2006/math">
                    <m:r>
                      <a:rPr lang="en-US" altLang="zh-CN" sz="2400" i="1" dirty="0" smtClean="0">
                        <a:latin typeface="Cambria Math" panose="02040503050406030204" pitchFamily="18" charset="0"/>
                        <a:ea typeface="Cambria Math" panose="02040503050406030204" pitchFamily="18" charset="0"/>
                      </a:rPr>
                      <m:t>→</m:t>
                    </m:r>
                  </m:oMath>
                </a14:m>
                <a:r>
                  <a:rPr lang="en-US" altLang="zh-CN" sz="2400" dirty="0"/>
                  <a:t> the desired depth and number of leaves.</a:t>
                </a:r>
              </a:p>
              <a:p>
                <a:pPr marL="285750" indent="-285750" algn="just">
                  <a:buFont typeface="Arial" panose="020B0604020202020204" pitchFamily="34" charset="0"/>
                  <a:buChar char="•"/>
                </a:pPr>
                <a:r>
                  <a:rPr lang="en-US" altLang="zh-CN" sz="2400" dirty="0"/>
                  <a:t>(SVM)</a:t>
                </a:r>
                <a14:m>
                  <m:oMath xmlns:m="http://schemas.openxmlformats.org/officeDocument/2006/math">
                    <m:r>
                      <a:rPr lang="en-US" altLang="zh-CN" sz="2400" i="1" dirty="0">
                        <a:latin typeface="Cambria Math" panose="02040503050406030204" pitchFamily="18" charset="0"/>
                        <a:ea typeface="Cambria Math" panose="02040503050406030204" pitchFamily="18" charset="0"/>
                      </a:rPr>
                      <m:t>→ </m:t>
                    </m:r>
                  </m:oMath>
                </a14:m>
                <a:r>
                  <a:rPr lang="en-US" altLang="zh-CN" sz="2400" dirty="0"/>
                  <a:t>a misclassification penalty term. </a:t>
                </a:r>
              </a:p>
              <a:p>
                <a:pPr marL="285750" indent="-285750" algn="just">
                  <a:buFont typeface="Arial" panose="020B0604020202020204" pitchFamily="34" charset="0"/>
                  <a:buChar char="•"/>
                </a:pPr>
                <a:r>
                  <a:rPr lang="en-US" altLang="zh-CN" sz="2400" dirty="0" err="1"/>
                  <a:t>Kernelized</a:t>
                </a:r>
                <a:r>
                  <a:rPr lang="en-US" altLang="zh-CN" sz="2400" dirty="0"/>
                  <a:t> SVMs </a:t>
                </a:r>
                <a14:m>
                  <m:oMath xmlns:m="http://schemas.openxmlformats.org/officeDocument/2006/math">
                    <m:r>
                      <a:rPr lang="en-US" altLang="zh-CN" sz="2400" i="1" dirty="0">
                        <a:latin typeface="Cambria Math" panose="02040503050406030204" pitchFamily="18" charset="0"/>
                        <a:ea typeface="Cambria Math" panose="02040503050406030204" pitchFamily="18" charset="0"/>
                      </a:rPr>
                      <m:t>→ </m:t>
                    </m:r>
                  </m:oMath>
                </a14:m>
                <a:r>
                  <a:rPr lang="en-US" altLang="zh-CN" sz="2400" dirty="0"/>
                  <a:t>kernel parameters like the width for radial basis function (RBF) kernels.</a:t>
                </a:r>
              </a:p>
              <a:p>
                <a:pPr marL="285750" indent="-285750" algn="just">
                  <a:buFont typeface="Arial" panose="020B0604020202020204" pitchFamily="34" charset="0"/>
                  <a:buChar char="•"/>
                </a:pPr>
                <a:r>
                  <a:rPr lang="en-US" altLang="zh-CN" sz="2400" dirty="0"/>
                  <a:t>…</a:t>
                </a:r>
                <a:endParaRPr lang="zh-CN" altLang="en-US" sz="2400" dirty="0"/>
              </a:p>
            </p:txBody>
          </p:sp>
        </mc:Choice>
        <mc:Fallback xmlns="">
          <p:sp>
            <p:nvSpPr>
              <p:cNvPr id="12" name="矩形 11"/>
              <p:cNvSpPr>
                <a:spLocks noRot="1" noChangeAspect="1" noMove="1" noResize="1" noEditPoints="1" noAdjustHandles="1" noChangeArrowheads="1" noChangeShapeType="1" noTextEdit="1"/>
              </p:cNvSpPr>
              <p:nvPr/>
            </p:nvSpPr>
            <p:spPr>
              <a:xfrm>
                <a:off x="339968" y="4462159"/>
                <a:ext cx="8270631" cy="1938992"/>
              </a:xfrm>
              <a:prstGeom prst="rect">
                <a:avLst/>
              </a:prstGeom>
              <a:blipFill rotWithShape="0">
                <a:blip r:embed="rId6"/>
                <a:stretch>
                  <a:fillRect l="-1032" t="-2516" r="-1180" b="-6289"/>
                </a:stretch>
              </a:blipFill>
            </p:spPr>
            <p:txBody>
              <a:bodyPr/>
              <a:lstStyle/>
              <a:p>
                <a:r>
                  <a:rPr lang="zh-CN" altLang="en-US">
                    <a:noFill/>
                  </a:rPr>
                  <a:t> </a:t>
                </a:r>
              </a:p>
            </p:txBody>
          </p:sp>
        </mc:Fallback>
      </mc:AlternateContent>
      <p:sp>
        <p:nvSpPr>
          <p:cNvPr id="14" name="文本框 13">
            <a:extLst>
              <a:ext uri="{FF2B5EF4-FFF2-40B4-BE49-F238E27FC236}">
                <a16:creationId xmlns:a16="http://schemas.microsoft.com/office/drawing/2014/main" id="{60049FE2-D3F5-4096-9FC9-B63B2A1EDC37}"/>
              </a:ext>
            </a:extLst>
          </p:cNvPr>
          <p:cNvSpPr txBox="1"/>
          <p:nvPr/>
        </p:nvSpPr>
        <p:spPr>
          <a:xfrm>
            <a:off x="304800" y="152400"/>
            <a:ext cx="7596118" cy="830997"/>
          </a:xfrm>
          <a:prstGeom prst="rect">
            <a:avLst/>
          </a:prstGeom>
          <a:noFill/>
        </p:spPr>
        <p:txBody>
          <a:bodyPr wrap="none" rtlCol="0">
            <a:spAutoFit/>
          </a:bodyPr>
          <a:lstStyle/>
          <a:p>
            <a:pPr>
              <a:lnSpc>
                <a:spcPct val="150000"/>
              </a:lnSpc>
            </a:pPr>
            <a:r>
              <a:rPr lang="en-US" sz="3200" b="1" dirty="0"/>
              <a:t>Model Parameters Versus </a:t>
            </a:r>
            <a:r>
              <a:rPr lang="en-US" sz="3200" b="1" dirty="0" err="1"/>
              <a:t>Hyperparameters</a:t>
            </a:r>
            <a:endParaRPr lang="en-US" sz="3200" b="1" dirty="0"/>
          </a:p>
        </p:txBody>
      </p:sp>
      <mc:AlternateContent xmlns:mc="http://schemas.openxmlformats.org/markup-compatibility/2006" xmlns:a14="http://schemas.microsoft.com/office/drawing/2010/main">
        <mc:Choice Requires="a14">
          <p:sp>
            <p:nvSpPr>
              <p:cNvPr id="18" name="矩形 17"/>
              <p:cNvSpPr/>
              <p:nvPr/>
            </p:nvSpPr>
            <p:spPr>
              <a:xfrm>
                <a:off x="339968" y="990600"/>
                <a:ext cx="8332178" cy="1200329"/>
              </a:xfrm>
              <a:prstGeom prst="rect">
                <a:avLst/>
              </a:prstGeom>
            </p:spPr>
            <p:txBody>
              <a:bodyPr wrap="square">
                <a:spAutoFit/>
              </a:bodyPr>
              <a:lstStyle/>
              <a:p>
                <a:pPr algn="just"/>
                <a14:m>
                  <m:oMath xmlns:m="http://schemas.openxmlformats.org/officeDocument/2006/math">
                    <m:r>
                      <a:rPr lang="en-US" altLang="zh-CN" sz="2400" b="1" i="1" dirty="0" smtClean="0">
                        <a:solidFill>
                          <a:schemeClr val="accent6">
                            <a:lumMod val="50000"/>
                          </a:schemeClr>
                        </a:solidFill>
                        <a:latin typeface="Cambria Math" panose="02040503050406030204" pitchFamily="18" charset="0"/>
                      </a:rPr>
                      <m:t>𝒘</m:t>
                    </m:r>
                  </m:oMath>
                </a14:m>
                <a:r>
                  <a:rPr lang="en-US" altLang="zh-CN" sz="2400" i="1" dirty="0">
                    <a:solidFill>
                      <a:schemeClr val="tx1"/>
                    </a:solidFill>
                  </a:rPr>
                  <a:t>: model parameter</a:t>
                </a:r>
                <a:r>
                  <a:rPr lang="en-US" altLang="zh-CN" sz="2400" dirty="0"/>
                  <a:t> </a:t>
                </a:r>
                <a:r>
                  <a:rPr lang="en-US" altLang="zh-CN" sz="2400" dirty="0">
                    <a:solidFill>
                      <a:schemeClr val="tx1"/>
                    </a:solidFill>
                  </a:rPr>
                  <a:t>is learned during the training phase. </a:t>
                </a:r>
              </a:p>
              <a:p>
                <a:pPr algn="just"/>
                <a14:m>
                  <m:oMath xmlns:m="http://schemas.openxmlformats.org/officeDocument/2006/math">
                    <m:r>
                      <a:rPr lang="zh-CN" altLang="en-US" sz="2400" i="1">
                        <a:solidFill>
                          <a:srgbClr val="FF0000"/>
                        </a:solidFill>
                        <a:latin typeface="Cambria Math" panose="02040503050406030204" pitchFamily="18" charset="0"/>
                      </a:rPr>
                      <m:t>𝜆</m:t>
                    </m:r>
                  </m:oMath>
                </a14:m>
                <a:r>
                  <a:rPr lang="en-US" altLang="zh-CN" sz="2400" i="1" dirty="0"/>
                  <a:t>: </a:t>
                </a:r>
                <a:r>
                  <a:rPr lang="en-US" altLang="zh-CN" sz="2400" i="1" dirty="0" err="1"/>
                  <a:t>hyperparameters</a:t>
                </a:r>
                <a:r>
                  <a:rPr lang="en-US" altLang="zh-CN" sz="2400" dirty="0"/>
                  <a:t> are values that must be specified outside of the training procedure.</a:t>
                </a:r>
                <a:endParaRPr lang="zh-CN" altLang="en-US" sz="2400" dirty="0">
                  <a:solidFill>
                    <a:schemeClr val="tx1"/>
                  </a:solidFill>
                </a:endParaRPr>
              </a:p>
            </p:txBody>
          </p:sp>
        </mc:Choice>
        <mc:Fallback xmlns="">
          <p:sp>
            <p:nvSpPr>
              <p:cNvPr id="18" name="矩形 17"/>
              <p:cNvSpPr>
                <a:spLocks noRot="1" noChangeAspect="1" noMove="1" noResize="1" noEditPoints="1" noAdjustHandles="1" noChangeArrowheads="1" noChangeShapeType="1" noTextEdit="1"/>
              </p:cNvSpPr>
              <p:nvPr/>
            </p:nvSpPr>
            <p:spPr>
              <a:xfrm>
                <a:off x="339968" y="990600"/>
                <a:ext cx="8332178" cy="1200329"/>
              </a:xfrm>
              <a:prstGeom prst="rect">
                <a:avLst/>
              </a:prstGeom>
              <a:blipFill rotWithShape="0">
                <a:blip r:embed="rId7"/>
                <a:stretch>
                  <a:fillRect l="-1170" t="-4082" r="-1097" b="-10714"/>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27495029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圆角 7">
            <a:extLst>
              <a:ext uri="{FF2B5EF4-FFF2-40B4-BE49-F238E27FC236}">
                <a16:creationId xmlns:a16="http://schemas.microsoft.com/office/drawing/2014/main" id="{DC8E9541-2902-45E2-A2F6-8FB122BF09B3}"/>
              </a:ext>
            </a:extLst>
          </p:cNvPr>
          <p:cNvSpPr/>
          <p:nvPr/>
        </p:nvSpPr>
        <p:spPr>
          <a:xfrm>
            <a:off x="319454" y="2667000"/>
            <a:ext cx="8367346" cy="2971800"/>
          </a:xfrm>
          <a:prstGeom prst="roundRect">
            <a:avLst>
              <a:gd name="adj" fmla="val 3573"/>
            </a:avLst>
          </a:prstGeom>
          <a:solidFill>
            <a:srgbClr val="E6F5F0"/>
          </a:solidFill>
          <a:ln>
            <a:solidFill>
              <a:srgbClr val="FFFBD6"/>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800" dirty="0">
              <a:solidFill>
                <a:schemeClr val="tx1"/>
              </a:solidFill>
            </a:endParaRPr>
          </a:p>
        </p:txBody>
      </p:sp>
      <p:sp>
        <p:nvSpPr>
          <p:cNvPr id="15" name="矩形: 圆角 7">
            <a:extLst>
              <a:ext uri="{FF2B5EF4-FFF2-40B4-BE49-F238E27FC236}">
                <a16:creationId xmlns:a16="http://schemas.microsoft.com/office/drawing/2014/main" id="{DC8E9541-2902-45E2-A2F6-8FB122BF09B3}"/>
              </a:ext>
            </a:extLst>
          </p:cNvPr>
          <p:cNvSpPr/>
          <p:nvPr/>
        </p:nvSpPr>
        <p:spPr>
          <a:xfrm>
            <a:off x="319454" y="1085871"/>
            <a:ext cx="8367346" cy="1352529"/>
          </a:xfrm>
          <a:prstGeom prst="roundRect">
            <a:avLst>
              <a:gd name="adj" fmla="val 3573"/>
            </a:avLst>
          </a:prstGeom>
          <a:solidFill>
            <a:srgbClr val="F9E6E6"/>
          </a:solidFill>
          <a:ln>
            <a:solidFill>
              <a:srgbClr val="FFFBD6"/>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800" dirty="0">
              <a:solidFill>
                <a:schemeClr val="tx1"/>
              </a:solidFill>
            </a:endParaRPr>
          </a:p>
        </p:txBody>
      </p:sp>
      <p:sp>
        <p:nvSpPr>
          <p:cNvPr id="2" name="灯片编号占位符 1"/>
          <p:cNvSpPr>
            <a:spLocks noGrp="1"/>
          </p:cNvSpPr>
          <p:nvPr>
            <p:ph type="sldNum" sz="quarter" idx="12"/>
          </p:nvPr>
        </p:nvSpPr>
        <p:spPr/>
        <p:txBody>
          <a:bodyPr/>
          <a:lstStyle/>
          <a:p>
            <a:fld id="{B6F15528-21DE-4FAA-801E-634DDDAF4B2B}" type="slidenum">
              <a:rPr lang="en-US" smtClean="0"/>
              <a:pPr/>
              <a:t>50</a:t>
            </a:fld>
            <a:endParaRPr lang="en-US"/>
          </a:p>
        </p:txBody>
      </p:sp>
      <p:sp>
        <p:nvSpPr>
          <p:cNvPr id="12" name="矩形 11"/>
          <p:cNvSpPr/>
          <p:nvPr/>
        </p:nvSpPr>
        <p:spPr>
          <a:xfrm>
            <a:off x="304800" y="1143000"/>
            <a:ext cx="8229600" cy="1569660"/>
          </a:xfrm>
          <a:prstGeom prst="rect">
            <a:avLst/>
          </a:prstGeom>
        </p:spPr>
        <p:txBody>
          <a:bodyPr wrap="square">
            <a:spAutoFit/>
          </a:bodyPr>
          <a:lstStyle/>
          <a:p>
            <a:pPr marL="285750" indent="-285750" algn="just">
              <a:buFont typeface="Arial" panose="020B0604020202020204" pitchFamily="34" charset="0"/>
              <a:buChar char="•"/>
            </a:pPr>
            <a:r>
              <a:rPr lang="en-US" altLang="zh-CN" sz="2400" dirty="0"/>
              <a:t>A regularization </a:t>
            </a:r>
            <a:r>
              <a:rPr lang="en-US" altLang="zh-CN" sz="2400" dirty="0" err="1"/>
              <a:t>hyperparameter</a:t>
            </a:r>
            <a:r>
              <a:rPr lang="en-US" altLang="zh-CN" sz="2400" dirty="0"/>
              <a:t> controls the </a:t>
            </a:r>
            <a:r>
              <a:rPr lang="en-US" altLang="zh-CN" sz="2400" i="1" dirty="0"/>
              <a:t>capacity</a:t>
            </a:r>
            <a:r>
              <a:rPr lang="en-US" altLang="zh-CN" sz="2400" dirty="0"/>
              <a:t> of the model.</a:t>
            </a:r>
          </a:p>
          <a:p>
            <a:pPr marL="285750" indent="-285750" algn="just">
              <a:buFont typeface="Arial" panose="020B0604020202020204" pitchFamily="34" charset="0"/>
              <a:buChar char="•"/>
            </a:pPr>
            <a:r>
              <a:rPr lang="en-US" altLang="zh-CN" sz="2400" dirty="0"/>
              <a:t>Proper control of model capacity can prevent overfitting.</a:t>
            </a:r>
          </a:p>
          <a:p>
            <a:pPr marL="285750" indent="-285750" algn="just">
              <a:buFont typeface="Arial" panose="020B0604020202020204" pitchFamily="34" charset="0"/>
              <a:buChar char="•"/>
            </a:pPr>
            <a:endParaRPr lang="en-US" altLang="zh-CN" sz="2400" dirty="0"/>
          </a:p>
        </p:txBody>
      </p:sp>
      <p:sp>
        <p:nvSpPr>
          <p:cNvPr id="14" name="文本框 13">
            <a:extLst>
              <a:ext uri="{FF2B5EF4-FFF2-40B4-BE49-F238E27FC236}">
                <a16:creationId xmlns:a16="http://schemas.microsoft.com/office/drawing/2014/main" id="{60049FE2-D3F5-4096-9FC9-B63B2A1EDC37}"/>
              </a:ext>
            </a:extLst>
          </p:cNvPr>
          <p:cNvSpPr txBox="1"/>
          <p:nvPr/>
        </p:nvSpPr>
        <p:spPr>
          <a:xfrm>
            <a:off x="304800" y="152400"/>
            <a:ext cx="5517857" cy="754694"/>
          </a:xfrm>
          <a:prstGeom prst="rect">
            <a:avLst/>
          </a:prstGeom>
          <a:noFill/>
        </p:spPr>
        <p:txBody>
          <a:bodyPr wrap="none" rtlCol="0">
            <a:spAutoFit/>
          </a:bodyPr>
          <a:lstStyle/>
          <a:p>
            <a:pPr>
              <a:lnSpc>
                <a:spcPct val="150000"/>
              </a:lnSpc>
            </a:pPr>
            <a:r>
              <a:rPr lang="en-US" sz="3200" b="1" dirty="0"/>
              <a:t>What Do </a:t>
            </a:r>
            <a:r>
              <a:rPr lang="en-US" sz="3200" b="1" dirty="0" err="1"/>
              <a:t>Hyperparameters</a:t>
            </a:r>
            <a:r>
              <a:rPr lang="en-US" sz="3200" b="1" dirty="0"/>
              <a:t> Do?</a:t>
            </a:r>
          </a:p>
        </p:txBody>
      </p:sp>
      <p:sp>
        <p:nvSpPr>
          <p:cNvPr id="13" name="矩形 12"/>
          <p:cNvSpPr/>
          <p:nvPr/>
        </p:nvSpPr>
        <p:spPr>
          <a:xfrm>
            <a:off x="304800" y="2808744"/>
            <a:ext cx="8229600" cy="2677656"/>
          </a:xfrm>
          <a:prstGeom prst="rect">
            <a:avLst/>
          </a:prstGeom>
        </p:spPr>
        <p:txBody>
          <a:bodyPr wrap="square">
            <a:spAutoFit/>
          </a:bodyPr>
          <a:lstStyle/>
          <a:p>
            <a:pPr marL="285750" indent="-285750" algn="just">
              <a:buFont typeface="Arial" panose="020B0604020202020204" pitchFamily="34" charset="0"/>
              <a:buChar char="•"/>
            </a:pPr>
            <a:r>
              <a:rPr lang="en-US" altLang="zh-CN" sz="2400" dirty="0"/>
              <a:t>Another type of </a:t>
            </a:r>
            <a:r>
              <a:rPr lang="en-US" altLang="zh-CN" sz="2400" dirty="0" err="1"/>
              <a:t>hyperparameter</a:t>
            </a:r>
            <a:r>
              <a:rPr lang="en-US" altLang="zh-CN" sz="2400" dirty="0"/>
              <a:t> comes from the training process itself. </a:t>
            </a:r>
          </a:p>
          <a:p>
            <a:pPr marL="285750" indent="-285750" algn="just">
              <a:buFont typeface="Arial" panose="020B0604020202020204" pitchFamily="34" charset="0"/>
              <a:buChar char="•"/>
            </a:pPr>
            <a:r>
              <a:rPr lang="en-US" altLang="zh-CN" sz="2400" dirty="0"/>
              <a:t>For instance, stochastic gradient descent (SGD) optimization requires a </a:t>
            </a:r>
            <a:r>
              <a:rPr lang="en-US" altLang="zh-CN" sz="2400" dirty="0">
                <a:solidFill>
                  <a:srgbClr val="FF0000"/>
                </a:solidFill>
              </a:rPr>
              <a:t>learning rate, batch size</a:t>
            </a:r>
            <a:r>
              <a:rPr lang="en-US" altLang="zh-CN" sz="2400" dirty="0"/>
              <a:t>. </a:t>
            </a:r>
          </a:p>
          <a:p>
            <a:pPr marL="285750" indent="-285750" algn="just">
              <a:buFont typeface="Arial" panose="020B0604020202020204" pitchFamily="34" charset="0"/>
              <a:buChar char="•"/>
            </a:pPr>
            <a:r>
              <a:rPr lang="en-US" altLang="zh-CN" sz="2400" dirty="0"/>
              <a:t>Some optimization methods require a </a:t>
            </a:r>
            <a:r>
              <a:rPr lang="en-US" altLang="zh-CN" sz="2400" dirty="0">
                <a:solidFill>
                  <a:srgbClr val="FF0000"/>
                </a:solidFill>
              </a:rPr>
              <a:t>convergence threshold</a:t>
            </a:r>
            <a:r>
              <a:rPr lang="en-US" altLang="zh-CN" sz="2400" dirty="0"/>
              <a:t>. </a:t>
            </a:r>
          </a:p>
          <a:p>
            <a:pPr marL="285750" indent="-285750" algn="just">
              <a:buFont typeface="Arial" panose="020B0604020202020204" pitchFamily="34" charset="0"/>
              <a:buChar char="•"/>
            </a:pPr>
            <a:r>
              <a:rPr lang="en-US" altLang="zh-CN" sz="2400" dirty="0"/>
              <a:t>These also need to be set to reasonable values in order for the training process to find a good model.</a:t>
            </a:r>
          </a:p>
        </p:txBody>
      </p:sp>
    </p:spTree>
    <p:extLst>
      <p:ext uri="{BB962C8B-B14F-4D97-AF65-F5344CB8AC3E}">
        <p14:creationId xmlns:p14="http://schemas.microsoft.com/office/powerpoint/2010/main" val="395651249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圆角 7">
            <a:extLst>
              <a:ext uri="{FF2B5EF4-FFF2-40B4-BE49-F238E27FC236}">
                <a16:creationId xmlns:a16="http://schemas.microsoft.com/office/drawing/2014/main" id="{1F4BFAD4-28EA-4824-A7A7-5CB2EA9548C1}"/>
              </a:ext>
            </a:extLst>
          </p:cNvPr>
          <p:cNvSpPr/>
          <p:nvPr/>
        </p:nvSpPr>
        <p:spPr>
          <a:xfrm>
            <a:off x="319454" y="2789991"/>
            <a:ext cx="8367346" cy="1975143"/>
          </a:xfrm>
          <a:prstGeom prst="roundRect">
            <a:avLst>
              <a:gd name="adj" fmla="val 3573"/>
            </a:avLst>
          </a:prstGeom>
          <a:solidFill>
            <a:srgbClr val="E6F5F0"/>
          </a:solidFill>
          <a:ln>
            <a:solidFill>
              <a:srgbClr val="FFFBD6"/>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800" dirty="0">
              <a:solidFill>
                <a:schemeClr val="tx1"/>
              </a:solidFill>
            </a:endParaRPr>
          </a:p>
        </p:txBody>
      </p:sp>
      <p:sp>
        <p:nvSpPr>
          <p:cNvPr id="5" name="矩形: 圆角 7">
            <a:extLst>
              <a:ext uri="{FF2B5EF4-FFF2-40B4-BE49-F238E27FC236}">
                <a16:creationId xmlns:a16="http://schemas.microsoft.com/office/drawing/2014/main" id="{6DADD09E-56FD-4AB2-AAE5-53FFFCF3208C}"/>
              </a:ext>
            </a:extLst>
          </p:cNvPr>
          <p:cNvSpPr/>
          <p:nvPr/>
        </p:nvSpPr>
        <p:spPr>
          <a:xfrm>
            <a:off x="319454" y="975679"/>
            <a:ext cx="8367346" cy="1626789"/>
          </a:xfrm>
          <a:prstGeom prst="roundRect">
            <a:avLst>
              <a:gd name="adj" fmla="val 3573"/>
            </a:avLst>
          </a:prstGeom>
          <a:solidFill>
            <a:srgbClr val="F9E6E6"/>
          </a:solidFill>
          <a:ln>
            <a:solidFill>
              <a:srgbClr val="FFFBD6"/>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800" dirty="0">
              <a:solidFill>
                <a:schemeClr val="tx1"/>
              </a:solidFill>
            </a:endParaRPr>
          </a:p>
        </p:txBody>
      </p:sp>
      <p:sp>
        <p:nvSpPr>
          <p:cNvPr id="2" name="灯片编号占位符 1">
            <a:extLst>
              <a:ext uri="{FF2B5EF4-FFF2-40B4-BE49-F238E27FC236}">
                <a16:creationId xmlns:a16="http://schemas.microsoft.com/office/drawing/2014/main" id="{BA99F4FB-0DFB-4C58-84BF-38B15F582B3D}"/>
              </a:ext>
            </a:extLst>
          </p:cNvPr>
          <p:cNvSpPr>
            <a:spLocks noGrp="1"/>
          </p:cNvSpPr>
          <p:nvPr>
            <p:ph type="sldNum" sz="quarter" idx="12"/>
          </p:nvPr>
        </p:nvSpPr>
        <p:spPr/>
        <p:txBody>
          <a:bodyPr/>
          <a:lstStyle/>
          <a:p>
            <a:fld id="{B6F15528-21DE-4FAA-801E-634DDDAF4B2B}" type="slidenum">
              <a:rPr lang="en-US" smtClean="0"/>
              <a:pPr/>
              <a:t>51</a:t>
            </a:fld>
            <a:endParaRPr lang="en-US"/>
          </a:p>
        </p:txBody>
      </p:sp>
      <p:sp>
        <p:nvSpPr>
          <p:cNvPr id="3" name="矩形 2">
            <a:extLst>
              <a:ext uri="{FF2B5EF4-FFF2-40B4-BE49-F238E27FC236}">
                <a16:creationId xmlns:a16="http://schemas.microsoft.com/office/drawing/2014/main" id="{AD9EBBFE-73A6-4364-ADC9-52C42A4750D9}"/>
              </a:ext>
            </a:extLst>
          </p:cNvPr>
          <p:cNvSpPr/>
          <p:nvPr/>
        </p:nvSpPr>
        <p:spPr>
          <a:xfrm>
            <a:off x="381000" y="1032808"/>
            <a:ext cx="8305800" cy="1569660"/>
          </a:xfrm>
          <a:prstGeom prst="rect">
            <a:avLst/>
          </a:prstGeom>
        </p:spPr>
        <p:txBody>
          <a:bodyPr wrap="square">
            <a:spAutoFit/>
          </a:bodyPr>
          <a:lstStyle/>
          <a:p>
            <a:pPr marL="342900" indent="-342900" algn="just">
              <a:buFont typeface="Arial" panose="020B0604020202020204" pitchFamily="34" charset="0"/>
              <a:buChar char="•"/>
            </a:pPr>
            <a:r>
              <a:rPr lang="en-US" altLang="zh-CN" sz="2400" dirty="0"/>
              <a:t>Note that the </a:t>
            </a:r>
            <a:r>
              <a:rPr lang="en-US" altLang="zh-CN" sz="2400" dirty="0">
                <a:solidFill>
                  <a:srgbClr val="0000FF"/>
                </a:solidFill>
              </a:rPr>
              <a:t>test examples </a:t>
            </a:r>
            <a:r>
              <a:rPr lang="en-US" altLang="zh-CN" sz="2400" dirty="0"/>
              <a:t>are </a:t>
            </a:r>
            <a:r>
              <a:rPr lang="en-US" altLang="zh-CN" sz="2400" dirty="0">
                <a:solidFill>
                  <a:srgbClr val="0000FF"/>
                </a:solidFill>
              </a:rPr>
              <a:t>not used </a:t>
            </a:r>
            <a:r>
              <a:rPr lang="en-US" altLang="zh-CN" sz="2400" dirty="0"/>
              <a:t>in any way to make choices about the model, including its hyperparameters.</a:t>
            </a:r>
          </a:p>
          <a:p>
            <a:pPr marL="342900" indent="-342900" algn="just">
              <a:buFont typeface="Arial" panose="020B0604020202020204" pitchFamily="34" charset="0"/>
              <a:buChar char="•"/>
            </a:pPr>
            <a:r>
              <a:rPr lang="en-US" altLang="zh-CN" sz="2400" dirty="0"/>
              <a:t>Therefore, no example from the test set can be used in the validation set. </a:t>
            </a:r>
          </a:p>
        </p:txBody>
      </p:sp>
      <p:sp>
        <p:nvSpPr>
          <p:cNvPr id="4" name="文本框 3">
            <a:extLst>
              <a:ext uri="{FF2B5EF4-FFF2-40B4-BE49-F238E27FC236}">
                <a16:creationId xmlns:a16="http://schemas.microsoft.com/office/drawing/2014/main" id="{98063C1C-1F8A-4927-A88A-BF89F935AF18}"/>
              </a:ext>
            </a:extLst>
          </p:cNvPr>
          <p:cNvSpPr txBox="1"/>
          <p:nvPr/>
        </p:nvSpPr>
        <p:spPr>
          <a:xfrm>
            <a:off x="304800" y="152400"/>
            <a:ext cx="7263912" cy="754694"/>
          </a:xfrm>
          <a:prstGeom prst="rect">
            <a:avLst/>
          </a:prstGeom>
          <a:noFill/>
        </p:spPr>
        <p:txBody>
          <a:bodyPr wrap="none" rtlCol="0">
            <a:spAutoFit/>
          </a:bodyPr>
          <a:lstStyle/>
          <a:p>
            <a:pPr>
              <a:lnSpc>
                <a:spcPct val="150000"/>
              </a:lnSpc>
            </a:pPr>
            <a:r>
              <a:rPr lang="en-US" sz="3200" b="1" dirty="0"/>
              <a:t>Validation Set for Hyperparameter Tuning</a:t>
            </a:r>
          </a:p>
        </p:txBody>
      </p:sp>
      <p:sp>
        <p:nvSpPr>
          <p:cNvPr id="6" name="矩形 5">
            <a:extLst>
              <a:ext uri="{FF2B5EF4-FFF2-40B4-BE49-F238E27FC236}">
                <a16:creationId xmlns:a16="http://schemas.microsoft.com/office/drawing/2014/main" id="{C8483717-BA89-4E73-901A-9F1A0C7A1A0F}"/>
              </a:ext>
            </a:extLst>
          </p:cNvPr>
          <p:cNvSpPr/>
          <p:nvPr/>
        </p:nvSpPr>
        <p:spPr>
          <a:xfrm>
            <a:off x="381000" y="2832199"/>
            <a:ext cx="8229600" cy="1938992"/>
          </a:xfrm>
          <a:prstGeom prst="rect">
            <a:avLst/>
          </a:prstGeom>
        </p:spPr>
        <p:txBody>
          <a:bodyPr wrap="square">
            <a:spAutoFit/>
          </a:bodyPr>
          <a:lstStyle/>
          <a:p>
            <a:pPr marL="342900" indent="-342900" algn="just">
              <a:buFont typeface="Arial" panose="020B0604020202020204" pitchFamily="34" charset="0"/>
              <a:buChar char="•"/>
            </a:pPr>
            <a:r>
              <a:rPr lang="en-US" altLang="zh-CN" sz="2400" dirty="0"/>
              <a:t>Specifically, we split the training data into two disjoint subsets.</a:t>
            </a:r>
          </a:p>
          <a:p>
            <a:pPr marL="800100" lvl="1" indent="-342900" algn="just">
              <a:buFont typeface="Arial" panose="020B0604020202020204" pitchFamily="34" charset="0"/>
              <a:buChar char="•"/>
            </a:pPr>
            <a:r>
              <a:rPr lang="en-US" altLang="zh-CN" sz="2400" dirty="0"/>
              <a:t>One (training set) is used to train the model parameters. </a:t>
            </a:r>
          </a:p>
          <a:p>
            <a:pPr marL="800100" lvl="1" indent="-342900" algn="just">
              <a:buFont typeface="Arial" panose="020B0604020202020204" pitchFamily="34" charset="0"/>
              <a:buChar char="•"/>
            </a:pPr>
            <a:r>
              <a:rPr lang="en-US" altLang="zh-CN" sz="2400" dirty="0"/>
              <a:t>One (validation set) is used to estimate the generalization error during or after training, allowing for the hyperparameters to be updated accordingly. </a:t>
            </a:r>
            <a:endParaRPr lang="zh-CN" altLang="en-US" sz="2400" dirty="0"/>
          </a:p>
        </p:txBody>
      </p:sp>
      <p:pic>
        <p:nvPicPr>
          <p:cNvPr id="8" name="图片 7">
            <a:extLst>
              <a:ext uri="{FF2B5EF4-FFF2-40B4-BE49-F238E27FC236}">
                <a16:creationId xmlns:a16="http://schemas.microsoft.com/office/drawing/2014/main" id="{CB12DD87-630A-4C84-8F18-17300A1AF4CF}"/>
              </a:ext>
            </a:extLst>
          </p:cNvPr>
          <p:cNvPicPr>
            <a:picLocks noChangeAspect="1"/>
          </p:cNvPicPr>
          <p:nvPr/>
        </p:nvPicPr>
        <p:blipFill rotWithShape="1">
          <a:blip r:embed="rId2"/>
          <a:srcRect r="36666"/>
          <a:stretch/>
        </p:blipFill>
        <p:spPr>
          <a:xfrm>
            <a:off x="2903220" y="4953633"/>
            <a:ext cx="3619500" cy="1857375"/>
          </a:xfrm>
          <a:prstGeom prst="rect">
            <a:avLst/>
          </a:prstGeom>
        </p:spPr>
      </p:pic>
      <p:sp>
        <p:nvSpPr>
          <p:cNvPr id="9" name="矩形 8">
            <a:extLst>
              <a:ext uri="{FF2B5EF4-FFF2-40B4-BE49-F238E27FC236}">
                <a16:creationId xmlns:a16="http://schemas.microsoft.com/office/drawing/2014/main" id="{4DE412D8-6417-4136-AC25-59CF15FE3EDD}"/>
              </a:ext>
            </a:extLst>
          </p:cNvPr>
          <p:cNvSpPr/>
          <p:nvPr/>
        </p:nvSpPr>
        <p:spPr>
          <a:xfrm>
            <a:off x="5943600" y="5799792"/>
            <a:ext cx="1752600" cy="105820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712593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6" grpId="0"/>
      <p:bldP spid="9"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F15528-21DE-4FAA-801E-634DDDAF4B2B}" type="slidenum">
              <a:rPr lang="en-US" smtClean="0"/>
              <a:pPr/>
              <a:t>52</a:t>
            </a:fld>
            <a:endParaRPr lang="en-US"/>
          </a:p>
        </p:txBody>
      </p:sp>
      <p:pic>
        <p:nvPicPr>
          <p:cNvPr id="3" name="图片 2"/>
          <p:cNvPicPr>
            <a:picLocks noChangeAspect="1"/>
          </p:cNvPicPr>
          <p:nvPr/>
        </p:nvPicPr>
        <p:blipFill>
          <a:blip r:embed="rId2"/>
          <a:stretch>
            <a:fillRect/>
          </a:stretch>
        </p:blipFill>
        <p:spPr>
          <a:xfrm>
            <a:off x="1026160" y="2026920"/>
            <a:ext cx="7355840" cy="4572000"/>
          </a:xfrm>
          <a:prstGeom prst="rect">
            <a:avLst/>
          </a:prstGeom>
        </p:spPr>
      </p:pic>
      <p:sp>
        <p:nvSpPr>
          <p:cNvPr id="4" name="文本框 3">
            <a:extLst>
              <a:ext uri="{FF2B5EF4-FFF2-40B4-BE49-F238E27FC236}">
                <a16:creationId xmlns:a16="http://schemas.microsoft.com/office/drawing/2014/main" id="{60049FE2-D3F5-4096-9FC9-B63B2A1EDC37}"/>
              </a:ext>
            </a:extLst>
          </p:cNvPr>
          <p:cNvSpPr txBox="1"/>
          <p:nvPr/>
        </p:nvSpPr>
        <p:spPr>
          <a:xfrm>
            <a:off x="304800" y="152400"/>
            <a:ext cx="2949846" cy="754694"/>
          </a:xfrm>
          <a:prstGeom prst="rect">
            <a:avLst/>
          </a:prstGeom>
          <a:noFill/>
        </p:spPr>
        <p:txBody>
          <a:bodyPr wrap="none" rtlCol="0">
            <a:spAutoFit/>
          </a:bodyPr>
          <a:lstStyle/>
          <a:p>
            <a:pPr>
              <a:lnSpc>
                <a:spcPct val="150000"/>
              </a:lnSpc>
            </a:pPr>
            <a:r>
              <a:rPr lang="en-US" sz="3200" b="1" dirty="0"/>
              <a:t>Model Selection</a:t>
            </a:r>
          </a:p>
        </p:txBody>
      </p:sp>
      <p:sp>
        <p:nvSpPr>
          <p:cNvPr id="5" name="矩形 4"/>
          <p:cNvSpPr/>
          <p:nvPr/>
        </p:nvSpPr>
        <p:spPr>
          <a:xfrm>
            <a:off x="381000" y="971725"/>
            <a:ext cx="8382000" cy="461665"/>
          </a:xfrm>
          <a:prstGeom prst="rect">
            <a:avLst/>
          </a:prstGeom>
        </p:spPr>
        <p:txBody>
          <a:bodyPr wrap="square">
            <a:spAutoFit/>
          </a:bodyPr>
          <a:lstStyle/>
          <a:p>
            <a:pPr algn="just"/>
            <a:endParaRPr lang="zh-CN" altLang="en-US" sz="2400" dirty="0"/>
          </a:p>
        </p:txBody>
      </p:sp>
      <p:sp>
        <p:nvSpPr>
          <p:cNvPr id="7" name="矩形 6">
            <a:extLst>
              <a:ext uri="{FF2B5EF4-FFF2-40B4-BE49-F238E27FC236}">
                <a16:creationId xmlns:a16="http://schemas.microsoft.com/office/drawing/2014/main" id="{C4B24250-4F10-4E8D-9D69-7B1B38D945C0}"/>
              </a:ext>
            </a:extLst>
          </p:cNvPr>
          <p:cNvSpPr/>
          <p:nvPr/>
        </p:nvSpPr>
        <p:spPr>
          <a:xfrm>
            <a:off x="762000" y="2057400"/>
            <a:ext cx="2362200" cy="6096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圆角 7">
            <a:extLst>
              <a:ext uri="{FF2B5EF4-FFF2-40B4-BE49-F238E27FC236}">
                <a16:creationId xmlns:a16="http://schemas.microsoft.com/office/drawing/2014/main" id="{D85E32D7-F57D-4340-8E9D-3632455CC03F}"/>
              </a:ext>
            </a:extLst>
          </p:cNvPr>
          <p:cNvSpPr/>
          <p:nvPr/>
        </p:nvSpPr>
        <p:spPr>
          <a:xfrm>
            <a:off x="304800" y="881694"/>
            <a:ext cx="8534400" cy="997653"/>
          </a:xfrm>
          <a:prstGeom prst="roundRect">
            <a:avLst>
              <a:gd name="adj" fmla="val 3573"/>
            </a:avLst>
          </a:prstGeom>
          <a:solidFill>
            <a:srgbClr val="F9E6E6"/>
          </a:solidFill>
          <a:ln>
            <a:solidFill>
              <a:srgbClr val="FFFBD6"/>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800" dirty="0">
              <a:solidFill>
                <a:schemeClr val="tx1"/>
              </a:solidFill>
            </a:endParaRPr>
          </a:p>
        </p:txBody>
      </p:sp>
      <p:sp>
        <p:nvSpPr>
          <p:cNvPr id="9" name="矩形 8">
            <a:extLst>
              <a:ext uri="{FF2B5EF4-FFF2-40B4-BE49-F238E27FC236}">
                <a16:creationId xmlns:a16="http://schemas.microsoft.com/office/drawing/2014/main" id="{6CAED9C6-D167-4236-9F99-D842B43D05D6}"/>
              </a:ext>
            </a:extLst>
          </p:cNvPr>
          <p:cNvSpPr/>
          <p:nvPr/>
        </p:nvSpPr>
        <p:spPr>
          <a:xfrm>
            <a:off x="381000" y="946072"/>
            <a:ext cx="8382000" cy="830997"/>
          </a:xfrm>
          <a:prstGeom prst="rect">
            <a:avLst/>
          </a:prstGeom>
        </p:spPr>
        <p:txBody>
          <a:bodyPr wrap="square">
            <a:spAutoFit/>
          </a:bodyPr>
          <a:lstStyle/>
          <a:p>
            <a:pPr algn="just"/>
            <a:r>
              <a:rPr lang="en-US" altLang="zh-CN" sz="2400" i="1" dirty="0">
                <a:solidFill>
                  <a:srgbClr val="404040"/>
                </a:solidFill>
              </a:rPr>
              <a:t>Model selection</a:t>
            </a:r>
            <a:r>
              <a:rPr lang="en-US" altLang="zh-CN" sz="2400" dirty="0">
                <a:solidFill>
                  <a:srgbClr val="404040"/>
                </a:solidFill>
              </a:rPr>
              <a:t> refers to the process of selecting the right model (or type of model) that fits the data. </a:t>
            </a:r>
            <a:endParaRPr lang="zh-CN" altLang="en-US" sz="2400" dirty="0"/>
          </a:p>
        </p:txBody>
      </p:sp>
    </p:spTree>
    <p:extLst>
      <p:ext uri="{BB962C8B-B14F-4D97-AF65-F5344CB8AC3E}">
        <p14:creationId xmlns:p14="http://schemas.microsoft.com/office/powerpoint/2010/main" val="112059499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圆角 7">
            <a:extLst>
              <a:ext uri="{FF2B5EF4-FFF2-40B4-BE49-F238E27FC236}">
                <a16:creationId xmlns:a16="http://schemas.microsoft.com/office/drawing/2014/main" id="{DC8E9541-2902-45E2-A2F6-8FB122BF09B3}"/>
              </a:ext>
            </a:extLst>
          </p:cNvPr>
          <p:cNvSpPr/>
          <p:nvPr/>
        </p:nvSpPr>
        <p:spPr>
          <a:xfrm>
            <a:off x="319454" y="933471"/>
            <a:ext cx="8534400" cy="1047729"/>
          </a:xfrm>
          <a:prstGeom prst="roundRect">
            <a:avLst>
              <a:gd name="adj" fmla="val 3573"/>
            </a:avLst>
          </a:prstGeom>
          <a:solidFill>
            <a:srgbClr val="F9E6E6"/>
          </a:solidFill>
          <a:ln>
            <a:solidFill>
              <a:srgbClr val="FFFBD6"/>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800" dirty="0">
              <a:solidFill>
                <a:schemeClr val="tx1"/>
              </a:solidFill>
            </a:endParaRPr>
          </a:p>
        </p:txBody>
      </p:sp>
      <p:sp>
        <p:nvSpPr>
          <p:cNvPr id="2" name="灯片编号占位符 1"/>
          <p:cNvSpPr>
            <a:spLocks noGrp="1"/>
          </p:cNvSpPr>
          <p:nvPr>
            <p:ph type="sldNum" sz="quarter" idx="12"/>
          </p:nvPr>
        </p:nvSpPr>
        <p:spPr/>
        <p:txBody>
          <a:bodyPr/>
          <a:lstStyle/>
          <a:p>
            <a:fld id="{B6F15528-21DE-4FAA-801E-634DDDAF4B2B}" type="slidenum">
              <a:rPr lang="en-US" smtClean="0"/>
              <a:pPr/>
              <a:t>53</a:t>
            </a:fld>
            <a:endParaRPr lang="en-US"/>
          </a:p>
        </p:txBody>
      </p:sp>
      <p:pic>
        <p:nvPicPr>
          <p:cNvPr id="5" name="图片 4"/>
          <p:cNvPicPr>
            <a:picLocks noChangeAspect="1"/>
          </p:cNvPicPr>
          <p:nvPr/>
        </p:nvPicPr>
        <p:blipFill>
          <a:blip r:embed="rId2"/>
          <a:stretch>
            <a:fillRect/>
          </a:stretch>
        </p:blipFill>
        <p:spPr>
          <a:xfrm>
            <a:off x="609600" y="2362200"/>
            <a:ext cx="4561358" cy="4288751"/>
          </a:xfrm>
          <a:prstGeom prst="rect">
            <a:avLst/>
          </a:prstGeom>
        </p:spPr>
      </p:pic>
      <p:sp>
        <p:nvSpPr>
          <p:cNvPr id="7" name="文本框 6">
            <a:extLst>
              <a:ext uri="{FF2B5EF4-FFF2-40B4-BE49-F238E27FC236}">
                <a16:creationId xmlns:a16="http://schemas.microsoft.com/office/drawing/2014/main" id="{60049FE2-D3F5-4096-9FC9-B63B2A1EDC37}"/>
              </a:ext>
            </a:extLst>
          </p:cNvPr>
          <p:cNvSpPr txBox="1"/>
          <p:nvPr/>
        </p:nvSpPr>
        <p:spPr>
          <a:xfrm>
            <a:off x="304800" y="152400"/>
            <a:ext cx="4228017" cy="754694"/>
          </a:xfrm>
          <a:prstGeom prst="rect">
            <a:avLst/>
          </a:prstGeom>
          <a:noFill/>
        </p:spPr>
        <p:txBody>
          <a:bodyPr wrap="none" rtlCol="0">
            <a:spAutoFit/>
          </a:bodyPr>
          <a:lstStyle/>
          <a:p>
            <a:pPr>
              <a:lnSpc>
                <a:spcPct val="150000"/>
              </a:lnSpc>
            </a:pPr>
            <a:r>
              <a:rPr lang="en-US" sz="3200" b="1" dirty="0"/>
              <a:t>Hyperparameter Tuning</a:t>
            </a:r>
          </a:p>
        </p:txBody>
      </p:sp>
      <p:sp>
        <p:nvSpPr>
          <p:cNvPr id="8" name="矩形 7"/>
          <p:cNvSpPr/>
          <p:nvPr/>
        </p:nvSpPr>
        <p:spPr>
          <a:xfrm>
            <a:off x="349144" y="1047670"/>
            <a:ext cx="8367346" cy="830997"/>
          </a:xfrm>
          <a:prstGeom prst="rect">
            <a:avLst/>
          </a:prstGeom>
        </p:spPr>
        <p:txBody>
          <a:bodyPr wrap="square">
            <a:spAutoFit/>
          </a:bodyPr>
          <a:lstStyle/>
          <a:p>
            <a:pPr algn="just"/>
            <a:r>
              <a:rPr lang="en-US" altLang="zh-CN" sz="2400" dirty="0"/>
              <a:t>Each trial of a particular </a:t>
            </a:r>
            <a:r>
              <a:rPr lang="en-US" altLang="zh-CN" sz="2400" dirty="0" err="1"/>
              <a:t>hyperparameter</a:t>
            </a:r>
            <a:r>
              <a:rPr lang="en-US" altLang="zh-CN" sz="2400" dirty="0"/>
              <a:t> setting involves training a model—an inner optimization process. </a:t>
            </a:r>
          </a:p>
        </p:txBody>
      </p:sp>
      <p:sp>
        <p:nvSpPr>
          <p:cNvPr id="10" name="矩形 9"/>
          <p:cNvSpPr/>
          <p:nvPr/>
        </p:nvSpPr>
        <p:spPr>
          <a:xfrm>
            <a:off x="5257800" y="2743200"/>
            <a:ext cx="3733800" cy="1015663"/>
          </a:xfrm>
          <a:prstGeom prst="rect">
            <a:avLst/>
          </a:prstGeom>
        </p:spPr>
        <p:txBody>
          <a:bodyPr wrap="square">
            <a:spAutoFit/>
          </a:bodyPr>
          <a:lstStyle/>
          <a:p>
            <a:pPr algn="just"/>
            <a:r>
              <a:rPr lang="en-US" altLang="zh-CN" sz="2000" dirty="0"/>
              <a:t>The outcome of </a:t>
            </a:r>
            <a:r>
              <a:rPr lang="en-US" altLang="zh-CN" sz="2000" dirty="0" err="1"/>
              <a:t>hyperparameter</a:t>
            </a:r>
            <a:r>
              <a:rPr lang="en-US" altLang="zh-CN" sz="2000" dirty="0"/>
              <a:t> tuning is the best </a:t>
            </a:r>
            <a:r>
              <a:rPr lang="en-US" altLang="zh-CN" sz="2000" dirty="0" err="1"/>
              <a:t>hyperparameter</a:t>
            </a:r>
            <a:r>
              <a:rPr lang="en-US" altLang="zh-CN" sz="2000" dirty="0"/>
              <a:t> setting.</a:t>
            </a:r>
          </a:p>
        </p:txBody>
      </p:sp>
      <p:sp>
        <p:nvSpPr>
          <p:cNvPr id="11" name="矩形 10"/>
          <p:cNvSpPr/>
          <p:nvPr/>
        </p:nvSpPr>
        <p:spPr>
          <a:xfrm>
            <a:off x="5257800" y="4876800"/>
            <a:ext cx="3657600" cy="707886"/>
          </a:xfrm>
          <a:prstGeom prst="rect">
            <a:avLst/>
          </a:prstGeom>
        </p:spPr>
        <p:txBody>
          <a:bodyPr wrap="square">
            <a:spAutoFit/>
          </a:bodyPr>
          <a:lstStyle/>
          <a:p>
            <a:pPr algn="just"/>
            <a:r>
              <a:rPr lang="en-US" altLang="zh-CN" sz="2000" dirty="0"/>
              <a:t>The outcome of model training is the best model parameter setting.</a:t>
            </a:r>
            <a:endParaRPr lang="zh-CN" altLang="en-US" sz="2000" dirty="0"/>
          </a:p>
        </p:txBody>
      </p:sp>
    </p:spTree>
    <p:extLst>
      <p:ext uri="{BB962C8B-B14F-4D97-AF65-F5344CB8AC3E}">
        <p14:creationId xmlns:p14="http://schemas.microsoft.com/office/powerpoint/2010/main" val="154962519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F15528-21DE-4FAA-801E-634DDDAF4B2B}" type="slidenum">
              <a:rPr lang="en-US" smtClean="0"/>
              <a:pPr/>
              <a:t>54</a:t>
            </a:fld>
            <a:endParaRPr lang="en-US"/>
          </a:p>
        </p:txBody>
      </p:sp>
      <p:pic>
        <p:nvPicPr>
          <p:cNvPr id="3" name="图片 2"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51813" y="1161351"/>
            <a:ext cx="5639587" cy="5010849"/>
          </a:xfrm>
          <a:prstGeom prst="rect">
            <a:avLst/>
          </a:prstGeom>
        </p:spPr>
      </p:pic>
      <p:sp>
        <p:nvSpPr>
          <p:cNvPr id="6" name="文本框 5">
            <a:extLst>
              <a:ext uri="{FF2B5EF4-FFF2-40B4-BE49-F238E27FC236}">
                <a16:creationId xmlns:a16="http://schemas.microsoft.com/office/drawing/2014/main" id="{60049FE2-D3F5-4096-9FC9-B63B2A1EDC37}"/>
              </a:ext>
            </a:extLst>
          </p:cNvPr>
          <p:cNvSpPr txBox="1"/>
          <p:nvPr/>
        </p:nvSpPr>
        <p:spPr>
          <a:xfrm>
            <a:off x="304800" y="152400"/>
            <a:ext cx="3732689" cy="754694"/>
          </a:xfrm>
          <a:prstGeom prst="rect">
            <a:avLst/>
          </a:prstGeom>
          <a:noFill/>
        </p:spPr>
        <p:txBody>
          <a:bodyPr wrap="none" rtlCol="0">
            <a:spAutoFit/>
          </a:bodyPr>
          <a:lstStyle/>
          <a:p>
            <a:pPr>
              <a:lnSpc>
                <a:spcPct val="150000"/>
              </a:lnSpc>
            </a:pPr>
            <a:r>
              <a:rPr lang="en-US" sz="3200" b="1" dirty="0"/>
              <a:t>Pseudo-Python Code</a:t>
            </a:r>
          </a:p>
        </p:txBody>
      </p:sp>
    </p:spTree>
    <p:extLst>
      <p:ext uri="{BB962C8B-B14F-4D97-AF65-F5344CB8AC3E}">
        <p14:creationId xmlns:p14="http://schemas.microsoft.com/office/powerpoint/2010/main" val="136296173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圆角 7">
            <a:extLst>
              <a:ext uri="{FF2B5EF4-FFF2-40B4-BE49-F238E27FC236}">
                <a16:creationId xmlns:a16="http://schemas.microsoft.com/office/drawing/2014/main" id="{DC8E9541-2902-45E2-A2F6-8FB122BF09B3}"/>
              </a:ext>
            </a:extLst>
          </p:cNvPr>
          <p:cNvSpPr/>
          <p:nvPr/>
        </p:nvSpPr>
        <p:spPr>
          <a:xfrm>
            <a:off x="304800" y="958945"/>
            <a:ext cx="8456141" cy="946056"/>
          </a:xfrm>
          <a:prstGeom prst="roundRect">
            <a:avLst>
              <a:gd name="adj" fmla="val 3573"/>
            </a:avLst>
          </a:prstGeom>
          <a:solidFill>
            <a:srgbClr val="FFFBD6"/>
          </a:solidFill>
          <a:ln>
            <a:solidFill>
              <a:srgbClr val="FFFBD6"/>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800" dirty="0">
              <a:solidFill>
                <a:schemeClr val="tx1"/>
              </a:solidFill>
            </a:endParaRPr>
          </a:p>
        </p:txBody>
      </p:sp>
      <p:sp>
        <p:nvSpPr>
          <p:cNvPr id="2" name="灯片编号占位符 1"/>
          <p:cNvSpPr>
            <a:spLocks noGrp="1"/>
          </p:cNvSpPr>
          <p:nvPr>
            <p:ph type="sldNum" sz="quarter" idx="12"/>
          </p:nvPr>
        </p:nvSpPr>
        <p:spPr/>
        <p:txBody>
          <a:bodyPr/>
          <a:lstStyle/>
          <a:p>
            <a:fld id="{B6F15528-21DE-4FAA-801E-634DDDAF4B2B}" type="slidenum">
              <a:rPr lang="en-US" smtClean="0"/>
              <a:pPr/>
              <a:t>55</a:t>
            </a:fld>
            <a:endParaRPr lang="en-US"/>
          </a:p>
        </p:txBody>
      </p:sp>
      <p:sp>
        <p:nvSpPr>
          <p:cNvPr id="4" name="矩形 3"/>
          <p:cNvSpPr/>
          <p:nvPr/>
        </p:nvSpPr>
        <p:spPr>
          <a:xfrm>
            <a:off x="304800" y="997803"/>
            <a:ext cx="8305800" cy="830997"/>
          </a:xfrm>
          <a:prstGeom prst="rect">
            <a:avLst/>
          </a:prstGeom>
        </p:spPr>
        <p:txBody>
          <a:bodyPr wrap="square">
            <a:spAutoFit/>
          </a:bodyPr>
          <a:lstStyle/>
          <a:p>
            <a:pPr algn="just"/>
            <a:r>
              <a:rPr lang="en-US" altLang="zh-CN" sz="2400" dirty="0"/>
              <a:t>Grid search picks out a grid of </a:t>
            </a:r>
            <a:r>
              <a:rPr lang="en-US" altLang="zh-CN" sz="2400" dirty="0" err="1"/>
              <a:t>hyperparameter</a:t>
            </a:r>
            <a:r>
              <a:rPr lang="en-US" altLang="zh-CN" sz="2400" dirty="0"/>
              <a:t> values, evaluates every one of them, and returns the winner. </a:t>
            </a:r>
            <a:endParaRPr lang="zh-CN" altLang="en-US" sz="2400" dirty="0"/>
          </a:p>
        </p:txBody>
      </p:sp>
      <p:sp>
        <p:nvSpPr>
          <p:cNvPr id="6" name="文本框 5">
            <a:extLst>
              <a:ext uri="{FF2B5EF4-FFF2-40B4-BE49-F238E27FC236}">
                <a16:creationId xmlns:a16="http://schemas.microsoft.com/office/drawing/2014/main" id="{60049FE2-D3F5-4096-9FC9-B63B2A1EDC37}"/>
              </a:ext>
            </a:extLst>
          </p:cNvPr>
          <p:cNvSpPr txBox="1"/>
          <p:nvPr/>
        </p:nvSpPr>
        <p:spPr>
          <a:xfrm>
            <a:off x="304800" y="152400"/>
            <a:ext cx="8249694" cy="754694"/>
          </a:xfrm>
          <a:prstGeom prst="rect">
            <a:avLst/>
          </a:prstGeom>
          <a:noFill/>
        </p:spPr>
        <p:txBody>
          <a:bodyPr wrap="none" rtlCol="0">
            <a:spAutoFit/>
          </a:bodyPr>
          <a:lstStyle/>
          <a:p>
            <a:pPr>
              <a:lnSpc>
                <a:spcPct val="150000"/>
              </a:lnSpc>
            </a:pPr>
            <a:r>
              <a:rPr lang="en-US" sz="3200" b="1" dirty="0"/>
              <a:t>Hyperparameter Turning Algorithm-Grid Search</a:t>
            </a:r>
          </a:p>
        </p:txBody>
      </p:sp>
      <p:pic>
        <p:nvPicPr>
          <p:cNvPr id="7" name="图片 6"/>
          <p:cNvPicPr>
            <a:picLocks noChangeAspect="1"/>
          </p:cNvPicPr>
          <p:nvPr/>
        </p:nvPicPr>
        <p:blipFill>
          <a:blip r:embed="rId2"/>
          <a:stretch>
            <a:fillRect/>
          </a:stretch>
        </p:blipFill>
        <p:spPr>
          <a:xfrm>
            <a:off x="1792165" y="3677563"/>
            <a:ext cx="5372100" cy="2667000"/>
          </a:xfrm>
          <a:prstGeom prst="rect">
            <a:avLst/>
          </a:prstGeom>
        </p:spPr>
      </p:pic>
      <p:sp>
        <p:nvSpPr>
          <p:cNvPr id="10" name="矩形: 圆角 7">
            <a:extLst>
              <a:ext uri="{FF2B5EF4-FFF2-40B4-BE49-F238E27FC236}">
                <a16:creationId xmlns:a16="http://schemas.microsoft.com/office/drawing/2014/main" id="{DC8E9541-2902-45E2-A2F6-8FB122BF09B3}"/>
              </a:ext>
            </a:extLst>
          </p:cNvPr>
          <p:cNvSpPr/>
          <p:nvPr/>
        </p:nvSpPr>
        <p:spPr>
          <a:xfrm>
            <a:off x="304800" y="2177336"/>
            <a:ext cx="8456141" cy="1404064"/>
          </a:xfrm>
          <a:prstGeom prst="roundRect">
            <a:avLst>
              <a:gd name="adj" fmla="val 3573"/>
            </a:avLst>
          </a:prstGeom>
          <a:solidFill>
            <a:srgbClr val="F9E6E6"/>
          </a:solidFill>
          <a:ln>
            <a:solidFill>
              <a:srgbClr val="FFFBD6"/>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800" dirty="0">
              <a:solidFill>
                <a:schemeClr val="tx1"/>
              </a:solidFill>
            </a:endParaRPr>
          </a:p>
        </p:txBody>
      </p:sp>
      <mc:AlternateContent xmlns:mc="http://schemas.openxmlformats.org/markup-compatibility/2006" xmlns:a14="http://schemas.microsoft.com/office/drawing/2010/main">
        <mc:Choice Requires="a14">
          <p:sp>
            <p:nvSpPr>
              <p:cNvPr id="8" name="矩形 7"/>
              <p:cNvSpPr/>
              <p:nvPr/>
            </p:nvSpPr>
            <p:spPr>
              <a:xfrm>
                <a:off x="325315" y="2345838"/>
                <a:ext cx="8305800" cy="1200329"/>
              </a:xfrm>
              <a:prstGeom prst="rect">
                <a:avLst/>
              </a:prstGeom>
            </p:spPr>
            <p:txBody>
              <a:bodyPr wrap="square">
                <a:spAutoFit/>
              </a:bodyPr>
              <a:lstStyle/>
              <a:p>
                <a:pPr marL="342900" indent="-342900" algn="just">
                  <a:buFont typeface="Arial" panose="020B0604020202020204" pitchFamily="34" charset="0"/>
                  <a:buChar char="•"/>
                </a:pPr>
                <a:r>
                  <a:rPr lang="en-US" altLang="zh-CN" dirty="0"/>
                  <a:t>If the </a:t>
                </a:r>
                <a:r>
                  <a:rPr lang="en-US" altLang="zh-CN" dirty="0" err="1"/>
                  <a:t>hyperparameter</a:t>
                </a:r>
                <a:r>
                  <a:rPr lang="en-US" altLang="zh-CN" dirty="0"/>
                  <a:t> is the number of leaves in a decision tree, then the grid could be 10, 20, 30, …, 100. </a:t>
                </a:r>
              </a:p>
              <a:p>
                <a:pPr marL="342900" indent="-342900" algn="just">
                  <a:buFont typeface="Arial" panose="020B0604020202020204" pitchFamily="34" charset="0"/>
                  <a:buChar char="•"/>
                </a:pPr>
                <a:r>
                  <a:rPr lang="en-US" altLang="zh-CN" dirty="0"/>
                  <a:t>For regularization parameters, it is common to use exponential scale: </a:t>
                </a:r>
                <a14:m>
                  <m:oMath xmlns:m="http://schemas.openxmlformats.org/officeDocument/2006/math">
                    <m:sSup>
                      <m:sSupPr>
                        <m:ctrlPr>
                          <a:rPr lang="en-US" altLang="zh-CN" i="1" smtClean="0">
                            <a:latin typeface="Cambria Math" panose="02040503050406030204" pitchFamily="18" charset="0"/>
                          </a:rPr>
                        </m:ctrlPr>
                      </m:sSupPr>
                      <m:e>
                        <m:r>
                          <a:rPr lang="en-US" altLang="zh-CN" b="0" i="1" smtClean="0">
                            <a:latin typeface="Cambria Math" panose="02040503050406030204" pitchFamily="18" charset="0"/>
                          </a:rPr>
                          <m:t>10</m:t>
                        </m:r>
                      </m:e>
                      <m:sup>
                        <m:r>
                          <a:rPr lang="en-US" altLang="zh-CN" b="0" i="1" smtClean="0">
                            <a:latin typeface="Cambria Math" panose="02040503050406030204" pitchFamily="18" charset="0"/>
                          </a:rPr>
                          <m:t>−5</m:t>
                        </m:r>
                      </m:sup>
                    </m:sSup>
                  </m:oMath>
                </a14:m>
                <a:r>
                  <a:rPr lang="en-US" altLang="zh-CN" dirty="0"/>
                  <a:t>, </a:t>
                </a:r>
                <a14:m>
                  <m:oMath xmlns:m="http://schemas.openxmlformats.org/officeDocument/2006/math">
                    <m:sSup>
                      <m:sSupPr>
                        <m:ctrlPr>
                          <a:rPr lang="en-US" altLang="zh-CN" i="1">
                            <a:latin typeface="Cambria Math" panose="02040503050406030204" pitchFamily="18" charset="0"/>
                          </a:rPr>
                        </m:ctrlPr>
                      </m:sSupPr>
                      <m:e>
                        <m:r>
                          <a:rPr lang="en-US" altLang="zh-CN" i="1">
                            <a:latin typeface="Cambria Math" panose="02040503050406030204" pitchFamily="18" charset="0"/>
                          </a:rPr>
                          <m:t>10</m:t>
                        </m:r>
                      </m:e>
                      <m:sup>
                        <m:r>
                          <a:rPr lang="en-US" altLang="zh-CN" i="1">
                            <a:latin typeface="Cambria Math" panose="02040503050406030204" pitchFamily="18" charset="0"/>
                          </a:rPr>
                          <m:t>−</m:t>
                        </m:r>
                        <m:r>
                          <a:rPr lang="en-US" altLang="zh-CN" b="0" i="1" smtClean="0">
                            <a:latin typeface="Cambria Math" panose="02040503050406030204" pitchFamily="18" charset="0"/>
                          </a:rPr>
                          <m:t>4</m:t>
                        </m:r>
                      </m:sup>
                    </m:sSup>
                  </m:oMath>
                </a14:m>
                <a:r>
                  <a:rPr lang="en-US" altLang="zh-CN" dirty="0"/>
                  <a:t>, </a:t>
                </a:r>
                <a14:m>
                  <m:oMath xmlns:m="http://schemas.openxmlformats.org/officeDocument/2006/math">
                    <m:sSup>
                      <m:sSupPr>
                        <m:ctrlPr>
                          <a:rPr lang="en-US" altLang="zh-CN" i="1">
                            <a:latin typeface="Cambria Math" panose="02040503050406030204" pitchFamily="18" charset="0"/>
                          </a:rPr>
                        </m:ctrlPr>
                      </m:sSupPr>
                      <m:e>
                        <m:r>
                          <a:rPr lang="en-US" altLang="zh-CN" i="1">
                            <a:latin typeface="Cambria Math" panose="02040503050406030204" pitchFamily="18" charset="0"/>
                          </a:rPr>
                          <m:t>10</m:t>
                        </m:r>
                      </m:e>
                      <m:sup>
                        <m:r>
                          <a:rPr lang="en-US" altLang="zh-CN" i="1">
                            <a:latin typeface="Cambria Math" panose="02040503050406030204" pitchFamily="18" charset="0"/>
                          </a:rPr>
                          <m:t>−</m:t>
                        </m:r>
                        <m:r>
                          <a:rPr lang="en-US" altLang="zh-CN" b="0" i="1" smtClean="0">
                            <a:latin typeface="Cambria Math" panose="02040503050406030204" pitchFamily="18" charset="0"/>
                          </a:rPr>
                          <m:t>3</m:t>
                        </m:r>
                      </m:sup>
                    </m:sSup>
                  </m:oMath>
                </a14:m>
                <a:r>
                  <a:rPr lang="en-US" altLang="zh-CN" dirty="0"/>
                  <a:t>, …, 1. </a:t>
                </a:r>
              </a:p>
            </p:txBody>
          </p:sp>
        </mc:Choice>
        <mc:Fallback xmlns="">
          <p:sp>
            <p:nvSpPr>
              <p:cNvPr id="8" name="矩形 7"/>
              <p:cNvSpPr>
                <a:spLocks noRot="1" noChangeAspect="1" noMove="1" noResize="1" noEditPoints="1" noAdjustHandles="1" noChangeArrowheads="1" noChangeShapeType="1" noTextEdit="1"/>
              </p:cNvSpPr>
              <p:nvPr/>
            </p:nvSpPr>
            <p:spPr>
              <a:xfrm>
                <a:off x="325315" y="2345838"/>
                <a:ext cx="8305800" cy="1200329"/>
              </a:xfrm>
              <a:prstGeom prst="rect">
                <a:avLst/>
              </a:prstGeom>
              <a:blipFill>
                <a:blip r:embed="rId3"/>
                <a:stretch>
                  <a:fillRect l="-440" t="-3046" r="-587" b="-7614"/>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69149426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AA21BA45-7398-42A5-B889-088B22615C88}"/>
              </a:ext>
            </a:extLst>
          </p:cNvPr>
          <p:cNvSpPr>
            <a:spLocks noGrp="1"/>
          </p:cNvSpPr>
          <p:nvPr>
            <p:ph type="sldNum" sz="quarter" idx="12"/>
          </p:nvPr>
        </p:nvSpPr>
        <p:spPr/>
        <p:txBody>
          <a:bodyPr/>
          <a:lstStyle/>
          <a:p>
            <a:fld id="{B6F15528-21DE-4FAA-801E-634DDDAF4B2B}" type="slidenum">
              <a:rPr lang="en-US" smtClean="0"/>
              <a:pPr/>
              <a:t>56</a:t>
            </a:fld>
            <a:endParaRPr lang="en-US" dirty="0"/>
          </a:p>
        </p:txBody>
      </p:sp>
      <p:sp>
        <p:nvSpPr>
          <p:cNvPr id="7" name="文本框 6">
            <a:extLst>
              <a:ext uri="{FF2B5EF4-FFF2-40B4-BE49-F238E27FC236}">
                <a16:creationId xmlns:a16="http://schemas.microsoft.com/office/drawing/2014/main" id="{426C0FA5-1795-4B18-9E3A-56EF7ACCBFA8}"/>
              </a:ext>
            </a:extLst>
          </p:cNvPr>
          <p:cNvSpPr txBox="1"/>
          <p:nvPr/>
        </p:nvSpPr>
        <p:spPr>
          <a:xfrm>
            <a:off x="228600" y="76200"/>
            <a:ext cx="2040943" cy="754694"/>
          </a:xfrm>
          <a:prstGeom prst="rect">
            <a:avLst/>
          </a:prstGeom>
          <a:noFill/>
        </p:spPr>
        <p:txBody>
          <a:bodyPr wrap="none" rtlCol="0">
            <a:spAutoFit/>
          </a:bodyPr>
          <a:lstStyle/>
          <a:p>
            <a:pPr>
              <a:lnSpc>
                <a:spcPct val="150000"/>
              </a:lnSpc>
            </a:pPr>
            <a:r>
              <a:rPr lang="en-US" altLang="zh-CN" sz="3200" b="1" dirty="0"/>
              <a:t>Conclusion</a:t>
            </a:r>
            <a:endParaRPr lang="en-US" sz="3200" b="1" dirty="0"/>
          </a:p>
        </p:txBody>
      </p:sp>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2D07B575-0EB0-435B-BD41-FAFE40DC301F}"/>
                  </a:ext>
                </a:extLst>
              </p:cNvPr>
              <p:cNvSpPr/>
              <p:nvPr/>
            </p:nvSpPr>
            <p:spPr>
              <a:xfrm>
                <a:off x="228600" y="1166842"/>
                <a:ext cx="8763000" cy="5353068"/>
              </a:xfrm>
              <a:prstGeom prst="rect">
                <a:avLst/>
              </a:prstGeom>
            </p:spPr>
            <p:txBody>
              <a:bodyPr wrap="square">
                <a:spAutoFit/>
              </a:bodyPr>
              <a:lstStyle/>
              <a:p>
                <a:pPr marL="342900" indent="-342900" algn="just">
                  <a:buFont typeface="Arial" panose="020B0604020202020204" pitchFamily="34" charset="0"/>
                  <a:buChar char="•"/>
                </a:pPr>
                <a:r>
                  <a:rPr lang="en-US" altLang="zh-CN" sz="2400" dirty="0"/>
                  <a:t>Confusion Matrix</a:t>
                </a:r>
              </a:p>
              <a:p>
                <a:pPr marL="342900" indent="-342900" algn="just">
                  <a:buFont typeface="Arial" panose="020B0604020202020204" pitchFamily="34" charset="0"/>
                  <a:buChar char="•"/>
                </a:pPr>
                <a:r>
                  <a:rPr lang="en-US" altLang="zh-CN" sz="2400" dirty="0"/>
                  <a:t>TP,FP,TN,FN</a:t>
                </a:r>
              </a:p>
              <a:p>
                <a:pPr marL="342900" indent="-342900" algn="just">
                  <a:buFont typeface="Arial" panose="020B0604020202020204" pitchFamily="34" charset="0"/>
                  <a:buChar char="•"/>
                </a:pPr>
                <a:r>
                  <a:rPr lang="en-US" altLang="zh-CN" sz="2400" dirty="0"/>
                  <a:t>Accuracy</a:t>
                </a:r>
              </a:p>
              <a:p>
                <a:pPr marL="342900" indent="-342900" algn="just">
                  <a:buFont typeface="Arial" panose="020B0604020202020204" pitchFamily="34" charset="0"/>
                  <a:buChar char="•"/>
                </a:pPr>
                <a:r>
                  <a:rPr lang="en-US" altLang="zh-CN" sz="2400" dirty="0"/>
                  <a:t>Precision </a:t>
                </a:r>
                <a14:m>
                  <m:oMath xmlns:m="http://schemas.openxmlformats.org/officeDocument/2006/math">
                    <m:f>
                      <m:fPr>
                        <m:ctrlPr>
                          <a:rPr lang="en-US" altLang="zh-CN" sz="2400" i="1" dirty="0">
                            <a:latin typeface="Cambria Math" panose="02040503050406030204" pitchFamily="18" charset="0"/>
                          </a:rPr>
                        </m:ctrlPr>
                      </m:fPr>
                      <m:num>
                        <m:r>
                          <a:rPr lang="en-US" altLang="zh-CN" sz="2400" i="1" dirty="0">
                            <a:latin typeface="Cambria Math" panose="02040503050406030204" pitchFamily="18" charset="0"/>
                          </a:rPr>
                          <m:t>𝑇𝑃</m:t>
                        </m:r>
                      </m:num>
                      <m:den>
                        <m:r>
                          <a:rPr lang="en-US" altLang="zh-CN" sz="2400" i="1" dirty="0">
                            <a:latin typeface="Cambria Math" panose="02040503050406030204" pitchFamily="18" charset="0"/>
                          </a:rPr>
                          <m:t>𝑇𝑃</m:t>
                        </m:r>
                        <m:r>
                          <a:rPr lang="en-US" altLang="zh-CN" sz="2400" i="1" dirty="0">
                            <a:latin typeface="Cambria Math" panose="02040503050406030204" pitchFamily="18" charset="0"/>
                          </a:rPr>
                          <m:t>+</m:t>
                        </m:r>
                        <m:r>
                          <a:rPr lang="en-US" altLang="zh-CN" sz="2400" i="1" dirty="0">
                            <a:latin typeface="Cambria Math" panose="02040503050406030204" pitchFamily="18" charset="0"/>
                          </a:rPr>
                          <m:t>𝐹𝑃</m:t>
                        </m:r>
                      </m:den>
                    </m:f>
                  </m:oMath>
                </a14:m>
                <a:endParaRPr lang="en-US" altLang="zh-CN" sz="2400" dirty="0"/>
              </a:p>
              <a:p>
                <a:pPr marL="342900" indent="-342900" algn="just">
                  <a:buFont typeface="Arial" panose="020B0604020202020204" pitchFamily="34" charset="0"/>
                  <a:buChar char="•"/>
                </a:pPr>
                <a:r>
                  <a:rPr lang="en-US" altLang="zh-CN" sz="2400" dirty="0"/>
                  <a:t>Recall (</a:t>
                </a:r>
                <a:r>
                  <a:rPr lang="en-US" altLang="zh-CN" sz="2400" dirty="0">
                    <a:solidFill>
                      <a:srgbClr val="FF0000"/>
                    </a:solidFill>
                  </a:rPr>
                  <a:t>TPR</a:t>
                </a:r>
                <a:r>
                  <a:rPr lang="en-US" altLang="zh-CN" sz="2400" dirty="0"/>
                  <a:t>)  </a:t>
                </a:r>
                <a14:m>
                  <m:oMath xmlns:m="http://schemas.openxmlformats.org/officeDocument/2006/math">
                    <m:f>
                      <m:fPr>
                        <m:ctrlPr>
                          <a:rPr lang="en-US" altLang="zh-CN" sz="2400" i="1" dirty="0">
                            <a:latin typeface="Cambria Math" panose="02040503050406030204" pitchFamily="18" charset="0"/>
                          </a:rPr>
                        </m:ctrlPr>
                      </m:fPr>
                      <m:num>
                        <m:r>
                          <a:rPr lang="en-US" altLang="zh-CN" sz="2400" i="1" dirty="0">
                            <a:latin typeface="Cambria Math" panose="02040503050406030204" pitchFamily="18" charset="0"/>
                          </a:rPr>
                          <m:t>𝑇𝑃</m:t>
                        </m:r>
                      </m:num>
                      <m:den>
                        <m:r>
                          <a:rPr lang="en-US" altLang="zh-CN" sz="2400" i="1" dirty="0">
                            <a:latin typeface="Cambria Math" panose="02040503050406030204" pitchFamily="18" charset="0"/>
                          </a:rPr>
                          <m:t>𝑇𝑃</m:t>
                        </m:r>
                        <m:r>
                          <a:rPr lang="en-US" altLang="zh-CN" sz="2400" i="1" dirty="0">
                            <a:latin typeface="Cambria Math" panose="02040503050406030204" pitchFamily="18" charset="0"/>
                          </a:rPr>
                          <m:t>+</m:t>
                        </m:r>
                        <m:r>
                          <a:rPr lang="en-US" altLang="zh-CN" sz="2400" i="1" dirty="0">
                            <a:latin typeface="Cambria Math" panose="02040503050406030204" pitchFamily="18" charset="0"/>
                          </a:rPr>
                          <m:t>𝐹𝑁</m:t>
                        </m:r>
                      </m:den>
                    </m:f>
                  </m:oMath>
                </a14:m>
                <a:endParaRPr lang="en-US" altLang="zh-CN" sz="2400" dirty="0"/>
              </a:p>
              <a:p>
                <a:pPr marL="342900" indent="-342900">
                  <a:buFont typeface="Arial" panose="020B0604020202020204" pitchFamily="34" charset="0"/>
                  <a:buChar char="•"/>
                </a:pPr>
                <a14:m>
                  <m:oMath xmlns:m="http://schemas.openxmlformats.org/officeDocument/2006/math">
                    <m:sSub>
                      <m:sSubPr>
                        <m:ctrlPr>
                          <a:rPr lang="en-US" altLang="zh-CN" sz="2400" i="1" dirty="0" smtClean="0">
                            <a:solidFill>
                              <a:schemeClr val="tx1"/>
                            </a:solidFill>
                            <a:latin typeface="Cambria Math" panose="02040503050406030204" pitchFamily="18" charset="0"/>
                          </a:rPr>
                        </m:ctrlPr>
                      </m:sSubPr>
                      <m:e>
                        <m:r>
                          <a:rPr lang="en-US" altLang="zh-CN" sz="2400" i="1" dirty="0">
                            <a:solidFill>
                              <a:schemeClr val="tx1"/>
                            </a:solidFill>
                            <a:latin typeface="Cambria Math" panose="02040503050406030204" pitchFamily="18" charset="0"/>
                          </a:rPr>
                          <m:t>𝐹</m:t>
                        </m:r>
                      </m:e>
                      <m:sub>
                        <m:r>
                          <a:rPr lang="en-US" altLang="zh-CN" sz="2400" i="1" dirty="0">
                            <a:solidFill>
                              <a:schemeClr val="tx1"/>
                            </a:solidFill>
                            <a:latin typeface="Cambria Math" panose="02040503050406030204" pitchFamily="18" charset="0"/>
                          </a:rPr>
                          <m:t>1</m:t>
                        </m:r>
                      </m:sub>
                    </m:sSub>
                  </m:oMath>
                </a14:m>
                <a:r>
                  <a:rPr lang="en-US" altLang="zh-CN" sz="2400" dirty="0">
                    <a:solidFill>
                      <a:schemeClr val="tx1"/>
                    </a:solidFill>
                  </a:rPr>
                  <a:t>-measure: </a:t>
                </a:r>
                <a14:m>
                  <m:oMath xmlns:m="http://schemas.openxmlformats.org/officeDocument/2006/math">
                    <m:sSub>
                      <m:sSubPr>
                        <m:ctrlPr>
                          <a:rPr lang="en-US" altLang="zh-CN" sz="2400" i="1" dirty="0">
                            <a:solidFill>
                              <a:schemeClr val="tx1"/>
                            </a:solidFill>
                            <a:latin typeface="Cambria Math" panose="02040503050406030204" pitchFamily="18" charset="0"/>
                          </a:rPr>
                        </m:ctrlPr>
                      </m:sSubPr>
                      <m:e>
                        <m:r>
                          <a:rPr lang="en-US" altLang="zh-CN" sz="2400" i="1" dirty="0">
                            <a:solidFill>
                              <a:schemeClr val="tx1"/>
                            </a:solidFill>
                            <a:latin typeface="Cambria Math" panose="02040503050406030204" pitchFamily="18" charset="0"/>
                          </a:rPr>
                          <m:t>𝐹</m:t>
                        </m:r>
                      </m:e>
                      <m:sub>
                        <m:r>
                          <a:rPr lang="en-US" altLang="zh-CN" sz="2400" i="1" dirty="0">
                            <a:solidFill>
                              <a:schemeClr val="tx1"/>
                            </a:solidFill>
                            <a:latin typeface="Cambria Math" panose="02040503050406030204" pitchFamily="18" charset="0"/>
                          </a:rPr>
                          <m:t>1</m:t>
                        </m:r>
                      </m:sub>
                    </m:sSub>
                    <m:r>
                      <a:rPr lang="en-US" altLang="zh-CN" sz="2400" i="1" dirty="0">
                        <a:solidFill>
                          <a:schemeClr val="tx1"/>
                        </a:solidFill>
                        <a:latin typeface="Cambria Math" panose="02040503050406030204" pitchFamily="18" charset="0"/>
                      </a:rPr>
                      <m:t>=</m:t>
                    </m:r>
                    <m:f>
                      <m:fPr>
                        <m:ctrlPr>
                          <a:rPr lang="en-US" altLang="zh-CN" sz="2400" i="1">
                            <a:solidFill>
                              <a:schemeClr val="tx1"/>
                            </a:solidFill>
                            <a:latin typeface="Cambria Math" panose="02040503050406030204" pitchFamily="18" charset="0"/>
                          </a:rPr>
                        </m:ctrlPr>
                      </m:fPr>
                      <m:num>
                        <m:r>
                          <a:rPr lang="en-US" altLang="zh-CN" sz="2400" i="1">
                            <a:solidFill>
                              <a:schemeClr val="tx1"/>
                            </a:solidFill>
                            <a:latin typeface="Cambria Math" panose="02040503050406030204" pitchFamily="18" charset="0"/>
                          </a:rPr>
                          <m:t>2 </m:t>
                        </m:r>
                        <m:r>
                          <a:rPr lang="en-US" altLang="zh-CN" sz="2400" i="1">
                            <a:solidFill>
                              <a:schemeClr val="tx1"/>
                            </a:solidFill>
                            <a:latin typeface="Cambria Math" panose="02040503050406030204" pitchFamily="18" charset="0"/>
                            <a:ea typeface="Cambria Math" panose="02040503050406030204" pitchFamily="18" charset="0"/>
                          </a:rPr>
                          <m:t>× </m:t>
                        </m:r>
                        <m:r>
                          <a:rPr lang="en-US" altLang="zh-CN" sz="2400" i="1">
                            <a:solidFill>
                              <a:schemeClr val="tx1"/>
                            </a:solidFill>
                            <a:latin typeface="Cambria Math" panose="02040503050406030204" pitchFamily="18" charset="0"/>
                            <a:ea typeface="Cambria Math" panose="02040503050406030204" pitchFamily="18" charset="0"/>
                          </a:rPr>
                          <m:t>𝑝𝑟𝑒𝑠𝑖𝑜𝑛</m:t>
                        </m:r>
                        <m:r>
                          <a:rPr lang="en-US" altLang="zh-CN" sz="2400" i="1">
                            <a:solidFill>
                              <a:schemeClr val="tx1"/>
                            </a:solidFill>
                            <a:latin typeface="Cambria Math" panose="02040503050406030204" pitchFamily="18" charset="0"/>
                            <a:ea typeface="Cambria Math" panose="02040503050406030204" pitchFamily="18" charset="0"/>
                          </a:rPr>
                          <m:t> × </m:t>
                        </m:r>
                        <m:r>
                          <a:rPr lang="en-US" altLang="zh-CN" sz="2400" i="1">
                            <a:solidFill>
                              <a:schemeClr val="tx1"/>
                            </a:solidFill>
                            <a:latin typeface="Cambria Math" panose="02040503050406030204" pitchFamily="18" charset="0"/>
                            <a:ea typeface="Cambria Math" panose="02040503050406030204" pitchFamily="18" charset="0"/>
                          </a:rPr>
                          <m:t>𝑟𝑒𝑐𝑎𝑙𝑙</m:t>
                        </m:r>
                        <m:r>
                          <a:rPr lang="en-US" altLang="zh-CN" sz="2400" i="1">
                            <a:solidFill>
                              <a:schemeClr val="tx1"/>
                            </a:solidFill>
                            <a:latin typeface="Cambria Math" panose="02040503050406030204" pitchFamily="18" charset="0"/>
                            <a:ea typeface="Cambria Math" panose="02040503050406030204" pitchFamily="18" charset="0"/>
                          </a:rPr>
                          <m:t> </m:t>
                        </m:r>
                      </m:num>
                      <m:den>
                        <m:r>
                          <a:rPr lang="en-US" altLang="zh-CN" sz="2400" i="1">
                            <a:solidFill>
                              <a:schemeClr val="tx1"/>
                            </a:solidFill>
                            <a:latin typeface="Cambria Math" panose="02040503050406030204" pitchFamily="18" charset="0"/>
                          </a:rPr>
                          <m:t>𝑝𝑟𝑒𝑐𝑖𝑠𝑖𝑜𝑛</m:t>
                        </m:r>
                        <m:r>
                          <a:rPr lang="en-US" altLang="zh-CN" sz="2400" i="1">
                            <a:solidFill>
                              <a:schemeClr val="tx1"/>
                            </a:solidFill>
                            <a:latin typeface="Cambria Math" panose="02040503050406030204" pitchFamily="18" charset="0"/>
                          </a:rPr>
                          <m:t>+</m:t>
                        </m:r>
                        <m:r>
                          <a:rPr lang="en-US" altLang="zh-CN" sz="2400" i="1">
                            <a:solidFill>
                              <a:schemeClr val="tx1"/>
                            </a:solidFill>
                            <a:latin typeface="Cambria Math" panose="02040503050406030204" pitchFamily="18" charset="0"/>
                          </a:rPr>
                          <m:t>𝑟𝑒𝑐𝑎𝑙𝑙</m:t>
                        </m:r>
                      </m:den>
                    </m:f>
                  </m:oMath>
                </a14:m>
                <a:endParaRPr lang="en-US" altLang="zh-CN" sz="2400" dirty="0">
                  <a:solidFill>
                    <a:schemeClr val="tx1"/>
                  </a:solidFill>
                </a:endParaRPr>
              </a:p>
              <a:p>
                <a:pPr marL="342900" indent="-342900">
                  <a:buFont typeface="Arial" panose="020B0604020202020204" pitchFamily="34" charset="0"/>
                  <a:buChar char="•"/>
                </a:pPr>
                <a:r>
                  <a:rPr lang="en-US" altLang="zh-CN" sz="2400" dirty="0">
                    <a:solidFill>
                      <a:schemeClr val="tx1"/>
                    </a:solidFill>
                  </a:rPr>
                  <a:t>False Alarm Rate or False Positive Rate (</a:t>
                </a:r>
                <a:r>
                  <a:rPr lang="en-US" altLang="zh-CN" sz="2400" dirty="0">
                    <a:solidFill>
                      <a:srgbClr val="FF0000"/>
                    </a:solidFill>
                  </a:rPr>
                  <a:t>FPR</a:t>
                </a:r>
                <a:r>
                  <a:rPr lang="en-US" altLang="zh-CN" sz="2400" dirty="0">
                    <a:solidFill>
                      <a:schemeClr val="tx1"/>
                    </a:solidFill>
                  </a:rPr>
                  <a:t>) </a:t>
                </a:r>
                <a14:m>
                  <m:oMath xmlns:m="http://schemas.openxmlformats.org/officeDocument/2006/math">
                    <m:f>
                      <m:fPr>
                        <m:ctrlPr>
                          <a:rPr lang="en-US" altLang="zh-CN" sz="2400" i="1" dirty="0">
                            <a:solidFill>
                              <a:schemeClr val="tx1"/>
                            </a:solidFill>
                            <a:latin typeface="Cambria Math" panose="02040503050406030204" pitchFamily="18" charset="0"/>
                          </a:rPr>
                        </m:ctrlPr>
                      </m:fPr>
                      <m:num>
                        <m:r>
                          <a:rPr lang="en-US" altLang="zh-CN" sz="2400" i="1" dirty="0">
                            <a:solidFill>
                              <a:schemeClr val="tx1"/>
                            </a:solidFill>
                            <a:latin typeface="Cambria Math" panose="02040503050406030204" pitchFamily="18" charset="0"/>
                          </a:rPr>
                          <m:t>𝐹𝑃</m:t>
                        </m:r>
                      </m:num>
                      <m:den>
                        <m:r>
                          <a:rPr lang="en-US" altLang="zh-CN" sz="2400" i="1" dirty="0">
                            <a:solidFill>
                              <a:schemeClr val="tx1"/>
                            </a:solidFill>
                            <a:latin typeface="Cambria Math" panose="02040503050406030204" pitchFamily="18" charset="0"/>
                          </a:rPr>
                          <m:t>𝑇𝑁</m:t>
                        </m:r>
                        <m:r>
                          <a:rPr lang="en-US" altLang="zh-CN" sz="2400" i="1" dirty="0">
                            <a:solidFill>
                              <a:schemeClr val="tx1"/>
                            </a:solidFill>
                            <a:latin typeface="Cambria Math" panose="02040503050406030204" pitchFamily="18" charset="0"/>
                          </a:rPr>
                          <m:t>+</m:t>
                        </m:r>
                        <m:r>
                          <a:rPr lang="en-US" altLang="zh-CN" sz="2400" i="1" dirty="0">
                            <a:solidFill>
                              <a:schemeClr val="tx1"/>
                            </a:solidFill>
                            <a:latin typeface="Cambria Math" panose="02040503050406030204" pitchFamily="18" charset="0"/>
                          </a:rPr>
                          <m:t>𝐹𝑃</m:t>
                        </m:r>
                      </m:den>
                    </m:f>
                  </m:oMath>
                </a14:m>
                <a:endParaRPr lang="zh-CN" altLang="en-US" sz="2400" dirty="0">
                  <a:solidFill>
                    <a:schemeClr val="tx1"/>
                  </a:solidFill>
                </a:endParaRPr>
              </a:p>
              <a:p>
                <a:pPr marL="342900" indent="-342900">
                  <a:buFont typeface="Arial" panose="020B0604020202020204" pitchFamily="34" charset="0"/>
                  <a:buChar char="•"/>
                </a:pPr>
                <a:r>
                  <a:rPr lang="en-US" altLang="zh-CN" sz="2400" dirty="0">
                    <a:solidFill>
                      <a:schemeClr val="tx1"/>
                    </a:solidFill>
                  </a:rPr>
                  <a:t>Specificity or True Negative Rate (TFR) </a:t>
                </a:r>
                <a14:m>
                  <m:oMath xmlns:m="http://schemas.openxmlformats.org/officeDocument/2006/math">
                    <m:f>
                      <m:fPr>
                        <m:ctrlPr>
                          <a:rPr lang="en-US" altLang="zh-CN" sz="2400" i="1" dirty="0">
                            <a:solidFill>
                              <a:schemeClr val="tx1"/>
                            </a:solidFill>
                            <a:latin typeface="Cambria Math" panose="02040503050406030204" pitchFamily="18" charset="0"/>
                          </a:rPr>
                        </m:ctrlPr>
                      </m:fPr>
                      <m:num>
                        <m:r>
                          <a:rPr lang="en-US" altLang="zh-CN" sz="2400" i="1" dirty="0">
                            <a:solidFill>
                              <a:schemeClr val="tx1"/>
                            </a:solidFill>
                            <a:latin typeface="Cambria Math" panose="02040503050406030204" pitchFamily="18" charset="0"/>
                          </a:rPr>
                          <m:t>𝑇𝑁</m:t>
                        </m:r>
                      </m:num>
                      <m:den>
                        <m:r>
                          <a:rPr lang="en-US" altLang="zh-CN" sz="2400" i="1" dirty="0">
                            <a:solidFill>
                              <a:schemeClr val="tx1"/>
                            </a:solidFill>
                            <a:latin typeface="Cambria Math" panose="02040503050406030204" pitchFamily="18" charset="0"/>
                          </a:rPr>
                          <m:t>𝑇𝑁</m:t>
                        </m:r>
                        <m:r>
                          <a:rPr lang="en-US" altLang="zh-CN" sz="2400" i="1" dirty="0">
                            <a:solidFill>
                              <a:schemeClr val="tx1"/>
                            </a:solidFill>
                            <a:latin typeface="Cambria Math" panose="02040503050406030204" pitchFamily="18" charset="0"/>
                          </a:rPr>
                          <m:t>+ </m:t>
                        </m:r>
                        <m:r>
                          <a:rPr lang="en-US" altLang="zh-CN" sz="2400" i="1" dirty="0">
                            <a:solidFill>
                              <a:schemeClr val="tx1"/>
                            </a:solidFill>
                            <a:latin typeface="Cambria Math" panose="02040503050406030204" pitchFamily="18" charset="0"/>
                          </a:rPr>
                          <m:t>𝐹𝑃</m:t>
                        </m:r>
                      </m:den>
                    </m:f>
                  </m:oMath>
                </a14:m>
                <a:endParaRPr lang="en-US" altLang="zh-CN" sz="2400" dirty="0">
                  <a:solidFill>
                    <a:schemeClr val="tx1"/>
                  </a:solidFill>
                </a:endParaRPr>
              </a:p>
              <a:p>
                <a:pPr marL="342900" indent="-342900" algn="just">
                  <a:buFont typeface="Arial" panose="020B0604020202020204" pitchFamily="34" charset="0"/>
                  <a:buChar char="•"/>
                </a:pPr>
                <a:r>
                  <a:rPr lang="en-US" altLang="zh-CN" sz="2400" dirty="0">
                    <a:solidFill>
                      <a:schemeClr val="tx1"/>
                    </a:solidFill>
                  </a:rPr>
                  <a:t>ROC Curve </a:t>
                </a:r>
                <a:r>
                  <a:rPr lang="en-US" altLang="zh-CN" sz="2400" dirty="0"/>
                  <a:t>(</a:t>
                </a:r>
                <a:r>
                  <a:rPr lang="en-US" altLang="zh-CN" sz="2400" dirty="0">
                    <a:solidFill>
                      <a:srgbClr val="FF0000"/>
                    </a:solidFill>
                  </a:rPr>
                  <a:t>FPR</a:t>
                </a:r>
                <a:r>
                  <a:rPr lang="en-US" altLang="zh-CN" sz="2400" dirty="0"/>
                  <a:t>, </a:t>
                </a:r>
                <a:r>
                  <a:rPr lang="en-US" altLang="zh-CN" sz="2400" dirty="0">
                    <a:solidFill>
                      <a:srgbClr val="FF0000"/>
                    </a:solidFill>
                  </a:rPr>
                  <a:t>TPR</a:t>
                </a:r>
                <a:r>
                  <a:rPr lang="en-US" altLang="zh-CN" sz="2400" dirty="0"/>
                  <a:t>) </a:t>
                </a:r>
                <a:endParaRPr lang="en-US" altLang="zh-CN" sz="2400" dirty="0">
                  <a:solidFill>
                    <a:schemeClr val="tx1"/>
                  </a:solidFill>
                </a:endParaRPr>
              </a:p>
              <a:p>
                <a:pPr marL="800100" lvl="1" indent="-342900" algn="just">
                  <a:buFont typeface="Arial" panose="020B0604020202020204" pitchFamily="34" charset="0"/>
                  <a:buChar char="•"/>
                </a:pPr>
                <a:r>
                  <a:rPr lang="en-US" altLang="zh-CN" sz="2400" dirty="0">
                    <a:solidFill>
                      <a:schemeClr val="tx1"/>
                    </a:solidFill>
                  </a:rPr>
                  <a:t>ROC AUC</a:t>
                </a:r>
              </a:p>
              <a:p>
                <a:pPr marL="342900" indent="-342900" algn="just">
                  <a:buFont typeface="Arial" panose="020B0604020202020204" pitchFamily="34" charset="0"/>
                  <a:buChar char="•"/>
                </a:pPr>
                <a:r>
                  <a:rPr lang="en-US" altLang="zh-CN" sz="2400" dirty="0">
                    <a:solidFill>
                      <a:schemeClr val="tx1"/>
                    </a:solidFill>
                  </a:rPr>
                  <a:t>Precision-Recall Curve</a:t>
                </a:r>
              </a:p>
              <a:p>
                <a:pPr marL="342900" indent="-342900" algn="just">
                  <a:buFont typeface="Arial" panose="020B0604020202020204" pitchFamily="34" charset="0"/>
                  <a:buChar char="•"/>
                </a:pPr>
                <a:r>
                  <a:rPr lang="en-US" altLang="zh-CN" sz="2400" dirty="0"/>
                  <a:t>Model selection</a:t>
                </a:r>
                <a:endParaRPr lang="en-US" altLang="zh-CN" sz="2400" dirty="0">
                  <a:solidFill>
                    <a:schemeClr val="tx1"/>
                  </a:solidFill>
                </a:endParaRPr>
              </a:p>
            </p:txBody>
          </p:sp>
        </mc:Choice>
        <mc:Fallback xmlns="">
          <p:sp>
            <p:nvSpPr>
              <p:cNvPr id="2" name="矩形 1">
                <a:extLst>
                  <a:ext uri="{FF2B5EF4-FFF2-40B4-BE49-F238E27FC236}">
                    <a16:creationId xmlns:a16="http://schemas.microsoft.com/office/drawing/2014/main" id="{2D07B575-0EB0-435B-BD41-FAFE40DC301F}"/>
                  </a:ext>
                </a:extLst>
              </p:cNvPr>
              <p:cNvSpPr>
                <a:spLocks noRot="1" noChangeAspect="1" noMove="1" noResize="1" noEditPoints="1" noAdjustHandles="1" noChangeArrowheads="1" noChangeShapeType="1" noTextEdit="1"/>
              </p:cNvSpPr>
              <p:nvPr/>
            </p:nvSpPr>
            <p:spPr>
              <a:xfrm>
                <a:off x="228600" y="1166842"/>
                <a:ext cx="8763000" cy="5353068"/>
              </a:xfrm>
              <a:prstGeom prst="rect">
                <a:avLst/>
              </a:prstGeom>
              <a:blipFill>
                <a:blip r:embed="rId2"/>
                <a:stretch>
                  <a:fillRect l="-974" t="-910" b="-1479"/>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09594441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1314</TotalTime>
  <Words>3992</Words>
  <Application>Microsoft Macintosh PowerPoint</Application>
  <PresentationFormat>On-screen Show (4:3)</PresentationFormat>
  <Paragraphs>454</Paragraphs>
  <Slides>56</Slides>
  <Notes>10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56</vt:i4>
      </vt:variant>
    </vt:vector>
  </HeadingPairs>
  <TitlesOfParts>
    <vt:vector size="64" baseType="lpstr">
      <vt:lpstr>微软雅黑</vt:lpstr>
      <vt:lpstr>Arial</vt:lpstr>
      <vt:lpstr>Bahnschrift SemiLight Condensed</vt:lpstr>
      <vt:lpstr>Calibri</vt:lpstr>
      <vt:lpstr>Cambria Math</vt:lpstr>
      <vt:lpstr>Mongolian Baiti</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Math Behind Problems Theory, and Prototype</dc:title>
  <dc:creator>Administrator</dc:creator>
  <cp:lastModifiedBy>Microsoft Office User</cp:lastModifiedBy>
  <cp:revision>1610</cp:revision>
  <dcterms:created xsi:type="dcterms:W3CDTF">2006-08-16T00:00:00Z</dcterms:created>
  <dcterms:modified xsi:type="dcterms:W3CDTF">2022-09-28T04:05:02Z</dcterms:modified>
</cp:coreProperties>
</file>