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6" r:id="rId2"/>
    <p:sldId id="256" r:id="rId3"/>
    <p:sldId id="257" r:id="rId4"/>
    <p:sldId id="258" r:id="rId5"/>
    <p:sldId id="264" r:id="rId6"/>
    <p:sldId id="259" r:id="rId7"/>
    <p:sldId id="261" r:id="rId8"/>
    <p:sldId id="265" r:id="rId9"/>
    <p:sldId id="260" r:id="rId10"/>
    <p:sldId id="26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gxuemeng" initials="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2" autoAdjust="0"/>
    <p:restoredTop sz="95199" autoAdjust="0"/>
  </p:normalViewPr>
  <p:slideViewPr>
    <p:cSldViewPr snapToGrid="0">
      <p:cViewPr varScale="1">
        <p:scale>
          <a:sx n="143" d="100"/>
          <a:sy n="143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02BBD-70DB-462A-AFFE-757EE5565E96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9F3AD4-3AF9-45C6-A444-F10C73317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499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就是这样的</a:t>
            </a:r>
            <a:r>
              <a:rPr lang="en-US" altLang="zh-CN" dirty="0"/>
              <a:t>notes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36FD4-A2CB-42B1-8E32-22ABDD215E71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xinxin@sdu.edu.c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libili.com/video/av6731067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xinxin@sdu.edu.cn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7858" y="2062535"/>
            <a:ext cx="118028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/>
              <a:t>Machine Learning &amp; Pattern Recognition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CC7982-047F-42D2-9F1B-07D23845D18E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5A66716F-3B35-9B46-9E32-CFEA0B7E4AE3}"/>
              </a:ext>
            </a:extLst>
          </p:cNvPr>
          <p:cNvSpPr/>
          <p:nvPr/>
        </p:nvSpPr>
        <p:spPr>
          <a:xfrm>
            <a:off x="4329881" y="4005636"/>
            <a:ext cx="3821239" cy="1495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Xin Xin(</a:t>
            </a:r>
            <a:r>
              <a:rPr lang="zh-CN" altLang="en-US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辛鑫</a:t>
            </a: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2400" b="1" dirty="0" err="1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xinxin@sdu.edu.cn</a:t>
            </a:r>
            <a:endParaRPr lang="en-US" altLang="zh-CN" sz="2400" b="1" dirty="0">
              <a:solidFill>
                <a:prstClr val="black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https://</a:t>
            </a:r>
            <a:r>
              <a:rPr lang="en-US" altLang="zh-CN" sz="2400" b="1" dirty="0" err="1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xinxin-me.github.io</a:t>
            </a: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327773" y="268652"/>
            <a:ext cx="30716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/>
              <a:t>About Me</a:t>
            </a:r>
            <a:endParaRPr lang="zh-CN" altLang="en-US" sz="54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3215064" y="1186285"/>
            <a:ext cx="537884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Dr. Xin Xin (</a:t>
            </a:r>
            <a:r>
              <a:rPr lang="zh-CN" altLang="en-US" sz="2400" b="1" dirty="0"/>
              <a:t>辛鑫</a:t>
            </a:r>
            <a:r>
              <a:rPr lang="en-US" altLang="zh-CN" sz="2400" b="1" dirty="0"/>
              <a:t>)</a:t>
            </a:r>
          </a:p>
          <a:p>
            <a:r>
              <a:rPr lang="en-US" altLang="zh-CN" sz="2400" b="1" dirty="0"/>
              <a:t>Associate Professor </a:t>
            </a:r>
          </a:p>
          <a:p>
            <a:r>
              <a:rPr lang="en-US" altLang="zh-CN" sz="2400" b="1" dirty="0"/>
              <a:t>Dept. of Computer Science &amp; Technology</a:t>
            </a:r>
          </a:p>
          <a:p>
            <a:r>
              <a:rPr lang="en-US" altLang="zh-CN" sz="2400" b="1" dirty="0"/>
              <a:t>Office: N3-3</a:t>
            </a:r>
            <a:r>
              <a:rPr lang="zh-CN" altLang="en-US" sz="2400" b="1" dirty="0"/>
              <a:t>楼</a:t>
            </a:r>
            <a:endParaRPr lang="en-US" altLang="zh-CN" sz="2400" b="1" dirty="0"/>
          </a:p>
          <a:p>
            <a:r>
              <a:rPr lang="en-US" altLang="zh-CN" sz="2400" b="1" dirty="0"/>
              <a:t>E-mail: </a:t>
            </a:r>
            <a:r>
              <a:rPr lang="en-US" altLang="zh-CN" sz="2400" b="1" dirty="0">
                <a:hlinkClick r:id="rId3"/>
              </a:rPr>
              <a:t>xinxin@sdu.edu.cn</a:t>
            </a:r>
            <a:endParaRPr lang="en-US" altLang="zh-CN" sz="2400" b="1" dirty="0"/>
          </a:p>
          <a:p>
            <a:r>
              <a:rPr lang="en-US" altLang="zh-CN" sz="2400" b="1" dirty="0" err="1"/>
              <a:t>Wechat</a:t>
            </a:r>
            <a:r>
              <a:rPr lang="en-US" altLang="zh-CN" sz="2400" b="1" dirty="0"/>
              <a:t>: </a:t>
            </a:r>
            <a:r>
              <a:rPr lang="en-US" altLang="zh-CN" sz="2400" b="1" dirty="0" err="1"/>
              <a:t>xinxinsducs</a:t>
            </a:r>
            <a:endParaRPr lang="en-US" altLang="zh-CN" sz="2400" b="1" dirty="0"/>
          </a:p>
          <a:p>
            <a:r>
              <a:rPr lang="en-US" altLang="zh-CN" sz="2400" b="1" dirty="0"/>
              <a:t>Consultation: by appointment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1956099" y="3863941"/>
            <a:ext cx="7255512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2400" b="1" dirty="0"/>
              <a:t>Ph.D.,       University of Glasgow 		(2017-2021)</a:t>
            </a: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2400" b="1" dirty="0"/>
              <a:t>Master,    Shanghai </a:t>
            </a:r>
            <a:r>
              <a:rPr lang="en-US" altLang="zh-CN" sz="2400" b="1" dirty="0" err="1"/>
              <a:t>Jiaotong</a:t>
            </a:r>
            <a:r>
              <a:rPr lang="en-US" altLang="zh-CN" sz="2400" b="1" dirty="0"/>
              <a:t> University  (2014-2017)</a:t>
            </a: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2400" b="1" dirty="0"/>
              <a:t>Bachelor, Xi’an </a:t>
            </a:r>
            <a:r>
              <a:rPr lang="en-US" altLang="zh-CN" sz="2400" b="1" dirty="0" err="1"/>
              <a:t>Jiaotong</a:t>
            </a:r>
            <a:r>
              <a:rPr lang="en-US" altLang="zh-CN" sz="2400" b="1" dirty="0"/>
              <a:t> University	(2010-2014)</a:t>
            </a: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2400" b="1" dirty="0"/>
              <a:t>Research Interests:</a:t>
            </a:r>
          </a:p>
          <a:p>
            <a:pPr marL="914400" lvl="1" indent="-457200">
              <a:buFont typeface="Arial" panose="020B0604020202090204" pitchFamily="34" charset="0"/>
              <a:buChar char="•"/>
            </a:pPr>
            <a:r>
              <a:rPr lang="en-US" altLang="zh-CN" sz="2000" b="1" dirty="0"/>
              <a:t>Recommender Systems</a:t>
            </a:r>
          </a:p>
          <a:p>
            <a:pPr marL="914400" lvl="1" indent="-457200">
              <a:buFont typeface="Arial" panose="020B0604020202090204" pitchFamily="34" charset="0"/>
              <a:buChar char="•"/>
            </a:pPr>
            <a:r>
              <a:rPr lang="en-US" altLang="zh-CN" sz="2000" b="1" dirty="0"/>
              <a:t>Information Retrieval</a:t>
            </a:r>
          </a:p>
          <a:p>
            <a:pPr marL="914400" lvl="1" indent="-457200">
              <a:buFont typeface="Arial" panose="020B0604020202090204" pitchFamily="34" charset="0"/>
              <a:buChar char="•"/>
            </a:pPr>
            <a:r>
              <a:rPr lang="en-US" altLang="zh-CN" sz="2000" b="1" dirty="0"/>
              <a:t>Machine Learning</a:t>
            </a:r>
          </a:p>
          <a:p>
            <a:pPr marL="914400" lvl="1" indent="-457200">
              <a:buFont typeface="Arial" panose="020B0604020202090204" pitchFamily="34" charset="0"/>
              <a:buChar char="•"/>
            </a:pPr>
            <a:r>
              <a:rPr lang="en-US" altLang="zh-CN" sz="2000" b="1" dirty="0"/>
              <a:t>Reinforcement Learning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D4B562-BDFB-7847-A652-B94DCDAB5C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403071"/>
            <a:ext cx="1601682" cy="2244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27773" y="268652"/>
            <a:ext cx="31935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/>
              <a:t>Objectives</a:t>
            </a:r>
            <a:endParaRPr lang="zh-CN" altLang="en-US" sz="5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773146" y="1310738"/>
            <a:ext cx="101584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90204" pitchFamily="34" charset="0"/>
              <a:buChar char="•"/>
            </a:pPr>
            <a:r>
              <a:rPr lang="en-US" altLang="zh-CN" sz="3200" dirty="0"/>
              <a:t>To equip students with knowledge of common </a:t>
            </a:r>
            <a:r>
              <a:rPr lang="en-US" altLang="zh-CN" sz="3200" i="1" dirty="0">
                <a:solidFill>
                  <a:srgbClr val="FF0000"/>
                </a:solidFill>
              </a:rPr>
              <a:t>statistical machine learning</a:t>
            </a:r>
            <a:r>
              <a:rPr lang="en-US" altLang="zh-CN" sz="3200" dirty="0"/>
              <a:t> and </a:t>
            </a:r>
            <a:r>
              <a:rPr lang="en-US" altLang="zh-CN" sz="3200" i="1" dirty="0">
                <a:solidFill>
                  <a:srgbClr val="FF0000"/>
                </a:solidFill>
              </a:rPr>
              <a:t>pattern recognition </a:t>
            </a:r>
            <a:r>
              <a:rPr lang="en-US" altLang="zh-CN" sz="3200" dirty="0"/>
              <a:t>algorithms</a:t>
            </a:r>
            <a:r>
              <a:rPr lang="en-US" altLang="zh-CN" sz="3200" i="1" dirty="0">
                <a:solidFill>
                  <a:srgbClr val="FF0000"/>
                </a:solidFill>
              </a:rPr>
              <a:t> </a:t>
            </a:r>
            <a:r>
              <a:rPr lang="en-US" altLang="zh-CN" sz="3200" dirty="0"/>
              <a:t>and techniques.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78482" y="260263"/>
            <a:ext cx="39421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/>
              <a:t>Prerequisites</a:t>
            </a:r>
            <a:endParaRPr lang="zh-CN" altLang="en-US" sz="5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773146" y="1310738"/>
            <a:ext cx="107113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90204" pitchFamily="34" charset="0"/>
              <a:buChar char="•"/>
            </a:pPr>
            <a:r>
              <a:rPr lang="en-US" altLang="zh-CN" sz="3600" dirty="0"/>
              <a:t>Familiar with </a:t>
            </a:r>
            <a:r>
              <a:rPr lang="en-US" altLang="zh-CN" sz="3600" i="1" dirty="0">
                <a:solidFill>
                  <a:srgbClr val="FF0000"/>
                </a:solidFill>
              </a:rPr>
              <a:t>probability</a:t>
            </a:r>
            <a:r>
              <a:rPr lang="en-US" altLang="zh-CN" sz="3600" dirty="0"/>
              <a:t>, and </a:t>
            </a:r>
            <a:r>
              <a:rPr lang="en-US" altLang="zh-CN" sz="3600" i="1" dirty="0">
                <a:solidFill>
                  <a:srgbClr val="FF0000"/>
                </a:solidFill>
              </a:rPr>
              <a:t>linear algebra </a:t>
            </a:r>
            <a:r>
              <a:rPr lang="en-US" altLang="zh-CN" sz="3600" dirty="0"/>
              <a:t>(vector spaces and matrix theory) as thought in typical undergraduate courses.</a:t>
            </a:r>
          </a:p>
          <a:p>
            <a:pPr marL="1028700" lvl="1" indent="-571500" algn="just">
              <a:buFont typeface="Arial" panose="020B0604020202090204" pitchFamily="34" charset="0"/>
              <a:buChar char="•"/>
            </a:pPr>
            <a:r>
              <a:rPr lang="en-US" altLang="zh-CN" sz="3600" dirty="0">
                <a:hlinkClick r:id="rId2"/>
              </a:rPr>
              <a:t>https://www.bilibili.com/video/av6731067</a:t>
            </a:r>
            <a:endParaRPr lang="en-US" altLang="zh-CN" sz="3600" dirty="0"/>
          </a:p>
          <a:p>
            <a:pPr marL="571500" indent="-571500" algn="just">
              <a:buFont typeface="Arial" panose="020B0604020202090204" pitchFamily="34" charset="0"/>
              <a:buChar char="•"/>
            </a:pPr>
            <a:endParaRPr lang="en-US" altLang="zh-CN" sz="3600" dirty="0"/>
          </a:p>
          <a:p>
            <a:pPr marL="571500" indent="-571500" algn="just">
              <a:buFont typeface="Arial" panose="020B0604020202090204" pitchFamily="34" charset="0"/>
              <a:buChar char="•"/>
            </a:pPr>
            <a:r>
              <a:rPr lang="en-US" altLang="zh-CN" sz="3600" dirty="0"/>
              <a:t>Familiar with programming environments such as </a:t>
            </a:r>
            <a:r>
              <a:rPr lang="en-US" altLang="zh-CN" sz="3600" i="1" dirty="0">
                <a:solidFill>
                  <a:srgbClr val="FF0000"/>
                </a:solidFill>
              </a:rPr>
              <a:t>MATLAB, Python</a:t>
            </a:r>
            <a:r>
              <a:rPr lang="en-US" altLang="zh-CN" sz="3600" dirty="0">
                <a:solidFill>
                  <a:srgbClr val="FF0000"/>
                </a:solidFill>
              </a:rPr>
              <a:t> </a:t>
            </a:r>
            <a:r>
              <a:rPr lang="en-US" altLang="zh-CN" sz="3600" dirty="0"/>
              <a:t>or be able to program in standard languages such as C, C++, etc.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34250" y="1241258"/>
            <a:ext cx="867565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90204" pitchFamily="34" charset="0"/>
              <a:buChar char="•"/>
            </a:pPr>
            <a:r>
              <a:rPr lang="zh-CN" altLang="en-US" sz="3200" dirty="0"/>
              <a:t>统计学习方法 第二版（李航）</a:t>
            </a:r>
            <a:endParaRPr lang="en-US" altLang="zh-CN" sz="3200" dirty="0"/>
          </a:p>
          <a:p>
            <a:pPr marL="571500" indent="-571500" algn="just">
              <a:buFont typeface="Arial" panose="020B0604020202090204" pitchFamily="34" charset="0"/>
              <a:buChar char="•"/>
            </a:pPr>
            <a:r>
              <a:rPr lang="zh-CN" altLang="en-US" sz="3200" dirty="0"/>
              <a:t>机器学习 （周志华）</a:t>
            </a:r>
            <a:endParaRPr lang="en-US" altLang="zh-CN" sz="3200" dirty="0"/>
          </a:p>
          <a:p>
            <a:pPr marL="571500" indent="-571500" algn="just">
              <a:buFont typeface="Arial" panose="020B0604020202090204" pitchFamily="34" charset="0"/>
              <a:buChar char="•"/>
            </a:pPr>
            <a:r>
              <a:rPr lang="en-US" altLang="zh-CN" sz="3200" dirty="0"/>
              <a:t>Pattern Recognition and Machine Learning (</a:t>
            </a:r>
            <a:r>
              <a:rPr lang="en-US" altLang="zh-CN" sz="3200" i="1" dirty="0"/>
              <a:t>Christopher Bishop</a:t>
            </a:r>
            <a:r>
              <a:rPr lang="en-US" altLang="zh-CN" sz="3200" dirty="0"/>
              <a:t>) (</a:t>
            </a:r>
            <a:r>
              <a:rPr lang="en-US" altLang="zh-CN" sz="3200" dirty="0">
                <a:solidFill>
                  <a:srgbClr val="FF0000"/>
                </a:solidFill>
              </a:rPr>
              <a:t>E-edition</a:t>
            </a:r>
            <a:r>
              <a:rPr lang="en-US" altLang="zh-CN" sz="3200" dirty="0"/>
              <a:t>)</a:t>
            </a:r>
          </a:p>
          <a:p>
            <a:pPr marL="571500" indent="-571500" algn="just">
              <a:buFont typeface="Arial" panose="020B0604020202090204" pitchFamily="34" charset="0"/>
              <a:buChar char="•"/>
            </a:pPr>
            <a:r>
              <a:rPr lang="en-US" altLang="zh-CN" sz="3200" dirty="0"/>
              <a:t>Deep Learning (</a:t>
            </a:r>
            <a:r>
              <a:rPr lang="en-US" altLang="zh-CN" sz="3200" i="1" dirty="0"/>
              <a:t>Ian Goodfellow, </a:t>
            </a:r>
            <a:r>
              <a:rPr lang="en-US" altLang="zh-CN" sz="3200" i="1" dirty="0" err="1"/>
              <a:t>Yoshua</a:t>
            </a:r>
            <a:r>
              <a:rPr lang="en-US" altLang="zh-CN" sz="3200" i="1" dirty="0"/>
              <a:t> </a:t>
            </a:r>
            <a:r>
              <a:rPr lang="en-US" altLang="zh-CN" sz="3200" i="1" dirty="0" err="1"/>
              <a:t>Bengio</a:t>
            </a:r>
            <a:r>
              <a:rPr lang="en-US" altLang="zh-CN" sz="3200" i="1" dirty="0"/>
              <a:t>, Aaron Courville</a:t>
            </a:r>
            <a:r>
              <a:rPr lang="en-US" altLang="zh-CN" sz="3200" dirty="0"/>
              <a:t>) (</a:t>
            </a:r>
            <a:r>
              <a:rPr lang="en-US" altLang="zh-CN" sz="3200" dirty="0">
                <a:solidFill>
                  <a:srgbClr val="FF0000"/>
                </a:solidFill>
              </a:rPr>
              <a:t>E-edition</a:t>
            </a:r>
            <a:r>
              <a:rPr lang="en-US" altLang="zh-CN" sz="3200" dirty="0"/>
              <a:t>)</a:t>
            </a:r>
          </a:p>
          <a:p>
            <a:pPr algn="just"/>
            <a:endParaRPr lang="en-US" altLang="zh-CN" sz="3200" dirty="0">
              <a:solidFill>
                <a:srgbClr val="FF0000"/>
              </a:solidFill>
            </a:endParaRPr>
          </a:p>
          <a:p>
            <a:pPr marL="571500" indent="-571500" algn="just">
              <a:buFont typeface="Arial" panose="020B0604020202090204" pitchFamily="34" charset="0"/>
              <a:buChar char="•"/>
            </a:pPr>
            <a:r>
              <a:rPr lang="en-US" altLang="zh-CN" sz="3200" dirty="0"/>
              <a:t>Lectures are important, but not enough.</a:t>
            </a:r>
          </a:p>
          <a:p>
            <a:pPr marL="571500" indent="-571500" algn="just">
              <a:buFont typeface="Arial" panose="020B0604020202090204" pitchFamily="34" charset="0"/>
              <a:buChar char="•"/>
            </a:pPr>
            <a:r>
              <a:rPr lang="en-US" altLang="zh-CN" sz="3200" dirty="0"/>
              <a:t>You are strongly suggested to explore more (via the </a:t>
            </a:r>
            <a:r>
              <a:rPr lang="en-US" altLang="zh-CN" sz="3200" i="1" dirty="0">
                <a:solidFill>
                  <a:srgbClr val="FF0000"/>
                </a:solidFill>
              </a:rPr>
              <a:t>Internet</a:t>
            </a:r>
            <a:r>
              <a:rPr lang="en-US" altLang="zh-CN" sz="3200" dirty="0">
                <a:solidFill>
                  <a:srgbClr val="FF0000"/>
                </a:solidFill>
              </a:rPr>
              <a:t> </a:t>
            </a:r>
            <a:r>
              <a:rPr lang="en-US" altLang="zh-CN" sz="3200" dirty="0"/>
              <a:t>or even just the </a:t>
            </a:r>
            <a:r>
              <a:rPr lang="en-US" altLang="zh-CN" sz="3200" i="1" dirty="0" err="1">
                <a:solidFill>
                  <a:srgbClr val="FF0000"/>
                </a:solidFill>
              </a:rPr>
              <a:t>wikipedia</a:t>
            </a:r>
            <a:r>
              <a:rPr lang="en-US" altLang="zh-CN" sz="3200" dirty="0"/>
              <a:t>). </a:t>
            </a:r>
            <a:endParaRPr lang="zh-CN" altLang="en-US" sz="3200" dirty="0"/>
          </a:p>
        </p:txBody>
      </p:sp>
      <p:sp>
        <p:nvSpPr>
          <p:cNvPr id="2" name="文本框 1"/>
          <p:cNvSpPr txBox="1"/>
          <p:nvPr/>
        </p:nvSpPr>
        <p:spPr>
          <a:xfrm>
            <a:off x="2362421" y="317928"/>
            <a:ext cx="75328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/>
              <a:t>Text Book and References</a:t>
            </a:r>
            <a:endParaRPr lang="zh-CN" altLang="en-US" sz="5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l="15428" t="2429" r="12143" b="1571"/>
          <a:stretch>
            <a:fillRect/>
          </a:stretch>
        </p:blipFill>
        <p:spPr>
          <a:xfrm>
            <a:off x="9760602" y="161833"/>
            <a:ext cx="1706723" cy="22621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/>
          <a:srcRect l="14175" t="7568" r="8772" b="4024"/>
          <a:stretch>
            <a:fillRect/>
          </a:stretch>
        </p:blipFill>
        <p:spPr>
          <a:xfrm>
            <a:off x="9918954" y="1664366"/>
            <a:ext cx="1789424" cy="2007647"/>
          </a:xfrm>
          <a:prstGeom prst="rect">
            <a:avLst/>
          </a:prstGeom>
        </p:spPr>
      </p:pic>
      <p:pic>
        <p:nvPicPr>
          <p:cNvPr id="2050" name="Picture 2" descr="https://timgsa.baidu.com/timg?image&amp;quality=80&amp;size=b9999_10000&amp;sec=1532065548402&amp;di=97584bd971dafcce7fd59b287cf1e2ec&amp;imgtype=jpg&amp;src=http%3A%2F%2Fimg3.imgtn.bdimg.com%2Fit%2Fu%3D2067987288%2C1388753644%26fm%3D214%26gp%3D0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8" r="10584"/>
          <a:stretch>
            <a:fillRect/>
          </a:stretch>
        </p:blipFill>
        <p:spPr bwMode="auto">
          <a:xfrm>
            <a:off x="10061471" y="2912511"/>
            <a:ext cx="1805259" cy="231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6"/>
          <a:srcRect l="11364" r="10834"/>
          <a:stretch>
            <a:fillRect/>
          </a:stretch>
        </p:blipFill>
        <p:spPr>
          <a:xfrm>
            <a:off x="10233502" y="4413788"/>
            <a:ext cx="1775745" cy="22823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25319" y="301453"/>
            <a:ext cx="38475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/>
              <a:t>Assessments</a:t>
            </a:r>
            <a:endParaRPr lang="zh-CN" altLang="en-US" sz="5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773146" y="1310738"/>
            <a:ext cx="107113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3200" dirty="0"/>
              <a:t>Lecture slides in PDF format</a:t>
            </a:r>
          </a:p>
          <a:p>
            <a:pPr marL="971550" lvl="1" indent="-514350">
              <a:buFont typeface="Wingdings" panose="05000000000000000000" pitchFamily="2" charset="2"/>
              <a:buChar char="Ø"/>
            </a:pPr>
            <a:r>
              <a:rPr lang="en-US" altLang="zh-CN" sz="2800" dirty="0"/>
              <a:t>Via the QQ group</a:t>
            </a:r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altLang="zh-CN" sz="3200" dirty="0"/>
              <a:t>Experiments (25%-30%)</a:t>
            </a:r>
          </a:p>
          <a:p>
            <a:pPr marL="1028700" lvl="1" indent="-571500">
              <a:buFont typeface="Wingdings" panose="05000000000000000000" pitchFamily="2" charset="2"/>
              <a:buChar char="Ø"/>
            </a:pPr>
            <a:r>
              <a:rPr lang="en-US" altLang="zh-CN" sz="2800" dirty="0"/>
              <a:t>Will be released soon.</a:t>
            </a:r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altLang="zh-CN" sz="3200" dirty="0"/>
              <a:t>Final Project (25%-30%) </a:t>
            </a:r>
          </a:p>
          <a:p>
            <a:pPr marL="1028700" lvl="1" indent="-571500">
              <a:buFont typeface="Wingdings" panose="05000000000000000000" pitchFamily="2" charset="2"/>
              <a:buChar char="Ø"/>
            </a:pPr>
            <a:r>
              <a:rPr lang="en-US" altLang="zh-CN" sz="2800" dirty="0"/>
              <a:t>Will be released soon.</a:t>
            </a:r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altLang="zh-CN" sz="3200" dirty="0"/>
              <a:t>Final Exam (40%-50%)</a:t>
            </a:r>
          </a:p>
          <a:p>
            <a:pPr marL="1028700" lvl="1" indent="-571500">
              <a:buFont typeface="Wingdings" panose="05000000000000000000" pitchFamily="2" charset="2"/>
              <a:buChar char="Ø"/>
            </a:pPr>
            <a:r>
              <a:rPr lang="en-US" altLang="zh-CN" sz="2800" dirty="0"/>
              <a:t>Closed-book, 2 hrs.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46594" y="200871"/>
            <a:ext cx="2783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/>
              <a:t>Schedule</a:t>
            </a:r>
            <a:endParaRPr lang="zh-CN" altLang="en-US" sz="5400" b="1" dirty="0"/>
          </a:p>
        </p:txBody>
      </p:sp>
      <p:sp>
        <p:nvSpPr>
          <p:cNvPr id="91" name="文本框 90"/>
          <p:cNvSpPr txBox="1"/>
          <p:nvPr/>
        </p:nvSpPr>
        <p:spPr>
          <a:xfrm>
            <a:off x="619230" y="1311164"/>
            <a:ext cx="107113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Experiments:</a:t>
            </a:r>
            <a:br>
              <a:rPr lang="zh-CN" altLang="en-US" sz="2800" dirty="0"/>
            </a:br>
            <a:br>
              <a:rPr lang="zh-CN" altLang="en-US" sz="2800" dirty="0"/>
            </a:br>
            <a:r>
              <a:rPr lang="en-US" altLang="zh-CN" sz="2800" dirty="0"/>
              <a:t>Weeks 2-17</a:t>
            </a:r>
            <a:r>
              <a:rPr lang="zh-CN" altLang="en-US" sz="2800" dirty="0"/>
              <a:t>，</a:t>
            </a:r>
            <a:r>
              <a:rPr lang="en-US" altLang="zh-CN" sz="2800" dirty="0"/>
              <a:t>Wednesday</a:t>
            </a:r>
            <a:r>
              <a:rPr lang="zh-CN" altLang="en-US" sz="2800" dirty="0"/>
              <a:t>，</a:t>
            </a:r>
            <a:r>
              <a:rPr lang="en-US" altLang="zh-CN" sz="2800" dirty="0"/>
              <a:t>9-10</a:t>
            </a:r>
            <a:r>
              <a:rPr lang="zh-CN" altLang="en-US" sz="2800" dirty="0"/>
              <a:t>。</a:t>
            </a:r>
            <a:br>
              <a:rPr lang="zh-CN" altLang="en-US" sz="2800" dirty="0"/>
            </a:br>
            <a:endParaRPr lang="en-US" altLang="zh-CN" sz="2800" dirty="0"/>
          </a:p>
          <a:p>
            <a:r>
              <a:rPr lang="en-US" altLang="zh-CN" sz="2800"/>
              <a:t>Will </a:t>
            </a:r>
            <a:r>
              <a:rPr lang="en-US" altLang="zh-CN" sz="2800" dirty="0"/>
              <a:t>notify through QQ group.</a:t>
            </a:r>
            <a:r>
              <a:rPr lang="zh-CN" altLang="en-US" sz="2800" dirty="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46594" y="200871"/>
            <a:ext cx="31647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/>
              <a:t>Feedbacks</a:t>
            </a:r>
            <a:endParaRPr lang="zh-CN" altLang="en-US" sz="5400" b="1" dirty="0"/>
          </a:p>
        </p:txBody>
      </p:sp>
      <p:sp>
        <p:nvSpPr>
          <p:cNvPr id="91" name="文本框 90"/>
          <p:cNvSpPr txBox="1"/>
          <p:nvPr/>
        </p:nvSpPr>
        <p:spPr>
          <a:xfrm>
            <a:off x="410681" y="1294262"/>
            <a:ext cx="81401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90204" pitchFamily="34" charset="0"/>
              <a:buChar char="•"/>
            </a:pPr>
            <a:r>
              <a:rPr lang="en-US" altLang="zh-CN" sz="2800" dirty="0"/>
              <a:t>Gather feedback via </a:t>
            </a:r>
            <a:r>
              <a:rPr lang="en-US" altLang="zh-CN" sz="2800" dirty="0">
                <a:sym typeface="Wingdings" panose="05000000000000000000" pitchFamily="2" charset="2"/>
              </a:rPr>
              <a:t>the education admin system.</a:t>
            </a:r>
            <a:r>
              <a:rPr lang="en-US" altLang="zh-CN" sz="2800" dirty="0"/>
              <a:t>  </a:t>
            </a:r>
          </a:p>
          <a:p>
            <a:pPr marL="571500" indent="-571500" algn="just">
              <a:buFont typeface="Arial" panose="020B0604020202090204" pitchFamily="34" charset="0"/>
              <a:buChar char="•"/>
            </a:pPr>
            <a:r>
              <a:rPr lang="en-US" altLang="zh-CN" sz="2800" dirty="0"/>
              <a:t>Your opinions do matter. </a:t>
            </a:r>
          </a:p>
          <a:p>
            <a:pPr marL="571500" indent="-571500" algn="just">
              <a:buFont typeface="Arial" panose="020B0604020202090204" pitchFamily="34" charset="0"/>
              <a:buChar char="•"/>
            </a:pPr>
            <a:r>
              <a:rPr lang="en-US" altLang="zh-CN" sz="2800" dirty="0"/>
              <a:t>If you find any typos (or any other problems) in the slides, please feel free to contact me at </a:t>
            </a:r>
            <a:r>
              <a:rPr lang="en-US" altLang="zh-CN" sz="2800" dirty="0">
                <a:hlinkClick r:id="rId2"/>
              </a:rPr>
              <a:t>xinxin@sdu.edu.cn</a:t>
            </a:r>
            <a:r>
              <a:rPr lang="en-US" altLang="zh-CN" sz="2800" dirty="0"/>
              <a:t> or talk to me directly in the class. Thanks!</a:t>
            </a:r>
            <a:endParaRPr lang="zh-CN" altLang="en-US" sz="2800" dirty="0"/>
          </a:p>
        </p:txBody>
      </p:sp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876" y="1437351"/>
            <a:ext cx="3400262" cy="35855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13644" y="309690"/>
            <a:ext cx="25312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/>
              <a:t>Syllabus</a:t>
            </a:r>
            <a:endParaRPr lang="zh-CN" altLang="en-US" sz="5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436740" y="4748635"/>
            <a:ext cx="3081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7. Bayesian Decision Theory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436740" y="2746430"/>
            <a:ext cx="43531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2. Review of linear algebra &amp; probability</a:t>
            </a:r>
            <a:endParaRPr lang="zh-CN" altLang="en-US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436740" y="3547312"/>
            <a:ext cx="6285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4. Optimization methods (GD, Newton, Momentum, SGD…)</a:t>
            </a:r>
            <a:endParaRPr lang="zh-CN" altLang="en-US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6846060" y="3947422"/>
            <a:ext cx="5028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11. Ensemble Methods (Bagging and Boosting)</a:t>
            </a: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6846060" y="4347867"/>
            <a:ext cx="2384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12. Model Evaluation</a:t>
            </a:r>
            <a:endParaRPr lang="zh-CN" altLang="en-US" sz="2000" dirty="0"/>
          </a:p>
        </p:txBody>
      </p:sp>
      <p:sp>
        <p:nvSpPr>
          <p:cNvPr id="8" name="文本框 7"/>
          <p:cNvSpPr txBox="1"/>
          <p:nvPr/>
        </p:nvSpPr>
        <p:spPr>
          <a:xfrm>
            <a:off x="436740" y="3146871"/>
            <a:ext cx="22748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3. Linear Algorithms</a:t>
            </a:r>
            <a:endParaRPr lang="zh-CN" altLang="en-US" sz="2000" dirty="0"/>
          </a:p>
        </p:txBody>
      </p:sp>
      <p:sp>
        <p:nvSpPr>
          <p:cNvPr id="9" name="文本框 8"/>
          <p:cNvSpPr txBox="1"/>
          <p:nvPr/>
        </p:nvSpPr>
        <p:spPr>
          <a:xfrm>
            <a:off x="6846060" y="2746099"/>
            <a:ext cx="29730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8. Support Vector Machine</a:t>
            </a: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436740" y="3947753"/>
            <a:ext cx="4535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5. Unsupervised Feature Extraction (PCA)</a:t>
            </a:r>
            <a:endParaRPr lang="zh-CN" altLang="en-US" sz="2000" dirty="0"/>
          </a:p>
        </p:txBody>
      </p:sp>
      <p:sp>
        <p:nvSpPr>
          <p:cNvPr id="16" name="文本框 15"/>
          <p:cNvSpPr txBox="1"/>
          <p:nvPr/>
        </p:nvSpPr>
        <p:spPr>
          <a:xfrm>
            <a:off x="6846060" y="3546981"/>
            <a:ext cx="2382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10. Feature Selection</a:t>
            </a:r>
            <a:endParaRPr lang="zh-CN" altLang="en-US" sz="2000" dirty="0"/>
          </a:p>
        </p:txBody>
      </p:sp>
      <p:sp>
        <p:nvSpPr>
          <p:cNvPr id="17" name="矩形 16"/>
          <p:cNvSpPr/>
          <p:nvPr/>
        </p:nvSpPr>
        <p:spPr>
          <a:xfrm>
            <a:off x="436740" y="4348194"/>
            <a:ext cx="41783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6. Supervised Feature Extraction (LDA)</a:t>
            </a:r>
          </a:p>
        </p:txBody>
      </p:sp>
      <p:sp>
        <p:nvSpPr>
          <p:cNvPr id="19" name="矩形 18"/>
          <p:cNvSpPr/>
          <p:nvPr/>
        </p:nvSpPr>
        <p:spPr>
          <a:xfrm>
            <a:off x="6846060" y="3146540"/>
            <a:ext cx="18292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9. Decision Tree</a:t>
            </a:r>
            <a:endParaRPr lang="zh-CN" altLang="en-US" sz="2000" dirty="0"/>
          </a:p>
        </p:txBody>
      </p:sp>
      <p:sp>
        <p:nvSpPr>
          <p:cNvPr id="20" name="文本框 19"/>
          <p:cNvSpPr txBox="1"/>
          <p:nvPr/>
        </p:nvSpPr>
        <p:spPr>
          <a:xfrm>
            <a:off x="436740" y="2345989"/>
            <a:ext cx="39315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1. Introduction to Machine Learning</a:t>
            </a:r>
            <a:endParaRPr lang="zh-CN" altLang="en-US" sz="2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436740" y="1612369"/>
            <a:ext cx="61990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I </a:t>
            </a:r>
            <a:r>
              <a:rPr lang="en-US" altLang="zh-CN" sz="2800" b="1" i="1" dirty="0">
                <a:solidFill>
                  <a:srgbClr val="FF0000"/>
                </a:solidFill>
              </a:rPr>
              <a:t>plan</a:t>
            </a:r>
            <a:r>
              <a:rPr lang="en-US" altLang="zh-CN" sz="2800" b="1" dirty="0"/>
              <a:t> to introduce the following topics…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33549" y="260263"/>
            <a:ext cx="73905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/>
              <a:t>Hope you would enjoy it.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85" y="1427780"/>
            <a:ext cx="4318908" cy="50168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1413</TotalTime>
  <Words>474</Words>
  <Application>Microsoft Macintosh PowerPoint</Application>
  <PresentationFormat>Widescreen</PresentationFormat>
  <Paragraphs>72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xuemeng song</dc:creator>
  <cp:lastModifiedBy>Microsoft Office User</cp:lastModifiedBy>
  <cp:revision>124</cp:revision>
  <dcterms:created xsi:type="dcterms:W3CDTF">2022-02-18T09:24:07Z</dcterms:created>
  <dcterms:modified xsi:type="dcterms:W3CDTF">2025-09-01T05:54:58Z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1033-3.9.6.6441</vt:lpwstr>
  </property>
</Properties>
</file>