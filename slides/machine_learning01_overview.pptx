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5"/>
  </p:notesMasterIdLst>
  <p:sldIdLst>
    <p:sldId id="262" r:id="rId2"/>
    <p:sldId id="373" r:id="rId3"/>
    <p:sldId id="374" r:id="rId4"/>
    <p:sldId id="291" r:id="rId5"/>
    <p:sldId id="292" r:id="rId6"/>
    <p:sldId id="402" r:id="rId7"/>
    <p:sldId id="371" r:id="rId8"/>
    <p:sldId id="413" r:id="rId9"/>
    <p:sldId id="372" r:id="rId10"/>
    <p:sldId id="375" r:id="rId11"/>
    <p:sldId id="376" r:id="rId12"/>
    <p:sldId id="295" r:id="rId13"/>
    <p:sldId id="296" r:id="rId14"/>
    <p:sldId id="298" r:id="rId15"/>
    <p:sldId id="386" r:id="rId16"/>
    <p:sldId id="3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77" r:id="rId30"/>
    <p:sldId id="378" r:id="rId31"/>
    <p:sldId id="311" r:id="rId32"/>
    <p:sldId id="312" r:id="rId33"/>
    <p:sldId id="313" r:id="rId34"/>
    <p:sldId id="314" r:id="rId35"/>
    <p:sldId id="316" r:id="rId36"/>
    <p:sldId id="317" r:id="rId37"/>
    <p:sldId id="379" r:id="rId38"/>
    <p:sldId id="380" r:id="rId39"/>
    <p:sldId id="318" r:id="rId40"/>
    <p:sldId id="405" r:id="rId41"/>
    <p:sldId id="322" r:id="rId42"/>
    <p:sldId id="320" r:id="rId43"/>
    <p:sldId id="321" r:id="rId44"/>
    <p:sldId id="323" r:id="rId45"/>
    <p:sldId id="347" r:id="rId46"/>
    <p:sldId id="348" r:id="rId47"/>
    <p:sldId id="349" r:id="rId48"/>
    <p:sldId id="350" r:id="rId49"/>
    <p:sldId id="389" r:id="rId50"/>
    <p:sldId id="324" r:id="rId51"/>
    <p:sldId id="388" r:id="rId52"/>
    <p:sldId id="325" r:id="rId53"/>
    <p:sldId id="387" r:id="rId54"/>
    <p:sldId id="406" r:id="rId55"/>
    <p:sldId id="326" r:id="rId56"/>
    <p:sldId id="330" r:id="rId57"/>
    <p:sldId id="368" r:id="rId58"/>
    <p:sldId id="329" r:id="rId59"/>
    <p:sldId id="331" r:id="rId60"/>
    <p:sldId id="369" r:id="rId61"/>
    <p:sldId id="332" r:id="rId62"/>
    <p:sldId id="333" r:id="rId63"/>
    <p:sldId id="357" r:id="rId64"/>
    <p:sldId id="408" r:id="rId65"/>
    <p:sldId id="409" r:id="rId66"/>
    <p:sldId id="410" r:id="rId67"/>
    <p:sldId id="361" r:id="rId68"/>
    <p:sldId id="362" r:id="rId69"/>
    <p:sldId id="359" r:id="rId70"/>
    <p:sldId id="363" r:id="rId71"/>
    <p:sldId id="364" r:id="rId72"/>
    <p:sldId id="370" r:id="rId73"/>
    <p:sldId id="382" r:id="rId74"/>
    <p:sldId id="411" r:id="rId75"/>
    <p:sldId id="403" r:id="rId76"/>
    <p:sldId id="404" r:id="rId77"/>
    <p:sldId id="339" r:id="rId78"/>
    <p:sldId id="351" r:id="rId79"/>
    <p:sldId id="367" r:id="rId80"/>
    <p:sldId id="340" r:id="rId81"/>
    <p:sldId id="365" r:id="rId82"/>
    <p:sldId id="366" r:id="rId83"/>
    <p:sldId id="412" r:id="rId84"/>
    <p:sldId id="341" r:id="rId85"/>
    <p:sldId id="397" r:id="rId86"/>
    <p:sldId id="396" r:id="rId87"/>
    <p:sldId id="342" r:id="rId88"/>
    <p:sldId id="384" r:id="rId89"/>
    <p:sldId id="344" r:id="rId90"/>
    <p:sldId id="343" r:id="rId91"/>
    <p:sldId id="385" r:id="rId92"/>
    <p:sldId id="345" r:id="rId93"/>
    <p:sldId id="346" r:id="rId9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0FB"/>
    <a:srgbClr val="E6F5F0"/>
    <a:srgbClr val="FD9349"/>
    <a:srgbClr val="F1C9A7"/>
    <a:srgbClr val="CC9900"/>
    <a:srgbClr val="FFCC00"/>
    <a:srgbClr val="FFFBD6"/>
    <a:srgbClr val="009966"/>
    <a:srgbClr val="E7F5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11" autoAdjust="0"/>
    <p:restoredTop sz="90941" autoAdjust="0"/>
  </p:normalViewPr>
  <p:slideViewPr>
    <p:cSldViewPr snapToGrid="0">
      <p:cViewPr varScale="1">
        <p:scale>
          <a:sx n="135" d="100"/>
          <a:sy n="135" d="100"/>
        </p:scale>
        <p:origin x="9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02BBD-70DB-462A-AFFE-757EE5565E96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F3AD4-3AF9-45C6-A444-F10C73317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894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dirty="0"/>
              <a:t> for cooking recipe retrieval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computing moves increasingly away from the desktop, there is a growing need for new ways to interact with computer interfaces. The Xbox Kinect is an example of a commercially available input sensor that enables gesture-based interaction using depth sensing and computer vision. The commercial success of these kinds of devices has spurred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 in developing new user interfaces that remove the need for a traditional keyboard and mouse. Gestures enable a whole new set of interaction techniques for always-available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computing embedded in the environment. For example, using a swipe hand motion in-air, a user could control the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musi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volume while showering, or change the song playing on a music system installed in the living room while cooking, or turn up the thermostat while in bed. Such a capability can enable applications in diverse domains including home-automation, elderly health care, and gaming. However, the burden of installation and cost make most vision-based sensing devices hard to deploy at scale, for example, throughout an entire</a:t>
            </a:r>
            <a:r>
              <a:rPr lang="en-US" altLang="zh-CN" dirty="0"/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 or building. Given these limitations, researchers have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explored ways to move some of the sensing onto the body and</a:t>
            </a:r>
            <a:b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 the need for environmental sensors</a:t>
            </a:r>
            <a:r>
              <a:rPr lang="en-US" altLang="zh-CN" dirty="0"/>
              <a:t> 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Our benchmark contains 100000 high resolution images in which all traffic-signs are annotated with class label, bounding box, and pixel mask. T</a:t>
            </a:r>
            <a:r>
              <a:rPr lang="zh-CN" altLang="en-US" dirty="0"/>
              <a:t>。</a:t>
            </a:r>
            <a:r>
              <a:rPr lang="en-US" altLang="zh-CN" sz="1200" dirty="0"/>
              <a:t> Traffic-Sign Detection and Classification in the Wild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Our benchmark contains 100000 high resolution images in which all traffic-signs are annotated with class label, bounding box, and pixel mask. T</a:t>
            </a:r>
            <a:r>
              <a:rPr lang="zh-CN" altLang="en-US" dirty="0"/>
              <a:t>。</a:t>
            </a:r>
            <a:r>
              <a:rPr lang="en-US" altLang="zh-CN" sz="1200" dirty="0"/>
              <a:t> Traffic-Sign Detection and Classification in the Wild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In juridical field, judges usually need to consult several relevant cases to determine the </a:t>
            </a:r>
            <a:r>
              <a:rPr lang="en-US" altLang="zh-CN" sz="1200" b="1" dirty="0" err="1"/>
              <a:t>specifc</a:t>
            </a:r>
            <a:r>
              <a:rPr lang="en-US" altLang="zh-CN" sz="1200" b="1" dirty="0"/>
              <a:t> articles that the evidence violated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b="1" dirty="0"/>
              <a:t>In juridical field, judges usually need to consult several relevant cases to determine the </a:t>
            </a:r>
            <a:r>
              <a:rPr lang="en-US" altLang="zh-CN" sz="1200" b="1" dirty="0" err="1"/>
              <a:t>specifc</a:t>
            </a:r>
            <a:r>
              <a:rPr lang="en-US" altLang="zh-CN" sz="1200" b="1" dirty="0"/>
              <a:t> articles that the evidence violated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49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69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This system should not stop learning, or it will become obsolete as soon as a considerable number of newer movies and newer reviews come around.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000000"/>
                </a:solidFill>
                <a:latin typeface="NimbusRomNo9L-ReguItal"/>
              </a:rPr>
              <a:t>Speech recognition</a:t>
            </a:r>
            <a:r>
              <a:rPr lang="en-US" dirty="0">
                <a:solidFill>
                  <a:srgbClr val="000000"/>
                </a:solidFill>
                <a:latin typeface="NimbusRomNo9L-Regu"/>
              </a:rPr>
              <a:t>. Accurate labeling of speech utterances is extremely</a:t>
            </a:r>
            <a:br>
              <a:rPr lang="en-US" dirty="0">
                <a:solidFill>
                  <a:srgbClr val="000000"/>
                </a:solidFill>
                <a:latin typeface="NimbusRomNo9L-Regu"/>
              </a:rPr>
            </a:br>
            <a:r>
              <a:rPr lang="en-US" dirty="0">
                <a:solidFill>
                  <a:srgbClr val="000000"/>
                </a:solidFill>
                <a:latin typeface="NimbusRomNo9L-Regu"/>
              </a:rPr>
              <a:t>time consuming and requires trained linguists. </a:t>
            </a:r>
            <a:r>
              <a:rPr lang="en-US" dirty="0">
                <a:solidFill>
                  <a:srgbClr val="008000"/>
                </a:solidFill>
                <a:latin typeface="NimbusRomNo9L-Regu"/>
              </a:rPr>
              <a:t>Zhu </a:t>
            </a:r>
            <a:r>
              <a:rPr lang="en-US" dirty="0">
                <a:solidFill>
                  <a:srgbClr val="000000"/>
                </a:solidFill>
                <a:latin typeface="NimbusRomNo9L-Regu"/>
              </a:rPr>
              <a:t>(</a:t>
            </a:r>
            <a:r>
              <a:rPr lang="en-US" dirty="0">
                <a:solidFill>
                  <a:srgbClr val="008000"/>
                </a:solidFill>
                <a:latin typeface="NimbusRomNo9L-Regu"/>
              </a:rPr>
              <a:t>2005a</a:t>
            </a:r>
            <a:r>
              <a:rPr lang="en-US" dirty="0">
                <a:solidFill>
                  <a:srgbClr val="000000"/>
                </a:solidFill>
                <a:latin typeface="NimbusRomNo9L-Regu"/>
              </a:rPr>
              <a:t>) reports that</a:t>
            </a:r>
            <a:br>
              <a:rPr lang="en-US" dirty="0">
                <a:solidFill>
                  <a:srgbClr val="000000"/>
                </a:solidFill>
                <a:latin typeface="NimbusRomNo9L-Regu"/>
              </a:rPr>
            </a:br>
            <a:r>
              <a:rPr lang="en-US" dirty="0">
                <a:solidFill>
                  <a:srgbClr val="000000"/>
                </a:solidFill>
                <a:latin typeface="NimbusRomNo9L-Regu"/>
              </a:rPr>
              <a:t>annotation at the word level can take ten times longer than the actual audio (e.g., one minute of speech takes ten minutes to label), and annotating</a:t>
            </a:r>
            <a:br>
              <a:rPr lang="en-US" dirty="0">
                <a:solidFill>
                  <a:srgbClr val="000000"/>
                </a:solidFill>
                <a:latin typeface="NimbusRomNo9L-Regu"/>
              </a:rPr>
            </a:br>
            <a:r>
              <a:rPr lang="en-US" dirty="0">
                <a:solidFill>
                  <a:srgbClr val="000000"/>
                </a:solidFill>
                <a:latin typeface="NimbusRomNo9L-Regu"/>
              </a:rPr>
              <a:t>phonemes can take 400 times as long (e.g., nearly seven hours). The problem is compounded for rare languages or dialects.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learner may begin with a small number of instances in the labeled training set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request labels for one or more carefully selected instances, learn from the query results, and then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leverage its new knowledge to choose which instances to query next. Once a query has been made, there are usually no additional assumptions on the part of the learning algorithm. The new labeled instance is simply added to the labeled set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learner proceeds from there in a standard supervised way.</a:t>
            </a:r>
            <a:r>
              <a:rPr lang="en-US" dirty="0"/>
              <a:t> </a:t>
            </a:r>
            <a:br>
              <a:rPr 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learner may begin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a small number of instances in the labeled training set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request labels for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or more carefully selected instances, learn from the query results, and then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leverage its new knowledge to choose which instances to query next. Once a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 has been made, there are usually no additional assumptions on the part of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learning algorithm. The new labeled instance is simply added to the labeled</a:t>
            </a:r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learner proceeds from there in a standard supervised way.</a:t>
            </a:r>
            <a:r>
              <a:rPr lang="en-US" dirty="0"/>
              <a:t> </a:t>
            </a:r>
            <a:br>
              <a:rPr 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93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36FD4-A2CB-42B1-8E32-22ABDD215E71}" type="datetimeFigureOut">
              <a:rPr lang="zh-CN" altLang="en-US" smtClean="0"/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1A545-314B-4D07-8DB3-B45BF84DA0D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7858" y="2252008"/>
            <a:ext cx="118028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Machine Learning &amp; Pattern Recognition</a:t>
            </a:r>
            <a:endParaRPr lang="zh-CN" altLang="en-US" sz="5400" b="1" dirty="0"/>
          </a:p>
        </p:txBody>
      </p:sp>
      <p:sp>
        <p:nvSpPr>
          <p:cNvPr id="4" name="矩形 3"/>
          <p:cNvSpPr/>
          <p:nvPr/>
        </p:nvSpPr>
        <p:spPr>
          <a:xfrm>
            <a:off x="4329881" y="4005636"/>
            <a:ext cx="3821239" cy="1495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 Xin(</a:t>
            </a:r>
            <a:r>
              <a:rPr lang="zh-CN" altLang="en-US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辛鑫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xinxin@sdu.edu.cn</a:t>
            </a:r>
            <a:endParaRPr lang="en-US" altLang="zh-CN" sz="2400" b="1" dirty="0">
              <a:solidFill>
                <a:prstClr val="black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https://</a:t>
            </a: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xinxin-me.github.io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6165" y="1199822"/>
            <a:ext cx="7400809" cy="3330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What is Machine Learning?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Applications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Components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Types of Machine Learning.</a:t>
            </a:r>
            <a:endParaRPr lang="zh-CN" altLang="en-US" sz="36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113" y="245239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Outline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6165" y="1199822"/>
            <a:ext cx="7459606" cy="3330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>
                <a:solidFill>
                  <a:srgbClr val="FF0000"/>
                </a:solidFill>
              </a:rPr>
              <a:t>What is Machine Learning?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Applications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Components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Types of Machine Learning.</a:t>
            </a:r>
            <a:endParaRPr lang="zh-CN" altLang="en-US" sz="36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113" y="245239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Outline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6894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Definition of Machine Learning</a:t>
            </a:r>
            <a:r>
              <a:rPr lang="en-US" altLang="zh-CN" sz="4000" dirty="0"/>
              <a:t> </a:t>
            </a:r>
            <a:endParaRPr lang="zh-CN" altLang="en-US" sz="4000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3" y="1385540"/>
            <a:ext cx="10605776" cy="21577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3" y="3615926"/>
            <a:ext cx="10605776" cy="224942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525" y="6012267"/>
            <a:ext cx="6070950" cy="711876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91113" y="917297"/>
            <a:ext cx="104739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/>
              <a:t>学习，是指通过阅读、听讲、思考、研究、实践等途径获得知识和技能的过程。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68942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Definition of Machine Learning</a:t>
            </a:r>
            <a:r>
              <a:rPr lang="en-US" altLang="zh-CN" sz="4000" dirty="0"/>
              <a:t> 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63445" y="846121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76" y="1413672"/>
            <a:ext cx="9354856" cy="2467319"/>
          </a:xfrm>
          <a:prstGeom prst="rect">
            <a:avLst/>
          </a:prstGeom>
        </p:spPr>
      </p:pic>
      <p:pic>
        <p:nvPicPr>
          <p:cNvPr id="8" name="图片 7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76" y="4126094"/>
            <a:ext cx="9326277" cy="1362265"/>
          </a:xfrm>
          <a:prstGeom prst="rect">
            <a:avLst/>
          </a:prstGeom>
        </p:spPr>
      </p:pic>
      <p:pic>
        <p:nvPicPr>
          <p:cNvPr id="9" name="图片 8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072" y="5854266"/>
            <a:ext cx="6382641" cy="72400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14332" y="2559858"/>
            <a:ext cx="18734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e.g., prediction accuracy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77617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Why Do We Use Machine Learning?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63445" y="846121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810" y="1446285"/>
            <a:ext cx="3396557" cy="502474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144733" y="1537817"/>
            <a:ext cx="77989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en-US" altLang="zh-CN" sz="3200" b="1" dirty="0"/>
              <a:t>“Define” trees and hand-program: </a:t>
            </a:r>
            <a:r>
              <a:rPr lang="en-US" altLang="zh-CN" sz="3200" b="1" dirty="0">
                <a:solidFill>
                  <a:srgbClr val="FF0000"/>
                </a:solidFill>
              </a:rPr>
              <a:t>difficult;</a:t>
            </a:r>
          </a:p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en-US" altLang="zh-CN" sz="3200" b="1" dirty="0"/>
              <a:t>Learn from </a:t>
            </a:r>
            <a:r>
              <a:rPr lang="en-US" altLang="zh-CN" sz="3200" b="1" dirty="0">
                <a:solidFill>
                  <a:srgbClr val="FF0000"/>
                </a:solidFill>
              </a:rPr>
              <a:t>data</a:t>
            </a:r>
            <a:r>
              <a:rPr lang="en-US" altLang="zh-CN" sz="3200" b="1" dirty="0"/>
              <a:t> (observations) and recognize;</a:t>
            </a:r>
          </a:p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en-US" altLang="zh-CN" sz="3200" b="1" dirty="0"/>
              <a:t>“ML-based tree recognition system” can be </a:t>
            </a:r>
            <a:r>
              <a:rPr lang="en-US" altLang="zh-CN" sz="3200" b="1" dirty="0">
                <a:solidFill>
                  <a:srgbClr val="FF0000"/>
                </a:solidFill>
              </a:rPr>
              <a:t>easier</a:t>
            </a:r>
            <a:r>
              <a:rPr lang="en-US" altLang="zh-CN" sz="3200" b="1" dirty="0"/>
              <a:t> to build than hand-programmed system.</a:t>
            </a:r>
            <a:endParaRPr lang="zh-CN" altLang="en-US" sz="32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4144733" y="5165745"/>
            <a:ext cx="77989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en-US" altLang="zh-CN" sz="3200" b="1" dirty="0"/>
              <a:t>Human cannot define the solution easily.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74498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Key Essence of Machine Learning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63445" y="846121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9" name="图片 8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76" y="912632"/>
            <a:ext cx="9354856" cy="246731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176" y="3454730"/>
            <a:ext cx="9354856" cy="26098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968" y="6139756"/>
            <a:ext cx="6228416" cy="643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2011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Exercise 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63445" y="846121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8"/>
          <a:stretch>
            <a:fillRect/>
          </a:stretch>
        </p:blipFill>
        <p:spPr>
          <a:xfrm>
            <a:off x="563445" y="953125"/>
            <a:ext cx="10284095" cy="332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70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20118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Exercise 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63445" y="846121"/>
            <a:ext cx="1847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altLang="zh-CN" sz="2400" dirty="0"/>
            </a:br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8"/>
          <a:stretch>
            <a:fillRect/>
          </a:stretch>
        </p:blipFill>
        <p:spPr>
          <a:xfrm>
            <a:off x="563445" y="953125"/>
            <a:ext cx="10284095" cy="332870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3"/>
          <a:stretch>
            <a:fillRect/>
          </a:stretch>
        </p:blipFill>
        <p:spPr>
          <a:xfrm>
            <a:off x="655810" y="4371584"/>
            <a:ext cx="4762745" cy="23736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6165" y="1199822"/>
            <a:ext cx="7400809" cy="3330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What is Machine Learning?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Applications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Components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Types of Machine Learning.</a:t>
            </a:r>
            <a:endParaRPr lang="zh-CN" altLang="en-US" sz="36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113" y="245239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Outline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6165" y="1199822"/>
            <a:ext cx="7459606" cy="3330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What is Machine Learning?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>
                <a:solidFill>
                  <a:srgbClr val="FF0000"/>
                </a:solidFill>
              </a:rPr>
              <a:t>Applications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Components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Types of Machine Learning.</a:t>
            </a:r>
            <a:endParaRPr lang="zh-CN" altLang="en-US" sz="36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113" y="245239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Outline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74812" y="226189"/>
            <a:ext cx="7406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Applications of Machine Learning </a:t>
            </a:r>
            <a:endParaRPr lang="zh-CN" altLang="en-US" sz="4000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597968" y="1723920"/>
            <a:ext cx="814019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3600" b="1" dirty="0"/>
              <a:t>Daily Needs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altLang="zh-CN" sz="3200" b="1" dirty="0"/>
              <a:t>Food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altLang="zh-CN" sz="3200" b="1" dirty="0"/>
              <a:t>Clothing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altLang="zh-CN" sz="3200" b="1" dirty="0"/>
              <a:t>Housing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altLang="zh-CN" sz="3200" b="1" dirty="0"/>
              <a:t>Transportation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altLang="zh-CN" sz="3200" b="1" dirty="0"/>
              <a:t>Entertainment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altLang="zh-CN" sz="3200" b="1" dirty="0"/>
              <a:t>Law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altLang="zh-CN" sz="3200" b="1" dirty="0"/>
              <a:t>Medical </a:t>
            </a:r>
          </a:p>
          <a:p>
            <a:pPr marL="1028700" lvl="1" indent="-571500" algn="just">
              <a:buFont typeface="Wingdings" panose="05000000000000000000" pitchFamily="2" charset="2"/>
              <a:buChar char="ü"/>
            </a:pPr>
            <a:r>
              <a:rPr lang="en-US" altLang="zh-CN" sz="3200" b="1" dirty="0"/>
              <a:t>Education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91113" y="245239"/>
            <a:ext cx="12411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Food</a:t>
            </a:r>
            <a:endParaRPr lang="zh-CN" altLang="en-US" sz="4000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410681" y="1294262"/>
            <a:ext cx="114106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Ingredient Recognition (Chen et al. 2017) 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</a:t>
            </a:r>
          </a:p>
          <a:p>
            <a:pPr marL="1485900" lvl="2" indent="-571500" algn="just">
              <a:buFont typeface="Wingdings" panose="05000000000000000000" pitchFamily="2" charset="2"/>
              <a:buChar char="Ø"/>
            </a:pPr>
            <a:r>
              <a:rPr lang="en-US" altLang="zh-CN" sz="2800" b="1" dirty="0"/>
              <a:t>The food categories: </a:t>
            </a:r>
            <a:r>
              <a:rPr lang="en-US" altLang="zh-CN" sz="2800" b="1" dirty="0" err="1"/>
              <a:t>xiachufang</a:t>
            </a:r>
            <a:r>
              <a:rPr lang="en-US" altLang="zh-CN" sz="2800" b="1" dirty="0"/>
              <a:t> and </a:t>
            </a:r>
            <a:r>
              <a:rPr lang="en-US" altLang="zh-CN" sz="2800" b="1" dirty="0" err="1"/>
              <a:t>meishijie</a:t>
            </a:r>
            <a:r>
              <a:rPr lang="en-US" altLang="zh-CN" sz="2800" b="1" dirty="0"/>
              <a:t>.</a:t>
            </a:r>
          </a:p>
          <a:p>
            <a:pPr marL="1485900" lvl="2" indent="-571500" algn="just">
              <a:buFont typeface="Wingdings" panose="05000000000000000000" pitchFamily="2" charset="2"/>
              <a:buChar char="Ø"/>
            </a:pPr>
            <a:r>
              <a:rPr lang="en-US" altLang="zh-CN" sz="2800" b="1" dirty="0"/>
              <a:t>All the images : Baidu and Google image search.</a:t>
            </a:r>
          </a:p>
          <a:p>
            <a:pPr marL="571500" indent="-571500" algn="just">
              <a:buFont typeface="Wingdings" panose="05000000000000000000" pitchFamily="2" charset="2"/>
              <a:buChar char="n"/>
            </a:pPr>
            <a:endParaRPr lang="en-US" altLang="zh-CN" sz="2800" b="1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3" y="3022207"/>
            <a:ext cx="4775243" cy="3641124"/>
          </a:xfrm>
          <a:prstGeom prst="rect">
            <a:avLst/>
          </a:prstGeom>
        </p:spPr>
      </p:pic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096" y="3513726"/>
            <a:ext cx="6525342" cy="22229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文本框 90"/>
          <p:cNvSpPr txBox="1"/>
          <p:nvPr/>
        </p:nvSpPr>
        <p:spPr>
          <a:xfrm>
            <a:off x="410681" y="1294262"/>
            <a:ext cx="115050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Clothing matching (Song et al. 2018)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Outfit compositions collected from the </a:t>
            </a:r>
            <a:r>
              <a:rPr lang="en-US" altLang="zh-CN" sz="2800" b="1" dirty="0" err="1"/>
              <a:t>Polyvore</a:t>
            </a:r>
            <a:r>
              <a:rPr lang="en-US" altLang="zh-CN" sz="2800" b="1" dirty="0"/>
              <a:t> (website).</a:t>
            </a: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505" y="3179313"/>
            <a:ext cx="5426564" cy="2669164"/>
          </a:xfrm>
          <a:prstGeom prst="rect">
            <a:avLst/>
          </a:prstGeom>
        </p:spPr>
      </p:pic>
      <p:grpSp>
        <p:nvGrpSpPr>
          <p:cNvPr id="6" name="组合 6"/>
          <p:cNvGrpSpPr/>
          <p:nvPr/>
        </p:nvGrpSpPr>
        <p:grpSpPr bwMode="auto">
          <a:xfrm>
            <a:off x="591113" y="3007548"/>
            <a:ext cx="4931006" cy="3034079"/>
            <a:chOff x="6861484" y="1527143"/>
            <a:chExt cx="5039597" cy="3100626"/>
          </a:xfrm>
        </p:grpSpPr>
        <p:sp>
          <p:nvSpPr>
            <p:cNvPr id="7" name="文本框 6"/>
            <p:cNvSpPr txBox="1"/>
            <p:nvPr/>
          </p:nvSpPr>
          <p:spPr>
            <a:xfrm rot="20626620">
              <a:off x="6861484" y="1921888"/>
              <a:ext cx="1955415" cy="697834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rgbClr val="769C8A"/>
                  </a:solidFill>
                  <a:latin typeface="+mn-lt"/>
                  <a:ea typeface="+mn-ea"/>
                  <a:cs typeface="+mn-ea"/>
                  <a:sym typeface="+mn-lt"/>
                </a:rPr>
                <a:t>How to match clothing</a:t>
              </a:r>
              <a:endParaRPr lang="zh-CN" altLang="en-US" b="1" dirty="0">
                <a:solidFill>
                  <a:srgbClr val="769C8A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8" name="组合 4"/>
            <p:cNvGrpSpPr/>
            <p:nvPr/>
          </p:nvGrpSpPr>
          <p:grpSpPr bwMode="auto">
            <a:xfrm>
              <a:off x="7369156" y="1527143"/>
              <a:ext cx="4531925" cy="3100626"/>
              <a:chOff x="7369156" y="1527143"/>
              <a:chExt cx="4531925" cy="3100626"/>
            </a:xfrm>
          </p:grpSpPr>
          <p:grpSp>
            <p:nvGrpSpPr>
              <p:cNvPr id="9" name="组合 10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    <p:cNvGrpSpPr/>
              <p:nvPr/>
            </p:nvGrpSpPr>
            <p:grpSpPr bwMode="auto">
              <a:xfrm>
                <a:off x="7369156" y="1780735"/>
                <a:ext cx="2505812" cy="2847034"/>
                <a:chOff x="3990181" y="1352129"/>
                <a:chExt cx="4211637" cy="4785146"/>
              </a:xfrm>
            </p:grpSpPr>
            <p:sp>
              <p:nvSpPr>
                <p:cNvPr id="85" name="íṣliḑè"/>
                <p:cNvSpPr/>
                <p:nvPr/>
              </p:nvSpPr>
              <p:spPr bwMode="auto">
                <a:xfrm>
                  <a:off x="5779557" y="3615854"/>
                  <a:ext cx="285224" cy="341375"/>
                </a:xfrm>
                <a:custGeom>
                  <a:avLst/>
                  <a:gdLst>
                    <a:gd name="T0" fmla="*/ 86 w 153"/>
                    <a:gd name="T1" fmla="*/ 184 h 184"/>
                    <a:gd name="T2" fmla="*/ 88 w 153"/>
                    <a:gd name="T3" fmla="*/ 172 h 184"/>
                    <a:gd name="T4" fmla="*/ 153 w 153"/>
                    <a:gd name="T5" fmla="*/ 119 h 184"/>
                    <a:gd name="T6" fmla="*/ 124 w 153"/>
                    <a:gd name="T7" fmla="*/ 108 h 184"/>
                    <a:gd name="T8" fmla="*/ 99 w 153"/>
                    <a:gd name="T9" fmla="*/ 126 h 184"/>
                    <a:gd name="T10" fmla="*/ 112 w 153"/>
                    <a:gd name="T11" fmla="*/ 52 h 184"/>
                    <a:gd name="T12" fmla="*/ 86 w 153"/>
                    <a:gd name="T13" fmla="*/ 25 h 184"/>
                    <a:gd name="T14" fmla="*/ 72 w 153"/>
                    <a:gd name="T15" fmla="*/ 72 h 184"/>
                    <a:gd name="T16" fmla="*/ 58 w 153"/>
                    <a:gd name="T17" fmla="*/ 25 h 184"/>
                    <a:gd name="T18" fmla="*/ 37 w 153"/>
                    <a:gd name="T19" fmla="*/ 20 h 184"/>
                    <a:gd name="T20" fmla="*/ 34 w 153"/>
                    <a:gd name="T21" fmla="*/ 44 h 184"/>
                    <a:gd name="T22" fmla="*/ 35 w 153"/>
                    <a:gd name="T23" fmla="*/ 80 h 184"/>
                    <a:gd name="T24" fmla="*/ 3 w 153"/>
                    <a:gd name="T25" fmla="*/ 46 h 184"/>
                    <a:gd name="T26" fmla="*/ 10 w 153"/>
                    <a:gd name="T27" fmla="*/ 111 h 184"/>
                    <a:gd name="T28" fmla="*/ 10 w 153"/>
                    <a:gd name="T29" fmla="*/ 153 h 184"/>
                    <a:gd name="T30" fmla="*/ 10 w 153"/>
                    <a:gd name="T31" fmla="*/ 155 h 184"/>
                    <a:gd name="T32" fmla="*/ 86 w 153"/>
                    <a:gd name="T33" fmla="*/ 184 h 1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53" h="184">
                      <a:moveTo>
                        <a:pt x="86" y="184"/>
                      </a:moveTo>
                      <a:cubicBezTo>
                        <a:pt x="87" y="180"/>
                        <a:pt x="88" y="176"/>
                        <a:pt x="88" y="172"/>
                      </a:cubicBezTo>
                      <a:cubicBezTo>
                        <a:pt x="104" y="156"/>
                        <a:pt x="131" y="130"/>
                        <a:pt x="153" y="119"/>
                      </a:cubicBezTo>
                      <a:cubicBezTo>
                        <a:pt x="153" y="119"/>
                        <a:pt x="153" y="93"/>
                        <a:pt x="124" y="108"/>
                      </a:cubicBezTo>
                      <a:cubicBezTo>
                        <a:pt x="106" y="117"/>
                        <a:pt x="100" y="123"/>
                        <a:pt x="99" y="126"/>
                      </a:cubicBezTo>
                      <a:cubicBezTo>
                        <a:pt x="101" y="116"/>
                        <a:pt x="106" y="83"/>
                        <a:pt x="112" y="52"/>
                      </a:cubicBezTo>
                      <a:cubicBezTo>
                        <a:pt x="121" y="3"/>
                        <a:pt x="90" y="0"/>
                        <a:pt x="86" y="25"/>
                      </a:cubicBezTo>
                      <a:cubicBezTo>
                        <a:pt x="84" y="41"/>
                        <a:pt x="74" y="79"/>
                        <a:pt x="72" y="72"/>
                      </a:cubicBezTo>
                      <a:cubicBezTo>
                        <a:pt x="65" y="43"/>
                        <a:pt x="61" y="31"/>
                        <a:pt x="58" y="25"/>
                      </a:cubicBezTo>
                      <a:cubicBezTo>
                        <a:pt x="54" y="15"/>
                        <a:pt x="43" y="14"/>
                        <a:pt x="37" y="20"/>
                      </a:cubicBezTo>
                      <a:cubicBezTo>
                        <a:pt x="33" y="24"/>
                        <a:pt x="31" y="33"/>
                        <a:pt x="34" y="44"/>
                      </a:cubicBezTo>
                      <a:cubicBezTo>
                        <a:pt x="40" y="68"/>
                        <a:pt x="35" y="80"/>
                        <a:pt x="35" y="80"/>
                      </a:cubicBezTo>
                      <a:cubicBezTo>
                        <a:pt x="35" y="80"/>
                        <a:pt x="21" y="24"/>
                        <a:pt x="3" y="46"/>
                      </a:cubicBezTo>
                      <a:cubicBezTo>
                        <a:pt x="0" y="51"/>
                        <a:pt x="10" y="111"/>
                        <a:pt x="10" y="111"/>
                      </a:cubicBezTo>
                      <a:cubicBezTo>
                        <a:pt x="11" y="128"/>
                        <a:pt x="10" y="140"/>
                        <a:pt x="10" y="153"/>
                      </a:cubicBezTo>
                      <a:cubicBezTo>
                        <a:pt x="10" y="153"/>
                        <a:pt x="10" y="154"/>
                        <a:pt x="10" y="155"/>
                      </a:cubicBezTo>
                      <a:cubicBezTo>
                        <a:pt x="36" y="158"/>
                        <a:pt x="62" y="169"/>
                        <a:pt x="86" y="184"/>
                      </a:cubicBezTo>
                      <a:close/>
                    </a:path>
                  </a:pathLst>
                </a:custGeom>
                <a:solidFill>
                  <a:srgbClr val="FEDBB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6" name="ïslîḋe"/>
                <p:cNvSpPr/>
                <p:nvPr/>
              </p:nvSpPr>
              <p:spPr bwMode="auto">
                <a:xfrm>
                  <a:off x="4556551" y="5929857"/>
                  <a:ext cx="1331046" cy="207418"/>
                </a:xfrm>
                <a:prstGeom prst="ellipse">
                  <a:avLst/>
                </a:prstGeom>
                <a:solidFill>
                  <a:srgbClr val="D6E1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îṥ1ïdé"/>
                <p:cNvSpPr/>
                <p:nvPr/>
              </p:nvSpPr>
              <p:spPr bwMode="auto">
                <a:xfrm>
                  <a:off x="5334435" y="3842716"/>
                  <a:ext cx="615824" cy="553114"/>
                </a:xfrm>
                <a:custGeom>
                  <a:avLst/>
                  <a:gdLst>
                    <a:gd name="T0" fmla="*/ 249 w 331"/>
                    <a:gd name="T1" fmla="*/ 30 h 298"/>
                    <a:gd name="T2" fmla="*/ 1 w 331"/>
                    <a:gd name="T3" fmla="*/ 189 h 298"/>
                    <a:gd name="T4" fmla="*/ 5 w 331"/>
                    <a:gd name="T5" fmla="*/ 297 h 298"/>
                    <a:gd name="T6" fmla="*/ 9 w 331"/>
                    <a:gd name="T7" fmla="*/ 298 h 298"/>
                    <a:gd name="T8" fmla="*/ 331 w 331"/>
                    <a:gd name="T9" fmla="*/ 47 h 298"/>
                    <a:gd name="T10" fmla="*/ 249 w 331"/>
                    <a:gd name="T11" fmla="*/ 3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1" h="298">
                      <a:moveTo>
                        <a:pt x="249" y="30"/>
                      </a:moveTo>
                      <a:cubicBezTo>
                        <a:pt x="225" y="139"/>
                        <a:pt x="85" y="176"/>
                        <a:pt x="1" y="189"/>
                      </a:cubicBezTo>
                      <a:cubicBezTo>
                        <a:pt x="0" y="225"/>
                        <a:pt x="2" y="261"/>
                        <a:pt x="5" y="297"/>
                      </a:cubicBezTo>
                      <a:cubicBezTo>
                        <a:pt x="8" y="298"/>
                        <a:pt x="9" y="298"/>
                        <a:pt x="9" y="298"/>
                      </a:cubicBezTo>
                      <a:cubicBezTo>
                        <a:pt x="252" y="297"/>
                        <a:pt x="331" y="47"/>
                        <a:pt x="331" y="47"/>
                      </a:cubicBezTo>
                      <a:cubicBezTo>
                        <a:pt x="307" y="0"/>
                        <a:pt x="249" y="30"/>
                        <a:pt x="249" y="30"/>
                      </a:cubicBez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8" name="iśḻíḑe"/>
                <p:cNvSpPr/>
                <p:nvPr/>
              </p:nvSpPr>
              <p:spPr bwMode="auto">
                <a:xfrm>
                  <a:off x="5809808" y="3905375"/>
                  <a:ext cx="41054" cy="38891"/>
                </a:xfrm>
                <a:custGeom>
                  <a:avLst/>
                  <a:gdLst>
                    <a:gd name="T0" fmla="*/ 3 w 22"/>
                    <a:gd name="T1" fmla="*/ 17 h 21"/>
                    <a:gd name="T2" fmla="*/ 16 w 22"/>
                    <a:gd name="T3" fmla="*/ 17 h 21"/>
                    <a:gd name="T4" fmla="*/ 19 w 22"/>
                    <a:gd name="T5" fmla="*/ 4 h 21"/>
                    <a:gd name="T6" fmla="*/ 6 w 22"/>
                    <a:gd name="T7" fmla="*/ 3 h 21"/>
                    <a:gd name="T8" fmla="*/ 3 w 22"/>
                    <a:gd name="T9" fmla="*/ 17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1">
                      <a:moveTo>
                        <a:pt x="3" y="17"/>
                      </a:moveTo>
                      <a:cubicBezTo>
                        <a:pt x="6" y="20"/>
                        <a:pt x="12" y="21"/>
                        <a:pt x="16" y="17"/>
                      </a:cubicBezTo>
                      <a:cubicBezTo>
                        <a:pt x="21" y="14"/>
                        <a:pt x="22" y="8"/>
                        <a:pt x="19" y="4"/>
                      </a:cubicBezTo>
                      <a:cubicBezTo>
                        <a:pt x="17" y="0"/>
                        <a:pt x="11" y="0"/>
                        <a:pt x="6" y="3"/>
                      </a:cubicBezTo>
                      <a:cubicBezTo>
                        <a:pt x="1" y="7"/>
                        <a:pt x="0" y="13"/>
                        <a:pt x="3" y="17"/>
                      </a:cubicBezTo>
                      <a:close/>
                    </a:path>
                  </a:pathLst>
                </a:custGeom>
                <a:solidFill>
                  <a:srgbClr val="4547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iśļïḑê"/>
                <p:cNvSpPr/>
                <p:nvPr/>
              </p:nvSpPr>
              <p:spPr bwMode="auto">
                <a:xfrm>
                  <a:off x="4934688" y="4041492"/>
                  <a:ext cx="222562" cy="246309"/>
                </a:xfrm>
                <a:custGeom>
                  <a:avLst/>
                  <a:gdLst>
                    <a:gd name="T0" fmla="*/ 0 w 120"/>
                    <a:gd name="T1" fmla="*/ 34 h 133"/>
                    <a:gd name="T2" fmla="*/ 9 w 120"/>
                    <a:gd name="T3" fmla="*/ 82 h 133"/>
                    <a:gd name="T4" fmla="*/ 68 w 120"/>
                    <a:gd name="T5" fmla="*/ 130 h 133"/>
                    <a:gd name="T6" fmla="*/ 120 w 120"/>
                    <a:gd name="T7" fmla="*/ 81 h 133"/>
                    <a:gd name="T8" fmla="*/ 106 w 120"/>
                    <a:gd name="T9" fmla="*/ 36 h 133"/>
                    <a:gd name="T10" fmla="*/ 0 w 120"/>
                    <a:gd name="T11" fmla="*/ 34 h 13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0" h="133">
                      <a:moveTo>
                        <a:pt x="0" y="34"/>
                      </a:moveTo>
                      <a:cubicBezTo>
                        <a:pt x="0" y="34"/>
                        <a:pt x="11" y="75"/>
                        <a:pt x="9" y="82"/>
                      </a:cubicBezTo>
                      <a:cubicBezTo>
                        <a:pt x="9" y="82"/>
                        <a:pt x="17" y="133"/>
                        <a:pt x="68" y="130"/>
                      </a:cubicBezTo>
                      <a:cubicBezTo>
                        <a:pt x="119" y="127"/>
                        <a:pt x="120" y="81"/>
                        <a:pt x="120" y="81"/>
                      </a:cubicBezTo>
                      <a:cubicBezTo>
                        <a:pt x="120" y="81"/>
                        <a:pt x="109" y="47"/>
                        <a:pt x="106" y="36"/>
                      </a:cubicBezTo>
                      <a:cubicBezTo>
                        <a:pt x="103" y="25"/>
                        <a:pt x="63" y="0"/>
                        <a:pt x="0" y="34"/>
                      </a:cubicBezTo>
                      <a:close/>
                    </a:path>
                  </a:pathLst>
                </a:custGeom>
                <a:solidFill>
                  <a:srgbClr val="F4CCA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0" name="íşľïdê"/>
                <p:cNvSpPr/>
                <p:nvPr/>
              </p:nvSpPr>
              <p:spPr bwMode="auto">
                <a:xfrm>
                  <a:off x="4971423" y="4030689"/>
                  <a:ext cx="179345" cy="203097"/>
                </a:xfrm>
                <a:custGeom>
                  <a:avLst/>
                  <a:gdLst>
                    <a:gd name="T0" fmla="*/ 0 w 96"/>
                    <a:gd name="T1" fmla="*/ 35 h 109"/>
                    <a:gd name="T2" fmla="*/ 96 w 96"/>
                    <a:gd name="T3" fmla="*/ 75 h 109"/>
                    <a:gd name="T4" fmla="*/ 87 w 96"/>
                    <a:gd name="T5" fmla="*/ 45 h 109"/>
                    <a:gd name="T6" fmla="*/ 0 w 96"/>
                    <a:gd name="T7" fmla="*/ 35 h 1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96" h="109">
                      <a:moveTo>
                        <a:pt x="0" y="35"/>
                      </a:moveTo>
                      <a:cubicBezTo>
                        <a:pt x="0" y="35"/>
                        <a:pt x="22" y="109"/>
                        <a:pt x="96" y="75"/>
                      </a:cubicBezTo>
                      <a:cubicBezTo>
                        <a:pt x="96" y="75"/>
                        <a:pt x="87" y="51"/>
                        <a:pt x="87" y="45"/>
                      </a:cubicBezTo>
                      <a:cubicBezTo>
                        <a:pt x="86" y="39"/>
                        <a:pt x="63" y="0"/>
                        <a:pt x="0" y="35"/>
                      </a:cubicBezTo>
                      <a:close/>
                    </a:path>
                  </a:pathLst>
                </a:custGeom>
                <a:solidFill>
                  <a:srgbClr val="F4C49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2" name="ïṩļîďè"/>
                <p:cNvSpPr/>
                <p:nvPr/>
              </p:nvSpPr>
              <p:spPr bwMode="auto">
                <a:xfrm>
                  <a:off x="4964939" y="4257552"/>
                  <a:ext cx="192311" cy="388908"/>
                </a:xfrm>
                <a:custGeom>
                  <a:avLst/>
                  <a:gdLst>
                    <a:gd name="T0" fmla="*/ 0 w 103"/>
                    <a:gd name="T1" fmla="*/ 8 h 210"/>
                    <a:gd name="T2" fmla="*/ 94 w 103"/>
                    <a:gd name="T3" fmla="*/ 210 h 210"/>
                    <a:gd name="T4" fmla="*/ 103 w 103"/>
                    <a:gd name="T5" fmla="*/ 0 h 210"/>
                    <a:gd name="T6" fmla="*/ 61 w 103"/>
                    <a:gd name="T7" fmla="*/ 21 h 210"/>
                    <a:gd name="T8" fmla="*/ 0 w 103"/>
                    <a:gd name="T9" fmla="*/ 8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210">
                      <a:moveTo>
                        <a:pt x="0" y="8"/>
                      </a:moveTo>
                      <a:cubicBezTo>
                        <a:pt x="29" y="84"/>
                        <a:pt x="94" y="210"/>
                        <a:pt x="94" y="210"/>
                      </a:cubicBezTo>
                      <a:cubicBezTo>
                        <a:pt x="96" y="202"/>
                        <a:pt x="100" y="74"/>
                        <a:pt x="103" y="0"/>
                      </a:cubicBezTo>
                      <a:cubicBezTo>
                        <a:pt x="93" y="10"/>
                        <a:pt x="78" y="18"/>
                        <a:pt x="61" y="21"/>
                      </a:cubicBezTo>
                      <a:cubicBezTo>
                        <a:pt x="37" y="25"/>
                        <a:pt x="15" y="20"/>
                        <a:pt x="0" y="8"/>
                      </a:cubicBezTo>
                      <a:close/>
                    </a:path>
                  </a:pathLst>
                </a:custGeom>
                <a:solidFill>
                  <a:srgbClr val="CE65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3" name="işļíḋe"/>
                <p:cNvSpPr/>
                <p:nvPr/>
              </p:nvSpPr>
              <p:spPr bwMode="auto">
                <a:xfrm>
                  <a:off x="4941171" y="4158164"/>
                  <a:ext cx="220400" cy="144761"/>
                </a:xfrm>
                <a:custGeom>
                  <a:avLst/>
                  <a:gdLst>
                    <a:gd name="T0" fmla="*/ 117 w 119"/>
                    <a:gd name="T1" fmla="*/ 1 h 78"/>
                    <a:gd name="T2" fmla="*/ 69 w 119"/>
                    <a:gd name="T3" fmla="*/ 58 h 78"/>
                    <a:gd name="T4" fmla="*/ 4 w 119"/>
                    <a:gd name="T5" fmla="*/ 25 h 78"/>
                    <a:gd name="T6" fmla="*/ 0 w 119"/>
                    <a:gd name="T7" fmla="*/ 23 h 78"/>
                    <a:gd name="T8" fmla="*/ 13 w 119"/>
                    <a:gd name="T9" fmla="*/ 61 h 78"/>
                    <a:gd name="T10" fmla="*/ 74 w 119"/>
                    <a:gd name="T11" fmla="*/ 74 h 78"/>
                    <a:gd name="T12" fmla="*/ 116 w 119"/>
                    <a:gd name="T13" fmla="*/ 53 h 78"/>
                    <a:gd name="T14" fmla="*/ 118 w 119"/>
                    <a:gd name="T15" fmla="*/ 0 h 78"/>
                    <a:gd name="T16" fmla="*/ 117 w 119"/>
                    <a:gd name="T17" fmla="*/ 1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9" h="78">
                      <a:moveTo>
                        <a:pt x="117" y="1"/>
                      </a:moveTo>
                      <a:cubicBezTo>
                        <a:pt x="119" y="28"/>
                        <a:pt x="98" y="52"/>
                        <a:pt x="69" y="58"/>
                      </a:cubicBezTo>
                      <a:cubicBezTo>
                        <a:pt x="40" y="63"/>
                        <a:pt x="13" y="49"/>
                        <a:pt x="4" y="25"/>
                      </a:cubicBezTo>
                      <a:cubicBezTo>
                        <a:pt x="2" y="24"/>
                        <a:pt x="0" y="23"/>
                        <a:pt x="0" y="23"/>
                      </a:cubicBezTo>
                      <a:cubicBezTo>
                        <a:pt x="3" y="32"/>
                        <a:pt x="7" y="45"/>
                        <a:pt x="13" y="61"/>
                      </a:cubicBezTo>
                      <a:cubicBezTo>
                        <a:pt x="28" y="73"/>
                        <a:pt x="50" y="78"/>
                        <a:pt x="74" y="74"/>
                      </a:cubicBezTo>
                      <a:cubicBezTo>
                        <a:pt x="91" y="71"/>
                        <a:pt x="106" y="63"/>
                        <a:pt x="116" y="53"/>
                      </a:cubicBezTo>
                      <a:cubicBezTo>
                        <a:pt x="117" y="22"/>
                        <a:pt x="118" y="0"/>
                        <a:pt x="118" y="0"/>
                      </a:cubicBezTo>
                      <a:lnTo>
                        <a:pt x="117" y="1"/>
                      </a:lnTo>
                      <a:close/>
                    </a:path>
                  </a:pathLst>
                </a:custGeom>
                <a:solidFill>
                  <a:srgbClr val="9928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4" name="ïšlíḓè"/>
                <p:cNvSpPr/>
                <p:nvPr/>
              </p:nvSpPr>
              <p:spPr bwMode="auto">
                <a:xfrm>
                  <a:off x="5157250" y="4856039"/>
                  <a:ext cx="464569" cy="1086782"/>
                </a:xfrm>
                <a:custGeom>
                  <a:avLst/>
                  <a:gdLst>
                    <a:gd name="T0" fmla="*/ 168 w 251"/>
                    <a:gd name="T1" fmla="*/ 577 h 585"/>
                    <a:gd name="T2" fmla="*/ 139 w 251"/>
                    <a:gd name="T3" fmla="*/ 531 h 585"/>
                    <a:gd name="T4" fmla="*/ 208 w 251"/>
                    <a:gd name="T5" fmla="*/ 361 h 585"/>
                    <a:gd name="T6" fmla="*/ 180 w 251"/>
                    <a:gd name="T7" fmla="*/ 21 h 585"/>
                    <a:gd name="T8" fmla="*/ 49 w 251"/>
                    <a:gd name="T9" fmla="*/ 147 h 585"/>
                    <a:gd name="T10" fmla="*/ 92 w 251"/>
                    <a:gd name="T11" fmla="*/ 518 h 585"/>
                    <a:gd name="T12" fmla="*/ 84 w 251"/>
                    <a:gd name="T13" fmla="*/ 574 h 585"/>
                    <a:gd name="T14" fmla="*/ 168 w 251"/>
                    <a:gd name="T15" fmla="*/ 577 h 5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51" h="585">
                      <a:moveTo>
                        <a:pt x="168" y="577"/>
                      </a:moveTo>
                      <a:cubicBezTo>
                        <a:pt x="139" y="531"/>
                        <a:pt x="139" y="531"/>
                        <a:pt x="139" y="531"/>
                      </a:cubicBezTo>
                      <a:cubicBezTo>
                        <a:pt x="139" y="531"/>
                        <a:pt x="164" y="500"/>
                        <a:pt x="208" y="361"/>
                      </a:cubicBezTo>
                      <a:cubicBezTo>
                        <a:pt x="251" y="222"/>
                        <a:pt x="180" y="21"/>
                        <a:pt x="180" y="21"/>
                      </a:cubicBezTo>
                      <a:cubicBezTo>
                        <a:pt x="90" y="0"/>
                        <a:pt x="0" y="87"/>
                        <a:pt x="49" y="147"/>
                      </a:cubicBezTo>
                      <a:cubicBezTo>
                        <a:pt x="99" y="207"/>
                        <a:pt x="103" y="474"/>
                        <a:pt x="92" y="518"/>
                      </a:cubicBezTo>
                      <a:cubicBezTo>
                        <a:pt x="88" y="535"/>
                        <a:pt x="85" y="556"/>
                        <a:pt x="84" y="574"/>
                      </a:cubicBezTo>
                      <a:cubicBezTo>
                        <a:pt x="112" y="585"/>
                        <a:pt x="140" y="584"/>
                        <a:pt x="168" y="577"/>
                      </a:cubicBezTo>
                      <a:close/>
                    </a:path>
                  </a:pathLst>
                </a:custGeom>
                <a:solidFill>
                  <a:srgbClr val="FEDBB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ïsḻidè"/>
                <p:cNvSpPr/>
                <p:nvPr/>
              </p:nvSpPr>
              <p:spPr bwMode="auto">
                <a:xfrm>
                  <a:off x="5308505" y="5921215"/>
                  <a:ext cx="224722" cy="110191"/>
                </a:xfrm>
                <a:custGeom>
                  <a:avLst/>
                  <a:gdLst>
                    <a:gd name="T0" fmla="*/ 2 w 121"/>
                    <a:gd name="T1" fmla="*/ 0 h 59"/>
                    <a:gd name="T2" fmla="*/ 0 w 121"/>
                    <a:gd name="T3" fmla="*/ 53 h 59"/>
                    <a:gd name="T4" fmla="*/ 7 w 121"/>
                    <a:gd name="T5" fmla="*/ 53 h 59"/>
                    <a:gd name="T6" fmla="*/ 19 w 121"/>
                    <a:gd name="T7" fmla="*/ 32 h 59"/>
                    <a:gd name="T8" fmla="*/ 52 w 121"/>
                    <a:gd name="T9" fmla="*/ 55 h 59"/>
                    <a:gd name="T10" fmla="*/ 121 w 121"/>
                    <a:gd name="T11" fmla="*/ 59 h 59"/>
                    <a:gd name="T12" fmla="*/ 86 w 121"/>
                    <a:gd name="T13" fmla="*/ 3 h 59"/>
                    <a:gd name="T14" fmla="*/ 2 w 121"/>
                    <a:gd name="T15" fmla="*/ 0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1" h="59">
                      <a:moveTo>
                        <a:pt x="2" y="0"/>
                      </a:moveTo>
                      <a:cubicBezTo>
                        <a:pt x="0" y="29"/>
                        <a:pt x="0" y="53"/>
                        <a:pt x="0" y="53"/>
                      </a:cubicBezTo>
                      <a:cubicBezTo>
                        <a:pt x="7" y="53"/>
                        <a:pt x="7" y="53"/>
                        <a:pt x="7" y="53"/>
                      </a:cubicBezTo>
                      <a:cubicBezTo>
                        <a:pt x="7" y="53"/>
                        <a:pt x="13" y="43"/>
                        <a:pt x="19" y="32"/>
                      </a:cubicBezTo>
                      <a:cubicBezTo>
                        <a:pt x="25" y="22"/>
                        <a:pt x="52" y="55"/>
                        <a:pt x="52" y="55"/>
                      </a:cubicBezTo>
                      <a:cubicBezTo>
                        <a:pt x="121" y="59"/>
                        <a:pt x="121" y="59"/>
                        <a:pt x="121" y="59"/>
                      </a:cubicBezTo>
                      <a:cubicBezTo>
                        <a:pt x="86" y="3"/>
                        <a:pt x="86" y="3"/>
                        <a:pt x="86" y="3"/>
                      </a:cubicBezTo>
                      <a:cubicBezTo>
                        <a:pt x="58" y="10"/>
                        <a:pt x="30" y="11"/>
                        <a:pt x="2" y="0"/>
                      </a:cubicBez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6" name="ïsļíḋè"/>
                <p:cNvSpPr/>
                <p:nvPr/>
              </p:nvSpPr>
              <p:spPr bwMode="auto">
                <a:xfrm>
                  <a:off x="4818006" y="4853878"/>
                  <a:ext cx="466730" cy="1084622"/>
                </a:xfrm>
                <a:custGeom>
                  <a:avLst/>
                  <a:gdLst>
                    <a:gd name="T0" fmla="*/ 168 w 251"/>
                    <a:gd name="T1" fmla="*/ 576 h 584"/>
                    <a:gd name="T2" fmla="*/ 140 w 251"/>
                    <a:gd name="T3" fmla="*/ 531 h 584"/>
                    <a:gd name="T4" fmla="*/ 208 w 251"/>
                    <a:gd name="T5" fmla="*/ 360 h 584"/>
                    <a:gd name="T6" fmla="*/ 181 w 251"/>
                    <a:gd name="T7" fmla="*/ 20 h 584"/>
                    <a:gd name="T8" fmla="*/ 50 w 251"/>
                    <a:gd name="T9" fmla="*/ 146 h 584"/>
                    <a:gd name="T10" fmla="*/ 92 w 251"/>
                    <a:gd name="T11" fmla="*/ 517 h 584"/>
                    <a:gd name="T12" fmla="*/ 84 w 251"/>
                    <a:gd name="T13" fmla="*/ 573 h 584"/>
                    <a:gd name="T14" fmla="*/ 168 w 251"/>
                    <a:gd name="T15" fmla="*/ 576 h 5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51" h="584">
                      <a:moveTo>
                        <a:pt x="168" y="576"/>
                      </a:moveTo>
                      <a:cubicBezTo>
                        <a:pt x="140" y="531"/>
                        <a:pt x="140" y="531"/>
                        <a:pt x="140" y="531"/>
                      </a:cubicBezTo>
                      <a:cubicBezTo>
                        <a:pt x="140" y="531"/>
                        <a:pt x="164" y="500"/>
                        <a:pt x="208" y="360"/>
                      </a:cubicBezTo>
                      <a:cubicBezTo>
                        <a:pt x="251" y="221"/>
                        <a:pt x="181" y="20"/>
                        <a:pt x="181" y="20"/>
                      </a:cubicBezTo>
                      <a:cubicBezTo>
                        <a:pt x="90" y="0"/>
                        <a:pt x="0" y="86"/>
                        <a:pt x="50" y="146"/>
                      </a:cubicBezTo>
                      <a:cubicBezTo>
                        <a:pt x="99" y="206"/>
                        <a:pt x="103" y="473"/>
                        <a:pt x="92" y="517"/>
                      </a:cubicBezTo>
                      <a:cubicBezTo>
                        <a:pt x="88" y="535"/>
                        <a:pt x="85" y="555"/>
                        <a:pt x="84" y="573"/>
                      </a:cubicBezTo>
                      <a:cubicBezTo>
                        <a:pt x="112" y="584"/>
                        <a:pt x="140" y="583"/>
                        <a:pt x="168" y="576"/>
                      </a:cubicBezTo>
                      <a:close/>
                    </a:path>
                  </a:pathLst>
                </a:custGeom>
                <a:solidFill>
                  <a:srgbClr val="FEDBB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7" name="ïŝļiďé"/>
                <p:cNvSpPr/>
                <p:nvPr/>
              </p:nvSpPr>
              <p:spPr bwMode="auto">
                <a:xfrm>
                  <a:off x="4969261" y="5919055"/>
                  <a:ext cx="224722" cy="108030"/>
                </a:xfrm>
                <a:custGeom>
                  <a:avLst/>
                  <a:gdLst>
                    <a:gd name="T0" fmla="*/ 2 w 121"/>
                    <a:gd name="T1" fmla="*/ 0 h 59"/>
                    <a:gd name="T2" fmla="*/ 0 w 121"/>
                    <a:gd name="T3" fmla="*/ 53 h 59"/>
                    <a:gd name="T4" fmla="*/ 7 w 121"/>
                    <a:gd name="T5" fmla="*/ 53 h 59"/>
                    <a:gd name="T6" fmla="*/ 20 w 121"/>
                    <a:gd name="T7" fmla="*/ 33 h 59"/>
                    <a:gd name="T8" fmla="*/ 52 w 121"/>
                    <a:gd name="T9" fmla="*/ 56 h 59"/>
                    <a:gd name="T10" fmla="*/ 121 w 121"/>
                    <a:gd name="T11" fmla="*/ 59 h 59"/>
                    <a:gd name="T12" fmla="*/ 86 w 121"/>
                    <a:gd name="T13" fmla="*/ 3 h 59"/>
                    <a:gd name="T14" fmla="*/ 2 w 121"/>
                    <a:gd name="T15" fmla="*/ 0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1" h="59">
                      <a:moveTo>
                        <a:pt x="2" y="0"/>
                      </a:moveTo>
                      <a:cubicBezTo>
                        <a:pt x="0" y="29"/>
                        <a:pt x="0" y="53"/>
                        <a:pt x="0" y="53"/>
                      </a:cubicBezTo>
                      <a:cubicBezTo>
                        <a:pt x="7" y="53"/>
                        <a:pt x="7" y="53"/>
                        <a:pt x="7" y="53"/>
                      </a:cubicBezTo>
                      <a:cubicBezTo>
                        <a:pt x="7" y="53"/>
                        <a:pt x="14" y="43"/>
                        <a:pt x="20" y="33"/>
                      </a:cubicBezTo>
                      <a:cubicBezTo>
                        <a:pt x="25" y="22"/>
                        <a:pt x="52" y="56"/>
                        <a:pt x="52" y="56"/>
                      </a:cubicBezTo>
                      <a:cubicBezTo>
                        <a:pt x="121" y="59"/>
                        <a:pt x="121" y="59"/>
                        <a:pt x="121" y="59"/>
                      </a:cubicBezTo>
                      <a:cubicBezTo>
                        <a:pt x="86" y="3"/>
                        <a:pt x="86" y="3"/>
                        <a:pt x="86" y="3"/>
                      </a:cubicBezTo>
                      <a:cubicBezTo>
                        <a:pt x="58" y="10"/>
                        <a:pt x="30" y="11"/>
                        <a:pt x="2" y="0"/>
                      </a:cubicBez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8" name="iṣľídé"/>
                <p:cNvSpPr/>
                <p:nvPr/>
              </p:nvSpPr>
              <p:spPr bwMode="auto">
                <a:xfrm>
                  <a:off x="4690520" y="4849557"/>
                  <a:ext cx="1104162" cy="972271"/>
                </a:xfrm>
                <a:custGeom>
                  <a:avLst/>
                  <a:gdLst>
                    <a:gd name="T0" fmla="*/ 115 w 593"/>
                    <a:gd name="T1" fmla="*/ 56 h 524"/>
                    <a:gd name="T2" fmla="*/ 0 w 593"/>
                    <a:gd name="T3" fmla="*/ 264 h 524"/>
                    <a:gd name="T4" fmla="*/ 593 w 593"/>
                    <a:gd name="T5" fmla="*/ 162 h 524"/>
                    <a:gd name="T6" fmla="*/ 426 w 593"/>
                    <a:gd name="T7" fmla="*/ 0 h 524"/>
                    <a:gd name="T8" fmla="*/ 115 w 593"/>
                    <a:gd name="T9" fmla="*/ 56 h 5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93" h="524">
                      <a:moveTo>
                        <a:pt x="115" y="56"/>
                      </a:moveTo>
                      <a:cubicBezTo>
                        <a:pt x="0" y="264"/>
                        <a:pt x="0" y="264"/>
                        <a:pt x="0" y="264"/>
                      </a:cubicBezTo>
                      <a:cubicBezTo>
                        <a:pt x="0" y="264"/>
                        <a:pt x="348" y="524"/>
                        <a:pt x="593" y="162"/>
                      </a:cubicBezTo>
                      <a:cubicBezTo>
                        <a:pt x="426" y="0"/>
                        <a:pt x="426" y="0"/>
                        <a:pt x="426" y="0"/>
                      </a:cubicBezTo>
                      <a:lnTo>
                        <a:pt x="115" y="56"/>
                      </a:ln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99" name="îŝḻíďé"/>
                <p:cNvSpPr/>
                <p:nvPr/>
              </p:nvSpPr>
              <p:spPr bwMode="auto">
                <a:xfrm>
                  <a:off x="4742379" y="4970550"/>
                  <a:ext cx="257133" cy="505581"/>
                </a:xfrm>
                <a:custGeom>
                  <a:avLst/>
                  <a:gdLst>
                    <a:gd name="T0" fmla="*/ 117 w 138"/>
                    <a:gd name="T1" fmla="*/ 0 h 272"/>
                    <a:gd name="T2" fmla="*/ 0 w 138"/>
                    <a:gd name="T3" fmla="*/ 230 h 272"/>
                    <a:gd name="T4" fmla="*/ 52 w 138"/>
                    <a:gd name="T5" fmla="*/ 256 h 272"/>
                    <a:gd name="T6" fmla="*/ 138 w 138"/>
                    <a:gd name="T7" fmla="*/ 4 h 272"/>
                    <a:gd name="T8" fmla="*/ 117 w 138"/>
                    <a:gd name="T9" fmla="*/ 0 h 2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8" h="272">
                      <a:moveTo>
                        <a:pt x="117" y="0"/>
                      </a:moveTo>
                      <a:cubicBezTo>
                        <a:pt x="0" y="230"/>
                        <a:pt x="0" y="230"/>
                        <a:pt x="0" y="230"/>
                      </a:cubicBezTo>
                      <a:cubicBezTo>
                        <a:pt x="0" y="230"/>
                        <a:pt x="7" y="272"/>
                        <a:pt x="52" y="256"/>
                      </a:cubicBezTo>
                      <a:cubicBezTo>
                        <a:pt x="138" y="4"/>
                        <a:pt x="138" y="4"/>
                        <a:pt x="138" y="4"/>
                      </a:cubicBezTo>
                      <a:cubicBezTo>
                        <a:pt x="131" y="3"/>
                        <a:pt x="124" y="1"/>
                        <a:pt x="117" y="0"/>
                      </a:cubicBezTo>
                      <a:close/>
                    </a:path>
                  </a:pathLst>
                </a:custGeom>
                <a:solidFill>
                  <a:srgbClr val="3F41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0" name="îş1idê"/>
                <p:cNvSpPr/>
                <p:nvPr/>
              </p:nvSpPr>
              <p:spPr bwMode="auto">
                <a:xfrm>
                  <a:off x="4915242" y="5002960"/>
                  <a:ext cx="157737" cy="533668"/>
                </a:xfrm>
                <a:custGeom>
                  <a:avLst/>
                  <a:gdLst>
                    <a:gd name="T0" fmla="*/ 67 w 84"/>
                    <a:gd name="T1" fmla="*/ 0 h 288"/>
                    <a:gd name="T2" fmla="*/ 0 w 84"/>
                    <a:gd name="T3" fmla="*/ 258 h 288"/>
                    <a:gd name="T4" fmla="*/ 65 w 84"/>
                    <a:gd name="T5" fmla="*/ 272 h 288"/>
                    <a:gd name="T6" fmla="*/ 84 w 84"/>
                    <a:gd name="T7" fmla="*/ 1 h 288"/>
                    <a:gd name="T8" fmla="*/ 67 w 84"/>
                    <a:gd name="T9" fmla="*/ 0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4" h="288">
                      <a:moveTo>
                        <a:pt x="67" y="0"/>
                      </a:moveTo>
                      <a:cubicBezTo>
                        <a:pt x="0" y="258"/>
                        <a:pt x="0" y="258"/>
                        <a:pt x="0" y="258"/>
                      </a:cubicBezTo>
                      <a:cubicBezTo>
                        <a:pt x="0" y="258"/>
                        <a:pt x="13" y="288"/>
                        <a:pt x="65" y="272"/>
                      </a:cubicBezTo>
                      <a:cubicBezTo>
                        <a:pt x="84" y="1"/>
                        <a:pt x="84" y="1"/>
                        <a:pt x="84" y="1"/>
                      </a:cubicBezTo>
                      <a:cubicBezTo>
                        <a:pt x="79" y="1"/>
                        <a:pt x="73" y="1"/>
                        <a:pt x="67" y="0"/>
                      </a:cubicBezTo>
                      <a:close/>
                    </a:path>
                  </a:pathLst>
                </a:custGeom>
                <a:solidFill>
                  <a:srgbClr val="3F41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1" name="ïŝľiḓê"/>
                <p:cNvSpPr/>
                <p:nvPr/>
              </p:nvSpPr>
              <p:spPr bwMode="auto">
                <a:xfrm>
                  <a:off x="5114035" y="5002960"/>
                  <a:ext cx="116683" cy="548793"/>
                </a:xfrm>
                <a:custGeom>
                  <a:avLst/>
                  <a:gdLst>
                    <a:gd name="T0" fmla="*/ 3 w 63"/>
                    <a:gd name="T1" fmla="*/ 1 h 296"/>
                    <a:gd name="T2" fmla="*/ 0 w 63"/>
                    <a:gd name="T3" fmla="*/ 279 h 296"/>
                    <a:gd name="T4" fmla="*/ 63 w 63"/>
                    <a:gd name="T5" fmla="*/ 275 h 296"/>
                    <a:gd name="T6" fmla="*/ 23 w 63"/>
                    <a:gd name="T7" fmla="*/ 0 h 296"/>
                    <a:gd name="T8" fmla="*/ 3 w 63"/>
                    <a:gd name="T9" fmla="*/ 1 h 2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296">
                      <a:moveTo>
                        <a:pt x="3" y="1"/>
                      </a:moveTo>
                      <a:cubicBezTo>
                        <a:pt x="0" y="279"/>
                        <a:pt x="0" y="279"/>
                        <a:pt x="0" y="279"/>
                      </a:cubicBezTo>
                      <a:cubicBezTo>
                        <a:pt x="0" y="279"/>
                        <a:pt x="29" y="296"/>
                        <a:pt x="63" y="275"/>
                      </a:cubicBezTo>
                      <a:cubicBezTo>
                        <a:pt x="23" y="0"/>
                        <a:pt x="23" y="0"/>
                        <a:pt x="23" y="0"/>
                      </a:cubicBezTo>
                      <a:cubicBezTo>
                        <a:pt x="15" y="0"/>
                        <a:pt x="11" y="1"/>
                        <a:pt x="3" y="1"/>
                      </a:cubicBezTo>
                      <a:close/>
                    </a:path>
                  </a:pathLst>
                </a:custGeom>
                <a:solidFill>
                  <a:srgbClr val="3F41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2" name="ïŝḷiḓé"/>
                <p:cNvSpPr/>
                <p:nvPr/>
              </p:nvSpPr>
              <p:spPr bwMode="auto">
                <a:xfrm>
                  <a:off x="5206948" y="4970550"/>
                  <a:ext cx="250651" cy="548793"/>
                </a:xfrm>
                <a:custGeom>
                  <a:avLst/>
                  <a:gdLst>
                    <a:gd name="T0" fmla="*/ 0 w 136"/>
                    <a:gd name="T1" fmla="*/ 5 h 295"/>
                    <a:gd name="T2" fmla="*/ 77 w 136"/>
                    <a:gd name="T3" fmla="*/ 287 h 295"/>
                    <a:gd name="T4" fmla="*/ 136 w 136"/>
                    <a:gd name="T5" fmla="*/ 265 h 295"/>
                    <a:gd name="T6" fmla="*/ 25 w 136"/>
                    <a:gd name="T7" fmla="*/ 0 h 295"/>
                    <a:gd name="T8" fmla="*/ 0 w 136"/>
                    <a:gd name="T9" fmla="*/ 5 h 2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6" h="295">
                      <a:moveTo>
                        <a:pt x="0" y="5"/>
                      </a:moveTo>
                      <a:cubicBezTo>
                        <a:pt x="77" y="287"/>
                        <a:pt x="77" y="287"/>
                        <a:pt x="77" y="287"/>
                      </a:cubicBezTo>
                      <a:cubicBezTo>
                        <a:pt x="77" y="287"/>
                        <a:pt x="110" y="295"/>
                        <a:pt x="136" y="265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17" y="2"/>
                        <a:pt x="9" y="4"/>
                        <a:pt x="0" y="5"/>
                      </a:cubicBezTo>
                      <a:close/>
                    </a:path>
                  </a:pathLst>
                </a:custGeom>
                <a:solidFill>
                  <a:srgbClr val="3F41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3" name="îṧḻíḍe"/>
                <p:cNvSpPr/>
                <p:nvPr/>
              </p:nvSpPr>
              <p:spPr bwMode="auto">
                <a:xfrm>
                  <a:off x="5312827" y="4940302"/>
                  <a:ext cx="330600" cy="475332"/>
                </a:xfrm>
                <a:custGeom>
                  <a:avLst/>
                  <a:gdLst>
                    <a:gd name="T0" fmla="*/ 24 w 178"/>
                    <a:gd name="T1" fmla="*/ 0 h 256"/>
                    <a:gd name="T2" fmla="*/ 0 w 178"/>
                    <a:gd name="T3" fmla="*/ 10 h 256"/>
                    <a:gd name="T4" fmla="*/ 127 w 178"/>
                    <a:gd name="T5" fmla="*/ 256 h 256"/>
                    <a:gd name="T6" fmla="*/ 178 w 178"/>
                    <a:gd name="T7" fmla="*/ 220 h 256"/>
                    <a:gd name="T8" fmla="*/ 24 w 178"/>
                    <a:gd name="T9" fmla="*/ 0 h 2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8" h="256">
                      <a:moveTo>
                        <a:pt x="24" y="0"/>
                      </a:moveTo>
                      <a:cubicBezTo>
                        <a:pt x="16" y="3"/>
                        <a:pt x="8" y="7"/>
                        <a:pt x="0" y="10"/>
                      </a:cubicBezTo>
                      <a:cubicBezTo>
                        <a:pt x="127" y="256"/>
                        <a:pt x="127" y="256"/>
                        <a:pt x="127" y="256"/>
                      </a:cubicBezTo>
                      <a:cubicBezTo>
                        <a:pt x="127" y="256"/>
                        <a:pt x="160" y="255"/>
                        <a:pt x="178" y="220"/>
                      </a:cubicBez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rgbClr val="3F41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4" name="iṥ1íḑè"/>
                <p:cNvSpPr/>
                <p:nvPr/>
              </p:nvSpPr>
              <p:spPr bwMode="auto">
                <a:xfrm>
                  <a:off x="5418705" y="4888447"/>
                  <a:ext cx="356531" cy="386748"/>
                </a:xfrm>
                <a:custGeom>
                  <a:avLst/>
                  <a:gdLst>
                    <a:gd name="T0" fmla="*/ 20 w 192"/>
                    <a:gd name="T1" fmla="*/ 0 h 208"/>
                    <a:gd name="T2" fmla="*/ 0 w 192"/>
                    <a:gd name="T3" fmla="*/ 16 h 208"/>
                    <a:gd name="T4" fmla="*/ 155 w 192"/>
                    <a:gd name="T5" fmla="*/ 208 h 208"/>
                    <a:gd name="T6" fmla="*/ 192 w 192"/>
                    <a:gd name="T7" fmla="*/ 157 h 208"/>
                    <a:gd name="T8" fmla="*/ 20 w 192"/>
                    <a:gd name="T9" fmla="*/ 0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2" h="208">
                      <a:moveTo>
                        <a:pt x="20" y="0"/>
                      </a:moveTo>
                      <a:cubicBezTo>
                        <a:pt x="14" y="6"/>
                        <a:pt x="7" y="11"/>
                        <a:pt x="0" y="16"/>
                      </a:cubicBezTo>
                      <a:cubicBezTo>
                        <a:pt x="155" y="208"/>
                        <a:pt x="155" y="208"/>
                        <a:pt x="155" y="208"/>
                      </a:cubicBezTo>
                      <a:cubicBezTo>
                        <a:pt x="155" y="208"/>
                        <a:pt x="187" y="197"/>
                        <a:pt x="192" y="157"/>
                      </a:cubicBez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3F414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5" name="íṡlïďe"/>
                <p:cNvSpPr/>
                <p:nvPr/>
              </p:nvSpPr>
              <p:spPr bwMode="auto">
                <a:xfrm>
                  <a:off x="4744539" y="4156004"/>
                  <a:ext cx="797332" cy="894489"/>
                </a:xfrm>
                <a:custGeom>
                  <a:avLst/>
                  <a:gdLst>
                    <a:gd name="T0" fmla="*/ 0 w 429"/>
                    <a:gd name="T1" fmla="*/ 70 h 482"/>
                    <a:gd name="T2" fmla="*/ 111 w 429"/>
                    <a:gd name="T3" fmla="*/ 20 h 482"/>
                    <a:gd name="T4" fmla="*/ 211 w 429"/>
                    <a:gd name="T5" fmla="*/ 255 h 482"/>
                    <a:gd name="T6" fmla="*/ 218 w 429"/>
                    <a:gd name="T7" fmla="*/ 0 h 482"/>
                    <a:gd name="T8" fmla="*/ 352 w 429"/>
                    <a:gd name="T9" fmla="*/ 10 h 482"/>
                    <a:gd name="T10" fmla="*/ 360 w 429"/>
                    <a:gd name="T11" fmla="*/ 276 h 482"/>
                    <a:gd name="T12" fmla="*/ 429 w 429"/>
                    <a:gd name="T13" fmla="*/ 373 h 482"/>
                    <a:gd name="T14" fmla="*/ 50 w 429"/>
                    <a:gd name="T15" fmla="*/ 450 h 482"/>
                    <a:gd name="T16" fmla="*/ 0 w 429"/>
                    <a:gd name="T17" fmla="*/ 70 h 4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9" h="482">
                      <a:moveTo>
                        <a:pt x="0" y="70"/>
                      </a:moveTo>
                      <a:cubicBezTo>
                        <a:pt x="111" y="20"/>
                        <a:pt x="111" y="20"/>
                        <a:pt x="111" y="20"/>
                      </a:cubicBezTo>
                      <a:cubicBezTo>
                        <a:pt x="211" y="255"/>
                        <a:pt x="211" y="255"/>
                        <a:pt x="211" y="255"/>
                      </a:cubicBezTo>
                      <a:cubicBezTo>
                        <a:pt x="218" y="0"/>
                        <a:pt x="218" y="0"/>
                        <a:pt x="218" y="0"/>
                      </a:cubicBezTo>
                      <a:cubicBezTo>
                        <a:pt x="352" y="10"/>
                        <a:pt x="352" y="10"/>
                        <a:pt x="352" y="10"/>
                      </a:cubicBezTo>
                      <a:cubicBezTo>
                        <a:pt x="352" y="10"/>
                        <a:pt x="333" y="217"/>
                        <a:pt x="360" y="276"/>
                      </a:cubicBezTo>
                      <a:cubicBezTo>
                        <a:pt x="387" y="336"/>
                        <a:pt x="429" y="373"/>
                        <a:pt x="429" y="373"/>
                      </a:cubicBezTo>
                      <a:cubicBezTo>
                        <a:pt x="320" y="461"/>
                        <a:pt x="196" y="482"/>
                        <a:pt x="50" y="450"/>
                      </a:cubicBezTo>
                      <a:cubicBezTo>
                        <a:pt x="50" y="450"/>
                        <a:pt x="124" y="332"/>
                        <a:pt x="0" y="70"/>
                      </a:cubicBezTo>
                      <a:close/>
                    </a:path>
                  </a:pathLst>
                </a:custGeom>
                <a:solidFill>
                  <a:srgbClr val="4547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6" name="iŝḷîḋe"/>
                <p:cNvSpPr/>
                <p:nvPr/>
              </p:nvSpPr>
              <p:spPr bwMode="auto">
                <a:xfrm>
                  <a:off x="4882830" y="4177610"/>
                  <a:ext cx="254973" cy="451565"/>
                </a:xfrm>
                <a:custGeom>
                  <a:avLst/>
                  <a:gdLst>
                    <a:gd name="T0" fmla="*/ 36 w 137"/>
                    <a:gd name="T1" fmla="*/ 0 h 244"/>
                    <a:gd name="T2" fmla="*/ 8 w 137"/>
                    <a:gd name="T3" fmla="*/ 18 h 244"/>
                    <a:gd name="T4" fmla="*/ 0 w 137"/>
                    <a:gd name="T5" fmla="*/ 104 h 244"/>
                    <a:gd name="T6" fmla="*/ 53 w 137"/>
                    <a:gd name="T7" fmla="*/ 91 h 244"/>
                    <a:gd name="T8" fmla="*/ 32 w 137"/>
                    <a:gd name="T9" fmla="*/ 155 h 244"/>
                    <a:gd name="T10" fmla="*/ 137 w 137"/>
                    <a:gd name="T11" fmla="*/ 244 h 244"/>
                    <a:gd name="T12" fmla="*/ 36 w 137"/>
                    <a:gd name="T13" fmla="*/ 0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7" h="244">
                      <a:moveTo>
                        <a:pt x="36" y="0"/>
                      </a:moveTo>
                      <a:cubicBezTo>
                        <a:pt x="8" y="18"/>
                        <a:pt x="8" y="18"/>
                        <a:pt x="8" y="18"/>
                      </a:cubicBezTo>
                      <a:cubicBezTo>
                        <a:pt x="0" y="104"/>
                        <a:pt x="0" y="104"/>
                        <a:pt x="0" y="104"/>
                      </a:cubicBezTo>
                      <a:cubicBezTo>
                        <a:pt x="53" y="91"/>
                        <a:pt x="53" y="91"/>
                        <a:pt x="53" y="91"/>
                      </a:cubicBezTo>
                      <a:cubicBezTo>
                        <a:pt x="32" y="155"/>
                        <a:pt x="32" y="155"/>
                        <a:pt x="32" y="155"/>
                      </a:cubicBezTo>
                      <a:cubicBezTo>
                        <a:pt x="137" y="244"/>
                        <a:pt x="137" y="244"/>
                        <a:pt x="137" y="244"/>
                      </a:cubicBezTo>
                      <a:cubicBezTo>
                        <a:pt x="137" y="244"/>
                        <a:pt x="64" y="46"/>
                        <a:pt x="36" y="0"/>
                      </a:cubicBez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7" name="íṧḻîḑè"/>
                <p:cNvSpPr/>
                <p:nvPr/>
              </p:nvSpPr>
              <p:spPr bwMode="auto">
                <a:xfrm>
                  <a:off x="5126999" y="4138719"/>
                  <a:ext cx="151255" cy="490456"/>
                </a:xfrm>
                <a:custGeom>
                  <a:avLst/>
                  <a:gdLst>
                    <a:gd name="T0" fmla="*/ 10 w 81"/>
                    <a:gd name="T1" fmla="*/ 0 h 264"/>
                    <a:gd name="T2" fmla="*/ 42 w 81"/>
                    <a:gd name="T3" fmla="*/ 6 h 264"/>
                    <a:gd name="T4" fmla="*/ 81 w 81"/>
                    <a:gd name="T5" fmla="*/ 83 h 264"/>
                    <a:gd name="T6" fmla="*/ 27 w 81"/>
                    <a:gd name="T7" fmla="*/ 90 h 264"/>
                    <a:gd name="T8" fmla="*/ 70 w 81"/>
                    <a:gd name="T9" fmla="*/ 143 h 264"/>
                    <a:gd name="T10" fmla="*/ 5 w 81"/>
                    <a:gd name="T11" fmla="*/ 264 h 264"/>
                    <a:gd name="T12" fmla="*/ 10 w 81"/>
                    <a:gd name="T13" fmla="*/ 0 h 2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1" h="264">
                      <a:moveTo>
                        <a:pt x="10" y="0"/>
                      </a:moveTo>
                      <a:cubicBezTo>
                        <a:pt x="42" y="6"/>
                        <a:pt x="42" y="6"/>
                        <a:pt x="42" y="6"/>
                      </a:cubicBezTo>
                      <a:cubicBezTo>
                        <a:pt x="81" y="83"/>
                        <a:pt x="81" y="83"/>
                        <a:pt x="81" y="83"/>
                      </a:cubicBezTo>
                      <a:cubicBezTo>
                        <a:pt x="27" y="90"/>
                        <a:pt x="27" y="90"/>
                        <a:pt x="27" y="90"/>
                      </a:cubicBezTo>
                      <a:cubicBezTo>
                        <a:pt x="70" y="143"/>
                        <a:pt x="70" y="143"/>
                        <a:pt x="70" y="143"/>
                      </a:cubicBezTo>
                      <a:cubicBezTo>
                        <a:pt x="5" y="264"/>
                        <a:pt x="5" y="264"/>
                        <a:pt x="5" y="264"/>
                      </a:cubicBezTo>
                      <a:cubicBezTo>
                        <a:pt x="5" y="264"/>
                        <a:pt x="0" y="53"/>
                        <a:pt x="10" y="0"/>
                      </a:cubicBez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8" name="ïṡ1íḓe"/>
                <p:cNvSpPr/>
                <p:nvPr/>
              </p:nvSpPr>
              <p:spPr bwMode="auto">
                <a:xfrm>
                  <a:off x="5129159" y="4681030"/>
                  <a:ext cx="36734" cy="34570"/>
                </a:xfrm>
                <a:custGeom>
                  <a:avLst/>
                  <a:gdLst>
                    <a:gd name="T0" fmla="*/ 18 w 19"/>
                    <a:gd name="T1" fmla="*/ 8 h 19"/>
                    <a:gd name="T2" fmla="*/ 11 w 19"/>
                    <a:gd name="T3" fmla="*/ 18 h 19"/>
                    <a:gd name="T4" fmla="*/ 1 w 19"/>
                    <a:gd name="T5" fmla="*/ 11 h 19"/>
                    <a:gd name="T6" fmla="*/ 8 w 19"/>
                    <a:gd name="T7" fmla="*/ 1 h 19"/>
                    <a:gd name="T8" fmla="*/ 18 w 19"/>
                    <a:gd name="T9" fmla="*/ 8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" h="19">
                      <a:moveTo>
                        <a:pt x="18" y="8"/>
                      </a:moveTo>
                      <a:cubicBezTo>
                        <a:pt x="19" y="12"/>
                        <a:pt x="16" y="17"/>
                        <a:pt x="11" y="18"/>
                      </a:cubicBezTo>
                      <a:cubicBezTo>
                        <a:pt x="7" y="19"/>
                        <a:pt x="2" y="16"/>
                        <a:pt x="1" y="11"/>
                      </a:cubicBezTo>
                      <a:cubicBezTo>
                        <a:pt x="0" y="6"/>
                        <a:pt x="4" y="2"/>
                        <a:pt x="8" y="1"/>
                      </a:cubicBezTo>
                      <a:cubicBezTo>
                        <a:pt x="13" y="0"/>
                        <a:pt x="17" y="3"/>
                        <a:pt x="18" y="8"/>
                      </a:cubicBez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09" name="ïsļïdè"/>
                <p:cNvSpPr/>
                <p:nvPr/>
              </p:nvSpPr>
              <p:spPr bwMode="auto">
                <a:xfrm>
                  <a:off x="5146446" y="4763133"/>
                  <a:ext cx="34573" cy="34570"/>
                </a:xfrm>
                <a:custGeom>
                  <a:avLst/>
                  <a:gdLst>
                    <a:gd name="T0" fmla="*/ 18 w 19"/>
                    <a:gd name="T1" fmla="*/ 8 h 19"/>
                    <a:gd name="T2" fmla="*/ 11 w 19"/>
                    <a:gd name="T3" fmla="*/ 18 h 19"/>
                    <a:gd name="T4" fmla="*/ 1 w 19"/>
                    <a:gd name="T5" fmla="*/ 11 h 19"/>
                    <a:gd name="T6" fmla="*/ 8 w 19"/>
                    <a:gd name="T7" fmla="*/ 1 h 19"/>
                    <a:gd name="T8" fmla="*/ 18 w 19"/>
                    <a:gd name="T9" fmla="*/ 8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" h="19">
                      <a:moveTo>
                        <a:pt x="18" y="8"/>
                      </a:moveTo>
                      <a:cubicBezTo>
                        <a:pt x="19" y="13"/>
                        <a:pt x="16" y="17"/>
                        <a:pt x="11" y="18"/>
                      </a:cubicBezTo>
                      <a:cubicBezTo>
                        <a:pt x="6" y="19"/>
                        <a:pt x="2" y="16"/>
                        <a:pt x="1" y="11"/>
                      </a:cubicBezTo>
                      <a:cubicBezTo>
                        <a:pt x="0" y="7"/>
                        <a:pt x="3" y="2"/>
                        <a:pt x="8" y="1"/>
                      </a:cubicBezTo>
                      <a:cubicBezTo>
                        <a:pt x="13" y="0"/>
                        <a:pt x="17" y="4"/>
                        <a:pt x="18" y="8"/>
                      </a:cubicBez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0" name="ïṣliḓè"/>
                <p:cNvSpPr/>
                <p:nvPr/>
              </p:nvSpPr>
              <p:spPr bwMode="auto">
                <a:xfrm>
                  <a:off x="5163732" y="4847397"/>
                  <a:ext cx="32413" cy="36730"/>
                </a:xfrm>
                <a:custGeom>
                  <a:avLst/>
                  <a:gdLst>
                    <a:gd name="T0" fmla="*/ 18 w 18"/>
                    <a:gd name="T1" fmla="*/ 8 h 19"/>
                    <a:gd name="T2" fmla="*/ 11 w 18"/>
                    <a:gd name="T3" fmla="*/ 18 h 19"/>
                    <a:gd name="T4" fmla="*/ 1 w 18"/>
                    <a:gd name="T5" fmla="*/ 11 h 19"/>
                    <a:gd name="T6" fmla="*/ 7 w 18"/>
                    <a:gd name="T7" fmla="*/ 1 h 19"/>
                    <a:gd name="T8" fmla="*/ 18 w 18"/>
                    <a:gd name="T9" fmla="*/ 8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8" h="19">
                      <a:moveTo>
                        <a:pt x="18" y="8"/>
                      </a:moveTo>
                      <a:cubicBezTo>
                        <a:pt x="18" y="12"/>
                        <a:pt x="15" y="17"/>
                        <a:pt x="11" y="18"/>
                      </a:cubicBezTo>
                      <a:cubicBezTo>
                        <a:pt x="6" y="19"/>
                        <a:pt x="1" y="16"/>
                        <a:pt x="1" y="11"/>
                      </a:cubicBezTo>
                      <a:cubicBezTo>
                        <a:pt x="0" y="6"/>
                        <a:pt x="3" y="2"/>
                        <a:pt x="7" y="1"/>
                      </a:cubicBezTo>
                      <a:cubicBezTo>
                        <a:pt x="12" y="0"/>
                        <a:pt x="17" y="3"/>
                        <a:pt x="18" y="8"/>
                      </a:cubicBez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1" name="îSḻîdê"/>
                <p:cNvSpPr/>
                <p:nvPr/>
              </p:nvSpPr>
              <p:spPr bwMode="auto">
                <a:xfrm>
                  <a:off x="4267006" y="2941746"/>
                  <a:ext cx="1244614" cy="1281236"/>
                </a:xfrm>
                <a:custGeom>
                  <a:avLst/>
                  <a:gdLst>
                    <a:gd name="T0" fmla="*/ 479 w 670"/>
                    <a:gd name="T1" fmla="*/ 77 h 690"/>
                    <a:gd name="T2" fmla="*/ 645 w 670"/>
                    <a:gd name="T3" fmla="*/ 475 h 690"/>
                    <a:gd name="T4" fmla="*/ 541 w 670"/>
                    <a:gd name="T5" fmla="*/ 634 h 690"/>
                    <a:gd name="T6" fmla="*/ 246 w 670"/>
                    <a:gd name="T7" fmla="*/ 623 h 690"/>
                    <a:gd name="T8" fmla="*/ 67 w 670"/>
                    <a:gd name="T9" fmla="*/ 197 h 690"/>
                    <a:gd name="T10" fmla="*/ 479 w 670"/>
                    <a:gd name="T11" fmla="*/ 77 h 6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670" h="690">
                      <a:moveTo>
                        <a:pt x="479" y="77"/>
                      </a:moveTo>
                      <a:cubicBezTo>
                        <a:pt x="479" y="77"/>
                        <a:pt x="621" y="410"/>
                        <a:pt x="645" y="475"/>
                      </a:cubicBezTo>
                      <a:cubicBezTo>
                        <a:pt x="670" y="541"/>
                        <a:pt x="541" y="634"/>
                        <a:pt x="541" y="634"/>
                      </a:cubicBezTo>
                      <a:cubicBezTo>
                        <a:pt x="541" y="634"/>
                        <a:pt x="375" y="690"/>
                        <a:pt x="246" y="623"/>
                      </a:cubicBezTo>
                      <a:cubicBezTo>
                        <a:pt x="95" y="544"/>
                        <a:pt x="0" y="400"/>
                        <a:pt x="67" y="197"/>
                      </a:cubicBezTo>
                      <a:cubicBezTo>
                        <a:pt x="131" y="0"/>
                        <a:pt x="456" y="16"/>
                        <a:pt x="479" y="77"/>
                      </a:cubicBezTo>
                    </a:path>
                  </a:pathLst>
                </a:custGeom>
                <a:solidFill>
                  <a:srgbClr val="FEDBB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2" name="ïSļîdé"/>
                <p:cNvSpPr/>
                <p:nvPr/>
              </p:nvSpPr>
              <p:spPr bwMode="auto">
                <a:xfrm>
                  <a:off x="4595445" y="3939944"/>
                  <a:ext cx="54019" cy="56176"/>
                </a:xfrm>
                <a:custGeom>
                  <a:avLst/>
                  <a:gdLst>
                    <a:gd name="T0" fmla="*/ 28 w 30"/>
                    <a:gd name="T1" fmla="*/ 11 h 31"/>
                    <a:gd name="T2" fmla="*/ 19 w 30"/>
                    <a:gd name="T3" fmla="*/ 28 h 31"/>
                    <a:gd name="T4" fmla="*/ 2 w 30"/>
                    <a:gd name="T5" fmla="*/ 19 h 31"/>
                    <a:gd name="T6" fmla="*/ 11 w 30"/>
                    <a:gd name="T7" fmla="*/ 2 h 31"/>
                    <a:gd name="T8" fmla="*/ 28 w 30"/>
                    <a:gd name="T9" fmla="*/ 11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" h="31">
                      <a:moveTo>
                        <a:pt x="28" y="11"/>
                      </a:moveTo>
                      <a:cubicBezTo>
                        <a:pt x="30" y="18"/>
                        <a:pt x="26" y="26"/>
                        <a:pt x="19" y="28"/>
                      </a:cubicBezTo>
                      <a:cubicBezTo>
                        <a:pt x="12" y="31"/>
                        <a:pt x="4" y="27"/>
                        <a:pt x="2" y="19"/>
                      </a:cubicBezTo>
                      <a:cubicBezTo>
                        <a:pt x="0" y="12"/>
                        <a:pt x="4" y="5"/>
                        <a:pt x="11" y="2"/>
                      </a:cubicBezTo>
                      <a:cubicBezTo>
                        <a:pt x="18" y="0"/>
                        <a:pt x="26" y="4"/>
                        <a:pt x="28" y="11"/>
                      </a:cubicBezTo>
                      <a:close/>
                    </a:path>
                  </a:pathLst>
                </a:custGeom>
                <a:solidFill>
                  <a:srgbClr val="CE65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3" name="íṩḻîḍe"/>
                <p:cNvSpPr/>
                <p:nvPr/>
              </p:nvSpPr>
              <p:spPr bwMode="auto">
                <a:xfrm>
                  <a:off x="4880669" y="3866484"/>
                  <a:ext cx="51859" cy="45372"/>
                </a:xfrm>
                <a:custGeom>
                  <a:avLst/>
                  <a:gdLst>
                    <a:gd name="T0" fmla="*/ 26 w 27"/>
                    <a:gd name="T1" fmla="*/ 0 h 24"/>
                    <a:gd name="T2" fmla="*/ 26 w 27"/>
                    <a:gd name="T3" fmla="*/ 0 h 24"/>
                    <a:gd name="T4" fmla="*/ 13 w 27"/>
                    <a:gd name="T5" fmla="*/ 10 h 24"/>
                    <a:gd name="T6" fmla="*/ 0 w 27"/>
                    <a:gd name="T7" fmla="*/ 24 h 24"/>
                    <a:gd name="T8" fmla="*/ 0 w 27"/>
                    <a:gd name="T9" fmla="*/ 24 h 24"/>
                    <a:gd name="T10" fmla="*/ 11 w 27"/>
                    <a:gd name="T11" fmla="*/ 16 h 24"/>
                    <a:gd name="T12" fmla="*/ 27 w 27"/>
                    <a:gd name="T13" fmla="*/ 1 h 24"/>
                    <a:gd name="T14" fmla="*/ 26 w 27"/>
                    <a:gd name="T15" fmla="*/ 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7" h="24">
                      <a:moveTo>
                        <a:pt x="26" y="0"/>
                      </a:move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1" y="2"/>
                        <a:pt x="17" y="6"/>
                        <a:pt x="13" y="10"/>
                      </a:cubicBezTo>
                      <a:cubicBezTo>
                        <a:pt x="9" y="14"/>
                        <a:pt x="4" y="19"/>
                        <a:pt x="0" y="24"/>
                      </a:cubicBezTo>
                      <a:cubicBezTo>
                        <a:pt x="0" y="24"/>
                        <a:pt x="0" y="24"/>
                        <a:pt x="0" y="24"/>
                      </a:cubicBezTo>
                      <a:cubicBezTo>
                        <a:pt x="4" y="22"/>
                        <a:pt x="8" y="19"/>
                        <a:pt x="11" y="16"/>
                      </a:cubicBezTo>
                      <a:cubicBezTo>
                        <a:pt x="16" y="11"/>
                        <a:pt x="22" y="6"/>
                        <a:pt x="27" y="1"/>
                      </a:cubicBezTo>
                      <a:cubicBezTo>
                        <a:pt x="27" y="0"/>
                        <a:pt x="27" y="0"/>
                        <a:pt x="26" y="0"/>
                      </a:cubicBezTo>
                    </a:path>
                  </a:pathLst>
                </a:custGeom>
                <a:solidFill>
                  <a:srgbClr val="E6A0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4" name="íSļidé"/>
                <p:cNvSpPr/>
                <p:nvPr/>
              </p:nvSpPr>
              <p:spPr bwMode="auto">
                <a:xfrm>
                  <a:off x="4913081" y="3855680"/>
                  <a:ext cx="49699" cy="51854"/>
                </a:xfrm>
                <a:custGeom>
                  <a:avLst/>
                  <a:gdLst>
                    <a:gd name="T0" fmla="*/ 26 w 27"/>
                    <a:gd name="T1" fmla="*/ 0 h 28"/>
                    <a:gd name="T2" fmla="*/ 26 w 27"/>
                    <a:gd name="T3" fmla="*/ 0 h 28"/>
                    <a:gd name="T4" fmla="*/ 13 w 27"/>
                    <a:gd name="T5" fmla="*/ 13 h 28"/>
                    <a:gd name="T6" fmla="*/ 0 w 27"/>
                    <a:gd name="T7" fmla="*/ 28 h 28"/>
                    <a:gd name="T8" fmla="*/ 0 w 27"/>
                    <a:gd name="T9" fmla="*/ 28 h 28"/>
                    <a:gd name="T10" fmla="*/ 1 w 27"/>
                    <a:gd name="T11" fmla="*/ 28 h 28"/>
                    <a:gd name="T12" fmla="*/ 13 w 27"/>
                    <a:gd name="T13" fmla="*/ 16 h 28"/>
                    <a:gd name="T14" fmla="*/ 27 w 27"/>
                    <a:gd name="T15" fmla="*/ 1 h 28"/>
                    <a:gd name="T16" fmla="*/ 26 w 27"/>
                    <a:gd name="T17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7" h="28">
                      <a:moveTo>
                        <a:pt x="26" y="0"/>
                      </a:move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1" y="3"/>
                        <a:pt x="17" y="9"/>
                        <a:pt x="13" y="13"/>
                      </a:cubicBezTo>
                      <a:cubicBezTo>
                        <a:pt x="9" y="18"/>
                        <a:pt x="4" y="22"/>
                        <a:pt x="0" y="28"/>
                      </a:cubicBezTo>
                      <a:cubicBezTo>
                        <a:pt x="0" y="28"/>
                        <a:pt x="0" y="28"/>
                        <a:pt x="0" y="28"/>
                      </a:cubicBezTo>
                      <a:cubicBezTo>
                        <a:pt x="0" y="28"/>
                        <a:pt x="0" y="28"/>
                        <a:pt x="1" y="28"/>
                      </a:cubicBezTo>
                      <a:cubicBezTo>
                        <a:pt x="5" y="25"/>
                        <a:pt x="9" y="20"/>
                        <a:pt x="13" y="16"/>
                      </a:cubicBezTo>
                      <a:cubicBezTo>
                        <a:pt x="18" y="11"/>
                        <a:pt x="24" y="7"/>
                        <a:pt x="27" y="1"/>
                      </a:cubicBezTo>
                      <a:cubicBezTo>
                        <a:pt x="27" y="0"/>
                        <a:pt x="27" y="0"/>
                        <a:pt x="26" y="0"/>
                      </a:cubicBezTo>
                    </a:path>
                  </a:pathLst>
                </a:custGeom>
                <a:solidFill>
                  <a:srgbClr val="E6A0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5" name="î$ḷiḓé"/>
                <p:cNvSpPr/>
                <p:nvPr/>
              </p:nvSpPr>
              <p:spPr bwMode="auto">
                <a:xfrm>
                  <a:off x="4954136" y="3831914"/>
                  <a:ext cx="54019" cy="62657"/>
                </a:xfrm>
                <a:custGeom>
                  <a:avLst/>
                  <a:gdLst>
                    <a:gd name="T0" fmla="*/ 29 w 30"/>
                    <a:gd name="T1" fmla="*/ 0 h 34"/>
                    <a:gd name="T2" fmla="*/ 28 w 30"/>
                    <a:gd name="T3" fmla="*/ 0 h 34"/>
                    <a:gd name="T4" fmla="*/ 13 w 30"/>
                    <a:gd name="T5" fmla="*/ 15 h 34"/>
                    <a:gd name="T6" fmla="*/ 0 w 30"/>
                    <a:gd name="T7" fmla="*/ 33 h 34"/>
                    <a:gd name="T8" fmla="*/ 0 w 30"/>
                    <a:gd name="T9" fmla="*/ 34 h 34"/>
                    <a:gd name="T10" fmla="*/ 2 w 30"/>
                    <a:gd name="T11" fmla="*/ 33 h 34"/>
                    <a:gd name="T12" fmla="*/ 16 w 30"/>
                    <a:gd name="T13" fmla="*/ 15 h 34"/>
                    <a:gd name="T14" fmla="*/ 29 w 30"/>
                    <a:gd name="T15" fmla="*/ 1 h 34"/>
                    <a:gd name="T16" fmla="*/ 29 w 30"/>
                    <a:gd name="T17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0" h="34">
                      <a:moveTo>
                        <a:pt x="29" y="0"/>
                      </a:move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22" y="4"/>
                        <a:pt x="17" y="10"/>
                        <a:pt x="13" y="15"/>
                      </a:cubicBezTo>
                      <a:cubicBezTo>
                        <a:pt x="8" y="21"/>
                        <a:pt x="3" y="27"/>
                        <a:pt x="0" y="33"/>
                      </a:cubicBezTo>
                      <a:cubicBezTo>
                        <a:pt x="0" y="34"/>
                        <a:pt x="0" y="34"/>
                        <a:pt x="0" y="34"/>
                      </a:cubicBezTo>
                      <a:cubicBezTo>
                        <a:pt x="1" y="34"/>
                        <a:pt x="1" y="34"/>
                        <a:pt x="2" y="33"/>
                      </a:cubicBezTo>
                      <a:cubicBezTo>
                        <a:pt x="6" y="27"/>
                        <a:pt x="11" y="21"/>
                        <a:pt x="16" y="15"/>
                      </a:cubicBezTo>
                      <a:cubicBezTo>
                        <a:pt x="21" y="10"/>
                        <a:pt x="26" y="6"/>
                        <a:pt x="29" y="1"/>
                      </a:cubicBezTo>
                      <a:cubicBezTo>
                        <a:pt x="30" y="0"/>
                        <a:pt x="29" y="0"/>
                        <a:pt x="29" y="0"/>
                      </a:cubicBezTo>
                    </a:path>
                  </a:pathLst>
                </a:custGeom>
                <a:solidFill>
                  <a:srgbClr val="E6A0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6" name="i$1ídè"/>
                <p:cNvSpPr/>
                <p:nvPr/>
              </p:nvSpPr>
              <p:spPr bwMode="auto">
                <a:xfrm>
                  <a:off x="5241520" y="3732526"/>
                  <a:ext cx="62664" cy="64818"/>
                </a:xfrm>
                <a:custGeom>
                  <a:avLst/>
                  <a:gdLst>
                    <a:gd name="T0" fmla="*/ 33 w 34"/>
                    <a:gd name="T1" fmla="*/ 0 h 34"/>
                    <a:gd name="T2" fmla="*/ 33 w 34"/>
                    <a:gd name="T3" fmla="*/ 0 h 34"/>
                    <a:gd name="T4" fmla="*/ 20 w 34"/>
                    <a:gd name="T5" fmla="*/ 14 h 34"/>
                    <a:gd name="T6" fmla="*/ 1 w 34"/>
                    <a:gd name="T7" fmla="*/ 32 h 34"/>
                    <a:gd name="T8" fmla="*/ 1 w 34"/>
                    <a:gd name="T9" fmla="*/ 34 h 34"/>
                    <a:gd name="T10" fmla="*/ 1 w 34"/>
                    <a:gd name="T11" fmla="*/ 34 h 34"/>
                    <a:gd name="T12" fmla="*/ 18 w 34"/>
                    <a:gd name="T13" fmla="*/ 19 h 34"/>
                    <a:gd name="T14" fmla="*/ 34 w 34"/>
                    <a:gd name="T15" fmla="*/ 0 h 34"/>
                    <a:gd name="T16" fmla="*/ 33 w 34"/>
                    <a:gd name="T17" fmla="*/ 0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4" h="34">
                      <a:moveTo>
                        <a:pt x="33" y="0"/>
                      </a:move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28" y="4"/>
                        <a:pt x="24" y="9"/>
                        <a:pt x="20" y="14"/>
                      </a:cubicBezTo>
                      <a:cubicBezTo>
                        <a:pt x="14" y="21"/>
                        <a:pt x="8" y="27"/>
                        <a:pt x="1" y="32"/>
                      </a:cubicBezTo>
                      <a:cubicBezTo>
                        <a:pt x="0" y="33"/>
                        <a:pt x="0" y="34"/>
                        <a:pt x="1" y="34"/>
                      </a:cubicBezTo>
                      <a:cubicBezTo>
                        <a:pt x="1" y="34"/>
                        <a:pt x="1" y="34"/>
                        <a:pt x="1" y="34"/>
                      </a:cubicBezTo>
                      <a:cubicBezTo>
                        <a:pt x="8" y="30"/>
                        <a:pt x="13" y="25"/>
                        <a:pt x="18" y="19"/>
                      </a:cubicBezTo>
                      <a:cubicBezTo>
                        <a:pt x="23" y="13"/>
                        <a:pt x="29" y="7"/>
                        <a:pt x="34" y="0"/>
                      </a:cubicBezTo>
                      <a:cubicBezTo>
                        <a:pt x="34" y="0"/>
                        <a:pt x="34" y="0"/>
                        <a:pt x="33" y="0"/>
                      </a:cubicBezTo>
                    </a:path>
                  </a:pathLst>
                </a:custGeom>
                <a:solidFill>
                  <a:srgbClr val="E6A0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7" name="îṡľiḍé"/>
                <p:cNvSpPr/>
                <p:nvPr/>
              </p:nvSpPr>
              <p:spPr bwMode="auto">
                <a:xfrm>
                  <a:off x="5278254" y="3719563"/>
                  <a:ext cx="64824" cy="69139"/>
                </a:xfrm>
                <a:custGeom>
                  <a:avLst/>
                  <a:gdLst>
                    <a:gd name="T0" fmla="*/ 33 w 34"/>
                    <a:gd name="T1" fmla="*/ 0 h 37"/>
                    <a:gd name="T2" fmla="*/ 32 w 34"/>
                    <a:gd name="T3" fmla="*/ 0 h 37"/>
                    <a:gd name="T4" fmla="*/ 14 w 34"/>
                    <a:gd name="T5" fmla="*/ 18 h 37"/>
                    <a:gd name="T6" fmla="*/ 0 w 34"/>
                    <a:gd name="T7" fmla="*/ 37 h 37"/>
                    <a:gd name="T8" fmla="*/ 1 w 34"/>
                    <a:gd name="T9" fmla="*/ 37 h 37"/>
                    <a:gd name="T10" fmla="*/ 1 w 34"/>
                    <a:gd name="T11" fmla="*/ 37 h 37"/>
                    <a:gd name="T12" fmla="*/ 18 w 34"/>
                    <a:gd name="T13" fmla="*/ 17 h 37"/>
                    <a:gd name="T14" fmla="*/ 33 w 34"/>
                    <a:gd name="T15" fmla="*/ 1 h 37"/>
                    <a:gd name="T16" fmla="*/ 33 w 34"/>
                    <a:gd name="T17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4" h="37">
                      <a:moveTo>
                        <a:pt x="33" y="0"/>
                      </a:moveTo>
                      <a:cubicBezTo>
                        <a:pt x="32" y="0"/>
                        <a:pt x="32" y="0"/>
                        <a:pt x="32" y="0"/>
                      </a:cubicBezTo>
                      <a:cubicBezTo>
                        <a:pt x="25" y="5"/>
                        <a:pt x="19" y="12"/>
                        <a:pt x="14" y="18"/>
                      </a:cubicBezTo>
                      <a:cubicBezTo>
                        <a:pt x="9" y="24"/>
                        <a:pt x="4" y="30"/>
                        <a:pt x="0" y="37"/>
                      </a:cubicBezTo>
                      <a:cubicBezTo>
                        <a:pt x="0" y="37"/>
                        <a:pt x="0" y="37"/>
                        <a:pt x="1" y="37"/>
                      </a:cubicBezTo>
                      <a:cubicBezTo>
                        <a:pt x="1" y="37"/>
                        <a:pt x="1" y="37"/>
                        <a:pt x="1" y="37"/>
                      </a:cubicBezTo>
                      <a:cubicBezTo>
                        <a:pt x="7" y="31"/>
                        <a:pt x="12" y="24"/>
                        <a:pt x="18" y="17"/>
                      </a:cubicBezTo>
                      <a:cubicBezTo>
                        <a:pt x="23" y="12"/>
                        <a:pt x="29" y="7"/>
                        <a:pt x="33" y="1"/>
                      </a:cubicBezTo>
                      <a:cubicBezTo>
                        <a:pt x="34" y="0"/>
                        <a:pt x="33" y="0"/>
                        <a:pt x="33" y="0"/>
                      </a:cubicBezTo>
                    </a:path>
                  </a:pathLst>
                </a:custGeom>
                <a:solidFill>
                  <a:srgbClr val="E6A0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8" name="îs1ïḑé"/>
                <p:cNvSpPr/>
                <p:nvPr/>
              </p:nvSpPr>
              <p:spPr bwMode="auto">
                <a:xfrm>
                  <a:off x="5312827" y="3726044"/>
                  <a:ext cx="51859" cy="51854"/>
                </a:xfrm>
                <a:custGeom>
                  <a:avLst/>
                  <a:gdLst>
                    <a:gd name="T0" fmla="*/ 27 w 29"/>
                    <a:gd name="T1" fmla="*/ 0 h 28"/>
                    <a:gd name="T2" fmla="*/ 26 w 29"/>
                    <a:gd name="T3" fmla="*/ 0 h 28"/>
                    <a:gd name="T4" fmla="*/ 0 w 29"/>
                    <a:gd name="T5" fmla="*/ 27 h 28"/>
                    <a:gd name="T6" fmla="*/ 1 w 29"/>
                    <a:gd name="T7" fmla="*/ 28 h 28"/>
                    <a:gd name="T8" fmla="*/ 1 w 29"/>
                    <a:gd name="T9" fmla="*/ 28 h 28"/>
                    <a:gd name="T10" fmla="*/ 28 w 29"/>
                    <a:gd name="T11" fmla="*/ 1 h 28"/>
                    <a:gd name="T12" fmla="*/ 27 w 29"/>
                    <a:gd name="T13" fmla="*/ 0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9" h="28">
                      <a:moveTo>
                        <a:pt x="27" y="0"/>
                      </a:moveTo>
                      <a:cubicBezTo>
                        <a:pt x="27" y="0"/>
                        <a:pt x="27" y="0"/>
                        <a:pt x="26" y="0"/>
                      </a:cubicBezTo>
                      <a:cubicBezTo>
                        <a:pt x="16" y="7"/>
                        <a:pt x="9" y="18"/>
                        <a:pt x="0" y="27"/>
                      </a:cubicBezTo>
                      <a:cubicBezTo>
                        <a:pt x="0" y="28"/>
                        <a:pt x="0" y="28"/>
                        <a:pt x="1" y="28"/>
                      </a:cubicBezTo>
                      <a:cubicBezTo>
                        <a:pt x="1" y="28"/>
                        <a:pt x="1" y="28"/>
                        <a:pt x="1" y="28"/>
                      </a:cubicBezTo>
                      <a:cubicBezTo>
                        <a:pt x="11" y="20"/>
                        <a:pt x="20" y="11"/>
                        <a:pt x="28" y="1"/>
                      </a:cubicBezTo>
                      <a:cubicBezTo>
                        <a:pt x="29" y="0"/>
                        <a:pt x="28" y="0"/>
                        <a:pt x="27" y="0"/>
                      </a:cubicBezTo>
                    </a:path>
                  </a:pathLst>
                </a:custGeom>
                <a:solidFill>
                  <a:srgbClr val="E6A09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î$liďé"/>
                <p:cNvSpPr/>
                <p:nvPr/>
              </p:nvSpPr>
              <p:spPr bwMode="auto">
                <a:xfrm>
                  <a:off x="5176697" y="3542394"/>
                  <a:ext cx="170703" cy="190133"/>
                </a:xfrm>
                <a:custGeom>
                  <a:avLst/>
                  <a:gdLst>
                    <a:gd name="T0" fmla="*/ 9 w 92"/>
                    <a:gd name="T1" fmla="*/ 66 h 103"/>
                    <a:gd name="T2" fmla="*/ 62 w 92"/>
                    <a:gd name="T3" fmla="*/ 95 h 103"/>
                    <a:gd name="T4" fmla="*/ 82 w 92"/>
                    <a:gd name="T5" fmla="*/ 37 h 103"/>
                    <a:gd name="T6" fmla="*/ 29 w 92"/>
                    <a:gd name="T7" fmla="*/ 8 h 103"/>
                    <a:gd name="T8" fmla="*/ 9 w 92"/>
                    <a:gd name="T9" fmla="*/ 66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103">
                      <a:moveTo>
                        <a:pt x="9" y="66"/>
                      </a:moveTo>
                      <a:cubicBezTo>
                        <a:pt x="18" y="90"/>
                        <a:pt x="42" y="103"/>
                        <a:pt x="62" y="95"/>
                      </a:cubicBezTo>
                      <a:cubicBezTo>
                        <a:pt x="83" y="87"/>
                        <a:pt x="92" y="61"/>
                        <a:pt x="82" y="37"/>
                      </a:cubicBezTo>
                      <a:cubicBezTo>
                        <a:pt x="73" y="13"/>
                        <a:pt x="49" y="0"/>
                        <a:pt x="29" y="8"/>
                      </a:cubicBezTo>
                      <a:cubicBezTo>
                        <a:pt x="9" y="16"/>
                        <a:pt x="0" y="42"/>
                        <a:pt x="9" y="66"/>
                      </a:cubicBezTo>
                      <a:close/>
                    </a:path>
                  </a:pathLst>
                </a:custGeom>
                <a:solidFill>
                  <a:srgbClr val="A272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0" name="ïś1iďê"/>
                <p:cNvSpPr/>
                <p:nvPr/>
              </p:nvSpPr>
              <p:spPr bwMode="auto">
                <a:xfrm>
                  <a:off x="5237199" y="3555357"/>
                  <a:ext cx="73467" cy="79942"/>
                </a:xfrm>
                <a:custGeom>
                  <a:avLst/>
                  <a:gdLst>
                    <a:gd name="T0" fmla="*/ 4 w 39"/>
                    <a:gd name="T1" fmla="*/ 27 h 43"/>
                    <a:gd name="T2" fmla="*/ 26 w 39"/>
                    <a:gd name="T3" fmla="*/ 40 h 43"/>
                    <a:gd name="T4" fmla="*/ 35 w 39"/>
                    <a:gd name="T5" fmla="*/ 15 h 43"/>
                    <a:gd name="T6" fmla="*/ 12 w 39"/>
                    <a:gd name="T7" fmla="*/ 3 h 43"/>
                    <a:gd name="T8" fmla="*/ 4 w 39"/>
                    <a:gd name="T9" fmla="*/ 27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3">
                      <a:moveTo>
                        <a:pt x="4" y="27"/>
                      </a:moveTo>
                      <a:cubicBezTo>
                        <a:pt x="8" y="37"/>
                        <a:pt x="18" y="43"/>
                        <a:pt x="26" y="40"/>
                      </a:cubicBezTo>
                      <a:cubicBezTo>
                        <a:pt x="35" y="36"/>
                        <a:pt x="39" y="25"/>
                        <a:pt x="35" y="15"/>
                      </a:cubicBezTo>
                      <a:cubicBezTo>
                        <a:pt x="31" y="5"/>
                        <a:pt x="21" y="0"/>
                        <a:pt x="12" y="3"/>
                      </a:cubicBezTo>
                      <a:cubicBezTo>
                        <a:pt x="4" y="6"/>
                        <a:pt x="0" y="17"/>
                        <a:pt x="4" y="2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1" name="íŝlïḑê"/>
                <p:cNvSpPr/>
                <p:nvPr/>
              </p:nvSpPr>
              <p:spPr bwMode="auto">
                <a:xfrm>
                  <a:off x="4809363" y="3646102"/>
                  <a:ext cx="175025" cy="196614"/>
                </a:xfrm>
                <a:custGeom>
                  <a:avLst/>
                  <a:gdLst>
                    <a:gd name="T0" fmla="*/ 9 w 95"/>
                    <a:gd name="T1" fmla="*/ 68 h 106"/>
                    <a:gd name="T2" fmla="*/ 65 w 95"/>
                    <a:gd name="T3" fmla="*/ 98 h 106"/>
                    <a:gd name="T4" fmla="*/ 85 w 95"/>
                    <a:gd name="T5" fmla="*/ 38 h 106"/>
                    <a:gd name="T6" fmla="*/ 30 w 95"/>
                    <a:gd name="T7" fmla="*/ 8 h 106"/>
                    <a:gd name="T8" fmla="*/ 9 w 95"/>
                    <a:gd name="T9" fmla="*/ 68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5" h="106">
                      <a:moveTo>
                        <a:pt x="9" y="68"/>
                      </a:moveTo>
                      <a:cubicBezTo>
                        <a:pt x="19" y="93"/>
                        <a:pt x="44" y="106"/>
                        <a:pt x="65" y="98"/>
                      </a:cubicBezTo>
                      <a:cubicBezTo>
                        <a:pt x="86" y="90"/>
                        <a:pt x="95" y="63"/>
                        <a:pt x="85" y="38"/>
                      </a:cubicBezTo>
                      <a:cubicBezTo>
                        <a:pt x="76" y="14"/>
                        <a:pt x="51" y="0"/>
                        <a:pt x="30" y="8"/>
                      </a:cubicBezTo>
                      <a:cubicBezTo>
                        <a:pt x="9" y="16"/>
                        <a:pt x="0" y="43"/>
                        <a:pt x="9" y="68"/>
                      </a:cubicBezTo>
                      <a:close/>
                    </a:path>
                  </a:pathLst>
                </a:custGeom>
                <a:solidFill>
                  <a:srgbClr val="A2726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2" name="îṧľîdê"/>
                <p:cNvSpPr/>
                <p:nvPr/>
              </p:nvSpPr>
              <p:spPr bwMode="auto">
                <a:xfrm>
                  <a:off x="4874186" y="3665547"/>
                  <a:ext cx="71307" cy="79943"/>
                </a:xfrm>
                <a:custGeom>
                  <a:avLst/>
                  <a:gdLst>
                    <a:gd name="T0" fmla="*/ 4 w 38"/>
                    <a:gd name="T1" fmla="*/ 28 h 43"/>
                    <a:gd name="T2" fmla="*/ 26 w 38"/>
                    <a:gd name="T3" fmla="*/ 40 h 43"/>
                    <a:gd name="T4" fmla="*/ 35 w 38"/>
                    <a:gd name="T5" fmla="*/ 16 h 43"/>
                    <a:gd name="T6" fmla="*/ 12 w 38"/>
                    <a:gd name="T7" fmla="*/ 3 h 43"/>
                    <a:gd name="T8" fmla="*/ 4 w 38"/>
                    <a:gd name="T9" fmla="*/ 28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8" h="43">
                      <a:moveTo>
                        <a:pt x="4" y="28"/>
                      </a:moveTo>
                      <a:cubicBezTo>
                        <a:pt x="8" y="38"/>
                        <a:pt x="18" y="43"/>
                        <a:pt x="26" y="40"/>
                      </a:cubicBezTo>
                      <a:cubicBezTo>
                        <a:pt x="35" y="36"/>
                        <a:pt x="38" y="26"/>
                        <a:pt x="35" y="16"/>
                      </a:cubicBezTo>
                      <a:cubicBezTo>
                        <a:pt x="31" y="5"/>
                        <a:pt x="21" y="0"/>
                        <a:pt x="12" y="3"/>
                      </a:cubicBezTo>
                      <a:cubicBezTo>
                        <a:pt x="3" y="7"/>
                        <a:pt x="0" y="18"/>
                        <a:pt x="4" y="2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3" name="î$ļïḓê"/>
                <p:cNvSpPr/>
                <p:nvPr/>
              </p:nvSpPr>
              <p:spPr bwMode="auto">
                <a:xfrm>
                  <a:off x="4768308" y="3520787"/>
                  <a:ext cx="164220" cy="116672"/>
                </a:xfrm>
                <a:custGeom>
                  <a:avLst/>
                  <a:gdLst>
                    <a:gd name="T0" fmla="*/ 81 w 87"/>
                    <a:gd name="T1" fmla="*/ 0 h 63"/>
                    <a:gd name="T2" fmla="*/ 73 w 87"/>
                    <a:gd name="T3" fmla="*/ 4 h 63"/>
                    <a:gd name="T4" fmla="*/ 73 w 87"/>
                    <a:gd name="T5" fmla="*/ 6 h 63"/>
                    <a:gd name="T6" fmla="*/ 49 w 87"/>
                    <a:gd name="T7" fmla="*/ 53 h 63"/>
                    <a:gd name="T8" fmla="*/ 39 w 87"/>
                    <a:gd name="T9" fmla="*/ 55 h 63"/>
                    <a:gd name="T10" fmla="*/ 9 w 87"/>
                    <a:gd name="T11" fmla="*/ 39 h 63"/>
                    <a:gd name="T12" fmla="*/ 8 w 87"/>
                    <a:gd name="T13" fmla="*/ 38 h 63"/>
                    <a:gd name="T14" fmla="*/ 6 w 87"/>
                    <a:gd name="T15" fmla="*/ 39 h 63"/>
                    <a:gd name="T16" fmla="*/ 4 w 87"/>
                    <a:gd name="T17" fmla="*/ 39 h 63"/>
                    <a:gd name="T18" fmla="*/ 0 w 87"/>
                    <a:gd name="T19" fmla="*/ 41 h 63"/>
                    <a:gd name="T20" fmla="*/ 1 w 87"/>
                    <a:gd name="T21" fmla="*/ 43 h 63"/>
                    <a:gd name="T22" fmla="*/ 39 w 87"/>
                    <a:gd name="T23" fmla="*/ 63 h 63"/>
                    <a:gd name="T24" fmla="*/ 51 w 87"/>
                    <a:gd name="T25" fmla="*/ 61 h 63"/>
                    <a:gd name="T26" fmla="*/ 81 w 87"/>
                    <a:gd name="T27" fmla="*/ 3 h 63"/>
                    <a:gd name="T28" fmla="*/ 81 w 87"/>
                    <a:gd name="T29" fmla="*/ 0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87" h="63">
                      <a:moveTo>
                        <a:pt x="81" y="0"/>
                      </a:moveTo>
                      <a:cubicBezTo>
                        <a:pt x="73" y="4"/>
                        <a:pt x="73" y="4"/>
                        <a:pt x="73" y="4"/>
                      </a:cubicBezTo>
                      <a:cubicBezTo>
                        <a:pt x="73" y="6"/>
                        <a:pt x="73" y="6"/>
                        <a:pt x="73" y="6"/>
                      </a:cubicBezTo>
                      <a:cubicBezTo>
                        <a:pt x="78" y="27"/>
                        <a:pt x="67" y="48"/>
                        <a:pt x="49" y="53"/>
                      </a:cubicBezTo>
                      <a:cubicBezTo>
                        <a:pt x="46" y="54"/>
                        <a:pt x="42" y="55"/>
                        <a:pt x="39" y="55"/>
                      </a:cubicBezTo>
                      <a:cubicBezTo>
                        <a:pt x="28" y="55"/>
                        <a:pt x="17" y="49"/>
                        <a:pt x="9" y="39"/>
                      </a:cubicBezTo>
                      <a:cubicBezTo>
                        <a:pt x="8" y="38"/>
                        <a:pt x="8" y="38"/>
                        <a:pt x="8" y="38"/>
                      </a:cubicBezTo>
                      <a:cubicBezTo>
                        <a:pt x="6" y="39"/>
                        <a:pt x="6" y="39"/>
                        <a:pt x="6" y="39"/>
                      </a:cubicBezTo>
                      <a:cubicBezTo>
                        <a:pt x="5" y="39"/>
                        <a:pt x="5" y="39"/>
                        <a:pt x="4" y="39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1" y="43"/>
                        <a:pt x="1" y="43"/>
                        <a:pt x="1" y="43"/>
                      </a:cubicBezTo>
                      <a:cubicBezTo>
                        <a:pt x="11" y="56"/>
                        <a:pt x="25" y="63"/>
                        <a:pt x="39" y="63"/>
                      </a:cubicBezTo>
                      <a:cubicBezTo>
                        <a:pt x="43" y="63"/>
                        <a:pt x="47" y="62"/>
                        <a:pt x="51" y="61"/>
                      </a:cubicBezTo>
                      <a:cubicBezTo>
                        <a:pt x="74" y="54"/>
                        <a:pt x="87" y="29"/>
                        <a:pt x="81" y="3"/>
                      </a:cubicBez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rgbClr val="F59A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4" name="îŝļiḓé"/>
                <p:cNvSpPr/>
                <p:nvPr/>
              </p:nvSpPr>
              <p:spPr bwMode="auto">
                <a:xfrm>
                  <a:off x="5088105" y="3397633"/>
                  <a:ext cx="138290" cy="110191"/>
                </a:xfrm>
                <a:custGeom>
                  <a:avLst/>
                  <a:gdLst>
                    <a:gd name="T0" fmla="*/ 74 w 75"/>
                    <a:gd name="T1" fmla="*/ 21 h 60"/>
                    <a:gd name="T2" fmla="*/ 38 w 75"/>
                    <a:gd name="T3" fmla="*/ 0 h 60"/>
                    <a:gd name="T4" fmla="*/ 29 w 75"/>
                    <a:gd name="T5" fmla="*/ 1 h 60"/>
                    <a:gd name="T6" fmla="*/ 6 w 75"/>
                    <a:gd name="T7" fmla="*/ 58 h 60"/>
                    <a:gd name="T8" fmla="*/ 7 w 75"/>
                    <a:gd name="T9" fmla="*/ 60 h 60"/>
                    <a:gd name="T10" fmla="*/ 14 w 75"/>
                    <a:gd name="T11" fmla="*/ 56 h 60"/>
                    <a:gd name="T12" fmla="*/ 13 w 75"/>
                    <a:gd name="T13" fmla="*/ 55 h 60"/>
                    <a:gd name="T14" fmla="*/ 32 w 75"/>
                    <a:gd name="T15" fmla="*/ 9 h 60"/>
                    <a:gd name="T16" fmla="*/ 67 w 75"/>
                    <a:gd name="T17" fmla="*/ 25 h 60"/>
                    <a:gd name="T18" fmla="*/ 68 w 75"/>
                    <a:gd name="T19" fmla="*/ 26 h 60"/>
                    <a:gd name="T20" fmla="*/ 69 w 75"/>
                    <a:gd name="T21" fmla="*/ 26 h 60"/>
                    <a:gd name="T22" fmla="*/ 71 w 75"/>
                    <a:gd name="T23" fmla="*/ 25 h 60"/>
                    <a:gd name="T24" fmla="*/ 75 w 75"/>
                    <a:gd name="T25" fmla="*/ 23 h 60"/>
                    <a:gd name="T26" fmla="*/ 74 w 75"/>
                    <a:gd name="T27" fmla="*/ 21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5" h="60">
                      <a:moveTo>
                        <a:pt x="74" y="21"/>
                      </a:moveTo>
                      <a:cubicBezTo>
                        <a:pt x="64" y="8"/>
                        <a:pt x="51" y="0"/>
                        <a:pt x="38" y="0"/>
                      </a:cubicBezTo>
                      <a:cubicBezTo>
                        <a:pt x="35" y="0"/>
                        <a:pt x="32" y="0"/>
                        <a:pt x="29" y="1"/>
                      </a:cubicBezTo>
                      <a:cubicBezTo>
                        <a:pt x="10" y="7"/>
                        <a:pt x="0" y="32"/>
                        <a:pt x="6" y="58"/>
                      </a:cubicBezTo>
                      <a:cubicBezTo>
                        <a:pt x="7" y="60"/>
                        <a:pt x="7" y="60"/>
                        <a:pt x="7" y="60"/>
                      </a:cubicBezTo>
                      <a:cubicBezTo>
                        <a:pt x="14" y="56"/>
                        <a:pt x="14" y="56"/>
                        <a:pt x="14" y="56"/>
                      </a:cubicBezTo>
                      <a:cubicBezTo>
                        <a:pt x="13" y="55"/>
                        <a:pt x="13" y="55"/>
                        <a:pt x="13" y="55"/>
                      </a:cubicBezTo>
                      <a:cubicBezTo>
                        <a:pt x="9" y="34"/>
                        <a:pt x="17" y="14"/>
                        <a:pt x="32" y="9"/>
                      </a:cubicBezTo>
                      <a:cubicBezTo>
                        <a:pt x="44" y="5"/>
                        <a:pt x="57" y="12"/>
                        <a:pt x="67" y="25"/>
                      </a:cubicBezTo>
                      <a:cubicBezTo>
                        <a:pt x="68" y="26"/>
                        <a:pt x="68" y="26"/>
                        <a:pt x="68" y="26"/>
                      </a:cubicBezTo>
                      <a:cubicBezTo>
                        <a:pt x="69" y="26"/>
                        <a:pt x="69" y="26"/>
                        <a:pt x="69" y="26"/>
                      </a:cubicBezTo>
                      <a:cubicBezTo>
                        <a:pt x="70" y="25"/>
                        <a:pt x="71" y="25"/>
                        <a:pt x="71" y="25"/>
                      </a:cubicBezTo>
                      <a:cubicBezTo>
                        <a:pt x="75" y="23"/>
                        <a:pt x="75" y="23"/>
                        <a:pt x="75" y="23"/>
                      </a:cubicBezTo>
                      <a:lnTo>
                        <a:pt x="74" y="21"/>
                      </a:lnTo>
                      <a:close/>
                    </a:path>
                  </a:pathLst>
                </a:custGeom>
                <a:solidFill>
                  <a:srgbClr val="F59A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5" name="íšlíḓê"/>
                <p:cNvSpPr/>
                <p:nvPr/>
              </p:nvSpPr>
              <p:spPr bwMode="auto">
                <a:xfrm>
                  <a:off x="5031925" y="3875126"/>
                  <a:ext cx="285224" cy="116672"/>
                </a:xfrm>
                <a:custGeom>
                  <a:avLst/>
                  <a:gdLst>
                    <a:gd name="T0" fmla="*/ 152 w 154"/>
                    <a:gd name="T1" fmla="*/ 1 h 62"/>
                    <a:gd name="T2" fmla="*/ 109 w 154"/>
                    <a:gd name="T3" fmla="*/ 39 h 62"/>
                    <a:gd name="T4" fmla="*/ 66 w 154"/>
                    <a:gd name="T5" fmla="*/ 36 h 62"/>
                    <a:gd name="T6" fmla="*/ 1 w 154"/>
                    <a:gd name="T7" fmla="*/ 60 h 62"/>
                    <a:gd name="T8" fmla="*/ 4 w 154"/>
                    <a:gd name="T9" fmla="*/ 61 h 62"/>
                    <a:gd name="T10" fmla="*/ 60 w 154"/>
                    <a:gd name="T11" fmla="*/ 40 h 62"/>
                    <a:gd name="T12" fmla="*/ 107 w 154"/>
                    <a:gd name="T13" fmla="*/ 43 h 62"/>
                    <a:gd name="T14" fmla="*/ 154 w 154"/>
                    <a:gd name="T15" fmla="*/ 1 h 62"/>
                    <a:gd name="T16" fmla="*/ 152 w 154"/>
                    <a:gd name="T17" fmla="*/ 1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4" h="62">
                      <a:moveTo>
                        <a:pt x="152" y="1"/>
                      </a:moveTo>
                      <a:cubicBezTo>
                        <a:pt x="143" y="22"/>
                        <a:pt x="134" y="37"/>
                        <a:pt x="109" y="39"/>
                      </a:cubicBezTo>
                      <a:cubicBezTo>
                        <a:pt x="95" y="40"/>
                        <a:pt x="80" y="37"/>
                        <a:pt x="66" y="36"/>
                      </a:cubicBezTo>
                      <a:cubicBezTo>
                        <a:pt x="43" y="34"/>
                        <a:pt x="13" y="38"/>
                        <a:pt x="1" y="60"/>
                      </a:cubicBezTo>
                      <a:cubicBezTo>
                        <a:pt x="0" y="62"/>
                        <a:pt x="3" y="61"/>
                        <a:pt x="4" y="61"/>
                      </a:cubicBezTo>
                      <a:cubicBezTo>
                        <a:pt x="22" y="46"/>
                        <a:pt x="37" y="39"/>
                        <a:pt x="60" y="40"/>
                      </a:cubicBezTo>
                      <a:cubicBezTo>
                        <a:pt x="76" y="41"/>
                        <a:pt x="92" y="43"/>
                        <a:pt x="107" y="43"/>
                      </a:cubicBezTo>
                      <a:cubicBezTo>
                        <a:pt x="133" y="42"/>
                        <a:pt x="150" y="26"/>
                        <a:pt x="154" y="1"/>
                      </a:cubicBezTo>
                      <a:cubicBezTo>
                        <a:pt x="154" y="0"/>
                        <a:pt x="152" y="0"/>
                        <a:pt x="152" y="1"/>
                      </a:cubicBezTo>
                      <a:close/>
                    </a:path>
                  </a:pathLst>
                </a:custGeom>
                <a:solidFill>
                  <a:srgbClr val="99282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6" name="íṡļîḓê"/>
                <p:cNvSpPr/>
                <p:nvPr/>
              </p:nvSpPr>
              <p:spPr bwMode="auto">
                <a:xfrm>
                  <a:off x="4024997" y="2727846"/>
                  <a:ext cx="1356975" cy="1976951"/>
                </a:xfrm>
                <a:custGeom>
                  <a:avLst/>
                  <a:gdLst>
                    <a:gd name="T0" fmla="*/ 307 w 729"/>
                    <a:gd name="T1" fmla="*/ 559 h 1066"/>
                    <a:gd name="T2" fmla="*/ 384 w 729"/>
                    <a:gd name="T3" fmla="*/ 318 h 1066"/>
                    <a:gd name="T4" fmla="*/ 729 w 729"/>
                    <a:gd name="T5" fmla="*/ 295 h 1066"/>
                    <a:gd name="T6" fmla="*/ 286 w 729"/>
                    <a:gd name="T7" fmla="*/ 86 h 1066"/>
                    <a:gd name="T8" fmla="*/ 162 w 729"/>
                    <a:gd name="T9" fmla="*/ 239 h 1066"/>
                    <a:gd name="T10" fmla="*/ 83 w 729"/>
                    <a:gd name="T11" fmla="*/ 608 h 1066"/>
                    <a:gd name="T12" fmla="*/ 236 w 729"/>
                    <a:gd name="T13" fmla="*/ 895 h 1066"/>
                    <a:gd name="T14" fmla="*/ 113 w 729"/>
                    <a:gd name="T15" fmla="*/ 962 h 1066"/>
                    <a:gd name="T16" fmla="*/ 371 w 729"/>
                    <a:gd name="T17" fmla="*/ 781 h 1066"/>
                    <a:gd name="T18" fmla="*/ 321 w 729"/>
                    <a:gd name="T19" fmla="*/ 680 h 1066"/>
                    <a:gd name="T20" fmla="*/ 259 w 729"/>
                    <a:gd name="T21" fmla="*/ 595 h 1066"/>
                    <a:gd name="T22" fmla="*/ 307 w 729"/>
                    <a:gd name="T23" fmla="*/ 559 h 10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29" h="1066">
                      <a:moveTo>
                        <a:pt x="307" y="559"/>
                      </a:moveTo>
                      <a:cubicBezTo>
                        <a:pt x="348" y="528"/>
                        <a:pt x="376" y="371"/>
                        <a:pt x="384" y="318"/>
                      </a:cubicBezTo>
                      <a:cubicBezTo>
                        <a:pt x="455" y="344"/>
                        <a:pt x="588" y="373"/>
                        <a:pt x="729" y="295"/>
                      </a:cubicBezTo>
                      <a:cubicBezTo>
                        <a:pt x="729" y="295"/>
                        <a:pt x="674" y="0"/>
                        <a:pt x="286" y="86"/>
                      </a:cubicBezTo>
                      <a:cubicBezTo>
                        <a:pt x="150" y="116"/>
                        <a:pt x="142" y="212"/>
                        <a:pt x="162" y="239"/>
                      </a:cubicBezTo>
                      <a:cubicBezTo>
                        <a:pt x="9" y="291"/>
                        <a:pt x="0" y="464"/>
                        <a:pt x="83" y="608"/>
                      </a:cubicBezTo>
                      <a:cubicBezTo>
                        <a:pt x="209" y="824"/>
                        <a:pt x="227" y="815"/>
                        <a:pt x="236" y="895"/>
                      </a:cubicBezTo>
                      <a:cubicBezTo>
                        <a:pt x="246" y="975"/>
                        <a:pt x="113" y="962"/>
                        <a:pt x="113" y="962"/>
                      </a:cubicBezTo>
                      <a:cubicBezTo>
                        <a:pt x="304" y="1066"/>
                        <a:pt x="381" y="833"/>
                        <a:pt x="371" y="781"/>
                      </a:cubicBezTo>
                      <a:cubicBezTo>
                        <a:pt x="361" y="729"/>
                        <a:pt x="321" y="680"/>
                        <a:pt x="321" y="680"/>
                      </a:cubicBezTo>
                      <a:cubicBezTo>
                        <a:pt x="267" y="681"/>
                        <a:pt x="255" y="635"/>
                        <a:pt x="259" y="595"/>
                      </a:cubicBezTo>
                      <a:cubicBezTo>
                        <a:pt x="262" y="556"/>
                        <a:pt x="307" y="559"/>
                        <a:pt x="307" y="559"/>
                      </a:cubicBezTo>
                      <a:close/>
                    </a:path>
                  </a:pathLst>
                </a:custGeom>
                <a:solidFill>
                  <a:srgbClr val="F59A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7" name="îŝľiḍê"/>
                <p:cNvSpPr/>
                <p:nvPr/>
              </p:nvSpPr>
              <p:spPr bwMode="auto">
                <a:xfrm>
                  <a:off x="4409618" y="3503503"/>
                  <a:ext cx="328440" cy="347856"/>
                </a:xfrm>
                <a:custGeom>
                  <a:avLst/>
                  <a:gdLst>
                    <a:gd name="T0" fmla="*/ 15 w 176"/>
                    <a:gd name="T1" fmla="*/ 167 h 187"/>
                    <a:gd name="T2" fmla="*/ 8 w 176"/>
                    <a:gd name="T3" fmla="*/ 142 h 187"/>
                    <a:gd name="T4" fmla="*/ 0 w 176"/>
                    <a:gd name="T5" fmla="*/ 112 h 187"/>
                    <a:gd name="T6" fmla="*/ 0 w 176"/>
                    <a:gd name="T7" fmla="*/ 110 h 187"/>
                    <a:gd name="T8" fmla="*/ 12 w 176"/>
                    <a:gd name="T9" fmla="*/ 87 h 187"/>
                    <a:gd name="T10" fmla="*/ 28 w 176"/>
                    <a:gd name="T11" fmla="*/ 71 h 187"/>
                    <a:gd name="T12" fmla="*/ 59 w 176"/>
                    <a:gd name="T13" fmla="*/ 60 h 187"/>
                    <a:gd name="T14" fmla="*/ 80 w 176"/>
                    <a:gd name="T15" fmla="*/ 21 h 187"/>
                    <a:gd name="T16" fmla="*/ 106 w 176"/>
                    <a:gd name="T17" fmla="*/ 44 h 187"/>
                    <a:gd name="T18" fmla="*/ 109 w 176"/>
                    <a:gd name="T19" fmla="*/ 94 h 187"/>
                    <a:gd name="T20" fmla="*/ 136 w 176"/>
                    <a:gd name="T21" fmla="*/ 87 h 187"/>
                    <a:gd name="T22" fmla="*/ 176 w 176"/>
                    <a:gd name="T23" fmla="*/ 103 h 187"/>
                    <a:gd name="T24" fmla="*/ 81 w 176"/>
                    <a:gd name="T25" fmla="*/ 185 h 187"/>
                    <a:gd name="T26" fmla="*/ 15 w 176"/>
                    <a:gd name="T27" fmla="*/ 167 h 1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76" h="187">
                      <a:moveTo>
                        <a:pt x="15" y="167"/>
                      </a:moveTo>
                      <a:cubicBezTo>
                        <a:pt x="8" y="142"/>
                        <a:pt x="8" y="142"/>
                        <a:pt x="8" y="142"/>
                      </a:cubicBezTo>
                      <a:cubicBezTo>
                        <a:pt x="6" y="133"/>
                        <a:pt x="4" y="123"/>
                        <a:pt x="0" y="112"/>
                      </a:cubicBezTo>
                      <a:cubicBezTo>
                        <a:pt x="0" y="112"/>
                        <a:pt x="0" y="111"/>
                        <a:pt x="0" y="110"/>
                      </a:cubicBezTo>
                      <a:cubicBezTo>
                        <a:pt x="1" y="102"/>
                        <a:pt x="5" y="93"/>
                        <a:pt x="12" y="87"/>
                      </a:cubicBezTo>
                      <a:cubicBezTo>
                        <a:pt x="20" y="82"/>
                        <a:pt x="23" y="77"/>
                        <a:pt x="28" y="71"/>
                      </a:cubicBezTo>
                      <a:cubicBezTo>
                        <a:pt x="42" y="57"/>
                        <a:pt x="58" y="61"/>
                        <a:pt x="59" y="60"/>
                      </a:cubicBezTo>
                      <a:cubicBezTo>
                        <a:pt x="60" y="59"/>
                        <a:pt x="51" y="45"/>
                        <a:pt x="80" y="21"/>
                      </a:cubicBezTo>
                      <a:cubicBezTo>
                        <a:pt x="106" y="0"/>
                        <a:pt x="147" y="16"/>
                        <a:pt x="106" y="44"/>
                      </a:cubicBezTo>
                      <a:cubicBezTo>
                        <a:pt x="79" y="63"/>
                        <a:pt x="99" y="88"/>
                        <a:pt x="109" y="94"/>
                      </a:cubicBezTo>
                      <a:cubicBezTo>
                        <a:pt x="117" y="95"/>
                        <a:pt x="117" y="95"/>
                        <a:pt x="136" y="87"/>
                      </a:cubicBezTo>
                      <a:cubicBezTo>
                        <a:pt x="167" y="73"/>
                        <a:pt x="176" y="103"/>
                        <a:pt x="176" y="103"/>
                      </a:cubicBezTo>
                      <a:cubicBezTo>
                        <a:pt x="140" y="106"/>
                        <a:pt x="96" y="164"/>
                        <a:pt x="81" y="185"/>
                      </a:cubicBezTo>
                      <a:cubicBezTo>
                        <a:pt x="50" y="187"/>
                        <a:pt x="45" y="176"/>
                        <a:pt x="15" y="167"/>
                      </a:cubicBezTo>
                      <a:close/>
                    </a:path>
                  </a:pathLst>
                </a:custGeom>
                <a:solidFill>
                  <a:srgbClr val="EAC9B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iş1íḍé"/>
                <p:cNvSpPr/>
                <p:nvPr/>
              </p:nvSpPr>
              <p:spPr bwMode="auto">
                <a:xfrm>
                  <a:off x="4251879" y="3741169"/>
                  <a:ext cx="594217" cy="816707"/>
                </a:xfrm>
                <a:custGeom>
                  <a:avLst/>
                  <a:gdLst>
                    <a:gd name="T0" fmla="*/ 170 w 319"/>
                    <a:gd name="T1" fmla="*/ 57 h 440"/>
                    <a:gd name="T2" fmla="*/ 265 w 319"/>
                    <a:gd name="T3" fmla="*/ 294 h 440"/>
                    <a:gd name="T4" fmla="*/ 297 w 319"/>
                    <a:gd name="T5" fmla="*/ 363 h 440"/>
                    <a:gd name="T6" fmla="*/ 319 w 319"/>
                    <a:gd name="T7" fmla="*/ 440 h 440"/>
                    <a:gd name="T8" fmla="*/ 95 w 319"/>
                    <a:gd name="T9" fmla="*/ 22 h 440"/>
                    <a:gd name="T10" fmla="*/ 170 w 319"/>
                    <a:gd name="T11" fmla="*/ 57 h 4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19" h="440">
                      <a:moveTo>
                        <a:pt x="170" y="57"/>
                      </a:moveTo>
                      <a:cubicBezTo>
                        <a:pt x="159" y="167"/>
                        <a:pt x="211" y="292"/>
                        <a:pt x="265" y="294"/>
                      </a:cubicBezTo>
                      <a:cubicBezTo>
                        <a:pt x="265" y="294"/>
                        <a:pt x="282" y="316"/>
                        <a:pt x="297" y="363"/>
                      </a:cubicBezTo>
                      <a:cubicBezTo>
                        <a:pt x="313" y="410"/>
                        <a:pt x="319" y="440"/>
                        <a:pt x="319" y="440"/>
                      </a:cubicBezTo>
                      <a:cubicBezTo>
                        <a:pt x="0" y="408"/>
                        <a:pt x="95" y="22"/>
                        <a:pt x="95" y="22"/>
                      </a:cubicBezTo>
                      <a:cubicBezTo>
                        <a:pt x="139" y="0"/>
                        <a:pt x="170" y="57"/>
                        <a:pt x="170" y="57"/>
                      </a:cubicBezTo>
                      <a:close/>
                    </a:path>
                  </a:pathLst>
                </a:custGeom>
                <a:solidFill>
                  <a:srgbClr val="393B4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išļiḑe"/>
                <p:cNvSpPr/>
                <p:nvPr/>
              </p:nvSpPr>
              <p:spPr bwMode="auto">
                <a:xfrm>
                  <a:off x="4509014" y="3825432"/>
                  <a:ext cx="34573" cy="41052"/>
                </a:xfrm>
                <a:custGeom>
                  <a:avLst/>
                  <a:gdLst>
                    <a:gd name="T0" fmla="*/ 13 w 19"/>
                    <a:gd name="T1" fmla="*/ 20 h 22"/>
                    <a:gd name="T2" fmla="*/ 2 w 19"/>
                    <a:gd name="T3" fmla="*/ 13 h 22"/>
                    <a:gd name="T4" fmla="*/ 6 w 19"/>
                    <a:gd name="T5" fmla="*/ 1 h 22"/>
                    <a:gd name="T6" fmla="*/ 18 w 19"/>
                    <a:gd name="T7" fmla="*/ 9 h 22"/>
                    <a:gd name="T8" fmla="*/ 13 w 19"/>
                    <a:gd name="T9" fmla="*/ 2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9" h="22">
                      <a:moveTo>
                        <a:pt x="13" y="20"/>
                      </a:moveTo>
                      <a:cubicBezTo>
                        <a:pt x="9" y="22"/>
                        <a:pt x="4" y="18"/>
                        <a:pt x="2" y="13"/>
                      </a:cubicBezTo>
                      <a:cubicBezTo>
                        <a:pt x="0" y="8"/>
                        <a:pt x="2" y="3"/>
                        <a:pt x="6" y="1"/>
                      </a:cubicBezTo>
                      <a:cubicBezTo>
                        <a:pt x="11" y="0"/>
                        <a:pt x="16" y="3"/>
                        <a:pt x="18" y="9"/>
                      </a:cubicBezTo>
                      <a:cubicBezTo>
                        <a:pt x="19" y="14"/>
                        <a:pt x="18" y="19"/>
                        <a:pt x="13" y="20"/>
                      </a:cubicBezTo>
                      <a:close/>
                    </a:path>
                  </a:pathLst>
                </a:custGeom>
                <a:solidFill>
                  <a:srgbClr val="45474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i$ḻîḑé"/>
                <p:cNvSpPr/>
                <p:nvPr/>
              </p:nvSpPr>
              <p:spPr bwMode="auto">
                <a:xfrm>
                  <a:off x="3990425" y="3179412"/>
                  <a:ext cx="414871" cy="667625"/>
                </a:xfrm>
                <a:custGeom>
                  <a:avLst/>
                  <a:gdLst>
                    <a:gd name="T0" fmla="*/ 170 w 223"/>
                    <a:gd name="T1" fmla="*/ 0 h 360"/>
                    <a:gd name="T2" fmla="*/ 223 w 223"/>
                    <a:gd name="T3" fmla="*/ 360 h 360"/>
                    <a:gd name="T4" fmla="*/ 170 w 223"/>
                    <a:gd name="T5" fmla="*/ 0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3" h="360">
                      <a:moveTo>
                        <a:pt x="170" y="0"/>
                      </a:moveTo>
                      <a:cubicBezTo>
                        <a:pt x="170" y="0"/>
                        <a:pt x="0" y="234"/>
                        <a:pt x="223" y="360"/>
                      </a:cubicBezTo>
                      <a:cubicBezTo>
                        <a:pt x="223" y="360"/>
                        <a:pt x="72" y="251"/>
                        <a:pt x="170" y="0"/>
                      </a:cubicBezTo>
                      <a:close/>
                    </a:path>
                  </a:pathLst>
                </a:custGeom>
                <a:solidFill>
                  <a:srgbClr val="E588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î$1îdê"/>
                <p:cNvSpPr/>
                <p:nvPr/>
              </p:nvSpPr>
              <p:spPr bwMode="auto">
                <a:xfrm>
                  <a:off x="5206948" y="2077506"/>
                  <a:ext cx="406228" cy="626574"/>
                </a:xfrm>
                <a:custGeom>
                  <a:avLst/>
                  <a:gdLst>
                    <a:gd name="T0" fmla="*/ 0 w 219"/>
                    <a:gd name="T1" fmla="*/ 81 h 338"/>
                    <a:gd name="T2" fmla="*/ 86 w 219"/>
                    <a:gd name="T3" fmla="*/ 18 h 338"/>
                    <a:gd name="T4" fmla="*/ 210 w 219"/>
                    <a:gd name="T5" fmla="*/ 67 h 338"/>
                    <a:gd name="T6" fmla="*/ 169 w 219"/>
                    <a:gd name="T7" fmla="*/ 170 h 338"/>
                    <a:gd name="T8" fmla="*/ 160 w 219"/>
                    <a:gd name="T9" fmla="*/ 226 h 338"/>
                    <a:gd name="T10" fmla="*/ 157 w 219"/>
                    <a:gd name="T11" fmla="*/ 230 h 338"/>
                    <a:gd name="T12" fmla="*/ 100 w 219"/>
                    <a:gd name="T13" fmla="*/ 187 h 338"/>
                    <a:gd name="T14" fmla="*/ 116 w 219"/>
                    <a:gd name="T15" fmla="*/ 87 h 338"/>
                    <a:gd name="T16" fmla="*/ 63 w 219"/>
                    <a:gd name="T17" fmla="*/ 46 h 338"/>
                    <a:gd name="T18" fmla="*/ 39 w 219"/>
                    <a:gd name="T19" fmla="*/ 124 h 338"/>
                    <a:gd name="T20" fmla="*/ 34 w 219"/>
                    <a:gd name="T21" fmla="*/ 125 h 338"/>
                    <a:gd name="T22" fmla="*/ 0 w 219"/>
                    <a:gd name="T23" fmla="*/ 81 h 338"/>
                    <a:gd name="T24" fmla="*/ 120 w 219"/>
                    <a:gd name="T25" fmla="*/ 304 h 338"/>
                    <a:gd name="T26" fmla="*/ 149 w 219"/>
                    <a:gd name="T27" fmla="*/ 254 h 338"/>
                    <a:gd name="T28" fmla="*/ 198 w 219"/>
                    <a:gd name="T29" fmla="*/ 283 h 338"/>
                    <a:gd name="T30" fmla="*/ 170 w 219"/>
                    <a:gd name="T31" fmla="*/ 332 h 338"/>
                    <a:gd name="T32" fmla="*/ 120 w 219"/>
                    <a:gd name="T33" fmla="*/ 304 h 3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219" h="338">
                      <a:moveTo>
                        <a:pt x="0" y="81"/>
                      </a:moveTo>
                      <a:cubicBezTo>
                        <a:pt x="7" y="55"/>
                        <a:pt x="38" y="30"/>
                        <a:pt x="86" y="18"/>
                      </a:cubicBezTo>
                      <a:cubicBezTo>
                        <a:pt x="153" y="0"/>
                        <a:pt x="198" y="18"/>
                        <a:pt x="210" y="67"/>
                      </a:cubicBezTo>
                      <a:cubicBezTo>
                        <a:pt x="219" y="102"/>
                        <a:pt x="205" y="127"/>
                        <a:pt x="169" y="170"/>
                      </a:cubicBezTo>
                      <a:cubicBezTo>
                        <a:pt x="155" y="188"/>
                        <a:pt x="141" y="204"/>
                        <a:pt x="160" y="226"/>
                      </a:cubicBezTo>
                      <a:cubicBezTo>
                        <a:pt x="157" y="230"/>
                        <a:pt x="157" y="230"/>
                        <a:pt x="157" y="230"/>
                      </a:cubicBezTo>
                      <a:cubicBezTo>
                        <a:pt x="130" y="230"/>
                        <a:pt x="104" y="217"/>
                        <a:pt x="100" y="187"/>
                      </a:cubicBezTo>
                      <a:cubicBezTo>
                        <a:pt x="94" y="150"/>
                        <a:pt x="131" y="142"/>
                        <a:pt x="116" y="87"/>
                      </a:cubicBezTo>
                      <a:cubicBezTo>
                        <a:pt x="107" y="55"/>
                        <a:pt x="89" y="40"/>
                        <a:pt x="63" y="46"/>
                      </a:cubicBezTo>
                      <a:cubicBezTo>
                        <a:pt x="37" y="53"/>
                        <a:pt x="27" y="78"/>
                        <a:pt x="39" y="124"/>
                      </a:cubicBezTo>
                      <a:cubicBezTo>
                        <a:pt x="34" y="125"/>
                        <a:pt x="34" y="125"/>
                        <a:pt x="34" y="125"/>
                      </a:cubicBezTo>
                      <a:lnTo>
                        <a:pt x="0" y="81"/>
                      </a:lnTo>
                      <a:close/>
                      <a:moveTo>
                        <a:pt x="120" y="304"/>
                      </a:moveTo>
                      <a:cubicBezTo>
                        <a:pt x="115" y="282"/>
                        <a:pt x="128" y="260"/>
                        <a:pt x="149" y="254"/>
                      </a:cubicBezTo>
                      <a:cubicBezTo>
                        <a:pt x="171" y="249"/>
                        <a:pt x="192" y="262"/>
                        <a:pt x="198" y="283"/>
                      </a:cubicBezTo>
                      <a:cubicBezTo>
                        <a:pt x="204" y="305"/>
                        <a:pt x="191" y="327"/>
                        <a:pt x="170" y="332"/>
                      </a:cubicBezTo>
                      <a:cubicBezTo>
                        <a:pt x="148" y="338"/>
                        <a:pt x="126" y="325"/>
                        <a:pt x="120" y="304"/>
                      </a:cubicBezTo>
                      <a:close/>
                    </a:path>
                  </a:pathLst>
                </a:custGeom>
                <a:solidFill>
                  <a:srgbClr val="769C8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í$ľïḍê"/>
                <p:cNvSpPr/>
                <p:nvPr/>
              </p:nvSpPr>
              <p:spPr bwMode="auto">
                <a:xfrm>
                  <a:off x="6592014" y="5562555"/>
                  <a:ext cx="1331046" cy="207418"/>
                </a:xfrm>
                <a:custGeom>
                  <a:avLst/>
                  <a:gdLst>
                    <a:gd name="T0" fmla="*/ 398 w 716"/>
                    <a:gd name="T1" fmla="*/ 0 h 112"/>
                    <a:gd name="T2" fmla="*/ 398 w 716"/>
                    <a:gd name="T3" fmla="*/ 36 h 112"/>
                    <a:gd name="T4" fmla="*/ 397 w 716"/>
                    <a:gd name="T5" fmla="*/ 49 h 112"/>
                    <a:gd name="T6" fmla="*/ 397 w 716"/>
                    <a:gd name="T7" fmla="*/ 49 h 112"/>
                    <a:gd name="T8" fmla="*/ 367 w 716"/>
                    <a:gd name="T9" fmla="*/ 49 h 112"/>
                    <a:gd name="T10" fmla="*/ 326 w 716"/>
                    <a:gd name="T11" fmla="*/ 49 h 112"/>
                    <a:gd name="T12" fmla="*/ 298 w 716"/>
                    <a:gd name="T13" fmla="*/ 49 h 112"/>
                    <a:gd name="T14" fmla="*/ 298 w 716"/>
                    <a:gd name="T15" fmla="*/ 0 h 112"/>
                    <a:gd name="T16" fmla="*/ 0 w 716"/>
                    <a:gd name="T17" fmla="*/ 56 h 112"/>
                    <a:gd name="T18" fmla="*/ 358 w 716"/>
                    <a:gd name="T19" fmla="*/ 112 h 112"/>
                    <a:gd name="T20" fmla="*/ 716 w 716"/>
                    <a:gd name="T21" fmla="*/ 56 h 112"/>
                    <a:gd name="T22" fmla="*/ 398 w 716"/>
                    <a:gd name="T23" fmla="*/ 0 h 1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716" h="112">
                      <a:moveTo>
                        <a:pt x="398" y="0"/>
                      </a:moveTo>
                      <a:cubicBezTo>
                        <a:pt x="398" y="36"/>
                        <a:pt x="398" y="36"/>
                        <a:pt x="398" y="36"/>
                      </a:cubicBezTo>
                      <a:cubicBezTo>
                        <a:pt x="398" y="40"/>
                        <a:pt x="397" y="45"/>
                        <a:pt x="397" y="49"/>
                      </a:cubicBezTo>
                      <a:cubicBezTo>
                        <a:pt x="397" y="49"/>
                        <a:pt x="397" y="49"/>
                        <a:pt x="397" y="49"/>
                      </a:cubicBezTo>
                      <a:cubicBezTo>
                        <a:pt x="367" y="49"/>
                        <a:pt x="367" y="49"/>
                        <a:pt x="367" y="49"/>
                      </a:cubicBezTo>
                      <a:cubicBezTo>
                        <a:pt x="326" y="49"/>
                        <a:pt x="326" y="49"/>
                        <a:pt x="326" y="49"/>
                      </a:cubicBezTo>
                      <a:cubicBezTo>
                        <a:pt x="298" y="49"/>
                        <a:pt x="298" y="49"/>
                        <a:pt x="298" y="49"/>
                      </a:cubicBezTo>
                      <a:cubicBezTo>
                        <a:pt x="298" y="0"/>
                        <a:pt x="298" y="0"/>
                        <a:pt x="298" y="0"/>
                      </a:cubicBezTo>
                      <a:cubicBezTo>
                        <a:pt x="129" y="5"/>
                        <a:pt x="0" y="28"/>
                        <a:pt x="0" y="56"/>
                      </a:cubicBezTo>
                      <a:cubicBezTo>
                        <a:pt x="0" y="87"/>
                        <a:pt x="161" y="112"/>
                        <a:pt x="358" y="112"/>
                      </a:cubicBezTo>
                      <a:cubicBezTo>
                        <a:pt x="556" y="112"/>
                        <a:pt x="716" y="87"/>
                        <a:pt x="716" y="56"/>
                      </a:cubicBezTo>
                      <a:cubicBezTo>
                        <a:pt x="716" y="27"/>
                        <a:pt x="577" y="3"/>
                        <a:pt x="398" y="0"/>
                      </a:cubicBezTo>
                    </a:path>
                  </a:pathLst>
                </a:custGeom>
                <a:solidFill>
                  <a:srgbClr val="D6E1D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íṣľîďé"/>
                <p:cNvSpPr/>
                <p:nvPr/>
              </p:nvSpPr>
              <p:spPr bwMode="auto">
                <a:xfrm>
                  <a:off x="7147336" y="1351544"/>
                  <a:ext cx="185828" cy="4301757"/>
                </a:xfrm>
                <a:custGeom>
                  <a:avLst/>
                  <a:gdLst>
                    <a:gd name="T0" fmla="*/ 60 w 100"/>
                    <a:gd name="T1" fmla="*/ 0 h 2317"/>
                    <a:gd name="T2" fmla="*/ 28 w 100"/>
                    <a:gd name="T3" fmla="*/ 0 h 2317"/>
                    <a:gd name="T4" fmla="*/ 0 w 100"/>
                    <a:gd name="T5" fmla="*/ 0 h 2317"/>
                    <a:gd name="T6" fmla="*/ 0 w 100"/>
                    <a:gd name="T7" fmla="*/ 2317 h 2317"/>
                    <a:gd name="T8" fmla="*/ 28 w 100"/>
                    <a:gd name="T9" fmla="*/ 2317 h 2317"/>
                    <a:gd name="T10" fmla="*/ 69 w 100"/>
                    <a:gd name="T11" fmla="*/ 2317 h 2317"/>
                    <a:gd name="T12" fmla="*/ 99 w 100"/>
                    <a:gd name="T13" fmla="*/ 2317 h 2317"/>
                    <a:gd name="T14" fmla="*/ 99 w 100"/>
                    <a:gd name="T15" fmla="*/ 2317 h 2317"/>
                    <a:gd name="T16" fmla="*/ 100 w 100"/>
                    <a:gd name="T17" fmla="*/ 2304 h 2317"/>
                    <a:gd name="T18" fmla="*/ 100 w 100"/>
                    <a:gd name="T19" fmla="*/ 0 h 2317"/>
                    <a:gd name="T20" fmla="*/ 60 w 100"/>
                    <a:gd name="T21" fmla="*/ 0 h 2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00" h="2317">
                      <a:moveTo>
                        <a:pt x="60" y="0"/>
                      </a:moveTo>
                      <a:cubicBezTo>
                        <a:pt x="28" y="0"/>
                        <a:pt x="28" y="0"/>
                        <a:pt x="2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2317"/>
                        <a:pt x="0" y="2317"/>
                        <a:pt x="0" y="2317"/>
                      </a:cubicBezTo>
                      <a:cubicBezTo>
                        <a:pt x="28" y="2317"/>
                        <a:pt x="28" y="2317"/>
                        <a:pt x="28" y="2317"/>
                      </a:cubicBezTo>
                      <a:cubicBezTo>
                        <a:pt x="69" y="2317"/>
                        <a:pt x="69" y="2317"/>
                        <a:pt x="69" y="2317"/>
                      </a:cubicBezTo>
                      <a:cubicBezTo>
                        <a:pt x="99" y="2317"/>
                        <a:pt x="99" y="2317"/>
                        <a:pt x="99" y="2317"/>
                      </a:cubicBezTo>
                      <a:cubicBezTo>
                        <a:pt x="99" y="2317"/>
                        <a:pt x="99" y="2317"/>
                        <a:pt x="99" y="2317"/>
                      </a:cubicBezTo>
                      <a:cubicBezTo>
                        <a:pt x="99" y="2313"/>
                        <a:pt x="100" y="2308"/>
                        <a:pt x="100" y="2304"/>
                      </a:cubicBezTo>
                      <a:cubicBezTo>
                        <a:pt x="100" y="0"/>
                        <a:pt x="100" y="0"/>
                        <a:pt x="100" y="0"/>
                      </a:cubicBezTo>
                      <a:cubicBezTo>
                        <a:pt x="60" y="0"/>
                        <a:pt x="60" y="0"/>
                        <a:pt x="60" y="0"/>
                      </a:cubicBezTo>
                    </a:path>
                  </a:pathLst>
                </a:custGeom>
                <a:solidFill>
                  <a:srgbClr val="70645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îşļîdê"/>
                <p:cNvSpPr/>
                <p:nvPr/>
              </p:nvSpPr>
              <p:spPr bwMode="auto">
                <a:xfrm>
                  <a:off x="6481813" y="1526552"/>
                  <a:ext cx="1702701" cy="777816"/>
                </a:xfrm>
                <a:custGeom>
                  <a:avLst/>
                  <a:gdLst>
                    <a:gd name="T0" fmla="*/ 1514 w 1539"/>
                    <a:gd name="T1" fmla="*/ 234 h 702"/>
                    <a:gd name="T2" fmla="*/ 1539 w 1539"/>
                    <a:gd name="T3" fmla="*/ 198 h 702"/>
                    <a:gd name="T4" fmla="*/ 1116 w 1539"/>
                    <a:gd name="T5" fmla="*/ 0 h 702"/>
                    <a:gd name="T6" fmla="*/ 1106 w 1539"/>
                    <a:gd name="T7" fmla="*/ 13 h 702"/>
                    <a:gd name="T8" fmla="*/ 1133 w 1539"/>
                    <a:gd name="T9" fmla="*/ 147 h 702"/>
                    <a:gd name="T10" fmla="*/ 11 w 1539"/>
                    <a:gd name="T11" fmla="*/ 312 h 702"/>
                    <a:gd name="T12" fmla="*/ 0 w 1539"/>
                    <a:gd name="T13" fmla="*/ 328 h 702"/>
                    <a:gd name="T14" fmla="*/ 72 w 1539"/>
                    <a:gd name="T15" fmla="*/ 702 h 702"/>
                    <a:gd name="T16" fmla="*/ 1188 w 1539"/>
                    <a:gd name="T17" fmla="*/ 434 h 702"/>
                    <a:gd name="T18" fmla="*/ 1213 w 1539"/>
                    <a:gd name="T19" fmla="*/ 570 h 702"/>
                    <a:gd name="T20" fmla="*/ 1514 w 1539"/>
                    <a:gd name="T21" fmla="*/ 234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539" h="702">
                      <a:moveTo>
                        <a:pt x="1514" y="234"/>
                      </a:moveTo>
                      <a:lnTo>
                        <a:pt x="1539" y="198"/>
                      </a:lnTo>
                      <a:lnTo>
                        <a:pt x="1116" y="0"/>
                      </a:lnTo>
                      <a:lnTo>
                        <a:pt x="1106" y="13"/>
                      </a:lnTo>
                      <a:lnTo>
                        <a:pt x="1133" y="147"/>
                      </a:lnTo>
                      <a:lnTo>
                        <a:pt x="11" y="312"/>
                      </a:lnTo>
                      <a:lnTo>
                        <a:pt x="0" y="328"/>
                      </a:lnTo>
                      <a:lnTo>
                        <a:pt x="72" y="702"/>
                      </a:lnTo>
                      <a:lnTo>
                        <a:pt x="1188" y="434"/>
                      </a:lnTo>
                      <a:lnTo>
                        <a:pt x="1213" y="570"/>
                      </a:lnTo>
                      <a:lnTo>
                        <a:pt x="1514" y="234"/>
                      </a:lnTo>
                      <a:close/>
                    </a:path>
                  </a:pathLst>
                </a:custGeom>
                <a:solidFill>
                  <a:srgbClr val="C9C2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iśḻíḋé"/>
                <p:cNvSpPr/>
                <p:nvPr/>
              </p:nvSpPr>
              <p:spPr bwMode="auto">
                <a:xfrm>
                  <a:off x="6481813" y="1526552"/>
                  <a:ext cx="1702701" cy="777816"/>
                </a:xfrm>
                <a:custGeom>
                  <a:avLst/>
                  <a:gdLst>
                    <a:gd name="T0" fmla="*/ 1514 w 1539"/>
                    <a:gd name="T1" fmla="*/ 234 h 702"/>
                    <a:gd name="T2" fmla="*/ 1539 w 1539"/>
                    <a:gd name="T3" fmla="*/ 198 h 702"/>
                    <a:gd name="T4" fmla="*/ 1116 w 1539"/>
                    <a:gd name="T5" fmla="*/ 0 h 702"/>
                    <a:gd name="T6" fmla="*/ 1106 w 1539"/>
                    <a:gd name="T7" fmla="*/ 13 h 702"/>
                    <a:gd name="T8" fmla="*/ 1133 w 1539"/>
                    <a:gd name="T9" fmla="*/ 147 h 702"/>
                    <a:gd name="T10" fmla="*/ 11 w 1539"/>
                    <a:gd name="T11" fmla="*/ 312 h 702"/>
                    <a:gd name="T12" fmla="*/ 0 w 1539"/>
                    <a:gd name="T13" fmla="*/ 328 h 702"/>
                    <a:gd name="T14" fmla="*/ 72 w 1539"/>
                    <a:gd name="T15" fmla="*/ 702 h 702"/>
                    <a:gd name="T16" fmla="*/ 1188 w 1539"/>
                    <a:gd name="T17" fmla="*/ 434 h 702"/>
                    <a:gd name="T18" fmla="*/ 1213 w 1539"/>
                    <a:gd name="T19" fmla="*/ 570 h 702"/>
                    <a:gd name="T20" fmla="*/ 1514 w 1539"/>
                    <a:gd name="T21" fmla="*/ 234 h 7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539" h="702">
                      <a:moveTo>
                        <a:pt x="1514" y="234"/>
                      </a:moveTo>
                      <a:lnTo>
                        <a:pt x="1539" y="198"/>
                      </a:lnTo>
                      <a:lnTo>
                        <a:pt x="1116" y="0"/>
                      </a:lnTo>
                      <a:lnTo>
                        <a:pt x="1106" y="13"/>
                      </a:lnTo>
                      <a:lnTo>
                        <a:pt x="1133" y="147"/>
                      </a:lnTo>
                      <a:lnTo>
                        <a:pt x="11" y="312"/>
                      </a:lnTo>
                      <a:lnTo>
                        <a:pt x="0" y="328"/>
                      </a:lnTo>
                      <a:lnTo>
                        <a:pt x="72" y="702"/>
                      </a:lnTo>
                      <a:lnTo>
                        <a:pt x="1188" y="434"/>
                      </a:lnTo>
                      <a:lnTo>
                        <a:pt x="1213" y="570"/>
                      </a:lnTo>
                      <a:lnTo>
                        <a:pt x="1514" y="234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ïş1ïḍe"/>
                <p:cNvSpPr/>
                <p:nvPr/>
              </p:nvSpPr>
              <p:spPr bwMode="auto">
                <a:xfrm>
                  <a:off x="6492617" y="1526552"/>
                  <a:ext cx="1691897" cy="745408"/>
                </a:xfrm>
                <a:custGeom>
                  <a:avLst/>
                  <a:gdLst>
                    <a:gd name="T0" fmla="*/ 1528 w 1528"/>
                    <a:gd name="T1" fmla="*/ 198 h 674"/>
                    <a:gd name="T2" fmla="*/ 1105 w 1528"/>
                    <a:gd name="T3" fmla="*/ 0 h 674"/>
                    <a:gd name="T4" fmla="*/ 1134 w 1528"/>
                    <a:gd name="T5" fmla="*/ 146 h 674"/>
                    <a:gd name="T6" fmla="*/ 0 w 1528"/>
                    <a:gd name="T7" fmla="*/ 312 h 674"/>
                    <a:gd name="T8" fmla="*/ 71 w 1528"/>
                    <a:gd name="T9" fmla="*/ 674 h 674"/>
                    <a:gd name="T10" fmla="*/ 1184 w 1528"/>
                    <a:gd name="T11" fmla="*/ 407 h 674"/>
                    <a:gd name="T12" fmla="*/ 1209 w 1528"/>
                    <a:gd name="T13" fmla="*/ 540 h 674"/>
                    <a:gd name="T14" fmla="*/ 1528 w 1528"/>
                    <a:gd name="T15" fmla="*/ 198 h 6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28" h="674">
                      <a:moveTo>
                        <a:pt x="1528" y="198"/>
                      </a:moveTo>
                      <a:lnTo>
                        <a:pt x="1105" y="0"/>
                      </a:lnTo>
                      <a:lnTo>
                        <a:pt x="1134" y="146"/>
                      </a:lnTo>
                      <a:lnTo>
                        <a:pt x="0" y="312"/>
                      </a:lnTo>
                      <a:lnTo>
                        <a:pt x="71" y="674"/>
                      </a:lnTo>
                      <a:lnTo>
                        <a:pt x="1184" y="407"/>
                      </a:lnTo>
                      <a:lnTo>
                        <a:pt x="1209" y="540"/>
                      </a:lnTo>
                      <a:lnTo>
                        <a:pt x="1528" y="19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7" name="ïṣḻíďe"/>
                <p:cNvSpPr/>
                <p:nvPr/>
              </p:nvSpPr>
              <p:spPr bwMode="auto">
                <a:xfrm>
                  <a:off x="6492617" y="1526552"/>
                  <a:ext cx="1691897" cy="745408"/>
                </a:xfrm>
                <a:custGeom>
                  <a:avLst/>
                  <a:gdLst>
                    <a:gd name="T0" fmla="*/ 1528 w 1528"/>
                    <a:gd name="T1" fmla="*/ 198 h 674"/>
                    <a:gd name="T2" fmla="*/ 1105 w 1528"/>
                    <a:gd name="T3" fmla="*/ 0 h 674"/>
                    <a:gd name="T4" fmla="*/ 1134 w 1528"/>
                    <a:gd name="T5" fmla="*/ 146 h 674"/>
                    <a:gd name="T6" fmla="*/ 0 w 1528"/>
                    <a:gd name="T7" fmla="*/ 312 h 674"/>
                    <a:gd name="T8" fmla="*/ 71 w 1528"/>
                    <a:gd name="T9" fmla="*/ 674 h 674"/>
                    <a:gd name="T10" fmla="*/ 1184 w 1528"/>
                    <a:gd name="T11" fmla="*/ 407 h 674"/>
                    <a:gd name="T12" fmla="*/ 1209 w 1528"/>
                    <a:gd name="T13" fmla="*/ 540 h 674"/>
                    <a:gd name="T14" fmla="*/ 1528 w 1528"/>
                    <a:gd name="T15" fmla="*/ 198 h 6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28" h="674">
                      <a:moveTo>
                        <a:pt x="1528" y="198"/>
                      </a:moveTo>
                      <a:lnTo>
                        <a:pt x="1105" y="0"/>
                      </a:lnTo>
                      <a:lnTo>
                        <a:pt x="1134" y="146"/>
                      </a:lnTo>
                      <a:lnTo>
                        <a:pt x="0" y="312"/>
                      </a:lnTo>
                      <a:lnTo>
                        <a:pt x="71" y="674"/>
                      </a:lnTo>
                      <a:lnTo>
                        <a:pt x="1184" y="407"/>
                      </a:lnTo>
                      <a:lnTo>
                        <a:pt x="1209" y="540"/>
                      </a:lnTo>
                      <a:lnTo>
                        <a:pt x="1528" y="198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8" name="íṩľîḓê"/>
                <p:cNvSpPr/>
                <p:nvPr/>
              </p:nvSpPr>
              <p:spPr bwMode="auto">
                <a:xfrm>
                  <a:off x="6496939" y="3211821"/>
                  <a:ext cx="1704861" cy="639538"/>
                </a:xfrm>
                <a:custGeom>
                  <a:avLst/>
                  <a:gdLst>
                    <a:gd name="T0" fmla="*/ 1509 w 1539"/>
                    <a:gd name="T1" fmla="*/ 293 h 578"/>
                    <a:gd name="T2" fmla="*/ 1539 w 1539"/>
                    <a:gd name="T3" fmla="*/ 261 h 578"/>
                    <a:gd name="T4" fmla="*/ 1153 w 1539"/>
                    <a:gd name="T5" fmla="*/ 0 h 578"/>
                    <a:gd name="T6" fmla="*/ 1141 w 1539"/>
                    <a:gd name="T7" fmla="*/ 12 h 578"/>
                    <a:gd name="T8" fmla="*/ 1146 w 1539"/>
                    <a:gd name="T9" fmla="*/ 147 h 578"/>
                    <a:gd name="T10" fmla="*/ 13 w 1539"/>
                    <a:gd name="T11" fmla="*/ 136 h 578"/>
                    <a:gd name="T12" fmla="*/ 0 w 1539"/>
                    <a:gd name="T13" fmla="*/ 151 h 578"/>
                    <a:gd name="T14" fmla="*/ 12 w 1539"/>
                    <a:gd name="T15" fmla="*/ 531 h 578"/>
                    <a:gd name="T16" fmla="*/ 1156 w 1539"/>
                    <a:gd name="T17" fmla="*/ 439 h 578"/>
                    <a:gd name="T18" fmla="*/ 1162 w 1539"/>
                    <a:gd name="T19" fmla="*/ 578 h 578"/>
                    <a:gd name="T20" fmla="*/ 1509 w 1539"/>
                    <a:gd name="T21" fmla="*/ 293 h 5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539" h="578">
                      <a:moveTo>
                        <a:pt x="1509" y="293"/>
                      </a:moveTo>
                      <a:lnTo>
                        <a:pt x="1539" y="261"/>
                      </a:lnTo>
                      <a:lnTo>
                        <a:pt x="1153" y="0"/>
                      </a:lnTo>
                      <a:lnTo>
                        <a:pt x="1141" y="12"/>
                      </a:lnTo>
                      <a:lnTo>
                        <a:pt x="1146" y="147"/>
                      </a:lnTo>
                      <a:lnTo>
                        <a:pt x="13" y="136"/>
                      </a:lnTo>
                      <a:lnTo>
                        <a:pt x="0" y="151"/>
                      </a:lnTo>
                      <a:lnTo>
                        <a:pt x="12" y="531"/>
                      </a:lnTo>
                      <a:lnTo>
                        <a:pt x="1156" y="439"/>
                      </a:lnTo>
                      <a:lnTo>
                        <a:pt x="1162" y="578"/>
                      </a:lnTo>
                      <a:lnTo>
                        <a:pt x="1509" y="293"/>
                      </a:lnTo>
                      <a:close/>
                    </a:path>
                  </a:pathLst>
                </a:custGeom>
                <a:solidFill>
                  <a:srgbClr val="C9C2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9" name="îṥlídé"/>
                <p:cNvSpPr/>
                <p:nvPr/>
              </p:nvSpPr>
              <p:spPr bwMode="auto">
                <a:xfrm>
                  <a:off x="6512064" y="3211821"/>
                  <a:ext cx="1689736" cy="607130"/>
                </a:xfrm>
                <a:custGeom>
                  <a:avLst/>
                  <a:gdLst>
                    <a:gd name="T0" fmla="*/ 1526 w 1526"/>
                    <a:gd name="T1" fmla="*/ 261 h 548"/>
                    <a:gd name="T2" fmla="*/ 1140 w 1526"/>
                    <a:gd name="T3" fmla="*/ 0 h 548"/>
                    <a:gd name="T4" fmla="*/ 1145 w 1526"/>
                    <a:gd name="T5" fmla="*/ 147 h 548"/>
                    <a:gd name="T6" fmla="*/ 0 w 1526"/>
                    <a:gd name="T7" fmla="*/ 136 h 548"/>
                    <a:gd name="T8" fmla="*/ 12 w 1526"/>
                    <a:gd name="T9" fmla="*/ 504 h 548"/>
                    <a:gd name="T10" fmla="*/ 1155 w 1526"/>
                    <a:gd name="T11" fmla="*/ 414 h 548"/>
                    <a:gd name="T12" fmla="*/ 1159 w 1526"/>
                    <a:gd name="T13" fmla="*/ 548 h 548"/>
                    <a:gd name="T14" fmla="*/ 1526 w 1526"/>
                    <a:gd name="T15" fmla="*/ 261 h 5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26" h="548">
                      <a:moveTo>
                        <a:pt x="1526" y="261"/>
                      </a:moveTo>
                      <a:lnTo>
                        <a:pt x="1140" y="0"/>
                      </a:lnTo>
                      <a:lnTo>
                        <a:pt x="1145" y="147"/>
                      </a:lnTo>
                      <a:lnTo>
                        <a:pt x="0" y="136"/>
                      </a:lnTo>
                      <a:lnTo>
                        <a:pt x="12" y="504"/>
                      </a:lnTo>
                      <a:lnTo>
                        <a:pt x="1155" y="414"/>
                      </a:lnTo>
                      <a:lnTo>
                        <a:pt x="1159" y="548"/>
                      </a:lnTo>
                      <a:lnTo>
                        <a:pt x="1526" y="26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0" name="iS1iḍê"/>
                <p:cNvSpPr/>
                <p:nvPr/>
              </p:nvSpPr>
              <p:spPr bwMode="auto">
                <a:xfrm>
                  <a:off x="6360809" y="2369186"/>
                  <a:ext cx="1709184" cy="764853"/>
                </a:xfrm>
                <a:custGeom>
                  <a:avLst/>
                  <a:gdLst>
                    <a:gd name="T0" fmla="*/ 0 w 1543"/>
                    <a:gd name="T1" fmla="*/ 191 h 690"/>
                    <a:gd name="T2" fmla="*/ 427 w 1543"/>
                    <a:gd name="T3" fmla="*/ 0 h 690"/>
                    <a:gd name="T4" fmla="*/ 437 w 1543"/>
                    <a:gd name="T5" fmla="*/ 13 h 690"/>
                    <a:gd name="T6" fmla="*/ 408 w 1543"/>
                    <a:gd name="T7" fmla="*/ 147 h 690"/>
                    <a:gd name="T8" fmla="*/ 1543 w 1543"/>
                    <a:gd name="T9" fmla="*/ 327 h 690"/>
                    <a:gd name="T10" fmla="*/ 1468 w 1543"/>
                    <a:gd name="T11" fmla="*/ 690 h 690"/>
                    <a:gd name="T12" fmla="*/ 358 w 1543"/>
                    <a:gd name="T13" fmla="*/ 405 h 690"/>
                    <a:gd name="T14" fmla="*/ 324 w 1543"/>
                    <a:gd name="T15" fmla="*/ 561 h 690"/>
                    <a:gd name="T16" fmla="*/ 0 w 1543"/>
                    <a:gd name="T17" fmla="*/ 191 h 6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43" h="690">
                      <a:moveTo>
                        <a:pt x="0" y="191"/>
                      </a:moveTo>
                      <a:lnTo>
                        <a:pt x="427" y="0"/>
                      </a:lnTo>
                      <a:lnTo>
                        <a:pt x="437" y="13"/>
                      </a:lnTo>
                      <a:lnTo>
                        <a:pt x="408" y="147"/>
                      </a:lnTo>
                      <a:lnTo>
                        <a:pt x="1543" y="327"/>
                      </a:lnTo>
                      <a:lnTo>
                        <a:pt x="1468" y="690"/>
                      </a:lnTo>
                      <a:lnTo>
                        <a:pt x="358" y="405"/>
                      </a:lnTo>
                      <a:lnTo>
                        <a:pt x="324" y="561"/>
                      </a:lnTo>
                      <a:lnTo>
                        <a:pt x="0" y="191"/>
                      </a:lnTo>
                      <a:close/>
                    </a:path>
                  </a:pathLst>
                </a:custGeom>
                <a:solidFill>
                  <a:srgbClr val="C9C2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1" name="ïšḻïďè"/>
                <p:cNvSpPr/>
                <p:nvPr/>
              </p:nvSpPr>
              <p:spPr bwMode="auto">
                <a:xfrm>
                  <a:off x="6382417" y="2358384"/>
                  <a:ext cx="1691898" cy="751889"/>
                </a:xfrm>
                <a:custGeom>
                  <a:avLst/>
                  <a:gdLst>
                    <a:gd name="T0" fmla="*/ 0 w 1527"/>
                    <a:gd name="T1" fmla="*/ 192 h 678"/>
                    <a:gd name="T2" fmla="*/ 312 w 1527"/>
                    <a:gd name="T3" fmla="*/ 539 h 678"/>
                    <a:gd name="T4" fmla="*/ 342 w 1527"/>
                    <a:gd name="T5" fmla="*/ 393 h 678"/>
                    <a:gd name="T6" fmla="*/ 1452 w 1527"/>
                    <a:gd name="T7" fmla="*/ 678 h 678"/>
                    <a:gd name="T8" fmla="*/ 1527 w 1527"/>
                    <a:gd name="T9" fmla="*/ 317 h 678"/>
                    <a:gd name="T10" fmla="*/ 398 w 1527"/>
                    <a:gd name="T11" fmla="*/ 133 h 678"/>
                    <a:gd name="T12" fmla="*/ 426 w 1527"/>
                    <a:gd name="T13" fmla="*/ 0 h 678"/>
                    <a:gd name="T14" fmla="*/ 0 w 1527"/>
                    <a:gd name="T15" fmla="*/ 192 h 6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27" h="678">
                      <a:moveTo>
                        <a:pt x="0" y="192"/>
                      </a:moveTo>
                      <a:lnTo>
                        <a:pt x="312" y="539"/>
                      </a:lnTo>
                      <a:lnTo>
                        <a:pt x="342" y="393"/>
                      </a:lnTo>
                      <a:lnTo>
                        <a:pt x="1452" y="678"/>
                      </a:lnTo>
                      <a:lnTo>
                        <a:pt x="1527" y="317"/>
                      </a:lnTo>
                      <a:lnTo>
                        <a:pt x="398" y="133"/>
                      </a:lnTo>
                      <a:lnTo>
                        <a:pt x="426" y="0"/>
                      </a:lnTo>
                      <a:lnTo>
                        <a:pt x="0" y="19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2" name="ïṣliďè"/>
                <p:cNvSpPr/>
                <p:nvPr/>
              </p:nvSpPr>
              <p:spPr bwMode="auto">
                <a:xfrm>
                  <a:off x="6339201" y="4004762"/>
                  <a:ext cx="1687576" cy="877204"/>
                </a:xfrm>
                <a:custGeom>
                  <a:avLst/>
                  <a:gdLst>
                    <a:gd name="T0" fmla="*/ 0 w 1524"/>
                    <a:gd name="T1" fmla="*/ 623 h 793"/>
                    <a:gd name="T2" fmla="*/ 280 w 1524"/>
                    <a:gd name="T3" fmla="*/ 251 h 793"/>
                    <a:gd name="T4" fmla="*/ 296 w 1524"/>
                    <a:gd name="T5" fmla="*/ 258 h 793"/>
                    <a:gd name="T6" fmla="*/ 334 w 1524"/>
                    <a:gd name="T7" fmla="*/ 387 h 793"/>
                    <a:gd name="T8" fmla="*/ 1417 w 1524"/>
                    <a:gd name="T9" fmla="*/ 0 h 793"/>
                    <a:gd name="T10" fmla="*/ 1524 w 1524"/>
                    <a:gd name="T11" fmla="*/ 355 h 793"/>
                    <a:gd name="T12" fmla="*/ 416 w 1524"/>
                    <a:gd name="T13" fmla="*/ 638 h 793"/>
                    <a:gd name="T14" fmla="*/ 462 w 1524"/>
                    <a:gd name="T15" fmla="*/ 793 h 793"/>
                    <a:gd name="T16" fmla="*/ 0 w 1524"/>
                    <a:gd name="T17" fmla="*/ 623 h 7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524" h="793">
                      <a:moveTo>
                        <a:pt x="0" y="623"/>
                      </a:moveTo>
                      <a:lnTo>
                        <a:pt x="280" y="251"/>
                      </a:lnTo>
                      <a:lnTo>
                        <a:pt x="296" y="258"/>
                      </a:lnTo>
                      <a:lnTo>
                        <a:pt x="334" y="387"/>
                      </a:lnTo>
                      <a:lnTo>
                        <a:pt x="1417" y="0"/>
                      </a:lnTo>
                      <a:lnTo>
                        <a:pt x="1524" y="355"/>
                      </a:lnTo>
                      <a:lnTo>
                        <a:pt x="416" y="638"/>
                      </a:lnTo>
                      <a:lnTo>
                        <a:pt x="462" y="793"/>
                      </a:lnTo>
                      <a:lnTo>
                        <a:pt x="0" y="623"/>
                      </a:lnTo>
                      <a:close/>
                    </a:path>
                  </a:pathLst>
                </a:custGeom>
                <a:solidFill>
                  <a:srgbClr val="C9C2B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3" name="ï$1íḍé"/>
                <p:cNvSpPr/>
                <p:nvPr/>
              </p:nvSpPr>
              <p:spPr bwMode="auto">
                <a:xfrm>
                  <a:off x="6352166" y="3985316"/>
                  <a:ext cx="1668129" cy="859919"/>
                </a:xfrm>
                <a:custGeom>
                  <a:avLst/>
                  <a:gdLst>
                    <a:gd name="T0" fmla="*/ 0 w 1507"/>
                    <a:gd name="T1" fmla="*/ 623 h 776"/>
                    <a:gd name="T2" fmla="*/ 440 w 1507"/>
                    <a:gd name="T3" fmla="*/ 776 h 776"/>
                    <a:gd name="T4" fmla="*/ 398 w 1507"/>
                    <a:gd name="T5" fmla="*/ 635 h 776"/>
                    <a:gd name="T6" fmla="*/ 1507 w 1507"/>
                    <a:gd name="T7" fmla="*/ 352 h 776"/>
                    <a:gd name="T8" fmla="*/ 1400 w 1507"/>
                    <a:gd name="T9" fmla="*/ 0 h 776"/>
                    <a:gd name="T10" fmla="*/ 320 w 1507"/>
                    <a:gd name="T11" fmla="*/ 380 h 776"/>
                    <a:gd name="T12" fmla="*/ 280 w 1507"/>
                    <a:gd name="T13" fmla="*/ 251 h 776"/>
                    <a:gd name="T14" fmla="*/ 0 w 1507"/>
                    <a:gd name="T15" fmla="*/ 623 h 77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507" h="776">
                      <a:moveTo>
                        <a:pt x="0" y="623"/>
                      </a:moveTo>
                      <a:lnTo>
                        <a:pt x="440" y="776"/>
                      </a:lnTo>
                      <a:lnTo>
                        <a:pt x="398" y="635"/>
                      </a:lnTo>
                      <a:lnTo>
                        <a:pt x="1507" y="352"/>
                      </a:lnTo>
                      <a:lnTo>
                        <a:pt x="1400" y="0"/>
                      </a:lnTo>
                      <a:lnTo>
                        <a:pt x="320" y="380"/>
                      </a:lnTo>
                      <a:lnTo>
                        <a:pt x="280" y="251"/>
                      </a:lnTo>
                      <a:lnTo>
                        <a:pt x="0" y="62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4" name="íṥļïḓê"/>
                <p:cNvSpPr/>
                <p:nvPr/>
              </p:nvSpPr>
              <p:spPr bwMode="auto">
                <a:xfrm>
                  <a:off x="7147336" y="2163930"/>
                  <a:ext cx="0" cy="45372"/>
                </a:xfrm>
                <a:custGeom>
                  <a:avLst/>
                  <a:gdLst>
                    <a:gd name="T0" fmla="*/ 0 h 42"/>
                    <a:gd name="T1" fmla="*/ 0 h 42"/>
                    <a:gd name="T2" fmla="*/ 42 h 42"/>
                    <a:gd name="T3" fmla="*/ 40 h 42"/>
                    <a:gd name="T4" fmla="*/ 0 h 4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4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42"/>
                      </a:lnTo>
                      <a:lnTo>
                        <a:pt x="0" y="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B2B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5" name="íṩḻîḑè"/>
                <p:cNvSpPr/>
                <p:nvPr/>
              </p:nvSpPr>
              <p:spPr bwMode="auto">
                <a:xfrm>
                  <a:off x="7147336" y="2163930"/>
                  <a:ext cx="0" cy="45372"/>
                </a:xfrm>
                <a:custGeom>
                  <a:avLst/>
                  <a:gdLst>
                    <a:gd name="T0" fmla="*/ 0 h 42"/>
                    <a:gd name="T1" fmla="*/ 0 h 42"/>
                    <a:gd name="T2" fmla="*/ 42 h 42"/>
                    <a:gd name="T3" fmla="*/ 40 h 42"/>
                    <a:gd name="T4" fmla="*/ 0 h 42"/>
                  </a:gdLst>
                  <a:ahLst/>
                  <a:cxnLst>
                    <a:cxn ang="0">
                      <a:pos x="0" y="T0"/>
                    </a:cxn>
                    <a:cxn ang="0">
                      <a:pos x="0" y="T1"/>
                    </a:cxn>
                    <a:cxn ang="0">
                      <a:pos x="0" y="T2"/>
                    </a:cxn>
                    <a:cxn ang="0">
                      <a:pos x="0" y="T3"/>
                    </a:cxn>
                    <a:cxn ang="0">
                      <a:pos x="0" y="T4"/>
                    </a:cxn>
                  </a:cxnLst>
                  <a:rect l="0" t="0" r="r" b="b"/>
                  <a:pathLst>
                    <a:path h="42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0" y="42"/>
                      </a:lnTo>
                      <a:lnTo>
                        <a:pt x="0" y="4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6" name="iṣ1iḍe"/>
                <p:cNvSpPr/>
                <p:nvPr/>
              </p:nvSpPr>
              <p:spPr bwMode="auto">
                <a:xfrm>
                  <a:off x="7147336" y="2118557"/>
                  <a:ext cx="183668" cy="88585"/>
                </a:xfrm>
                <a:custGeom>
                  <a:avLst/>
                  <a:gdLst>
                    <a:gd name="T0" fmla="*/ 166 w 166"/>
                    <a:gd name="T1" fmla="*/ 0 h 81"/>
                    <a:gd name="T2" fmla="*/ 151 w 166"/>
                    <a:gd name="T3" fmla="*/ 4 h 81"/>
                    <a:gd name="T4" fmla="*/ 0 w 166"/>
                    <a:gd name="T5" fmla="*/ 41 h 81"/>
                    <a:gd name="T6" fmla="*/ 0 w 166"/>
                    <a:gd name="T7" fmla="*/ 81 h 81"/>
                    <a:gd name="T8" fmla="*/ 45 w 166"/>
                    <a:gd name="T9" fmla="*/ 42 h 81"/>
                    <a:gd name="T10" fmla="*/ 166 w 166"/>
                    <a:gd name="T11" fmla="*/ 0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6" h="81">
                      <a:moveTo>
                        <a:pt x="166" y="0"/>
                      </a:moveTo>
                      <a:lnTo>
                        <a:pt x="151" y="4"/>
                      </a:lnTo>
                      <a:lnTo>
                        <a:pt x="0" y="41"/>
                      </a:lnTo>
                      <a:lnTo>
                        <a:pt x="0" y="81"/>
                      </a:lnTo>
                      <a:lnTo>
                        <a:pt x="45" y="42"/>
                      </a:lnTo>
                      <a:lnTo>
                        <a:pt x="166" y="0"/>
                      </a:lnTo>
                      <a:close/>
                    </a:path>
                  </a:pathLst>
                </a:custGeom>
                <a:solidFill>
                  <a:srgbClr val="3B2B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7" name="íṡľiḓe"/>
                <p:cNvSpPr/>
                <p:nvPr/>
              </p:nvSpPr>
              <p:spPr bwMode="auto">
                <a:xfrm>
                  <a:off x="7147336" y="2118557"/>
                  <a:ext cx="183668" cy="88585"/>
                </a:xfrm>
                <a:custGeom>
                  <a:avLst/>
                  <a:gdLst>
                    <a:gd name="T0" fmla="*/ 166 w 166"/>
                    <a:gd name="T1" fmla="*/ 0 h 81"/>
                    <a:gd name="T2" fmla="*/ 151 w 166"/>
                    <a:gd name="T3" fmla="*/ 4 h 81"/>
                    <a:gd name="T4" fmla="*/ 0 w 166"/>
                    <a:gd name="T5" fmla="*/ 41 h 81"/>
                    <a:gd name="T6" fmla="*/ 0 w 166"/>
                    <a:gd name="T7" fmla="*/ 81 h 81"/>
                    <a:gd name="T8" fmla="*/ 45 w 166"/>
                    <a:gd name="T9" fmla="*/ 42 h 81"/>
                    <a:gd name="T10" fmla="*/ 166 w 166"/>
                    <a:gd name="T11" fmla="*/ 0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6" h="81">
                      <a:moveTo>
                        <a:pt x="166" y="0"/>
                      </a:moveTo>
                      <a:lnTo>
                        <a:pt x="151" y="4"/>
                      </a:lnTo>
                      <a:lnTo>
                        <a:pt x="0" y="41"/>
                      </a:lnTo>
                      <a:lnTo>
                        <a:pt x="0" y="81"/>
                      </a:lnTo>
                      <a:lnTo>
                        <a:pt x="45" y="42"/>
                      </a:lnTo>
                      <a:lnTo>
                        <a:pt x="166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8" name="îṥļiḑê"/>
                <p:cNvSpPr/>
                <p:nvPr/>
              </p:nvSpPr>
              <p:spPr bwMode="auto">
                <a:xfrm>
                  <a:off x="7147336" y="2122878"/>
                  <a:ext cx="166381" cy="41052"/>
                </a:xfrm>
                <a:custGeom>
                  <a:avLst/>
                  <a:gdLst>
                    <a:gd name="T0" fmla="*/ 151 w 151"/>
                    <a:gd name="T1" fmla="*/ 0 h 37"/>
                    <a:gd name="T2" fmla="*/ 47 w 151"/>
                    <a:gd name="T3" fmla="*/ 25 h 37"/>
                    <a:gd name="T4" fmla="*/ 0 w 151"/>
                    <a:gd name="T5" fmla="*/ 37 h 37"/>
                    <a:gd name="T6" fmla="*/ 0 w 151"/>
                    <a:gd name="T7" fmla="*/ 37 h 37"/>
                    <a:gd name="T8" fmla="*/ 0 w 151"/>
                    <a:gd name="T9" fmla="*/ 37 h 37"/>
                    <a:gd name="T10" fmla="*/ 151 w 151"/>
                    <a:gd name="T11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37">
                      <a:moveTo>
                        <a:pt x="151" y="0"/>
                      </a:moveTo>
                      <a:lnTo>
                        <a:pt x="47" y="25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rgbClr val="3B2B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9" name="îṧḷíḓê"/>
                <p:cNvSpPr/>
                <p:nvPr/>
              </p:nvSpPr>
              <p:spPr bwMode="auto">
                <a:xfrm>
                  <a:off x="7147336" y="2122878"/>
                  <a:ext cx="166381" cy="41052"/>
                </a:xfrm>
                <a:custGeom>
                  <a:avLst/>
                  <a:gdLst>
                    <a:gd name="T0" fmla="*/ 151 w 151"/>
                    <a:gd name="T1" fmla="*/ 0 h 37"/>
                    <a:gd name="T2" fmla="*/ 47 w 151"/>
                    <a:gd name="T3" fmla="*/ 25 h 37"/>
                    <a:gd name="T4" fmla="*/ 0 w 151"/>
                    <a:gd name="T5" fmla="*/ 37 h 37"/>
                    <a:gd name="T6" fmla="*/ 0 w 151"/>
                    <a:gd name="T7" fmla="*/ 37 h 37"/>
                    <a:gd name="T8" fmla="*/ 0 w 151"/>
                    <a:gd name="T9" fmla="*/ 37 h 37"/>
                    <a:gd name="T10" fmla="*/ 151 w 151"/>
                    <a:gd name="T11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37">
                      <a:moveTo>
                        <a:pt x="151" y="0"/>
                      </a:moveTo>
                      <a:lnTo>
                        <a:pt x="47" y="25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0" y="37"/>
                      </a:lnTo>
                      <a:lnTo>
                        <a:pt x="151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50" name="išliḑè"/>
                <p:cNvSpPr/>
                <p:nvPr/>
              </p:nvSpPr>
              <p:spPr bwMode="auto">
                <a:xfrm>
                  <a:off x="7147336" y="2917979"/>
                  <a:ext cx="183668" cy="62658"/>
                </a:xfrm>
                <a:custGeom>
                  <a:avLst/>
                  <a:gdLst>
                    <a:gd name="T0" fmla="*/ 0 w 166"/>
                    <a:gd name="T1" fmla="*/ 57 h 57"/>
                    <a:gd name="T2" fmla="*/ 47 w 166"/>
                    <a:gd name="T3" fmla="*/ 23 h 57"/>
                    <a:gd name="T4" fmla="*/ 166 w 166"/>
                    <a:gd name="T5" fmla="*/ 42 h 57"/>
                    <a:gd name="T6" fmla="*/ 47 w 166"/>
                    <a:gd name="T7" fmla="*/ 12 h 57"/>
                    <a:gd name="T8" fmla="*/ 0 w 166"/>
                    <a:gd name="T9" fmla="*/ 0 h 57"/>
                    <a:gd name="T10" fmla="*/ 0 w 166"/>
                    <a:gd name="T11" fmla="*/ 57 h 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6" h="57">
                      <a:moveTo>
                        <a:pt x="0" y="57"/>
                      </a:moveTo>
                      <a:lnTo>
                        <a:pt x="47" y="23"/>
                      </a:lnTo>
                      <a:lnTo>
                        <a:pt x="166" y="42"/>
                      </a:lnTo>
                      <a:lnTo>
                        <a:pt x="47" y="12"/>
                      </a:lnTo>
                      <a:lnTo>
                        <a:pt x="0" y="0"/>
                      </a:lnTo>
                      <a:lnTo>
                        <a:pt x="0" y="57"/>
                      </a:lnTo>
                      <a:close/>
                    </a:path>
                  </a:pathLst>
                </a:custGeom>
                <a:solidFill>
                  <a:srgbClr val="3B2B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51" name="î$1idè"/>
                <p:cNvSpPr/>
                <p:nvPr/>
              </p:nvSpPr>
              <p:spPr bwMode="auto">
                <a:xfrm>
                  <a:off x="7147336" y="3732526"/>
                  <a:ext cx="183668" cy="79942"/>
                </a:xfrm>
                <a:custGeom>
                  <a:avLst/>
                  <a:gdLst>
                    <a:gd name="T0" fmla="*/ 0 w 166"/>
                    <a:gd name="T1" fmla="*/ 72 h 72"/>
                    <a:gd name="T2" fmla="*/ 47 w 166"/>
                    <a:gd name="T3" fmla="*/ 30 h 72"/>
                    <a:gd name="T4" fmla="*/ 166 w 166"/>
                    <a:gd name="T5" fmla="*/ 0 h 72"/>
                    <a:gd name="T6" fmla="*/ 47 w 166"/>
                    <a:gd name="T7" fmla="*/ 10 h 72"/>
                    <a:gd name="T8" fmla="*/ 0 w 166"/>
                    <a:gd name="T9" fmla="*/ 13 h 72"/>
                    <a:gd name="T10" fmla="*/ 0 w 166"/>
                    <a:gd name="T11" fmla="*/ 72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6" h="72">
                      <a:moveTo>
                        <a:pt x="0" y="72"/>
                      </a:moveTo>
                      <a:lnTo>
                        <a:pt x="47" y="30"/>
                      </a:lnTo>
                      <a:lnTo>
                        <a:pt x="166" y="0"/>
                      </a:lnTo>
                      <a:lnTo>
                        <a:pt x="47" y="10"/>
                      </a:lnTo>
                      <a:lnTo>
                        <a:pt x="0" y="13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3B2B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52" name="iŝḻïdê"/>
                <p:cNvSpPr/>
                <p:nvPr/>
              </p:nvSpPr>
              <p:spPr bwMode="auto">
                <a:xfrm>
                  <a:off x="7147336" y="4575161"/>
                  <a:ext cx="183668" cy="105869"/>
                </a:xfrm>
                <a:custGeom>
                  <a:avLst/>
                  <a:gdLst>
                    <a:gd name="T0" fmla="*/ 0 w 166"/>
                    <a:gd name="T1" fmla="*/ 94 h 94"/>
                    <a:gd name="T2" fmla="*/ 47 w 166"/>
                    <a:gd name="T3" fmla="*/ 45 h 94"/>
                    <a:gd name="T4" fmla="*/ 166 w 166"/>
                    <a:gd name="T5" fmla="*/ 0 h 94"/>
                    <a:gd name="T6" fmla="*/ 47 w 166"/>
                    <a:gd name="T7" fmla="*/ 30 h 94"/>
                    <a:gd name="T8" fmla="*/ 0 w 166"/>
                    <a:gd name="T9" fmla="*/ 44 h 94"/>
                    <a:gd name="T10" fmla="*/ 0 w 166"/>
                    <a:gd name="T11" fmla="*/ 94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6" h="94">
                      <a:moveTo>
                        <a:pt x="0" y="94"/>
                      </a:moveTo>
                      <a:lnTo>
                        <a:pt x="47" y="45"/>
                      </a:lnTo>
                      <a:lnTo>
                        <a:pt x="166" y="0"/>
                      </a:lnTo>
                      <a:lnTo>
                        <a:pt x="47" y="30"/>
                      </a:lnTo>
                      <a:lnTo>
                        <a:pt x="0" y="44"/>
                      </a:lnTo>
                      <a:lnTo>
                        <a:pt x="0" y="94"/>
                      </a:lnTo>
                      <a:close/>
                    </a:path>
                  </a:pathLst>
                </a:custGeom>
                <a:solidFill>
                  <a:srgbClr val="3B2B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0" name="fdecaf74-d21e-4e66-9128-daed849cb08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    <p:cNvGrpSpPr>
                <a:grpSpLocks noChangeAspect="1"/>
              </p:cNvGrpSpPr>
              <p:nvPr>
                <p:custDataLst>
                  <p:tags r:id="rId1"/>
                </p:custDataLst>
              </p:nvPr>
            </p:nvGrpSpPr>
            <p:grpSpPr bwMode="auto">
              <a:xfrm>
                <a:off x="8623379" y="1527143"/>
                <a:ext cx="3277702" cy="3007068"/>
                <a:chOff x="3413919" y="1212750"/>
                <a:chExt cx="5364162" cy="4921251"/>
              </a:xfrm>
            </p:grpSpPr>
            <p:sp>
              <p:nvSpPr>
                <p:cNvPr id="11" name="ïṧḷíḋè"/>
                <p:cNvSpPr/>
                <p:nvPr/>
              </p:nvSpPr>
              <p:spPr bwMode="auto">
                <a:xfrm>
                  <a:off x="3635947" y="1212750"/>
                  <a:ext cx="4919112" cy="4920787"/>
                </a:xfrm>
                <a:prstGeom prst="rect">
                  <a:avLst/>
                </a:prstGeom>
                <a:solidFill>
                  <a:srgbClr val="F47DA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îŝḻíḍê"/>
                <p:cNvSpPr/>
                <p:nvPr/>
              </p:nvSpPr>
              <p:spPr bwMode="auto">
                <a:xfrm>
                  <a:off x="3635947" y="1212750"/>
                  <a:ext cx="4919112" cy="49207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ïṣ1íḑe"/>
                <p:cNvSpPr/>
                <p:nvPr/>
              </p:nvSpPr>
              <p:spPr bwMode="auto">
                <a:xfrm>
                  <a:off x="3751667" y="1353705"/>
                  <a:ext cx="4689777" cy="793132"/>
                </a:xfrm>
                <a:custGeom>
                  <a:avLst/>
                  <a:gdLst>
                    <a:gd name="T0" fmla="*/ 1298 w 1298"/>
                    <a:gd name="T1" fmla="*/ 171 h 219"/>
                    <a:gd name="T2" fmla="*/ 1298 w 1298"/>
                    <a:gd name="T3" fmla="*/ 42 h 219"/>
                    <a:gd name="T4" fmla="*/ 1255 w 1298"/>
                    <a:gd name="T5" fmla="*/ 0 h 219"/>
                    <a:gd name="T6" fmla="*/ 43 w 1298"/>
                    <a:gd name="T7" fmla="*/ 0 h 219"/>
                    <a:gd name="T8" fmla="*/ 0 w 1298"/>
                    <a:gd name="T9" fmla="*/ 42 h 219"/>
                    <a:gd name="T10" fmla="*/ 0 w 1298"/>
                    <a:gd name="T11" fmla="*/ 171 h 219"/>
                    <a:gd name="T12" fmla="*/ 43 w 1298"/>
                    <a:gd name="T13" fmla="*/ 214 h 219"/>
                    <a:gd name="T14" fmla="*/ 43 w 1298"/>
                    <a:gd name="T15" fmla="*/ 219 h 219"/>
                    <a:gd name="T16" fmla="*/ 1255 w 1298"/>
                    <a:gd name="T17" fmla="*/ 219 h 219"/>
                    <a:gd name="T18" fmla="*/ 1255 w 1298"/>
                    <a:gd name="T19" fmla="*/ 214 h 219"/>
                    <a:gd name="T20" fmla="*/ 1298 w 1298"/>
                    <a:gd name="T21" fmla="*/ 171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298" h="219">
                      <a:moveTo>
                        <a:pt x="1298" y="171"/>
                      </a:moveTo>
                      <a:cubicBezTo>
                        <a:pt x="1298" y="42"/>
                        <a:pt x="1298" y="42"/>
                        <a:pt x="1298" y="42"/>
                      </a:cubicBezTo>
                      <a:cubicBezTo>
                        <a:pt x="1275" y="42"/>
                        <a:pt x="1256" y="24"/>
                        <a:pt x="1255" y="0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42" y="24"/>
                        <a:pt x="23" y="42"/>
                        <a:pt x="0" y="42"/>
                      </a:cubicBezTo>
                      <a:cubicBezTo>
                        <a:pt x="0" y="171"/>
                        <a:pt x="0" y="171"/>
                        <a:pt x="0" y="171"/>
                      </a:cubicBezTo>
                      <a:cubicBezTo>
                        <a:pt x="24" y="171"/>
                        <a:pt x="43" y="191"/>
                        <a:pt x="43" y="214"/>
                      </a:cubicBezTo>
                      <a:cubicBezTo>
                        <a:pt x="43" y="216"/>
                        <a:pt x="43" y="218"/>
                        <a:pt x="43" y="219"/>
                      </a:cubicBezTo>
                      <a:cubicBezTo>
                        <a:pt x="1255" y="219"/>
                        <a:pt x="1255" y="219"/>
                        <a:pt x="1255" y="219"/>
                      </a:cubicBezTo>
                      <a:cubicBezTo>
                        <a:pt x="1255" y="218"/>
                        <a:pt x="1255" y="216"/>
                        <a:pt x="1255" y="214"/>
                      </a:cubicBezTo>
                      <a:cubicBezTo>
                        <a:pt x="1255" y="191"/>
                        <a:pt x="1274" y="171"/>
                        <a:pt x="1298" y="171"/>
                      </a:cubicBezTo>
                      <a:close/>
                    </a:path>
                  </a:pathLst>
                </a:custGeom>
                <a:solidFill>
                  <a:srgbClr val="EF41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ïŝľiḓê"/>
                <p:cNvSpPr/>
                <p:nvPr/>
              </p:nvSpPr>
              <p:spPr bwMode="auto">
                <a:xfrm>
                  <a:off x="4635340" y="1347393"/>
                  <a:ext cx="210398" cy="7531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normAutofit fontScale="92500" lnSpcReduction="20000"/>
                </a:bodyPr>
                <a:lstStyle/>
                <a:p>
                  <a:pPr>
                    <a:defRPr/>
                  </a:pPr>
                  <a:r>
                    <a:rPr lang="en-US" altLang="zh-CN" sz="3675">
                      <a:solidFill>
                        <a:srgbClr val="FFFFFF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-</a:t>
                  </a:r>
                  <a:endParaRPr lang="zh-CN" altLang="zh-CN" sz="3675" dirty="0">
                    <a:solidFill>
                      <a:srgbClr val="FFFFFF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išļîḍé"/>
                <p:cNvSpPr/>
                <p:nvPr/>
              </p:nvSpPr>
              <p:spPr bwMode="auto">
                <a:xfrm>
                  <a:off x="4957248" y="1347393"/>
                  <a:ext cx="418693" cy="7531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normAutofit fontScale="92500" lnSpcReduction="20000"/>
                </a:bodyPr>
                <a:lstStyle/>
                <a:p>
                  <a:pPr>
                    <a:defRPr/>
                  </a:pPr>
                  <a:r>
                    <a:rPr lang="en-US" altLang="zh-CN" sz="3675" dirty="0">
                      <a:solidFill>
                        <a:srgbClr val="FFFFFF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B</a:t>
                  </a:r>
                  <a:endParaRPr lang="zh-CN" altLang="zh-CN" sz="3675" dirty="0">
                    <a:solidFill>
                      <a:srgbClr val="FFFFFF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îsḷîḍe"/>
                <p:cNvSpPr/>
                <p:nvPr/>
              </p:nvSpPr>
              <p:spPr bwMode="auto">
                <a:xfrm>
                  <a:off x="5298094" y="1347393"/>
                  <a:ext cx="2444828" cy="75316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normAutofit fontScale="92500" lnSpcReduction="20000"/>
                </a:bodyPr>
                <a:lstStyle/>
                <a:p>
                  <a:pPr>
                    <a:defRPr/>
                  </a:pPr>
                  <a:r>
                    <a:rPr lang="en-US" altLang="zh-CN" sz="3675" dirty="0" err="1">
                      <a:solidFill>
                        <a:srgbClr val="FFFFFF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outique</a:t>
                  </a:r>
                  <a:r>
                    <a:rPr lang="en-US" altLang="zh-CN" sz="3675" dirty="0">
                      <a:solidFill>
                        <a:srgbClr val="FFFFFF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 -</a:t>
                  </a:r>
                  <a:endParaRPr lang="zh-CN" altLang="zh-CN" sz="3675" dirty="0">
                    <a:solidFill>
                      <a:srgbClr val="FFFFFF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ïṩlíḑè"/>
                <p:cNvSpPr/>
                <p:nvPr/>
              </p:nvSpPr>
              <p:spPr bwMode="auto">
                <a:xfrm>
                  <a:off x="6791921" y="2838988"/>
                  <a:ext cx="1529596" cy="3294550"/>
                </a:xfrm>
                <a:prstGeom prst="rect">
                  <a:avLst/>
                </a:prstGeom>
                <a:solidFill>
                  <a:srgbClr val="EA1F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íṥlîďe"/>
                <p:cNvSpPr/>
                <p:nvPr/>
              </p:nvSpPr>
              <p:spPr bwMode="auto">
                <a:xfrm>
                  <a:off x="6913952" y="2925243"/>
                  <a:ext cx="1291845" cy="2202679"/>
                </a:xfrm>
                <a:prstGeom prst="rect">
                  <a:avLst/>
                </a:prstGeom>
                <a:solidFill>
                  <a:srgbClr val="F47DA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iṧliḍé"/>
                <p:cNvSpPr/>
                <p:nvPr/>
              </p:nvSpPr>
              <p:spPr bwMode="auto">
                <a:xfrm>
                  <a:off x="6985488" y="3019914"/>
                  <a:ext cx="1146671" cy="2017543"/>
                </a:xfrm>
                <a:prstGeom prst="rect">
                  <a:avLst/>
                </a:prstGeom>
                <a:solidFill>
                  <a:srgbClr val="EF41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îṣ1ïḍè"/>
                <p:cNvSpPr/>
                <p:nvPr/>
              </p:nvSpPr>
              <p:spPr bwMode="auto">
                <a:xfrm>
                  <a:off x="7057023" y="3116689"/>
                  <a:ext cx="1005704" cy="1823993"/>
                </a:xfrm>
                <a:prstGeom prst="rect">
                  <a:avLst/>
                </a:prstGeom>
                <a:solidFill>
                  <a:srgbClr val="2D41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îşľíḓe"/>
                <p:cNvSpPr/>
                <p:nvPr/>
              </p:nvSpPr>
              <p:spPr bwMode="auto">
                <a:xfrm>
                  <a:off x="6909744" y="5203658"/>
                  <a:ext cx="1289742" cy="843623"/>
                </a:xfrm>
                <a:prstGeom prst="rect">
                  <a:avLst/>
                </a:prstGeom>
                <a:solidFill>
                  <a:srgbClr val="F47DA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iś1ïḑe"/>
                <p:cNvSpPr/>
                <p:nvPr/>
              </p:nvSpPr>
              <p:spPr bwMode="auto">
                <a:xfrm>
                  <a:off x="6981280" y="5277290"/>
                  <a:ext cx="1146671" cy="698461"/>
                </a:xfrm>
                <a:prstGeom prst="rect">
                  <a:avLst/>
                </a:prstGeom>
                <a:solidFill>
                  <a:srgbClr val="EF41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ïṩ1ïḓe"/>
                <p:cNvSpPr/>
                <p:nvPr/>
              </p:nvSpPr>
              <p:spPr bwMode="auto">
                <a:xfrm>
                  <a:off x="7515691" y="3787800"/>
                  <a:ext cx="73640" cy="67322"/>
                </a:xfrm>
                <a:prstGeom prst="ellipse">
                  <a:avLst/>
                </a:prstGeom>
                <a:solidFill>
                  <a:srgbClr val="D8D4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îṥḻíḑé"/>
                <p:cNvSpPr/>
                <p:nvPr/>
              </p:nvSpPr>
              <p:spPr bwMode="auto">
                <a:xfrm>
                  <a:off x="7383141" y="3815150"/>
                  <a:ext cx="347156" cy="143058"/>
                </a:xfrm>
                <a:custGeom>
                  <a:avLst/>
                  <a:gdLst>
                    <a:gd name="T0" fmla="*/ 217 w 219"/>
                    <a:gd name="T1" fmla="*/ 89 h 89"/>
                    <a:gd name="T2" fmla="*/ 107 w 219"/>
                    <a:gd name="T3" fmla="*/ 7 h 89"/>
                    <a:gd name="T4" fmla="*/ 5 w 219"/>
                    <a:gd name="T5" fmla="*/ 86 h 89"/>
                    <a:gd name="T6" fmla="*/ 0 w 219"/>
                    <a:gd name="T7" fmla="*/ 82 h 89"/>
                    <a:gd name="T8" fmla="*/ 107 w 219"/>
                    <a:gd name="T9" fmla="*/ 0 h 89"/>
                    <a:gd name="T10" fmla="*/ 219 w 219"/>
                    <a:gd name="T11" fmla="*/ 84 h 89"/>
                    <a:gd name="T12" fmla="*/ 217 w 219"/>
                    <a:gd name="T13" fmla="*/ 89 h 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19" h="89">
                      <a:moveTo>
                        <a:pt x="217" y="89"/>
                      </a:moveTo>
                      <a:lnTo>
                        <a:pt x="107" y="7"/>
                      </a:lnTo>
                      <a:lnTo>
                        <a:pt x="5" y="86"/>
                      </a:lnTo>
                      <a:lnTo>
                        <a:pt x="0" y="82"/>
                      </a:lnTo>
                      <a:lnTo>
                        <a:pt x="107" y="0"/>
                      </a:lnTo>
                      <a:lnTo>
                        <a:pt x="219" y="84"/>
                      </a:lnTo>
                      <a:lnTo>
                        <a:pt x="217" y="89"/>
                      </a:lnTo>
                      <a:close/>
                    </a:path>
                  </a:pathLst>
                </a:custGeom>
                <a:solidFill>
                  <a:srgbClr val="C1B9B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íṣļiďê"/>
                <p:cNvSpPr/>
                <p:nvPr/>
              </p:nvSpPr>
              <p:spPr bwMode="auto">
                <a:xfrm>
                  <a:off x="7313709" y="3930859"/>
                  <a:ext cx="488124" cy="191446"/>
                </a:xfrm>
                <a:custGeom>
                  <a:avLst/>
                  <a:gdLst>
                    <a:gd name="T0" fmla="*/ 135 w 135"/>
                    <a:gd name="T1" fmla="*/ 37 h 53"/>
                    <a:gd name="T2" fmla="*/ 119 w 135"/>
                    <a:gd name="T3" fmla="*/ 53 h 53"/>
                    <a:gd name="T4" fmla="*/ 16 w 135"/>
                    <a:gd name="T5" fmla="*/ 53 h 53"/>
                    <a:gd name="T6" fmla="*/ 0 w 135"/>
                    <a:gd name="T7" fmla="*/ 37 h 53"/>
                    <a:gd name="T8" fmla="*/ 0 w 135"/>
                    <a:gd name="T9" fmla="*/ 16 h 53"/>
                    <a:gd name="T10" fmla="*/ 16 w 135"/>
                    <a:gd name="T11" fmla="*/ 0 h 53"/>
                    <a:gd name="T12" fmla="*/ 119 w 135"/>
                    <a:gd name="T13" fmla="*/ 0 h 53"/>
                    <a:gd name="T14" fmla="*/ 135 w 135"/>
                    <a:gd name="T15" fmla="*/ 16 h 53"/>
                    <a:gd name="T16" fmla="*/ 135 w 135"/>
                    <a:gd name="T17" fmla="*/ 37 h 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35" h="53">
                      <a:moveTo>
                        <a:pt x="135" y="37"/>
                      </a:moveTo>
                      <a:cubicBezTo>
                        <a:pt x="135" y="46"/>
                        <a:pt x="128" y="53"/>
                        <a:pt x="119" y="53"/>
                      </a:cubicBezTo>
                      <a:cubicBezTo>
                        <a:pt x="16" y="53"/>
                        <a:pt x="16" y="53"/>
                        <a:pt x="16" y="53"/>
                      </a:cubicBezTo>
                      <a:cubicBezTo>
                        <a:pt x="7" y="53"/>
                        <a:pt x="0" y="46"/>
                        <a:pt x="0" y="37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7"/>
                        <a:pt x="7" y="0"/>
                        <a:pt x="16" y="0"/>
                      </a:cubicBezTo>
                      <a:cubicBezTo>
                        <a:pt x="119" y="0"/>
                        <a:pt x="119" y="0"/>
                        <a:pt x="119" y="0"/>
                      </a:cubicBezTo>
                      <a:cubicBezTo>
                        <a:pt x="128" y="0"/>
                        <a:pt x="135" y="7"/>
                        <a:pt x="135" y="16"/>
                      </a:cubicBezTo>
                      <a:lnTo>
                        <a:pt x="135" y="37"/>
                      </a:lnTo>
                      <a:close/>
                    </a:path>
                  </a:pathLst>
                </a:custGeom>
                <a:solidFill>
                  <a:srgbClr val="EF41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iS1ïḓé"/>
                <p:cNvSpPr/>
                <p:nvPr/>
              </p:nvSpPr>
              <p:spPr bwMode="auto">
                <a:xfrm>
                  <a:off x="7353685" y="3939274"/>
                  <a:ext cx="401860" cy="1683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normAutofit fontScale="92500" lnSpcReduction="20000"/>
                </a:bodyPr>
                <a:lstStyle/>
                <a:p>
                  <a:pPr>
                    <a:defRPr/>
                  </a:pPr>
                  <a:r>
                    <a:rPr lang="en-US" altLang="zh-CN" sz="825">
                      <a:solidFill>
                        <a:srgbClr val="FFFFFF"/>
                      </a:solidFill>
                      <a:latin typeface="+mn-lt"/>
                      <a:ea typeface="+mn-ea"/>
                      <a:cs typeface="+mn-ea"/>
                      <a:sym typeface="+mn-lt"/>
                    </a:rPr>
                    <a:t>OPEN</a:t>
                  </a:r>
                  <a:endParaRPr lang="zh-CN" altLang="zh-CN" sz="825" dirty="0">
                    <a:solidFill>
                      <a:srgbClr val="FFFFFF"/>
                    </a:solidFill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i$ḻiḍé"/>
                <p:cNvSpPr/>
                <p:nvPr/>
              </p:nvSpPr>
              <p:spPr bwMode="auto">
                <a:xfrm>
                  <a:off x="3898946" y="5153167"/>
                  <a:ext cx="2581586" cy="894114"/>
                </a:xfrm>
                <a:prstGeom prst="rect">
                  <a:avLst/>
                </a:prstGeom>
                <a:solidFill>
                  <a:srgbClr val="EF41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iSlide"/>
                <p:cNvSpPr/>
                <p:nvPr/>
              </p:nvSpPr>
              <p:spPr bwMode="auto">
                <a:xfrm>
                  <a:off x="3955753" y="5203658"/>
                  <a:ext cx="2461660" cy="791029"/>
                </a:xfrm>
                <a:custGeom>
                  <a:avLst/>
                  <a:gdLst>
                    <a:gd name="T0" fmla="*/ 681 w 681"/>
                    <a:gd name="T1" fmla="*/ 171 h 219"/>
                    <a:gd name="T2" fmla="*/ 681 w 681"/>
                    <a:gd name="T3" fmla="*/ 42 h 219"/>
                    <a:gd name="T4" fmla="*/ 638 w 681"/>
                    <a:gd name="T5" fmla="*/ 0 h 219"/>
                    <a:gd name="T6" fmla="*/ 43 w 681"/>
                    <a:gd name="T7" fmla="*/ 0 h 219"/>
                    <a:gd name="T8" fmla="*/ 0 w 681"/>
                    <a:gd name="T9" fmla="*/ 42 h 219"/>
                    <a:gd name="T10" fmla="*/ 0 w 681"/>
                    <a:gd name="T11" fmla="*/ 171 h 219"/>
                    <a:gd name="T12" fmla="*/ 43 w 681"/>
                    <a:gd name="T13" fmla="*/ 214 h 219"/>
                    <a:gd name="T14" fmla="*/ 43 w 681"/>
                    <a:gd name="T15" fmla="*/ 219 h 219"/>
                    <a:gd name="T16" fmla="*/ 638 w 681"/>
                    <a:gd name="T17" fmla="*/ 219 h 219"/>
                    <a:gd name="T18" fmla="*/ 638 w 681"/>
                    <a:gd name="T19" fmla="*/ 214 h 219"/>
                    <a:gd name="T20" fmla="*/ 681 w 681"/>
                    <a:gd name="T21" fmla="*/ 171 h 2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681" h="219">
                      <a:moveTo>
                        <a:pt x="681" y="171"/>
                      </a:moveTo>
                      <a:cubicBezTo>
                        <a:pt x="681" y="42"/>
                        <a:pt x="681" y="42"/>
                        <a:pt x="681" y="42"/>
                      </a:cubicBezTo>
                      <a:cubicBezTo>
                        <a:pt x="658" y="42"/>
                        <a:pt x="639" y="23"/>
                        <a:pt x="638" y="0"/>
                      </a:cubicBezTo>
                      <a:cubicBezTo>
                        <a:pt x="43" y="0"/>
                        <a:pt x="43" y="0"/>
                        <a:pt x="43" y="0"/>
                      </a:cubicBezTo>
                      <a:cubicBezTo>
                        <a:pt x="43" y="23"/>
                        <a:pt x="24" y="42"/>
                        <a:pt x="0" y="42"/>
                      </a:cubicBezTo>
                      <a:cubicBezTo>
                        <a:pt x="0" y="171"/>
                        <a:pt x="0" y="171"/>
                        <a:pt x="0" y="171"/>
                      </a:cubicBezTo>
                      <a:cubicBezTo>
                        <a:pt x="24" y="171"/>
                        <a:pt x="43" y="190"/>
                        <a:pt x="43" y="214"/>
                      </a:cubicBezTo>
                      <a:cubicBezTo>
                        <a:pt x="43" y="216"/>
                        <a:pt x="43" y="217"/>
                        <a:pt x="43" y="219"/>
                      </a:cubicBezTo>
                      <a:cubicBezTo>
                        <a:pt x="638" y="219"/>
                        <a:pt x="638" y="219"/>
                        <a:pt x="638" y="219"/>
                      </a:cubicBezTo>
                      <a:cubicBezTo>
                        <a:pt x="638" y="217"/>
                        <a:pt x="638" y="216"/>
                        <a:pt x="638" y="214"/>
                      </a:cubicBezTo>
                      <a:cubicBezTo>
                        <a:pt x="638" y="190"/>
                        <a:pt x="657" y="171"/>
                        <a:pt x="681" y="171"/>
                      </a:cubicBezTo>
                      <a:close/>
                    </a:path>
                  </a:pathLst>
                </a:custGeom>
                <a:solidFill>
                  <a:srgbClr val="F47DA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29" name="íṣḻïḋê"/>
                <p:cNvSpPr/>
                <p:nvPr/>
              </p:nvSpPr>
              <p:spPr bwMode="auto">
                <a:xfrm>
                  <a:off x="3898946" y="3135623"/>
                  <a:ext cx="2581586" cy="1901835"/>
                </a:xfrm>
                <a:prstGeom prst="rect">
                  <a:avLst/>
                </a:prstGeom>
                <a:solidFill>
                  <a:srgbClr val="EF41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íṡľïďe"/>
                <p:cNvSpPr/>
                <p:nvPr/>
              </p:nvSpPr>
              <p:spPr bwMode="auto">
                <a:xfrm>
                  <a:off x="3898946" y="3135623"/>
                  <a:ext cx="2581586" cy="19018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îSlíďé"/>
                <p:cNvSpPr/>
                <p:nvPr/>
              </p:nvSpPr>
              <p:spPr bwMode="auto">
                <a:xfrm>
                  <a:off x="3955753" y="3207152"/>
                  <a:ext cx="2461660" cy="1758776"/>
                </a:xfrm>
                <a:prstGeom prst="rect">
                  <a:avLst/>
                </a:prstGeom>
                <a:solidFill>
                  <a:srgbClr val="2D415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isḷîḓé"/>
                <p:cNvSpPr/>
                <p:nvPr/>
              </p:nvSpPr>
              <p:spPr bwMode="auto">
                <a:xfrm>
                  <a:off x="4317638" y="3655262"/>
                  <a:ext cx="23144" cy="1302251"/>
                </a:xfrm>
                <a:prstGeom prst="rect">
                  <a:avLst/>
                </a:pr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íṥ1íḍé"/>
                <p:cNvSpPr/>
                <p:nvPr/>
              </p:nvSpPr>
              <p:spPr bwMode="auto">
                <a:xfrm>
                  <a:off x="4317638" y="3762555"/>
                  <a:ext cx="23144" cy="13001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íśļîḑè"/>
                <p:cNvSpPr/>
                <p:nvPr/>
              </p:nvSpPr>
              <p:spPr bwMode="auto">
                <a:xfrm>
                  <a:off x="4300806" y="3737309"/>
                  <a:ext cx="56808" cy="52596"/>
                </a:xfrm>
                <a:prstGeom prst="ellipse">
                  <a:avLst/>
                </a:pr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ïśḷíḋè"/>
                <p:cNvSpPr/>
                <p:nvPr/>
              </p:nvSpPr>
              <p:spPr bwMode="auto">
                <a:xfrm>
                  <a:off x="4315534" y="3672092"/>
                  <a:ext cx="27351" cy="90463"/>
                </a:xfrm>
                <a:prstGeom prst="ellipse">
                  <a:avLst/>
                </a:pr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iślïḑè"/>
                <p:cNvSpPr/>
                <p:nvPr/>
              </p:nvSpPr>
              <p:spPr bwMode="auto">
                <a:xfrm>
                  <a:off x="4065160" y="3804631"/>
                  <a:ext cx="528100" cy="868870"/>
                </a:xfrm>
                <a:custGeom>
                  <a:avLst/>
                  <a:gdLst>
                    <a:gd name="T0" fmla="*/ 125 w 146"/>
                    <a:gd name="T1" fmla="*/ 164 h 240"/>
                    <a:gd name="T2" fmla="*/ 104 w 146"/>
                    <a:gd name="T3" fmla="*/ 116 h 240"/>
                    <a:gd name="T4" fmla="*/ 138 w 146"/>
                    <a:gd name="T5" fmla="*/ 45 h 240"/>
                    <a:gd name="T6" fmla="*/ 101 w 146"/>
                    <a:gd name="T7" fmla="*/ 21 h 240"/>
                    <a:gd name="T8" fmla="*/ 88 w 146"/>
                    <a:gd name="T9" fmla="*/ 0 h 240"/>
                    <a:gd name="T10" fmla="*/ 76 w 146"/>
                    <a:gd name="T11" fmla="*/ 0 h 240"/>
                    <a:gd name="T12" fmla="*/ 71 w 146"/>
                    <a:gd name="T13" fmla="*/ 0 h 240"/>
                    <a:gd name="T14" fmla="*/ 59 w 146"/>
                    <a:gd name="T15" fmla="*/ 0 h 240"/>
                    <a:gd name="T16" fmla="*/ 46 w 146"/>
                    <a:gd name="T17" fmla="*/ 21 h 240"/>
                    <a:gd name="T18" fmla="*/ 8 w 146"/>
                    <a:gd name="T19" fmla="*/ 45 h 240"/>
                    <a:gd name="T20" fmla="*/ 42 w 146"/>
                    <a:gd name="T21" fmla="*/ 116 h 240"/>
                    <a:gd name="T22" fmla="*/ 22 w 146"/>
                    <a:gd name="T23" fmla="*/ 164 h 240"/>
                    <a:gd name="T24" fmla="*/ 0 w 146"/>
                    <a:gd name="T25" fmla="*/ 240 h 240"/>
                    <a:gd name="T26" fmla="*/ 72 w 146"/>
                    <a:gd name="T27" fmla="*/ 240 h 240"/>
                    <a:gd name="T28" fmla="*/ 74 w 146"/>
                    <a:gd name="T29" fmla="*/ 240 h 240"/>
                    <a:gd name="T30" fmla="*/ 146 w 146"/>
                    <a:gd name="T31" fmla="*/ 240 h 240"/>
                    <a:gd name="T32" fmla="*/ 125 w 146"/>
                    <a:gd name="T33" fmla="*/ 164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46" h="240">
                      <a:moveTo>
                        <a:pt x="125" y="164"/>
                      </a:moveTo>
                      <a:cubicBezTo>
                        <a:pt x="113" y="147"/>
                        <a:pt x="104" y="133"/>
                        <a:pt x="104" y="116"/>
                      </a:cubicBezTo>
                      <a:cubicBezTo>
                        <a:pt x="105" y="100"/>
                        <a:pt x="136" y="64"/>
                        <a:pt x="138" y="45"/>
                      </a:cubicBezTo>
                      <a:cubicBezTo>
                        <a:pt x="140" y="27"/>
                        <a:pt x="117" y="27"/>
                        <a:pt x="101" y="21"/>
                      </a:cubicBezTo>
                      <a:cubicBezTo>
                        <a:pt x="85" y="15"/>
                        <a:pt x="88" y="0"/>
                        <a:pt x="88" y="0"/>
                      </a:cubicBezTo>
                      <a:cubicBezTo>
                        <a:pt x="76" y="0"/>
                        <a:pt x="76" y="0"/>
                        <a:pt x="76" y="0"/>
                      </a:cubicBezTo>
                      <a:cubicBezTo>
                        <a:pt x="71" y="0"/>
                        <a:pt x="71" y="0"/>
                        <a:pt x="71" y="0"/>
                      </a:cubicBezTo>
                      <a:cubicBezTo>
                        <a:pt x="59" y="0"/>
                        <a:pt x="59" y="0"/>
                        <a:pt x="59" y="0"/>
                      </a:cubicBezTo>
                      <a:cubicBezTo>
                        <a:pt x="59" y="0"/>
                        <a:pt x="62" y="15"/>
                        <a:pt x="46" y="21"/>
                      </a:cubicBezTo>
                      <a:cubicBezTo>
                        <a:pt x="30" y="27"/>
                        <a:pt x="7" y="27"/>
                        <a:pt x="8" y="45"/>
                      </a:cubicBezTo>
                      <a:cubicBezTo>
                        <a:pt x="10" y="64"/>
                        <a:pt x="41" y="100"/>
                        <a:pt x="42" y="116"/>
                      </a:cubicBezTo>
                      <a:cubicBezTo>
                        <a:pt x="43" y="133"/>
                        <a:pt x="34" y="147"/>
                        <a:pt x="22" y="164"/>
                      </a:cubicBezTo>
                      <a:cubicBezTo>
                        <a:pt x="5" y="187"/>
                        <a:pt x="0" y="217"/>
                        <a:pt x="0" y="240"/>
                      </a:cubicBezTo>
                      <a:cubicBezTo>
                        <a:pt x="72" y="240"/>
                        <a:pt x="72" y="240"/>
                        <a:pt x="72" y="240"/>
                      </a:cubicBezTo>
                      <a:cubicBezTo>
                        <a:pt x="74" y="240"/>
                        <a:pt x="74" y="240"/>
                        <a:pt x="74" y="240"/>
                      </a:cubicBezTo>
                      <a:cubicBezTo>
                        <a:pt x="146" y="240"/>
                        <a:pt x="146" y="240"/>
                        <a:pt x="146" y="240"/>
                      </a:cubicBezTo>
                      <a:cubicBezTo>
                        <a:pt x="146" y="217"/>
                        <a:pt x="143" y="190"/>
                        <a:pt x="125" y="164"/>
                      </a:cubicBezTo>
                      <a:close/>
                    </a:path>
                  </a:pathLst>
                </a:cu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íŝlïdê"/>
                <p:cNvSpPr/>
                <p:nvPr/>
              </p:nvSpPr>
              <p:spPr bwMode="auto">
                <a:xfrm>
                  <a:off x="5150815" y="3655262"/>
                  <a:ext cx="16832" cy="1302251"/>
                </a:xfrm>
                <a:prstGeom prst="rect">
                  <a:avLst/>
                </a:pr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íšḷíḍé"/>
                <p:cNvSpPr/>
                <p:nvPr/>
              </p:nvSpPr>
              <p:spPr bwMode="auto">
                <a:xfrm>
                  <a:off x="5150815" y="3762555"/>
                  <a:ext cx="16832" cy="13001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îs1ïḑé"/>
                <p:cNvSpPr/>
                <p:nvPr/>
              </p:nvSpPr>
              <p:spPr bwMode="auto">
                <a:xfrm>
                  <a:off x="5129775" y="3737309"/>
                  <a:ext cx="56808" cy="52596"/>
                </a:xfrm>
                <a:prstGeom prst="ellipse">
                  <a:avLst/>
                </a:pr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íşľïḍé"/>
                <p:cNvSpPr/>
                <p:nvPr/>
              </p:nvSpPr>
              <p:spPr bwMode="auto">
                <a:xfrm>
                  <a:off x="5146607" y="3672092"/>
                  <a:ext cx="23144" cy="90463"/>
                </a:xfrm>
                <a:prstGeom prst="ellipse">
                  <a:avLst/>
                </a:pr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1" name="îṧḻíḑé"/>
                <p:cNvSpPr/>
                <p:nvPr/>
              </p:nvSpPr>
              <p:spPr bwMode="auto">
                <a:xfrm>
                  <a:off x="4896233" y="3804631"/>
                  <a:ext cx="528099" cy="868870"/>
                </a:xfrm>
                <a:custGeom>
                  <a:avLst/>
                  <a:gdLst>
                    <a:gd name="T0" fmla="*/ 124 w 146"/>
                    <a:gd name="T1" fmla="*/ 164 h 240"/>
                    <a:gd name="T2" fmla="*/ 104 w 146"/>
                    <a:gd name="T3" fmla="*/ 116 h 240"/>
                    <a:gd name="T4" fmla="*/ 138 w 146"/>
                    <a:gd name="T5" fmla="*/ 45 h 240"/>
                    <a:gd name="T6" fmla="*/ 101 w 146"/>
                    <a:gd name="T7" fmla="*/ 21 h 240"/>
                    <a:gd name="T8" fmla="*/ 87 w 146"/>
                    <a:gd name="T9" fmla="*/ 0 h 240"/>
                    <a:gd name="T10" fmla="*/ 76 w 146"/>
                    <a:gd name="T11" fmla="*/ 0 h 240"/>
                    <a:gd name="T12" fmla="*/ 70 w 146"/>
                    <a:gd name="T13" fmla="*/ 0 h 240"/>
                    <a:gd name="T14" fmla="*/ 59 w 146"/>
                    <a:gd name="T15" fmla="*/ 0 h 240"/>
                    <a:gd name="T16" fmla="*/ 45 w 146"/>
                    <a:gd name="T17" fmla="*/ 21 h 240"/>
                    <a:gd name="T18" fmla="*/ 8 w 146"/>
                    <a:gd name="T19" fmla="*/ 45 h 240"/>
                    <a:gd name="T20" fmla="*/ 42 w 146"/>
                    <a:gd name="T21" fmla="*/ 116 h 240"/>
                    <a:gd name="T22" fmla="*/ 21 w 146"/>
                    <a:gd name="T23" fmla="*/ 164 h 240"/>
                    <a:gd name="T24" fmla="*/ 0 w 146"/>
                    <a:gd name="T25" fmla="*/ 240 h 240"/>
                    <a:gd name="T26" fmla="*/ 72 w 146"/>
                    <a:gd name="T27" fmla="*/ 240 h 240"/>
                    <a:gd name="T28" fmla="*/ 74 w 146"/>
                    <a:gd name="T29" fmla="*/ 240 h 240"/>
                    <a:gd name="T30" fmla="*/ 146 w 146"/>
                    <a:gd name="T31" fmla="*/ 240 h 240"/>
                    <a:gd name="T32" fmla="*/ 124 w 146"/>
                    <a:gd name="T33" fmla="*/ 164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46" h="240">
                      <a:moveTo>
                        <a:pt x="124" y="164"/>
                      </a:moveTo>
                      <a:cubicBezTo>
                        <a:pt x="113" y="147"/>
                        <a:pt x="103" y="133"/>
                        <a:pt x="104" y="116"/>
                      </a:cubicBezTo>
                      <a:cubicBezTo>
                        <a:pt x="105" y="100"/>
                        <a:pt x="136" y="64"/>
                        <a:pt x="138" y="45"/>
                      </a:cubicBezTo>
                      <a:cubicBezTo>
                        <a:pt x="139" y="27"/>
                        <a:pt x="117" y="27"/>
                        <a:pt x="101" y="21"/>
                      </a:cubicBezTo>
                      <a:cubicBezTo>
                        <a:pt x="84" y="15"/>
                        <a:pt x="87" y="0"/>
                        <a:pt x="87" y="0"/>
                      </a:cubicBezTo>
                      <a:cubicBezTo>
                        <a:pt x="76" y="0"/>
                        <a:pt x="76" y="0"/>
                        <a:pt x="76" y="0"/>
                      </a:cubicBezTo>
                      <a:cubicBezTo>
                        <a:pt x="70" y="0"/>
                        <a:pt x="70" y="0"/>
                        <a:pt x="70" y="0"/>
                      </a:cubicBezTo>
                      <a:cubicBezTo>
                        <a:pt x="59" y="0"/>
                        <a:pt x="59" y="0"/>
                        <a:pt x="59" y="0"/>
                      </a:cubicBezTo>
                      <a:cubicBezTo>
                        <a:pt x="59" y="0"/>
                        <a:pt x="62" y="15"/>
                        <a:pt x="45" y="21"/>
                      </a:cubicBezTo>
                      <a:cubicBezTo>
                        <a:pt x="29" y="27"/>
                        <a:pt x="6" y="27"/>
                        <a:pt x="8" y="45"/>
                      </a:cubicBezTo>
                      <a:cubicBezTo>
                        <a:pt x="10" y="64"/>
                        <a:pt x="41" y="100"/>
                        <a:pt x="42" y="116"/>
                      </a:cubicBezTo>
                      <a:cubicBezTo>
                        <a:pt x="43" y="133"/>
                        <a:pt x="34" y="147"/>
                        <a:pt x="21" y="164"/>
                      </a:cubicBezTo>
                      <a:cubicBezTo>
                        <a:pt x="5" y="187"/>
                        <a:pt x="0" y="217"/>
                        <a:pt x="0" y="240"/>
                      </a:cubicBezTo>
                      <a:cubicBezTo>
                        <a:pt x="72" y="240"/>
                        <a:pt x="72" y="240"/>
                        <a:pt x="72" y="240"/>
                      </a:cubicBezTo>
                      <a:cubicBezTo>
                        <a:pt x="74" y="240"/>
                        <a:pt x="74" y="240"/>
                        <a:pt x="74" y="240"/>
                      </a:cubicBezTo>
                      <a:cubicBezTo>
                        <a:pt x="146" y="240"/>
                        <a:pt x="146" y="240"/>
                        <a:pt x="146" y="240"/>
                      </a:cubicBezTo>
                      <a:cubicBezTo>
                        <a:pt x="146" y="217"/>
                        <a:pt x="143" y="190"/>
                        <a:pt x="124" y="164"/>
                      </a:cubicBezTo>
                    </a:path>
                  </a:pathLst>
                </a:cu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iṣ1ïďé"/>
                <p:cNvSpPr/>
                <p:nvPr/>
              </p:nvSpPr>
              <p:spPr bwMode="auto">
                <a:xfrm>
                  <a:off x="5981889" y="3655262"/>
                  <a:ext cx="16832" cy="1302251"/>
                </a:xfrm>
                <a:prstGeom prst="rect">
                  <a:avLst/>
                </a:pr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íṥlîḋê"/>
                <p:cNvSpPr/>
                <p:nvPr/>
              </p:nvSpPr>
              <p:spPr bwMode="auto">
                <a:xfrm>
                  <a:off x="5981889" y="3762555"/>
                  <a:ext cx="16832" cy="13001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îṥḷiḑe"/>
                <p:cNvSpPr/>
                <p:nvPr/>
              </p:nvSpPr>
              <p:spPr bwMode="auto">
                <a:xfrm>
                  <a:off x="5962952" y="3737309"/>
                  <a:ext cx="52600" cy="52596"/>
                </a:xfrm>
                <a:prstGeom prst="ellipse">
                  <a:avLst/>
                </a:pr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iśḷîḋé"/>
                <p:cNvSpPr/>
                <p:nvPr/>
              </p:nvSpPr>
              <p:spPr bwMode="auto">
                <a:xfrm>
                  <a:off x="5973473" y="3672092"/>
                  <a:ext cx="29456" cy="90463"/>
                </a:xfrm>
                <a:prstGeom prst="ellipse">
                  <a:avLst/>
                </a:pr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iṡľîdè"/>
                <p:cNvSpPr/>
                <p:nvPr/>
              </p:nvSpPr>
              <p:spPr bwMode="auto">
                <a:xfrm>
                  <a:off x="5727306" y="3804631"/>
                  <a:ext cx="528100" cy="868870"/>
                </a:xfrm>
                <a:custGeom>
                  <a:avLst/>
                  <a:gdLst>
                    <a:gd name="T0" fmla="*/ 124 w 146"/>
                    <a:gd name="T1" fmla="*/ 164 h 240"/>
                    <a:gd name="T2" fmla="*/ 104 w 146"/>
                    <a:gd name="T3" fmla="*/ 116 h 240"/>
                    <a:gd name="T4" fmla="*/ 137 w 146"/>
                    <a:gd name="T5" fmla="*/ 45 h 240"/>
                    <a:gd name="T6" fmla="*/ 100 w 146"/>
                    <a:gd name="T7" fmla="*/ 21 h 240"/>
                    <a:gd name="T8" fmla="*/ 87 w 146"/>
                    <a:gd name="T9" fmla="*/ 0 h 240"/>
                    <a:gd name="T10" fmla="*/ 75 w 146"/>
                    <a:gd name="T11" fmla="*/ 0 h 240"/>
                    <a:gd name="T12" fmla="*/ 70 w 146"/>
                    <a:gd name="T13" fmla="*/ 0 h 240"/>
                    <a:gd name="T14" fmla="*/ 58 w 146"/>
                    <a:gd name="T15" fmla="*/ 0 h 240"/>
                    <a:gd name="T16" fmla="*/ 45 w 146"/>
                    <a:gd name="T17" fmla="*/ 21 h 240"/>
                    <a:gd name="T18" fmla="*/ 8 w 146"/>
                    <a:gd name="T19" fmla="*/ 45 h 240"/>
                    <a:gd name="T20" fmla="*/ 42 w 146"/>
                    <a:gd name="T21" fmla="*/ 116 h 240"/>
                    <a:gd name="T22" fmla="*/ 21 w 146"/>
                    <a:gd name="T23" fmla="*/ 164 h 240"/>
                    <a:gd name="T24" fmla="*/ 0 w 146"/>
                    <a:gd name="T25" fmla="*/ 240 h 240"/>
                    <a:gd name="T26" fmla="*/ 72 w 146"/>
                    <a:gd name="T27" fmla="*/ 240 h 240"/>
                    <a:gd name="T28" fmla="*/ 73 w 146"/>
                    <a:gd name="T29" fmla="*/ 240 h 240"/>
                    <a:gd name="T30" fmla="*/ 146 w 146"/>
                    <a:gd name="T31" fmla="*/ 240 h 240"/>
                    <a:gd name="T32" fmla="*/ 124 w 146"/>
                    <a:gd name="T33" fmla="*/ 164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146" h="240">
                      <a:moveTo>
                        <a:pt x="124" y="164"/>
                      </a:moveTo>
                      <a:cubicBezTo>
                        <a:pt x="113" y="147"/>
                        <a:pt x="103" y="133"/>
                        <a:pt x="104" y="116"/>
                      </a:cubicBezTo>
                      <a:cubicBezTo>
                        <a:pt x="104" y="100"/>
                        <a:pt x="136" y="64"/>
                        <a:pt x="137" y="45"/>
                      </a:cubicBezTo>
                      <a:cubicBezTo>
                        <a:pt x="139" y="27"/>
                        <a:pt x="116" y="27"/>
                        <a:pt x="100" y="21"/>
                      </a:cubicBezTo>
                      <a:cubicBezTo>
                        <a:pt x="84" y="15"/>
                        <a:pt x="87" y="0"/>
                        <a:pt x="87" y="0"/>
                      </a:cubicBezTo>
                      <a:cubicBezTo>
                        <a:pt x="75" y="0"/>
                        <a:pt x="75" y="0"/>
                        <a:pt x="75" y="0"/>
                      </a:cubicBezTo>
                      <a:cubicBezTo>
                        <a:pt x="70" y="0"/>
                        <a:pt x="70" y="0"/>
                        <a:pt x="70" y="0"/>
                      </a:cubicBezTo>
                      <a:cubicBezTo>
                        <a:pt x="58" y="0"/>
                        <a:pt x="58" y="0"/>
                        <a:pt x="58" y="0"/>
                      </a:cubicBezTo>
                      <a:cubicBezTo>
                        <a:pt x="58" y="0"/>
                        <a:pt x="61" y="15"/>
                        <a:pt x="45" y="21"/>
                      </a:cubicBezTo>
                      <a:cubicBezTo>
                        <a:pt x="29" y="27"/>
                        <a:pt x="6" y="27"/>
                        <a:pt x="8" y="45"/>
                      </a:cubicBezTo>
                      <a:cubicBezTo>
                        <a:pt x="9" y="64"/>
                        <a:pt x="41" y="100"/>
                        <a:pt x="42" y="116"/>
                      </a:cubicBezTo>
                      <a:cubicBezTo>
                        <a:pt x="42" y="133"/>
                        <a:pt x="33" y="147"/>
                        <a:pt x="21" y="164"/>
                      </a:cubicBezTo>
                      <a:cubicBezTo>
                        <a:pt x="4" y="187"/>
                        <a:pt x="0" y="217"/>
                        <a:pt x="0" y="240"/>
                      </a:cubicBezTo>
                      <a:cubicBezTo>
                        <a:pt x="72" y="240"/>
                        <a:pt x="72" y="240"/>
                        <a:pt x="72" y="240"/>
                      </a:cubicBezTo>
                      <a:cubicBezTo>
                        <a:pt x="73" y="240"/>
                        <a:pt x="73" y="240"/>
                        <a:pt x="73" y="240"/>
                      </a:cubicBezTo>
                      <a:cubicBezTo>
                        <a:pt x="146" y="240"/>
                        <a:pt x="146" y="240"/>
                        <a:pt x="146" y="240"/>
                      </a:cubicBezTo>
                      <a:cubicBezTo>
                        <a:pt x="146" y="217"/>
                        <a:pt x="142" y="190"/>
                        <a:pt x="124" y="164"/>
                      </a:cubicBezTo>
                    </a:path>
                  </a:pathLst>
                </a:custGeom>
                <a:solidFill>
                  <a:srgbClr val="729C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išľídê"/>
                <p:cNvSpPr/>
                <p:nvPr/>
              </p:nvSpPr>
              <p:spPr bwMode="auto">
                <a:xfrm>
                  <a:off x="5150815" y="4673500"/>
                  <a:ext cx="16832" cy="178822"/>
                </a:xfrm>
                <a:custGeom>
                  <a:avLst/>
                  <a:gdLst>
                    <a:gd name="T0" fmla="*/ 11 w 11"/>
                    <a:gd name="T1" fmla="*/ 0 h 113"/>
                    <a:gd name="T2" fmla="*/ 9 w 11"/>
                    <a:gd name="T3" fmla="*/ 0 h 113"/>
                    <a:gd name="T4" fmla="*/ 4 w 11"/>
                    <a:gd name="T5" fmla="*/ 0 h 113"/>
                    <a:gd name="T6" fmla="*/ 0 w 11"/>
                    <a:gd name="T7" fmla="*/ 0 h 113"/>
                    <a:gd name="T8" fmla="*/ 0 w 11"/>
                    <a:gd name="T9" fmla="*/ 113 h 113"/>
                    <a:gd name="T10" fmla="*/ 11 w 11"/>
                    <a:gd name="T11" fmla="*/ 113 h 113"/>
                    <a:gd name="T12" fmla="*/ 11 w 11"/>
                    <a:gd name="T13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13">
                      <a:moveTo>
                        <a:pt x="11" y="0"/>
                      </a:moveTo>
                      <a:lnTo>
                        <a:pt x="9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113"/>
                      </a:lnTo>
                      <a:lnTo>
                        <a:pt x="11" y="113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8EAFB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îš1íḍe"/>
                <p:cNvSpPr/>
                <p:nvPr/>
              </p:nvSpPr>
              <p:spPr bwMode="auto">
                <a:xfrm>
                  <a:off x="5150815" y="4673500"/>
                  <a:ext cx="16832" cy="178822"/>
                </a:xfrm>
                <a:custGeom>
                  <a:avLst/>
                  <a:gdLst>
                    <a:gd name="T0" fmla="*/ 11 w 11"/>
                    <a:gd name="T1" fmla="*/ 0 h 113"/>
                    <a:gd name="T2" fmla="*/ 9 w 11"/>
                    <a:gd name="T3" fmla="*/ 0 h 113"/>
                    <a:gd name="T4" fmla="*/ 4 w 11"/>
                    <a:gd name="T5" fmla="*/ 0 h 113"/>
                    <a:gd name="T6" fmla="*/ 0 w 11"/>
                    <a:gd name="T7" fmla="*/ 0 h 113"/>
                    <a:gd name="T8" fmla="*/ 0 w 11"/>
                    <a:gd name="T9" fmla="*/ 113 h 113"/>
                    <a:gd name="T10" fmla="*/ 11 w 11"/>
                    <a:gd name="T11" fmla="*/ 113 h 113"/>
                    <a:gd name="T12" fmla="*/ 11 w 11"/>
                    <a:gd name="T13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13">
                      <a:moveTo>
                        <a:pt x="11" y="0"/>
                      </a:moveTo>
                      <a:lnTo>
                        <a:pt x="9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113"/>
                      </a:lnTo>
                      <a:lnTo>
                        <a:pt x="11" y="113"/>
                      </a:lnTo>
                      <a:lnTo>
                        <a:pt x="11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íšḷîḍê"/>
                <p:cNvSpPr/>
                <p:nvPr/>
              </p:nvSpPr>
              <p:spPr bwMode="auto">
                <a:xfrm>
                  <a:off x="3955753" y="3207152"/>
                  <a:ext cx="2461660" cy="17587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0" name="ïṥ1îḋe"/>
                <p:cNvSpPr/>
                <p:nvPr/>
              </p:nvSpPr>
              <p:spPr bwMode="auto">
                <a:xfrm>
                  <a:off x="5981889" y="4673500"/>
                  <a:ext cx="16832" cy="178822"/>
                </a:xfrm>
                <a:custGeom>
                  <a:avLst/>
                  <a:gdLst>
                    <a:gd name="T0" fmla="*/ 11 w 11"/>
                    <a:gd name="T1" fmla="*/ 0 h 113"/>
                    <a:gd name="T2" fmla="*/ 6 w 11"/>
                    <a:gd name="T3" fmla="*/ 0 h 113"/>
                    <a:gd name="T4" fmla="*/ 4 w 11"/>
                    <a:gd name="T5" fmla="*/ 0 h 113"/>
                    <a:gd name="T6" fmla="*/ 0 w 11"/>
                    <a:gd name="T7" fmla="*/ 0 h 113"/>
                    <a:gd name="T8" fmla="*/ 0 w 11"/>
                    <a:gd name="T9" fmla="*/ 113 h 113"/>
                    <a:gd name="T10" fmla="*/ 11 w 11"/>
                    <a:gd name="T11" fmla="*/ 113 h 113"/>
                    <a:gd name="T12" fmla="*/ 11 w 11"/>
                    <a:gd name="T13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13">
                      <a:moveTo>
                        <a:pt x="11" y="0"/>
                      </a:move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113"/>
                      </a:lnTo>
                      <a:lnTo>
                        <a:pt x="11" y="113"/>
                      </a:lnTo>
                      <a:lnTo>
                        <a:pt x="11" y="0"/>
                      </a:lnTo>
                      <a:close/>
                    </a:path>
                  </a:pathLst>
                </a:custGeom>
                <a:solidFill>
                  <a:srgbClr val="8EAFB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ïṥľíḓé"/>
                <p:cNvSpPr/>
                <p:nvPr/>
              </p:nvSpPr>
              <p:spPr bwMode="auto">
                <a:xfrm>
                  <a:off x="5981889" y="4673500"/>
                  <a:ext cx="16832" cy="178822"/>
                </a:xfrm>
                <a:custGeom>
                  <a:avLst/>
                  <a:gdLst>
                    <a:gd name="T0" fmla="*/ 11 w 11"/>
                    <a:gd name="T1" fmla="*/ 0 h 113"/>
                    <a:gd name="T2" fmla="*/ 6 w 11"/>
                    <a:gd name="T3" fmla="*/ 0 h 113"/>
                    <a:gd name="T4" fmla="*/ 4 w 11"/>
                    <a:gd name="T5" fmla="*/ 0 h 113"/>
                    <a:gd name="T6" fmla="*/ 0 w 11"/>
                    <a:gd name="T7" fmla="*/ 0 h 113"/>
                    <a:gd name="T8" fmla="*/ 0 w 11"/>
                    <a:gd name="T9" fmla="*/ 113 h 113"/>
                    <a:gd name="T10" fmla="*/ 11 w 11"/>
                    <a:gd name="T11" fmla="*/ 113 h 113"/>
                    <a:gd name="T12" fmla="*/ 11 w 11"/>
                    <a:gd name="T13" fmla="*/ 0 h 11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1" h="113">
                      <a:moveTo>
                        <a:pt x="11" y="0"/>
                      </a:move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0" y="0"/>
                      </a:lnTo>
                      <a:lnTo>
                        <a:pt x="0" y="113"/>
                      </a:lnTo>
                      <a:lnTo>
                        <a:pt x="11" y="113"/>
                      </a:lnTo>
                      <a:lnTo>
                        <a:pt x="11" y="0"/>
                      </a:lnTo>
                    </a:path>
                  </a:pathLst>
                </a:cu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íṧľiḑè"/>
                <p:cNvSpPr/>
                <p:nvPr/>
              </p:nvSpPr>
              <p:spPr bwMode="auto">
                <a:xfrm>
                  <a:off x="5062447" y="4524130"/>
                  <a:ext cx="361885" cy="149370"/>
                </a:xfrm>
                <a:custGeom>
                  <a:avLst/>
                  <a:gdLst>
                    <a:gd name="T0" fmla="*/ 95 w 100"/>
                    <a:gd name="T1" fmla="*/ 0 h 41"/>
                    <a:gd name="T2" fmla="*/ 0 w 100"/>
                    <a:gd name="T3" fmla="*/ 41 h 41"/>
                    <a:gd name="T4" fmla="*/ 24 w 100"/>
                    <a:gd name="T5" fmla="*/ 41 h 41"/>
                    <a:gd name="T6" fmla="*/ 26 w 100"/>
                    <a:gd name="T7" fmla="*/ 41 h 41"/>
                    <a:gd name="T8" fmla="*/ 28 w 100"/>
                    <a:gd name="T9" fmla="*/ 41 h 41"/>
                    <a:gd name="T10" fmla="*/ 29 w 100"/>
                    <a:gd name="T11" fmla="*/ 41 h 41"/>
                    <a:gd name="T12" fmla="*/ 100 w 100"/>
                    <a:gd name="T13" fmla="*/ 41 h 41"/>
                    <a:gd name="T14" fmla="*/ 95 w 100"/>
                    <a:gd name="T15" fmla="*/ 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0" h="41">
                      <a:moveTo>
                        <a:pt x="95" y="0"/>
                      </a:moveTo>
                      <a:cubicBezTo>
                        <a:pt x="67" y="15"/>
                        <a:pt x="35" y="29"/>
                        <a:pt x="0" y="41"/>
                      </a:cubicBezTo>
                      <a:cubicBezTo>
                        <a:pt x="24" y="41"/>
                        <a:pt x="24" y="41"/>
                        <a:pt x="24" y="41"/>
                      </a:cubicBezTo>
                      <a:cubicBezTo>
                        <a:pt x="26" y="41"/>
                        <a:pt x="26" y="41"/>
                        <a:pt x="26" y="41"/>
                      </a:cubicBezTo>
                      <a:cubicBezTo>
                        <a:pt x="28" y="41"/>
                        <a:pt x="28" y="41"/>
                        <a:pt x="28" y="41"/>
                      </a:cubicBezTo>
                      <a:cubicBezTo>
                        <a:pt x="29" y="41"/>
                        <a:pt x="29" y="41"/>
                        <a:pt x="29" y="41"/>
                      </a:cubicBezTo>
                      <a:cubicBezTo>
                        <a:pt x="100" y="41"/>
                        <a:pt x="100" y="41"/>
                        <a:pt x="100" y="41"/>
                      </a:cubicBezTo>
                      <a:cubicBezTo>
                        <a:pt x="100" y="28"/>
                        <a:pt x="99" y="14"/>
                        <a:pt x="95" y="0"/>
                      </a:cubicBezTo>
                    </a:path>
                  </a:pathLst>
                </a:custGeom>
                <a:solidFill>
                  <a:srgbClr val="8EAFB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íśľiḍé"/>
                <p:cNvSpPr/>
                <p:nvPr/>
              </p:nvSpPr>
              <p:spPr bwMode="auto">
                <a:xfrm>
                  <a:off x="5727306" y="3892990"/>
                  <a:ext cx="494437" cy="780510"/>
                </a:xfrm>
                <a:custGeom>
                  <a:avLst/>
                  <a:gdLst>
                    <a:gd name="T0" fmla="*/ 108 w 137"/>
                    <a:gd name="T1" fmla="*/ 0 h 216"/>
                    <a:gd name="T2" fmla="*/ 39 w 137"/>
                    <a:gd name="T3" fmla="*/ 83 h 216"/>
                    <a:gd name="T4" fmla="*/ 42 w 137"/>
                    <a:gd name="T5" fmla="*/ 92 h 216"/>
                    <a:gd name="T6" fmla="*/ 21 w 137"/>
                    <a:gd name="T7" fmla="*/ 140 h 216"/>
                    <a:gd name="T8" fmla="*/ 0 w 137"/>
                    <a:gd name="T9" fmla="*/ 216 h 216"/>
                    <a:gd name="T10" fmla="*/ 70 w 137"/>
                    <a:gd name="T11" fmla="*/ 216 h 216"/>
                    <a:gd name="T12" fmla="*/ 72 w 137"/>
                    <a:gd name="T13" fmla="*/ 216 h 216"/>
                    <a:gd name="T14" fmla="*/ 73 w 137"/>
                    <a:gd name="T15" fmla="*/ 216 h 216"/>
                    <a:gd name="T16" fmla="*/ 75 w 137"/>
                    <a:gd name="T17" fmla="*/ 216 h 216"/>
                    <a:gd name="T18" fmla="*/ 137 w 137"/>
                    <a:gd name="T19" fmla="*/ 216 h 216"/>
                    <a:gd name="T20" fmla="*/ 137 w 137"/>
                    <a:gd name="T21" fmla="*/ 165 h 216"/>
                    <a:gd name="T22" fmla="*/ 124 w 137"/>
                    <a:gd name="T23" fmla="*/ 140 h 216"/>
                    <a:gd name="T24" fmla="*/ 104 w 137"/>
                    <a:gd name="T25" fmla="*/ 92 h 216"/>
                    <a:gd name="T26" fmla="*/ 137 w 137"/>
                    <a:gd name="T27" fmla="*/ 23 h 216"/>
                    <a:gd name="T28" fmla="*/ 137 w 137"/>
                    <a:gd name="T29" fmla="*/ 16 h 216"/>
                    <a:gd name="T30" fmla="*/ 108 w 137"/>
                    <a:gd name="T31" fmla="*/ 0 h 2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37" h="216">
                      <a:moveTo>
                        <a:pt x="108" y="0"/>
                      </a:moveTo>
                      <a:cubicBezTo>
                        <a:pt x="93" y="23"/>
                        <a:pt x="71" y="53"/>
                        <a:pt x="39" y="83"/>
                      </a:cubicBezTo>
                      <a:cubicBezTo>
                        <a:pt x="41" y="87"/>
                        <a:pt x="41" y="90"/>
                        <a:pt x="42" y="92"/>
                      </a:cubicBezTo>
                      <a:cubicBezTo>
                        <a:pt x="42" y="109"/>
                        <a:pt x="33" y="123"/>
                        <a:pt x="21" y="140"/>
                      </a:cubicBezTo>
                      <a:cubicBezTo>
                        <a:pt x="4" y="163"/>
                        <a:pt x="0" y="193"/>
                        <a:pt x="0" y="216"/>
                      </a:cubicBezTo>
                      <a:cubicBezTo>
                        <a:pt x="70" y="216"/>
                        <a:pt x="70" y="216"/>
                        <a:pt x="70" y="216"/>
                      </a:cubicBezTo>
                      <a:cubicBezTo>
                        <a:pt x="72" y="216"/>
                        <a:pt x="72" y="216"/>
                        <a:pt x="72" y="216"/>
                      </a:cubicBezTo>
                      <a:cubicBezTo>
                        <a:pt x="73" y="216"/>
                        <a:pt x="73" y="216"/>
                        <a:pt x="73" y="216"/>
                      </a:cubicBezTo>
                      <a:cubicBezTo>
                        <a:pt x="75" y="216"/>
                        <a:pt x="75" y="216"/>
                        <a:pt x="75" y="216"/>
                      </a:cubicBezTo>
                      <a:cubicBezTo>
                        <a:pt x="137" y="216"/>
                        <a:pt x="137" y="216"/>
                        <a:pt x="137" y="216"/>
                      </a:cubicBezTo>
                      <a:cubicBezTo>
                        <a:pt x="137" y="165"/>
                        <a:pt x="137" y="165"/>
                        <a:pt x="137" y="165"/>
                      </a:cubicBezTo>
                      <a:cubicBezTo>
                        <a:pt x="134" y="156"/>
                        <a:pt x="130" y="148"/>
                        <a:pt x="124" y="140"/>
                      </a:cubicBezTo>
                      <a:cubicBezTo>
                        <a:pt x="113" y="123"/>
                        <a:pt x="103" y="109"/>
                        <a:pt x="104" y="92"/>
                      </a:cubicBezTo>
                      <a:cubicBezTo>
                        <a:pt x="104" y="76"/>
                        <a:pt x="134" y="42"/>
                        <a:pt x="137" y="23"/>
                      </a:cubicBezTo>
                      <a:cubicBezTo>
                        <a:pt x="137" y="16"/>
                        <a:pt x="137" y="16"/>
                        <a:pt x="137" y="16"/>
                      </a:cubicBezTo>
                      <a:cubicBezTo>
                        <a:pt x="135" y="5"/>
                        <a:pt x="121" y="3"/>
                        <a:pt x="108" y="0"/>
                      </a:cubicBezTo>
                    </a:path>
                  </a:pathLst>
                </a:custGeom>
                <a:solidFill>
                  <a:srgbClr val="8EAFB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iṧḷîḍè"/>
                <p:cNvSpPr/>
                <p:nvPr/>
              </p:nvSpPr>
              <p:spPr bwMode="auto">
                <a:xfrm>
                  <a:off x="4176671" y="3686818"/>
                  <a:ext cx="2045071" cy="1165505"/>
                </a:xfrm>
                <a:custGeom>
                  <a:avLst/>
                  <a:gdLst>
                    <a:gd name="T0" fmla="*/ 39 w 566"/>
                    <a:gd name="T1" fmla="*/ 320 h 323"/>
                    <a:gd name="T2" fmla="*/ 0 w 566"/>
                    <a:gd name="T3" fmla="*/ 323 h 323"/>
                    <a:gd name="T4" fmla="*/ 39 w 566"/>
                    <a:gd name="T5" fmla="*/ 323 h 323"/>
                    <a:gd name="T6" fmla="*/ 39 w 566"/>
                    <a:gd name="T7" fmla="*/ 320 h 323"/>
                    <a:gd name="T8" fmla="*/ 269 w 566"/>
                    <a:gd name="T9" fmla="*/ 273 h 323"/>
                    <a:gd name="T10" fmla="*/ 245 w 566"/>
                    <a:gd name="T11" fmla="*/ 273 h 323"/>
                    <a:gd name="T12" fmla="*/ 45 w 566"/>
                    <a:gd name="T13" fmla="*/ 319 h 323"/>
                    <a:gd name="T14" fmla="*/ 45 w 566"/>
                    <a:gd name="T15" fmla="*/ 323 h 323"/>
                    <a:gd name="T16" fmla="*/ 269 w 566"/>
                    <a:gd name="T17" fmla="*/ 323 h 323"/>
                    <a:gd name="T18" fmla="*/ 269 w 566"/>
                    <a:gd name="T19" fmla="*/ 273 h 323"/>
                    <a:gd name="T20" fmla="*/ 566 w 566"/>
                    <a:gd name="T21" fmla="*/ 273 h 323"/>
                    <a:gd name="T22" fmla="*/ 504 w 566"/>
                    <a:gd name="T23" fmla="*/ 273 h 323"/>
                    <a:gd name="T24" fmla="*/ 504 w 566"/>
                    <a:gd name="T25" fmla="*/ 323 h 323"/>
                    <a:gd name="T26" fmla="*/ 566 w 566"/>
                    <a:gd name="T27" fmla="*/ 323 h 323"/>
                    <a:gd name="T28" fmla="*/ 566 w 566"/>
                    <a:gd name="T29" fmla="*/ 273 h 323"/>
                    <a:gd name="T30" fmla="*/ 468 w 566"/>
                    <a:gd name="T31" fmla="*/ 140 h 323"/>
                    <a:gd name="T32" fmla="*/ 340 w 566"/>
                    <a:gd name="T33" fmla="*/ 232 h 323"/>
                    <a:gd name="T34" fmla="*/ 345 w 566"/>
                    <a:gd name="T35" fmla="*/ 273 h 323"/>
                    <a:gd name="T36" fmla="*/ 274 w 566"/>
                    <a:gd name="T37" fmla="*/ 273 h 323"/>
                    <a:gd name="T38" fmla="*/ 274 w 566"/>
                    <a:gd name="T39" fmla="*/ 323 h 323"/>
                    <a:gd name="T40" fmla="*/ 499 w 566"/>
                    <a:gd name="T41" fmla="*/ 323 h 323"/>
                    <a:gd name="T42" fmla="*/ 499 w 566"/>
                    <a:gd name="T43" fmla="*/ 273 h 323"/>
                    <a:gd name="T44" fmla="*/ 429 w 566"/>
                    <a:gd name="T45" fmla="*/ 273 h 323"/>
                    <a:gd name="T46" fmla="*/ 450 w 566"/>
                    <a:gd name="T47" fmla="*/ 197 h 323"/>
                    <a:gd name="T48" fmla="*/ 471 w 566"/>
                    <a:gd name="T49" fmla="*/ 149 h 323"/>
                    <a:gd name="T50" fmla="*/ 468 w 566"/>
                    <a:gd name="T51" fmla="*/ 140 h 323"/>
                    <a:gd name="T52" fmla="*/ 566 w 566"/>
                    <a:gd name="T53" fmla="*/ 80 h 323"/>
                    <a:gd name="T54" fmla="*/ 533 w 566"/>
                    <a:gd name="T55" fmla="*/ 149 h 323"/>
                    <a:gd name="T56" fmla="*/ 553 w 566"/>
                    <a:gd name="T57" fmla="*/ 197 h 323"/>
                    <a:gd name="T58" fmla="*/ 566 w 566"/>
                    <a:gd name="T59" fmla="*/ 222 h 323"/>
                    <a:gd name="T60" fmla="*/ 566 w 566"/>
                    <a:gd name="T61" fmla="*/ 80 h 323"/>
                    <a:gd name="T62" fmla="*/ 566 w 566"/>
                    <a:gd name="T63" fmla="*/ 0 h 323"/>
                    <a:gd name="T64" fmla="*/ 537 w 566"/>
                    <a:gd name="T65" fmla="*/ 57 h 323"/>
                    <a:gd name="T66" fmla="*/ 566 w 566"/>
                    <a:gd name="T67" fmla="*/ 73 h 323"/>
                    <a:gd name="T68" fmla="*/ 566 w 566"/>
                    <a:gd name="T69" fmla="*/ 0 h 3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566" h="323">
                      <a:moveTo>
                        <a:pt x="39" y="320"/>
                      </a:moveTo>
                      <a:cubicBezTo>
                        <a:pt x="27" y="321"/>
                        <a:pt x="13" y="322"/>
                        <a:pt x="0" y="323"/>
                      </a:cubicBezTo>
                      <a:cubicBezTo>
                        <a:pt x="39" y="323"/>
                        <a:pt x="39" y="323"/>
                        <a:pt x="39" y="323"/>
                      </a:cubicBezTo>
                      <a:cubicBezTo>
                        <a:pt x="39" y="320"/>
                        <a:pt x="39" y="320"/>
                        <a:pt x="39" y="320"/>
                      </a:cubicBezTo>
                      <a:moveTo>
                        <a:pt x="269" y="273"/>
                      </a:moveTo>
                      <a:cubicBezTo>
                        <a:pt x="245" y="273"/>
                        <a:pt x="245" y="273"/>
                        <a:pt x="245" y="273"/>
                      </a:cubicBezTo>
                      <a:cubicBezTo>
                        <a:pt x="188" y="293"/>
                        <a:pt x="122" y="310"/>
                        <a:pt x="45" y="319"/>
                      </a:cubicBezTo>
                      <a:cubicBezTo>
                        <a:pt x="45" y="323"/>
                        <a:pt x="45" y="323"/>
                        <a:pt x="45" y="323"/>
                      </a:cubicBezTo>
                      <a:cubicBezTo>
                        <a:pt x="269" y="323"/>
                        <a:pt x="269" y="323"/>
                        <a:pt x="269" y="323"/>
                      </a:cubicBezTo>
                      <a:cubicBezTo>
                        <a:pt x="269" y="273"/>
                        <a:pt x="269" y="273"/>
                        <a:pt x="269" y="273"/>
                      </a:cubicBezTo>
                      <a:moveTo>
                        <a:pt x="566" y="273"/>
                      </a:moveTo>
                      <a:cubicBezTo>
                        <a:pt x="504" y="273"/>
                        <a:pt x="504" y="273"/>
                        <a:pt x="504" y="273"/>
                      </a:cubicBezTo>
                      <a:cubicBezTo>
                        <a:pt x="504" y="323"/>
                        <a:pt x="504" y="323"/>
                        <a:pt x="504" y="323"/>
                      </a:cubicBezTo>
                      <a:cubicBezTo>
                        <a:pt x="566" y="323"/>
                        <a:pt x="566" y="323"/>
                        <a:pt x="566" y="323"/>
                      </a:cubicBezTo>
                      <a:cubicBezTo>
                        <a:pt x="566" y="273"/>
                        <a:pt x="566" y="273"/>
                        <a:pt x="566" y="273"/>
                      </a:cubicBezTo>
                      <a:moveTo>
                        <a:pt x="468" y="140"/>
                      </a:moveTo>
                      <a:cubicBezTo>
                        <a:pt x="436" y="171"/>
                        <a:pt x="394" y="203"/>
                        <a:pt x="340" y="232"/>
                      </a:cubicBezTo>
                      <a:cubicBezTo>
                        <a:pt x="344" y="246"/>
                        <a:pt x="345" y="260"/>
                        <a:pt x="345" y="273"/>
                      </a:cubicBezTo>
                      <a:cubicBezTo>
                        <a:pt x="274" y="273"/>
                        <a:pt x="274" y="273"/>
                        <a:pt x="274" y="273"/>
                      </a:cubicBezTo>
                      <a:cubicBezTo>
                        <a:pt x="274" y="323"/>
                        <a:pt x="274" y="323"/>
                        <a:pt x="274" y="323"/>
                      </a:cubicBezTo>
                      <a:cubicBezTo>
                        <a:pt x="499" y="323"/>
                        <a:pt x="499" y="323"/>
                        <a:pt x="499" y="323"/>
                      </a:cubicBezTo>
                      <a:cubicBezTo>
                        <a:pt x="499" y="273"/>
                        <a:pt x="499" y="273"/>
                        <a:pt x="499" y="273"/>
                      </a:cubicBezTo>
                      <a:cubicBezTo>
                        <a:pt x="429" y="273"/>
                        <a:pt x="429" y="273"/>
                        <a:pt x="429" y="273"/>
                      </a:cubicBezTo>
                      <a:cubicBezTo>
                        <a:pt x="429" y="250"/>
                        <a:pt x="433" y="220"/>
                        <a:pt x="450" y="197"/>
                      </a:cubicBezTo>
                      <a:cubicBezTo>
                        <a:pt x="462" y="180"/>
                        <a:pt x="471" y="166"/>
                        <a:pt x="471" y="149"/>
                      </a:cubicBezTo>
                      <a:cubicBezTo>
                        <a:pt x="470" y="147"/>
                        <a:pt x="470" y="144"/>
                        <a:pt x="468" y="140"/>
                      </a:cubicBezTo>
                      <a:moveTo>
                        <a:pt x="566" y="80"/>
                      </a:moveTo>
                      <a:cubicBezTo>
                        <a:pt x="563" y="99"/>
                        <a:pt x="533" y="133"/>
                        <a:pt x="533" y="149"/>
                      </a:cubicBezTo>
                      <a:cubicBezTo>
                        <a:pt x="532" y="166"/>
                        <a:pt x="542" y="180"/>
                        <a:pt x="553" y="197"/>
                      </a:cubicBezTo>
                      <a:cubicBezTo>
                        <a:pt x="559" y="205"/>
                        <a:pt x="563" y="213"/>
                        <a:pt x="566" y="222"/>
                      </a:cubicBezTo>
                      <a:cubicBezTo>
                        <a:pt x="566" y="80"/>
                        <a:pt x="566" y="80"/>
                        <a:pt x="566" y="80"/>
                      </a:cubicBezTo>
                      <a:moveTo>
                        <a:pt x="566" y="0"/>
                      </a:moveTo>
                      <a:cubicBezTo>
                        <a:pt x="566" y="0"/>
                        <a:pt x="559" y="23"/>
                        <a:pt x="537" y="57"/>
                      </a:cubicBezTo>
                      <a:cubicBezTo>
                        <a:pt x="550" y="60"/>
                        <a:pt x="564" y="62"/>
                        <a:pt x="566" y="73"/>
                      </a:cubicBezTo>
                      <a:cubicBezTo>
                        <a:pt x="566" y="0"/>
                        <a:pt x="566" y="0"/>
                        <a:pt x="566" y="0"/>
                      </a:cubicBezTo>
                    </a:path>
                  </a:pathLst>
                </a:custGeom>
                <a:solidFill>
                  <a:srgbClr val="56667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ïṥḻîḓé"/>
                <p:cNvSpPr/>
                <p:nvPr/>
              </p:nvSpPr>
              <p:spPr bwMode="auto">
                <a:xfrm>
                  <a:off x="3415030" y="2245716"/>
                  <a:ext cx="547036" cy="742640"/>
                </a:xfrm>
                <a:custGeom>
                  <a:avLst/>
                  <a:gdLst>
                    <a:gd name="T0" fmla="*/ 61 w 151"/>
                    <a:gd name="T1" fmla="*/ 0 h 205"/>
                    <a:gd name="T2" fmla="*/ 3 w 151"/>
                    <a:gd name="T3" fmla="*/ 159 h 205"/>
                    <a:gd name="T4" fmla="*/ 39 w 151"/>
                    <a:gd name="T5" fmla="*/ 204 h 205"/>
                    <a:gd name="T6" fmla="*/ 98 w 151"/>
                    <a:gd name="T7" fmla="*/ 166 h 205"/>
                    <a:gd name="T8" fmla="*/ 151 w 151"/>
                    <a:gd name="T9" fmla="*/ 0 h 205"/>
                    <a:gd name="T10" fmla="*/ 61 w 151"/>
                    <a:gd name="T11" fmla="*/ 0 h 2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1" h="205">
                      <a:moveTo>
                        <a:pt x="61" y="0"/>
                      </a:moveTo>
                      <a:cubicBezTo>
                        <a:pt x="61" y="0"/>
                        <a:pt x="6" y="147"/>
                        <a:pt x="3" y="159"/>
                      </a:cubicBezTo>
                      <a:cubicBezTo>
                        <a:pt x="0" y="172"/>
                        <a:pt x="5" y="203"/>
                        <a:pt x="39" y="204"/>
                      </a:cubicBezTo>
                      <a:cubicBezTo>
                        <a:pt x="73" y="205"/>
                        <a:pt x="91" y="183"/>
                        <a:pt x="98" y="166"/>
                      </a:cubicBezTo>
                      <a:cubicBezTo>
                        <a:pt x="104" y="150"/>
                        <a:pt x="151" y="0"/>
                        <a:pt x="151" y="0"/>
                      </a:cubicBezTo>
                      <a:lnTo>
                        <a:pt x="61" y="0"/>
                      </a:lnTo>
                      <a:close/>
                    </a:path>
                  </a:pathLst>
                </a:custGeom>
                <a:solidFill>
                  <a:srgbClr val="EA1F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iṡḷiḍé"/>
                <p:cNvSpPr/>
                <p:nvPr/>
              </p:nvSpPr>
              <p:spPr bwMode="auto">
                <a:xfrm>
                  <a:off x="3419238" y="2836883"/>
                  <a:ext cx="353469" cy="151474"/>
                </a:xfrm>
                <a:custGeom>
                  <a:avLst/>
                  <a:gdLst>
                    <a:gd name="T0" fmla="*/ 98 w 98"/>
                    <a:gd name="T1" fmla="*/ 0 h 42"/>
                    <a:gd name="T2" fmla="*/ 2 w 98"/>
                    <a:gd name="T3" fmla="*/ 0 h 42"/>
                    <a:gd name="T4" fmla="*/ 2 w 98"/>
                    <a:gd name="T5" fmla="*/ 0 h 42"/>
                    <a:gd name="T6" fmla="*/ 38 w 98"/>
                    <a:gd name="T7" fmla="*/ 41 h 42"/>
                    <a:gd name="T8" fmla="*/ 97 w 98"/>
                    <a:gd name="T9" fmla="*/ 3 h 42"/>
                    <a:gd name="T10" fmla="*/ 98 w 98"/>
                    <a:gd name="T11" fmla="*/ 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8" h="42">
                      <a:moveTo>
                        <a:pt x="98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13"/>
                        <a:pt x="7" y="41"/>
                        <a:pt x="38" y="41"/>
                      </a:cubicBezTo>
                      <a:cubicBezTo>
                        <a:pt x="72" y="42"/>
                        <a:pt x="90" y="20"/>
                        <a:pt x="97" y="3"/>
                      </a:cubicBezTo>
                      <a:cubicBezTo>
                        <a:pt x="97" y="3"/>
                        <a:pt x="98" y="1"/>
                        <a:pt x="98" y="0"/>
                      </a:cubicBezTo>
                      <a:close/>
                    </a:path>
                  </a:pathLst>
                </a:custGeom>
                <a:solidFill>
                  <a:srgbClr val="F94B9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7" name="í$lîdé"/>
                <p:cNvSpPr/>
                <p:nvPr/>
              </p:nvSpPr>
              <p:spPr bwMode="auto">
                <a:xfrm>
                  <a:off x="3766394" y="2245716"/>
                  <a:ext cx="525996" cy="761575"/>
                </a:xfrm>
                <a:custGeom>
                  <a:avLst/>
                  <a:gdLst>
                    <a:gd name="T0" fmla="*/ 54 w 146"/>
                    <a:gd name="T1" fmla="*/ 0 h 210"/>
                    <a:gd name="T2" fmla="*/ 146 w 146"/>
                    <a:gd name="T3" fmla="*/ 0 h 210"/>
                    <a:gd name="T4" fmla="*/ 95 w 146"/>
                    <a:gd name="T5" fmla="*/ 179 h 210"/>
                    <a:gd name="T6" fmla="*/ 37 w 146"/>
                    <a:gd name="T7" fmla="*/ 207 h 210"/>
                    <a:gd name="T8" fmla="*/ 4 w 146"/>
                    <a:gd name="T9" fmla="*/ 158 h 210"/>
                    <a:gd name="T10" fmla="*/ 54 w 146"/>
                    <a:gd name="T11" fmla="*/ 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6" h="210">
                      <a:moveTo>
                        <a:pt x="54" y="0"/>
                      </a:moveTo>
                      <a:cubicBezTo>
                        <a:pt x="146" y="0"/>
                        <a:pt x="146" y="0"/>
                        <a:pt x="146" y="0"/>
                      </a:cubicBezTo>
                      <a:cubicBezTo>
                        <a:pt x="146" y="0"/>
                        <a:pt x="100" y="168"/>
                        <a:pt x="95" y="179"/>
                      </a:cubicBezTo>
                      <a:cubicBezTo>
                        <a:pt x="89" y="190"/>
                        <a:pt x="74" y="210"/>
                        <a:pt x="37" y="207"/>
                      </a:cubicBezTo>
                      <a:cubicBezTo>
                        <a:pt x="1" y="205"/>
                        <a:pt x="0" y="170"/>
                        <a:pt x="4" y="158"/>
                      </a:cubicBezTo>
                      <a:cubicBezTo>
                        <a:pt x="8" y="145"/>
                        <a:pt x="54" y="0"/>
                        <a:pt x="54" y="0"/>
                      </a:cubicBezTo>
                      <a:close/>
                    </a:path>
                  </a:pathLst>
                </a:custGeom>
                <a:solidFill>
                  <a:srgbClr val="F98A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8" name="îślíde"/>
                <p:cNvSpPr/>
                <p:nvPr/>
              </p:nvSpPr>
              <p:spPr bwMode="auto">
                <a:xfrm>
                  <a:off x="3768499" y="2836883"/>
                  <a:ext cx="357677" cy="170408"/>
                </a:xfrm>
                <a:custGeom>
                  <a:avLst/>
                  <a:gdLst>
                    <a:gd name="T0" fmla="*/ 2 w 99"/>
                    <a:gd name="T1" fmla="*/ 0 h 47"/>
                    <a:gd name="T2" fmla="*/ 36 w 99"/>
                    <a:gd name="T3" fmla="*/ 44 h 47"/>
                    <a:gd name="T4" fmla="*/ 94 w 99"/>
                    <a:gd name="T5" fmla="*/ 16 h 47"/>
                    <a:gd name="T6" fmla="*/ 98 w 99"/>
                    <a:gd name="T7" fmla="*/ 2 h 47"/>
                    <a:gd name="T8" fmla="*/ 99 w 99"/>
                    <a:gd name="T9" fmla="*/ 0 h 47"/>
                    <a:gd name="T10" fmla="*/ 2 w 99"/>
                    <a:gd name="T11" fmla="*/ 0 h 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9" h="47">
                      <a:moveTo>
                        <a:pt x="2" y="0"/>
                      </a:moveTo>
                      <a:cubicBezTo>
                        <a:pt x="0" y="14"/>
                        <a:pt x="4" y="42"/>
                        <a:pt x="36" y="44"/>
                      </a:cubicBezTo>
                      <a:cubicBezTo>
                        <a:pt x="73" y="47"/>
                        <a:pt x="88" y="27"/>
                        <a:pt x="94" y="16"/>
                      </a:cubicBezTo>
                      <a:cubicBezTo>
                        <a:pt x="94" y="15"/>
                        <a:pt x="96" y="10"/>
                        <a:pt x="98" y="2"/>
                      </a:cubicBezTo>
                      <a:cubicBezTo>
                        <a:pt x="99" y="0"/>
                        <a:pt x="99" y="0"/>
                        <a:pt x="99" y="0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FCB9D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íṧ1íḑè"/>
                <p:cNvSpPr/>
                <p:nvPr/>
              </p:nvSpPr>
              <p:spPr bwMode="auto">
                <a:xfrm>
                  <a:off x="4105136" y="2245716"/>
                  <a:ext cx="513372" cy="755263"/>
                </a:xfrm>
                <a:custGeom>
                  <a:avLst/>
                  <a:gdLst>
                    <a:gd name="T0" fmla="*/ 52 w 142"/>
                    <a:gd name="T1" fmla="*/ 0 h 209"/>
                    <a:gd name="T2" fmla="*/ 142 w 142"/>
                    <a:gd name="T3" fmla="*/ 0 h 209"/>
                    <a:gd name="T4" fmla="*/ 103 w 142"/>
                    <a:gd name="T5" fmla="*/ 176 h 209"/>
                    <a:gd name="T6" fmla="*/ 52 w 142"/>
                    <a:gd name="T7" fmla="*/ 208 h 209"/>
                    <a:gd name="T8" fmla="*/ 6 w 142"/>
                    <a:gd name="T9" fmla="*/ 164 h 209"/>
                    <a:gd name="T10" fmla="*/ 52 w 142"/>
                    <a:gd name="T11" fmla="*/ 0 h 20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2" h="209">
                      <a:moveTo>
                        <a:pt x="52" y="0"/>
                      </a:moveTo>
                      <a:cubicBezTo>
                        <a:pt x="142" y="0"/>
                        <a:pt x="142" y="0"/>
                        <a:pt x="142" y="0"/>
                      </a:cubicBezTo>
                      <a:cubicBezTo>
                        <a:pt x="142" y="0"/>
                        <a:pt x="104" y="172"/>
                        <a:pt x="103" y="176"/>
                      </a:cubicBezTo>
                      <a:cubicBezTo>
                        <a:pt x="102" y="180"/>
                        <a:pt x="86" y="206"/>
                        <a:pt x="52" y="208"/>
                      </a:cubicBezTo>
                      <a:cubicBezTo>
                        <a:pt x="17" y="209"/>
                        <a:pt x="0" y="183"/>
                        <a:pt x="6" y="164"/>
                      </a:cubicBezTo>
                      <a:cubicBezTo>
                        <a:pt x="14" y="137"/>
                        <a:pt x="52" y="0"/>
                        <a:pt x="52" y="0"/>
                      </a:cubicBezTo>
                      <a:close/>
                    </a:path>
                  </a:pathLst>
                </a:custGeom>
                <a:solidFill>
                  <a:srgbClr val="EA1F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íS1ïḑe"/>
                <p:cNvSpPr/>
                <p:nvPr/>
              </p:nvSpPr>
              <p:spPr bwMode="auto">
                <a:xfrm>
                  <a:off x="4105136" y="2836883"/>
                  <a:ext cx="382925" cy="164096"/>
                </a:xfrm>
                <a:custGeom>
                  <a:avLst/>
                  <a:gdLst>
                    <a:gd name="T0" fmla="*/ 106 w 106"/>
                    <a:gd name="T1" fmla="*/ 0 h 46"/>
                    <a:gd name="T2" fmla="*/ 6 w 106"/>
                    <a:gd name="T3" fmla="*/ 0 h 46"/>
                    <a:gd name="T4" fmla="*/ 6 w 106"/>
                    <a:gd name="T5" fmla="*/ 1 h 46"/>
                    <a:gd name="T6" fmla="*/ 52 w 106"/>
                    <a:gd name="T7" fmla="*/ 45 h 46"/>
                    <a:gd name="T8" fmla="*/ 101 w 106"/>
                    <a:gd name="T9" fmla="*/ 17 h 46"/>
                    <a:gd name="T10" fmla="*/ 106 w 106"/>
                    <a:gd name="T11" fmla="*/ 0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6" h="46">
                      <a:moveTo>
                        <a:pt x="106" y="0"/>
                      </a:move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6" y="0"/>
                        <a:pt x="6" y="0"/>
                        <a:pt x="6" y="1"/>
                      </a:cubicBezTo>
                      <a:cubicBezTo>
                        <a:pt x="0" y="20"/>
                        <a:pt x="17" y="46"/>
                        <a:pt x="52" y="45"/>
                      </a:cubicBezTo>
                      <a:cubicBezTo>
                        <a:pt x="81" y="43"/>
                        <a:pt x="96" y="25"/>
                        <a:pt x="101" y="17"/>
                      </a:cubicBezTo>
                      <a:lnTo>
                        <a:pt x="106" y="0"/>
                      </a:lnTo>
                      <a:close/>
                    </a:path>
                  </a:pathLst>
                </a:custGeom>
                <a:solidFill>
                  <a:srgbClr val="F94B9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îṧ1ïďe"/>
                <p:cNvSpPr/>
                <p:nvPr/>
              </p:nvSpPr>
              <p:spPr bwMode="auto">
                <a:xfrm>
                  <a:off x="4473332" y="2245716"/>
                  <a:ext cx="462876" cy="763678"/>
                </a:xfrm>
                <a:custGeom>
                  <a:avLst/>
                  <a:gdLst>
                    <a:gd name="T0" fmla="*/ 40 w 128"/>
                    <a:gd name="T1" fmla="*/ 0 h 211"/>
                    <a:gd name="T2" fmla="*/ 128 w 128"/>
                    <a:gd name="T3" fmla="*/ 0 h 211"/>
                    <a:gd name="T4" fmla="*/ 99 w 128"/>
                    <a:gd name="T5" fmla="*/ 176 h 211"/>
                    <a:gd name="T6" fmla="*/ 40 w 128"/>
                    <a:gd name="T7" fmla="*/ 208 h 211"/>
                    <a:gd name="T8" fmla="*/ 4 w 128"/>
                    <a:gd name="T9" fmla="*/ 164 h 211"/>
                    <a:gd name="T10" fmla="*/ 40 w 128"/>
                    <a:gd name="T11" fmla="*/ 0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8" h="211">
                      <a:moveTo>
                        <a:pt x="40" y="0"/>
                      </a:moveTo>
                      <a:cubicBezTo>
                        <a:pt x="128" y="0"/>
                        <a:pt x="128" y="0"/>
                        <a:pt x="128" y="0"/>
                      </a:cubicBezTo>
                      <a:cubicBezTo>
                        <a:pt x="128" y="0"/>
                        <a:pt x="103" y="161"/>
                        <a:pt x="99" y="176"/>
                      </a:cubicBezTo>
                      <a:cubicBezTo>
                        <a:pt x="95" y="191"/>
                        <a:pt x="75" y="211"/>
                        <a:pt x="40" y="208"/>
                      </a:cubicBezTo>
                      <a:cubicBezTo>
                        <a:pt x="6" y="204"/>
                        <a:pt x="0" y="179"/>
                        <a:pt x="4" y="164"/>
                      </a:cubicBezTo>
                      <a:cubicBezTo>
                        <a:pt x="8" y="145"/>
                        <a:pt x="40" y="0"/>
                        <a:pt x="40" y="0"/>
                      </a:cubicBezTo>
                      <a:close/>
                    </a:path>
                  </a:pathLst>
                </a:custGeom>
                <a:solidFill>
                  <a:srgbClr val="F98A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îṡḷïḑè"/>
                <p:cNvSpPr/>
                <p:nvPr/>
              </p:nvSpPr>
              <p:spPr bwMode="auto">
                <a:xfrm>
                  <a:off x="4473332" y="2836883"/>
                  <a:ext cx="368198" cy="172512"/>
                </a:xfrm>
                <a:custGeom>
                  <a:avLst/>
                  <a:gdLst>
                    <a:gd name="T0" fmla="*/ 102 w 102"/>
                    <a:gd name="T1" fmla="*/ 0 h 48"/>
                    <a:gd name="T2" fmla="*/ 4 w 102"/>
                    <a:gd name="T3" fmla="*/ 0 h 48"/>
                    <a:gd name="T4" fmla="*/ 4 w 102"/>
                    <a:gd name="T5" fmla="*/ 1 h 48"/>
                    <a:gd name="T6" fmla="*/ 40 w 102"/>
                    <a:gd name="T7" fmla="*/ 45 h 48"/>
                    <a:gd name="T8" fmla="*/ 99 w 102"/>
                    <a:gd name="T9" fmla="*/ 13 h 48"/>
                    <a:gd name="T10" fmla="*/ 102 w 102"/>
                    <a:gd name="T11" fmla="*/ 1 h 48"/>
                    <a:gd name="T12" fmla="*/ 102 w 102"/>
                    <a:gd name="T13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2" h="48">
                      <a:moveTo>
                        <a:pt x="102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4" y="0"/>
                        <a:pt x="4" y="0"/>
                        <a:pt x="4" y="1"/>
                      </a:cubicBezTo>
                      <a:cubicBezTo>
                        <a:pt x="0" y="16"/>
                        <a:pt x="6" y="41"/>
                        <a:pt x="40" y="45"/>
                      </a:cubicBezTo>
                      <a:cubicBezTo>
                        <a:pt x="75" y="48"/>
                        <a:pt x="95" y="28"/>
                        <a:pt x="99" y="13"/>
                      </a:cubicBezTo>
                      <a:cubicBezTo>
                        <a:pt x="100" y="11"/>
                        <a:pt x="101" y="7"/>
                        <a:pt x="102" y="1"/>
                      </a:cubicBezTo>
                      <a:lnTo>
                        <a:pt x="102" y="0"/>
                      </a:lnTo>
                      <a:close/>
                    </a:path>
                  </a:pathLst>
                </a:custGeom>
                <a:solidFill>
                  <a:srgbClr val="FCB9D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îṥḷide"/>
                <p:cNvSpPr/>
                <p:nvPr/>
              </p:nvSpPr>
              <p:spPr bwMode="auto">
                <a:xfrm>
                  <a:off x="4835217" y="2245716"/>
                  <a:ext cx="437628" cy="763678"/>
                </a:xfrm>
                <a:custGeom>
                  <a:avLst/>
                  <a:gdLst>
                    <a:gd name="T0" fmla="*/ 28 w 121"/>
                    <a:gd name="T1" fmla="*/ 0 h 211"/>
                    <a:gd name="T2" fmla="*/ 121 w 121"/>
                    <a:gd name="T3" fmla="*/ 0 h 211"/>
                    <a:gd name="T4" fmla="*/ 101 w 121"/>
                    <a:gd name="T5" fmla="*/ 174 h 211"/>
                    <a:gd name="T6" fmla="*/ 43 w 121"/>
                    <a:gd name="T7" fmla="*/ 208 h 211"/>
                    <a:gd name="T8" fmla="*/ 2 w 121"/>
                    <a:gd name="T9" fmla="*/ 164 h 211"/>
                    <a:gd name="T10" fmla="*/ 28 w 121"/>
                    <a:gd name="T11" fmla="*/ 0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1" h="211">
                      <a:moveTo>
                        <a:pt x="28" y="0"/>
                      </a:moveTo>
                      <a:cubicBezTo>
                        <a:pt x="121" y="0"/>
                        <a:pt x="121" y="0"/>
                        <a:pt x="121" y="0"/>
                      </a:cubicBezTo>
                      <a:cubicBezTo>
                        <a:pt x="101" y="174"/>
                        <a:pt x="101" y="174"/>
                        <a:pt x="101" y="174"/>
                      </a:cubicBezTo>
                      <a:cubicBezTo>
                        <a:pt x="101" y="174"/>
                        <a:pt x="84" y="211"/>
                        <a:pt x="43" y="208"/>
                      </a:cubicBezTo>
                      <a:cubicBezTo>
                        <a:pt x="3" y="205"/>
                        <a:pt x="0" y="174"/>
                        <a:pt x="2" y="164"/>
                      </a:cubicBezTo>
                      <a:cubicBezTo>
                        <a:pt x="4" y="153"/>
                        <a:pt x="28" y="0"/>
                        <a:pt x="28" y="0"/>
                      </a:cubicBezTo>
                      <a:close/>
                    </a:path>
                  </a:pathLst>
                </a:custGeom>
                <a:solidFill>
                  <a:srgbClr val="EA1F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iṣľïdê"/>
                <p:cNvSpPr/>
                <p:nvPr/>
              </p:nvSpPr>
              <p:spPr bwMode="auto">
                <a:xfrm>
                  <a:off x="4835217" y="2838988"/>
                  <a:ext cx="366093" cy="168304"/>
                </a:xfrm>
                <a:custGeom>
                  <a:avLst/>
                  <a:gdLst>
                    <a:gd name="T0" fmla="*/ 43 w 101"/>
                    <a:gd name="T1" fmla="*/ 44 h 46"/>
                    <a:gd name="T2" fmla="*/ 101 w 101"/>
                    <a:gd name="T3" fmla="*/ 10 h 46"/>
                    <a:gd name="T4" fmla="*/ 101 w 101"/>
                    <a:gd name="T5" fmla="*/ 0 h 46"/>
                    <a:gd name="T6" fmla="*/ 2 w 101"/>
                    <a:gd name="T7" fmla="*/ 0 h 46"/>
                    <a:gd name="T8" fmla="*/ 43 w 101"/>
                    <a:gd name="T9" fmla="*/ 44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46">
                      <a:moveTo>
                        <a:pt x="43" y="44"/>
                      </a:moveTo>
                      <a:cubicBezTo>
                        <a:pt x="81" y="46"/>
                        <a:pt x="99" y="14"/>
                        <a:pt x="101" y="10"/>
                      </a:cubicBezTo>
                      <a:cubicBezTo>
                        <a:pt x="101" y="0"/>
                        <a:pt x="101" y="0"/>
                        <a:pt x="101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0" y="10"/>
                        <a:pt x="3" y="41"/>
                        <a:pt x="43" y="44"/>
                      </a:cubicBezTo>
                      <a:close/>
                    </a:path>
                  </a:pathLst>
                </a:custGeom>
                <a:solidFill>
                  <a:srgbClr val="F94B9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íŝḷíḑè"/>
                <p:cNvSpPr/>
                <p:nvPr/>
              </p:nvSpPr>
              <p:spPr bwMode="auto">
                <a:xfrm>
                  <a:off x="5194999" y="2245716"/>
                  <a:ext cx="399757" cy="767886"/>
                </a:xfrm>
                <a:custGeom>
                  <a:avLst/>
                  <a:gdLst>
                    <a:gd name="T0" fmla="*/ 18 w 110"/>
                    <a:gd name="T1" fmla="*/ 0 h 212"/>
                    <a:gd name="T2" fmla="*/ 110 w 110"/>
                    <a:gd name="T3" fmla="*/ 0 h 212"/>
                    <a:gd name="T4" fmla="*/ 98 w 110"/>
                    <a:gd name="T5" fmla="*/ 180 h 212"/>
                    <a:gd name="T6" fmla="*/ 44 w 110"/>
                    <a:gd name="T7" fmla="*/ 208 h 212"/>
                    <a:gd name="T8" fmla="*/ 1 w 110"/>
                    <a:gd name="T9" fmla="*/ 170 h 212"/>
                    <a:gd name="T10" fmla="*/ 18 w 110"/>
                    <a:gd name="T11" fmla="*/ 0 h 2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" h="212">
                      <a:moveTo>
                        <a:pt x="18" y="0"/>
                      </a:moveTo>
                      <a:cubicBezTo>
                        <a:pt x="110" y="0"/>
                        <a:pt x="110" y="0"/>
                        <a:pt x="110" y="0"/>
                      </a:cubicBezTo>
                      <a:cubicBezTo>
                        <a:pt x="98" y="180"/>
                        <a:pt x="98" y="180"/>
                        <a:pt x="98" y="180"/>
                      </a:cubicBezTo>
                      <a:cubicBezTo>
                        <a:pt x="98" y="180"/>
                        <a:pt x="80" y="212"/>
                        <a:pt x="44" y="208"/>
                      </a:cubicBezTo>
                      <a:cubicBezTo>
                        <a:pt x="8" y="204"/>
                        <a:pt x="0" y="181"/>
                        <a:pt x="1" y="170"/>
                      </a:cubicBezTo>
                      <a:cubicBezTo>
                        <a:pt x="3" y="159"/>
                        <a:pt x="18" y="0"/>
                        <a:pt x="18" y="0"/>
                      </a:cubicBezTo>
                      <a:close/>
                    </a:path>
                  </a:pathLst>
                </a:custGeom>
                <a:solidFill>
                  <a:srgbClr val="F98A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îṥļïďè"/>
                <p:cNvSpPr/>
                <p:nvPr/>
              </p:nvSpPr>
              <p:spPr bwMode="auto">
                <a:xfrm>
                  <a:off x="5194999" y="2838988"/>
                  <a:ext cx="359780" cy="174615"/>
                </a:xfrm>
                <a:custGeom>
                  <a:avLst/>
                  <a:gdLst>
                    <a:gd name="T0" fmla="*/ 2 w 99"/>
                    <a:gd name="T1" fmla="*/ 0 h 48"/>
                    <a:gd name="T2" fmla="*/ 1 w 99"/>
                    <a:gd name="T3" fmla="*/ 6 h 48"/>
                    <a:gd name="T4" fmla="*/ 44 w 99"/>
                    <a:gd name="T5" fmla="*/ 44 h 48"/>
                    <a:gd name="T6" fmla="*/ 98 w 99"/>
                    <a:gd name="T7" fmla="*/ 16 h 48"/>
                    <a:gd name="T8" fmla="*/ 99 w 99"/>
                    <a:gd name="T9" fmla="*/ 0 h 48"/>
                    <a:gd name="T10" fmla="*/ 2 w 99"/>
                    <a:gd name="T11" fmla="*/ 0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9" h="48">
                      <a:moveTo>
                        <a:pt x="2" y="0"/>
                      </a:moveTo>
                      <a:cubicBezTo>
                        <a:pt x="2" y="3"/>
                        <a:pt x="1" y="5"/>
                        <a:pt x="1" y="6"/>
                      </a:cubicBezTo>
                      <a:cubicBezTo>
                        <a:pt x="0" y="17"/>
                        <a:pt x="8" y="40"/>
                        <a:pt x="44" y="44"/>
                      </a:cubicBezTo>
                      <a:cubicBezTo>
                        <a:pt x="80" y="48"/>
                        <a:pt x="98" y="16"/>
                        <a:pt x="98" y="16"/>
                      </a:cubicBezTo>
                      <a:cubicBezTo>
                        <a:pt x="99" y="0"/>
                        <a:pt x="99" y="0"/>
                        <a:pt x="99" y="0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FCB9D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îŝľiḑé"/>
                <p:cNvSpPr/>
                <p:nvPr/>
              </p:nvSpPr>
              <p:spPr bwMode="auto">
                <a:xfrm>
                  <a:off x="5550571" y="2245716"/>
                  <a:ext cx="372406" cy="748953"/>
                </a:xfrm>
                <a:custGeom>
                  <a:avLst/>
                  <a:gdLst>
                    <a:gd name="T0" fmla="*/ 12 w 103"/>
                    <a:gd name="T1" fmla="*/ 0 h 207"/>
                    <a:gd name="T2" fmla="*/ 103 w 103"/>
                    <a:gd name="T3" fmla="*/ 0 h 207"/>
                    <a:gd name="T4" fmla="*/ 98 w 103"/>
                    <a:gd name="T5" fmla="*/ 176 h 207"/>
                    <a:gd name="T6" fmla="*/ 45 w 103"/>
                    <a:gd name="T7" fmla="*/ 205 h 207"/>
                    <a:gd name="T8" fmla="*/ 0 w 103"/>
                    <a:gd name="T9" fmla="*/ 176 h 207"/>
                    <a:gd name="T10" fmla="*/ 12 w 103"/>
                    <a:gd name="T11" fmla="*/ 0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3" h="207">
                      <a:moveTo>
                        <a:pt x="12" y="0"/>
                      </a:moveTo>
                      <a:cubicBezTo>
                        <a:pt x="103" y="0"/>
                        <a:pt x="103" y="0"/>
                        <a:pt x="103" y="0"/>
                      </a:cubicBezTo>
                      <a:cubicBezTo>
                        <a:pt x="98" y="176"/>
                        <a:pt x="98" y="176"/>
                        <a:pt x="98" y="176"/>
                      </a:cubicBezTo>
                      <a:cubicBezTo>
                        <a:pt x="98" y="176"/>
                        <a:pt x="83" y="207"/>
                        <a:pt x="45" y="205"/>
                      </a:cubicBezTo>
                      <a:cubicBezTo>
                        <a:pt x="7" y="203"/>
                        <a:pt x="0" y="176"/>
                        <a:pt x="0" y="176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EA1F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íṣlîďe"/>
                <p:cNvSpPr/>
                <p:nvPr/>
              </p:nvSpPr>
              <p:spPr bwMode="auto">
                <a:xfrm>
                  <a:off x="5554779" y="2838988"/>
                  <a:ext cx="351366" cy="155681"/>
                </a:xfrm>
                <a:custGeom>
                  <a:avLst/>
                  <a:gdLst>
                    <a:gd name="T0" fmla="*/ 97 w 97"/>
                    <a:gd name="T1" fmla="*/ 0 h 43"/>
                    <a:gd name="T2" fmla="*/ 0 w 97"/>
                    <a:gd name="T3" fmla="*/ 0 h 43"/>
                    <a:gd name="T4" fmla="*/ 0 w 97"/>
                    <a:gd name="T5" fmla="*/ 13 h 43"/>
                    <a:gd name="T6" fmla="*/ 44 w 97"/>
                    <a:gd name="T7" fmla="*/ 41 h 43"/>
                    <a:gd name="T8" fmla="*/ 97 w 97"/>
                    <a:gd name="T9" fmla="*/ 12 h 43"/>
                    <a:gd name="T10" fmla="*/ 97 w 97"/>
                    <a:gd name="T11" fmla="*/ 9 h 43"/>
                    <a:gd name="T12" fmla="*/ 97 w 97"/>
                    <a:gd name="T13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7" h="43">
                      <a:moveTo>
                        <a:pt x="9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3"/>
                        <a:pt x="0" y="13"/>
                        <a:pt x="0" y="13"/>
                      </a:cubicBezTo>
                      <a:cubicBezTo>
                        <a:pt x="1" y="18"/>
                        <a:pt x="10" y="40"/>
                        <a:pt x="44" y="41"/>
                      </a:cubicBezTo>
                      <a:cubicBezTo>
                        <a:pt x="82" y="43"/>
                        <a:pt x="97" y="12"/>
                        <a:pt x="97" y="12"/>
                      </a:cubicBezTo>
                      <a:cubicBezTo>
                        <a:pt x="97" y="9"/>
                        <a:pt x="97" y="9"/>
                        <a:pt x="97" y="9"/>
                      </a:cubicBez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rgbClr val="F94B9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69" name="îśḻïḓe"/>
                <p:cNvSpPr/>
                <p:nvPr/>
              </p:nvSpPr>
              <p:spPr bwMode="auto">
                <a:xfrm>
                  <a:off x="5906145" y="2245716"/>
                  <a:ext cx="355572" cy="748953"/>
                </a:xfrm>
                <a:custGeom>
                  <a:avLst/>
                  <a:gdLst>
                    <a:gd name="T0" fmla="*/ 5 w 99"/>
                    <a:gd name="T1" fmla="*/ 0 h 207"/>
                    <a:gd name="T2" fmla="*/ 94 w 99"/>
                    <a:gd name="T3" fmla="*/ 0 h 207"/>
                    <a:gd name="T4" fmla="*/ 99 w 99"/>
                    <a:gd name="T5" fmla="*/ 176 h 207"/>
                    <a:gd name="T6" fmla="*/ 51 w 99"/>
                    <a:gd name="T7" fmla="*/ 205 h 207"/>
                    <a:gd name="T8" fmla="*/ 0 w 99"/>
                    <a:gd name="T9" fmla="*/ 173 h 207"/>
                    <a:gd name="T10" fmla="*/ 5 w 99"/>
                    <a:gd name="T11" fmla="*/ 0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9" h="207">
                      <a:moveTo>
                        <a:pt x="5" y="0"/>
                      </a:moveTo>
                      <a:cubicBezTo>
                        <a:pt x="94" y="0"/>
                        <a:pt x="94" y="0"/>
                        <a:pt x="94" y="0"/>
                      </a:cubicBezTo>
                      <a:cubicBezTo>
                        <a:pt x="99" y="176"/>
                        <a:pt x="99" y="176"/>
                        <a:pt x="99" y="176"/>
                      </a:cubicBezTo>
                      <a:cubicBezTo>
                        <a:pt x="99" y="176"/>
                        <a:pt x="96" y="204"/>
                        <a:pt x="51" y="205"/>
                      </a:cubicBezTo>
                      <a:cubicBezTo>
                        <a:pt x="5" y="207"/>
                        <a:pt x="0" y="173"/>
                        <a:pt x="0" y="173"/>
                      </a:cubicBez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rgbClr val="F98A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0" name="ïşḷiḍe"/>
                <p:cNvSpPr/>
                <p:nvPr/>
              </p:nvSpPr>
              <p:spPr bwMode="auto">
                <a:xfrm>
                  <a:off x="5906145" y="2838988"/>
                  <a:ext cx="353469" cy="155681"/>
                </a:xfrm>
                <a:custGeom>
                  <a:avLst/>
                  <a:gdLst>
                    <a:gd name="T0" fmla="*/ 98 w 98"/>
                    <a:gd name="T1" fmla="*/ 14 h 43"/>
                    <a:gd name="T2" fmla="*/ 98 w 98"/>
                    <a:gd name="T3" fmla="*/ 0 h 43"/>
                    <a:gd name="T4" fmla="*/ 0 w 98"/>
                    <a:gd name="T5" fmla="*/ 0 h 43"/>
                    <a:gd name="T6" fmla="*/ 0 w 98"/>
                    <a:gd name="T7" fmla="*/ 9 h 43"/>
                    <a:gd name="T8" fmla="*/ 51 w 98"/>
                    <a:gd name="T9" fmla="*/ 41 h 43"/>
                    <a:gd name="T10" fmla="*/ 98 w 98"/>
                    <a:gd name="T11" fmla="*/ 14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98" h="43">
                      <a:moveTo>
                        <a:pt x="98" y="14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9"/>
                        <a:pt x="0" y="9"/>
                        <a:pt x="0" y="9"/>
                      </a:cubicBezTo>
                      <a:cubicBezTo>
                        <a:pt x="0" y="9"/>
                        <a:pt x="5" y="43"/>
                        <a:pt x="51" y="41"/>
                      </a:cubicBezTo>
                      <a:cubicBezTo>
                        <a:pt x="88" y="40"/>
                        <a:pt x="97" y="21"/>
                        <a:pt x="98" y="14"/>
                      </a:cubicBezTo>
                      <a:close/>
                    </a:path>
                  </a:pathLst>
                </a:custGeom>
                <a:solidFill>
                  <a:srgbClr val="FCB9D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íṩḷíḋê"/>
                <p:cNvSpPr/>
                <p:nvPr/>
              </p:nvSpPr>
              <p:spPr bwMode="auto">
                <a:xfrm>
                  <a:off x="6244886" y="2245716"/>
                  <a:ext cx="376614" cy="744745"/>
                </a:xfrm>
                <a:custGeom>
                  <a:avLst/>
                  <a:gdLst>
                    <a:gd name="T0" fmla="*/ 0 w 104"/>
                    <a:gd name="T1" fmla="*/ 0 h 206"/>
                    <a:gd name="T2" fmla="*/ 94 w 104"/>
                    <a:gd name="T3" fmla="*/ 0 h 206"/>
                    <a:gd name="T4" fmla="*/ 104 w 104"/>
                    <a:gd name="T5" fmla="*/ 176 h 206"/>
                    <a:gd name="T6" fmla="*/ 59 w 104"/>
                    <a:gd name="T7" fmla="*/ 205 h 206"/>
                    <a:gd name="T8" fmla="*/ 5 w 104"/>
                    <a:gd name="T9" fmla="*/ 172 h 206"/>
                    <a:gd name="T10" fmla="*/ 0 w 104"/>
                    <a:gd name="T11" fmla="*/ 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04" h="206">
                      <a:moveTo>
                        <a:pt x="0" y="0"/>
                      </a:moveTo>
                      <a:cubicBezTo>
                        <a:pt x="94" y="0"/>
                        <a:pt x="94" y="0"/>
                        <a:pt x="94" y="0"/>
                      </a:cubicBezTo>
                      <a:cubicBezTo>
                        <a:pt x="104" y="176"/>
                        <a:pt x="104" y="176"/>
                        <a:pt x="104" y="176"/>
                      </a:cubicBezTo>
                      <a:cubicBezTo>
                        <a:pt x="104" y="176"/>
                        <a:pt x="98" y="205"/>
                        <a:pt x="59" y="205"/>
                      </a:cubicBezTo>
                      <a:cubicBezTo>
                        <a:pt x="19" y="206"/>
                        <a:pt x="5" y="181"/>
                        <a:pt x="5" y="172"/>
                      </a:cubicBezTo>
                      <a:cubicBezTo>
                        <a:pt x="5" y="164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EA1F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ïṣḷíḑè"/>
                <p:cNvSpPr/>
                <p:nvPr/>
              </p:nvSpPr>
              <p:spPr bwMode="auto">
                <a:xfrm>
                  <a:off x="6261718" y="2838988"/>
                  <a:ext cx="359782" cy="151474"/>
                </a:xfrm>
                <a:custGeom>
                  <a:avLst/>
                  <a:gdLst>
                    <a:gd name="T0" fmla="*/ 99 w 99"/>
                    <a:gd name="T1" fmla="*/ 13 h 42"/>
                    <a:gd name="T2" fmla="*/ 99 w 99"/>
                    <a:gd name="T3" fmla="*/ 6 h 42"/>
                    <a:gd name="T4" fmla="*/ 99 w 99"/>
                    <a:gd name="T5" fmla="*/ 0 h 42"/>
                    <a:gd name="T6" fmla="*/ 0 w 99"/>
                    <a:gd name="T7" fmla="*/ 0 h 42"/>
                    <a:gd name="T8" fmla="*/ 0 w 99"/>
                    <a:gd name="T9" fmla="*/ 8 h 42"/>
                    <a:gd name="T10" fmla="*/ 54 w 99"/>
                    <a:gd name="T11" fmla="*/ 41 h 42"/>
                    <a:gd name="T12" fmla="*/ 99 w 99"/>
                    <a:gd name="T13" fmla="*/ 13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99" h="42">
                      <a:moveTo>
                        <a:pt x="99" y="13"/>
                      </a:moveTo>
                      <a:cubicBezTo>
                        <a:pt x="99" y="6"/>
                        <a:pt x="99" y="6"/>
                        <a:pt x="99" y="6"/>
                      </a:cubicBezTo>
                      <a:cubicBezTo>
                        <a:pt x="99" y="0"/>
                        <a:pt x="99" y="0"/>
                        <a:pt x="9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4"/>
                        <a:pt x="0" y="7"/>
                        <a:pt x="0" y="8"/>
                      </a:cubicBezTo>
                      <a:cubicBezTo>
                        <a:pt x="0" y="17"/>
                        <a:pt x="14" y="42"/>
                        <a:pt x="54" y="41"/>
                      </a:cubicBezTo>
                      <a:cubicBezTo>
                        <a:pt x="89" y="41"/>
                        <a:pt x="98" y="18"/>
                        <a:pt x="99" y="13"/>
                      </a:cubicBezTo>
                      <a:close/>
                    </a:path>
                  </a:pathLst>
                </a:custGeom>
                <a:solidFill>
                  <a:srgbClr val="F94B9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3" name="ïs1ïḍè"/>
                <p:cNvSpPr/>
                <p:nvPr/>
              </p:nvSpPr>
              <p:spPr bwMode="auto">
                <a:xfrm>
                  <a:off x="6583628" y="2245716"/>
                  <a:ext cx="397652" cy="748953"/>
                </a:xfrm>
                <a:custGeom>
                  <a:avLst/>
                  <a:gdLst>
                    <a:gd name="T0" fmla="*/ 0 w 110"/>
                    <a:gd name="T1" fmla="*/ 0 h 207"/>
                    <a:gd name="T2" fmla="*/ 89 w 110"/>
                    <a:gd name="T3" fmla="*/ 0 h 207"/>
                    <a:gd name="T4" fmla="*/ 110 w 110"/>
                    <a:gd name="T5" fmla="*/ 176 h 207"/>
                    <a:gd name="T6" fmla="*/ 61 w 110"/>
                    <a:gd name="T7" fmla="*/ 206 h 207"/>
                    <a:gd name="T8" fmla="*/ 10 w 110"/>
                    <a:gd name="T9" fmla="*/ 176 h 207"/>
                    <a:gd name="T10" fmla="*/ 0 w 110"/>
                    <a:gd name="T11" fmla="*/ 0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10" h="207">
                      <a:moveTo>
                        <a:pt x="0" y="0"/>
                      </a:moveTo>
                      <a:cubicBezTo>
                        <a:pt x="89" y="0"/>
                        <a:pt x="89" y="0"/>
                        <a:pt x="89" y="0"/>
                      </a:cubicBezTo>
                      <a:cubicBezTo>
                        <a:pt x="110" y="176"/>
                        <a:pt x="110" y="176"/>
                        <a:pt x="110" y="176"/>
                      </a:cubicBezTo>
                      <a:cubicBezTo>
                        <a:pt x="110" y="176"/>
                        <a:pt x="97" y="207"/>
                        <a:pt x="61" y="206"/>
                      </a:cubicBezTo>
                      <a:cubicBezTo>
                        <a:pt x="25" y="204"/>
                        <a:pt x="17" y="188"/>
                        <a:pt x="10" y="17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98A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4" name="îṧḷîḑè"/>
                <p:cNvSpPr/>
                <p:nvPr/>
              </p:nvSpPr>
              <p:spPr bwMode="auto">
                <a:xfrm>
                  <a:off x="6621499" y="2838988"/>
                  <a:ext cx="359780" cy="155681"/>
                </a:xfrm>
                <a:custGeom>
                  <a:avLst/>
                  <a:gdLst>
                    <a:gd name="T0" fmla="*/ 100 w 100"/>
                    <a:gd name="T1" fmla="*/ 13 h 43"/>
                    <a:gd name="T2" fmla="*/ 99 w 100"/>
                    <a:gd name="T3" fmla="*/ 0 h 43"/>
                    <a:gd name="T4" fmla="*/ 0 w 100"/>
                    <a:gd name="T5" fmla="*/ 0 h 43"/>
                    <a:gd name="T6" fmla="*/ 0 w 100"/>
                    <a:gd name="T7" fmla="*/ 0 h 43"/>
                    <a:gd name="T8" fmla="*/ 0 w 100"/>
                    <a:gd name="T9" fmla="*/ 12 h 43"/>
                    <a:gd name="T10" fmla="*/ 51 w 100"/>
                    <a:gd name="T11" fmla="*/ 42 h 43"/>
                    <a:gd name="T12" fmla="*/ 100 w 100"/>
                    <a:gd name="T13" fmla="*/ 13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43">
                      <a:moveTo>
                        <a:pt x="100" y="13"/>
                      </a:moveTo>
                      <a:cubicBezTo>
                        <a:pt x="99" y="0"/>
                        <a:pt x="99" y="0"/>
                        <a:pt x="9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7" y="24"/>
                        <a:pt x="15" y="40"/>
                        <a:pt x="51" y="42"/>
                      </a:cubicBezTo>
                      <a:cubicBezTo>
                        <a:pt x="82" y="43"/>
                        <a:pt x="97" y="19"/>
                        <a:pt x="100" y="13"/>
                      </a:cubicBezTo>
                      <a:close/>
                    </a:path>
                  </a:pathLst>
                </a:custGeom>
                <a:solidFill>
                  <a:srgbClr val="FCB9D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5" name="íṧḷîdê"/>
                <p:cNvSpPr/>
                <p:nvPr/>
              </p:nvSpPr>
              <p:spPr bwMode="auto">
                <a:xfrm>
                  <a:off x="6907641" y="2245716"/>
                  <a:ext cx="433420" cy="761575"/>
                </a:xfrm>
                <a:custGeom>
                  <a:avLst/>
                  <a:gdLst>
                    <a:gd name="T0" fmla="*/ 0 w 120"/>
                    <a:gd name="T1" fmla="*/ 0 h 210"/>
                    <a:gd name="T2" fmla="*/ 93 w 120"/>
                    <a:gd name="T3" fmla="*/ 0 h 210"/>
                    <a:gd name="T4" fmla="*/ 120 w 120"/>
                    <a:gd name="T5" fmla="*/ 176 h 210"/>
                    <a:gd name="T6" fmla="*/ 80 w 120"/>
                    <a:gd name="T7" fmla="*/ 206 h 210"/>
                    <a:gd name="T8" fmla="*/ 21 w 120"/>
                    <a:gd name="T9" fmla="*/ 176 h 210"/>
                    <a:gd name="T10" fmla="*/ 1 w 120"/>
                    <a:gd name="T11" fmla="*/ 2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0" h="210">
                      <a:moveTo>
                        <a:pt x="0" y="0"/>
                      </a:moveTo>
                      <a:cubicBezTo>
                        <a:pt x="93" y="0"/>
                        <a:pt x="93" y="0"/>
                        <a:pt x="93" y="0"/>
                      </a:cubicBezTo>
                      <a:cubicBezTo>
                        <a:pt x="120" y="176"/>
                        <a:pt x="120" y="176"/>
                        <a:pt x="120" y="176"/>
                      </a:cubicBezTo>
                      <a:cubicBezTo>
                        <a:pt x="120" y="176"/>
                        <a:pt x="114" y="202"/>
                        <a:pt x="80" y="206"/>
                      </a:cubicBezTo>
                      <a:cubicBezTo>
                        <a:pt x="37" y="210"/>
                        <a:pt x="21" y="176"/>
                        <a:pt x="21" y="176"/>
                      </a:cubicBezTo>
                      <a:cubicBezTo>
                        <a:pt x="1" y="2"/>
                        <a:pt x="1" y="2"/>
                        <a:pt x="1" y="2"/>
                      </a:cubicBezTo>
                    </a:path>
                  </a:pathLst>
                </a:custGeom>
                <a:solidFill>
                  <a:srgbClr val="EA1F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6" name="îṡliḓe"/>
                <p:cNvSpPr/>
                <p:nvPr/>
              </p:nvSpPr>
              <p:spPr bwMode="auto">
                <a:xfrm>
                  <a:off x="6979176" y="2838988"/>
                  <a:ext cx="361885" cy="168304"/>
                </a:xfrm>
                <a:custGeom>
                  <a:avLst/>
                  <a:gdLst>
                    <a:gd name="T0" fmla="*/ 100 w 100"/>
                    <a:gd name="T1" fmla="*/ 12 h 46"/>
                    <a:gd name="T2" fmla="*/ 98 w 100"/>
                    <a:gd name="T3" fmla="*/ 0 h 46"/>
                    <a:gd name="T4" fmla="*/ 98 w 100"/>
                    <a:gd name="T5" fmla="*/ 0 h 46"/>
                    <a:gd name="T6" fmla="*/ 0 w 100"/>
                    <a:gd name="T7" fmla="*/ 0 h 46"/>
                    <a:gd name="T8" fmla="*/ 1 w 100"/>
                    <a:gd name="T9" fmla="*/ 12 h 46"/>
                    <a:gd name="T10" fmla="*/ 60 w 100"/>
                    <a:gd name="T11" fmla="*/ 42 h 46"/>
                    <a:gd name="T12" fmla="*/ 100 w 100"/>
                    <a:gd name="T13" fmla="*/ 12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46">
                      <a:moveTo>
                        <a:pt x="100" y="12"/>
                      </a:move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" y="12"/>
                        <a:pt x="1" y="12"/>
                        <a:pt x="1" y="12"/>
                      </a:cubicBezTo>
                      <a:cubicBezTo>
                        <a:pt x="1" y="12"/>
                        <a:pt x="17" y="46"/>
                        <a:pt x="60" y="42"/>
                      </a:cubicBezTo>
                      <a:cubicBezTo>
                        <a:pt x="94" y="38"/>
                        <a:pt x="100" y="12"/>
                        <a:pt x="100" y="12"/>
                      </a:cubicBezTo>
                      <a:close/>
                    </a:path>
                  </a:pathLst>
                </a:custGeom>
                <a:solidFill>
                  <a:srgbClr val="F94B9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7" name="ïSľiďè"/>
                <p:cNvSpPr/>
                <p:nvPr/>
              </p:nvSpPr>
              <p:spPr bwMode="auto">
                <a:xfrm>
                  <a:off x="7242174" y="2245716"/>
                  <a:ext cx="454460" cy="748953"/>
                </a:xfrm>
                <a:custGeom>
                  <a:avLst/>
                  <a:gdLst>
                    <a:gd name="T0" fmla="*/ 0 w 126"/>
                    <a:gd name="T1" fmla="*/ 0 h 207"/>
                    <a:gd name="T2" fmla="*/ 87 w 126"/>
                    <a:gd name="T3" fmla="*/ 0 h 207"/>
                    <a:gd name="T4" fmla="*/ 126 w 126"/>
                    <a:gd name="T5" fmla="*/ 176 h 207"/>
                    <a:gd name="T6" fmla="*/ 87 w 126"/>
                    <a:gd name="T7" fmla="*/ 206 h 207"/>
                    <a:gd name="T8" fmla="*/ 27 w 126"/>
                    <a:gd name="T9" fmla="*/ 176 h 207"/>
                    <a:gd name="T10" fmla="*/ 0 w 126"/>
                    <a:gd name="T11" fmla="*/ 0 h 2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6" h="207">
                      <a:moveTo>
                        <a:pt x="0" y="0"/>
                      </a:moveTo>
                      <a:cubicBezTo>
                        <a:pt x="87" y="0"/>
                        <a:pt x="87" y="0"/>
                        <a:pt x="87" y="0"/>
                      </a:cubicBezTo>
                      <a:cubicBezTo>
                        <a:pt x="126" y="176"/>
                        <a:pt x="126" y="176"/>
                        <a:pt x="126" y="176"/>
                      </a:cubicBezTo>
                      <a:cubicBezTo>
                        <a:pt x="126" y="176"/>
                        <a:pt x="120" y="205"/>
                        <a:pt x="87" y="206"/>
                      </a:cubicBezTo>
                      <a:cubicBezTo>
                        <a:pt x="54" y="207"/>
                        <a:pt x="28" y="184"/>
                        <a:pt x="27" y="17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98A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8" name="íṡḷîdé"/>
                <p:cNvSpPr/>
                <p:nvPr/>
              </p:nvSpPr>
              <p:spPr bwMode="auto">
                <a:xfrm>
                  <a:off x="7332646" y="2838988"/>
                  <a:ext cx="363988" cy="155681"/>
                </a:xfrm>
                <a:custGeom>
                  <a:avLst/>
                  <a:gdLst>
                    <a:gd name="T0" fmla="*/ 99 w 101"/>
                    <a:gd name="T1" fmla="*/ 0 h 43"/>
                    <a:gd name="T2" fmla="*/ 0 w 101"/>
                    <a:gd name="T3" fmla="*/ 0 h 43"/>
                    <a:gd name="T4" fmla="*/ 0 w 101"/>
                    <a:gd name="T5" fmla="*/ 0 h 43"/>
                    <a:gd name="T6" fmla="*/ 2 w 101"/>
                    <a:gd name="T7" fmla="*/ 13 h 43"/>
                    <a:gd name="T8" fmla="*/ 62 w 101"/>
                    <a:gd name="T9" fmla="*/ 42 h 43"/>
                    <a:gd name="T10" fmla="*/ 101 w 101"/>
                    <a:gd name="T11" fmla="*/ 12 h 43"/>
                    <a:gd name="T12" fmla="*/ 99 w 101"/>
                    <a:gd name="T13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1" h="43">
                      <a:moveTo>
                        <a:pt x="99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3"/>
                        <a:pt x="2" y="13"/>
                        <a:pt x="2" y="13"/>
                      </a:cubicBezTo>
                      <a:cubicBezTo>
                        <a:pt x="6" y="22"/>
                        <a:pt x="30" y="43"/>
                        <a:pt x="62" y="42"/>
                      </a:cubicBezTo>
                      <a:cubicBezTo>
                        <a:pt x="95" y="41"/>
                        <a:pt x="101" y="12"/>
                        <a:pt x="101" y="12"/>
                      </a:cubicBezTo>
                      <a:lnTo>
                        <a:pt x="99" y="0"/>
                      </a:lnTo>
                      <a:close/>
                    </a:path>
                  </a:pathLst>
                </a:custGeom>
                <a:solidFill>
                  <a:srgbClr val="FCB9D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79" name="ïşļiḍé"/>
                <p:cNvSpPr/>
                <p:nvPr/>
              </p:nvSpPr>
              <p:spPr bwMode="auto">
                <a:xfrm>
                  <a:off x="7555668" y="2245716"/>
                  <a:ext cx="496540" cy="744745"/>
                </a:xfrm>
                <a:custGeom>
                  <a:avLst/>
                  <a:gdLst>
                    <a:gd name="T0" fmla="*/ 0 w 137"/>
                    <a:gd name="T1" fmla="*/ 0 h 206"/>
                    <a:gd name="T2" fmla="*/ 93 w 137"/>
                    <a:gd name="T3" fmla="*/ 0 h 206"/>
                    <a:gd name="T4" fmla="*/ 137 w 137"/>
                    <a:gd name="T5" fmla="*/ 176 h 206"/>
                    <a:gd name="T6" fmla="*/ 97 w 137"/>
                    <a:gd name="T7" fmla="*/ 206 h 206"/>
                    <a:gd name="T8" fmla="*/ 39 w 137"/>
                    <a:gd name="T9" fmla="*/ 176 h 206"/>
                    <a:gd name="T10" fmla="*/ 0 w 137"/>
                    <a:gd name="T11" fmla="*/ 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7" h="206">
                      <a:moveTo>
                        <a:pt x="0" y="0"/>
                      </a:moveTo>
                      <a:cubicBezTo>
                        <a:pt x="93" y="0"/>
                        <a:pt x="93" y="0"/>
                        <a:pt x="93" y="0"/>
                      </a:cubicBezTo>
                      <a:cubicBezTo>
                        <a:pt x="137" y="176"/>
                        <a:pt x="137" y="176"/>
                        <a:pt x="137" y="176"/>
                      </a:cubicBezTo>
                      <a:cubicBezTo>
                        <a:pt x="137" y="176"/>
                        <a:pt x="137" y="206"/>
                        <a:pt x="97" y="206"/>
                      </a:cubicBezTo>
                      <a:cubicBezTo>
                        <a:pt x="54" y="206"/>
                        <a:pt x="39" y="176"/>
                        <a:pt x="39" y="17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A1F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íŝḷíďè"/>
                <p:cNvSpPr/>
                <p:nvPr/>
              </p:nvSpPr>
              <p:spPr bwMode="auto">
                <a:xfrm>
                  <a:off x="7690323" y="2838988"/>
                  <a:ext cx="361885" cy="151474"/>
                </a:xfrm>
                <a:custGeom>
                  <a:avLst/>
                  <a:gdLst>
                    <a:gd name="T0" fmla="*/ 97 w 100"/>
                    <a:gd name="T1" fmla="*/ 0 h 42"/>
                    <a:gd name="T2" fmla="*/ 0 w 100"/>
                    <a:gd name="T3" fmla="*/ 0 h 42"/>
                    <a:gd name="T4" fmla="*/ 0 w 100"/>
                    <a:gd name="T5" fmla="*/ 0 h 42"/>
                    <a:gd name="T6" fmla="*/ 2 w 100"/>
                    <a:gd name="T7" fmla="*/ 12 h 42"/>
                    <a:gd name="T8" fmla="*/ 60 w 100"/>
                    <a:gd name="T9" fmla="*/ 42 h 42"/>
                    <a:gd name="T10" fmla="*/ 100 w 100"/>
                    <a:gd name="T11" fmla="*/ 12 h 42"/>
                    <a:gd name="T12" fmla="*/ 97 w 100"/>
                    <a:gd name="T13" fmla="*/ 0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42">
                      <a:moveTo>
                        <a:pt x="97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2" y="12"/>
                        <a:pt x="2" y="12"/>
                        <a:pt x="2" y="12"/>
                      </a:cubicBezTo>
                      <a:cubicBezTo>
                        <a:pt x="2" y="12"/>
                        <a:pt x="17" y="42"/>
                        <a:pt x="60" y="42"/>
                      </a:cubicBezTo>
                      <a:cubicBezTo>
                        <a:pt x="100" y="42"/>
                        <a:pt x="100" y="12"/>
                        <a:pt x="100" y="12"/>
                      </a:cubicBez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rgbClr val="F94B9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1" name="i$ľîḓe"/>
                <p:cNvSpPr/>
                <p:nvPr/>
              </p:nvSpPr>
              <p:spPr bwMode="auto">
                <a:xfrm>
                  <a:off x="7892305" y="2245716"/>
                  <a:ext cx="534412" cy="744745"/>
                </a:xfrm>
                <a:custGeom>
                  <a:avLst/>
                  <a:gdLst>
                    <a:gd name="T0" fmla="*/ 0 w 148"/>
                    <a:gd name="T1" fmla="*/ 0 h 206"/>
                    <a:gd name="T2" fmla="*/ 88 w 148"/>
                    <a:gd name="T3" fmla="*/ 0 h 206"/>
                    <a:gd name="T4" fmla="*/ 144 w 148"/>
                    <a:gd name="T5" fmla="*/ 176 h 206"/>
                    <a:gd name="T6" fmla="*/ 102 w 148"/>
                    <a:gd name="T7" fmla="*/ 206 h 206"/>
                    <a:gd name="T8" fmla="*/ 44 w 148"/>
                    <a:gd name="T9" fmla="*/ 176 h 206"/>
                    <a:gd name="T10" fmla="*/ 0 w 148"/>
                    <a:gd name="T11" fmla="*/ 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8" h="206">
                      <a:moveTo>
                        <a:pt x="0" y="0"/>
                      </a:moveTo>
                      <a:cubicBezTo>
                        <a:pt x="88" y="0"/>
                        <a:pt x="88" y="0"/>
                        <a:pt x="88" y="0"/>
                      </a:cubicBezTo>
                      <a:cubicBezTo>
                        <a:pt x="144" y="176"/>
                        <a:pt x="144" y="176"/>
                        <a:pt x="144" y="176"/>
                      </a:cubicBezTo>
                      <a:cubicBezTo>
                        <a:pt x="144" y="176"/>
                        <a:pt x="148" y="206"/>
                        <a:pt x="102" y="206"/>
                      </a:cubicBezTo>
                      <a:cubicBezTo>
                        <a:pt x="60" y="206"/>
                        <a:pt x="44" y="176"/>
                        <a:pt x="44" y="17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98AB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2" name="iṥľïḓè"/>
                <p:cNvSpPr/>
                <p:nvPr/>
              </p:nvSpPr>
              <p:spPr bwMode="auto">
                <a:xfrm>
                  <a:off x="8041687" y="2838988"/>
                  <a:ext cx="385030" cy="151474"/>
                </a:xfrm>
                <a:custGeom>
                  <a:avLst/>
                  <a:gdLst>
                    <a:gd name="T0" fmla="*/ 103 w 107"/>
                    <a:gd name="T1" fmla="*/ 12 h 42"/>
                    <a:gd name="T2" fmla="*/ 100 w 107"/>
                    <a:gd name="T3" fmla="*/ 0 h 42"/>
                    <a:gd name="T4" fmla="*/ 100 w 107"/>
                    <a:gd name="T5" fmla="*/ 0 h 42"/>
                    <a:gd name="T6" fmla="*/ 0 w 107"/>
                    <a:gd name="T7" fmla="*/ 0 h 42"/>
                    <a:gd name="T8" fmla="*/ 0 w 107"/>
                    <a:gd name="T9" fmla="*/ 0 h 42"/>
                    <a:gd name="T10" fmla="*/ 3 w 107"/>
                    <a:gd name="T11" fmla="*/ 12 h 42"/>
                    <a:gd name="T12" fmla="*/ 61 w 107"/>
                    <a:gd name="T13" fmla="*/ 42 h 42"/>
                    <a:gd name="T14" fmla="*/ 103 w 107"/>
                    <a:gd name="T15" fmla="*/ 12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7" h="42">
                      <a:moveTo>
                        <a:pt x="103" y="12"/>
                      </a:moveTo>
                      <a:cubicBezTo>
                        <a:pt x="100" y="0"/>
                        <a:pt x="100" y="0"/>
                        <a:pt x="100" y="0"/>
                      </a:cubicBezTo>
                      <a:cubicBezTo>
                        <a:pt x="100" y="0"/>
                        <a:pt x="100" y="0"/>
                        <a:pt x="10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12"/>
                        <a:pt x="3" y="12"/>
                        <a:pt x="3" y="12"/>
                      </a:cubicBezTo>
                      <a:cubicBezTo>
                        <a:pt x="3" y="12"/>
                        <a:pt x="19" y="42"/>
                        <a:pt x="61" y="42"/>
                      </a:cubicBezTo>
                      <a:cubicBezTo>
                        <a:pt x="107" y="42"/>
                        <a:pt x="103" y="12"/>
                        <a:pt x="103" y="12"/>
                      </a:cubicBezTo>
                      <a:close/>
                    </a:path>
                  </a:pathLst>
                </a:custGeom>
                <a:solidFill>
                  <a:srgbClr val="FCB9D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3" name="ïṩḷîḋè"/>
                <p:cNvSpPr/>
                <p:nvPr/>
              </p:nvSpPr>
              <p:spPr bwMode="auto">
                <a:xfrm>
                  <a:off x="8212110" y="2245716"/>
                  <a:ext cx="565971" cy="761575"/>
                </a:xfrm>
                <a:custGeom>
                  <a:avLst/>
                  <a:gdLst>
                    <a:gd name="T0" fmla="*/ 0 w 157"/>
                    <a:gd name="T1" fmla="*/ 0 h 210"/>
                    <a:gd name="T2" fmla="*/ 95 w 157"/>
                    <a:gd name="T3" fmla="*/ 0 h 210"/>
                    <a:gd name="T4" fmla="*/ 155 w 157"/>
                    <a:gd name="T5" fmla="*/ 172 h 210"/>
                    <a:gd name="T6" fmla="*/ 121 w 157"/>
                    <a:gd name="T7" fmla="*/ 206 h 210"/>
                    <a:gd name="T8" fmla="*/ 56 w 157"/>
                    <a:gd name="T9" fmla="*/ 176 h 210"/>
                    <a:gd name="T10" fmla="*/ 0 w 157"/>
                    <a:gd name="T11" fmla="*/ 0 h 2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57" h="210">
                      <a:moveTo>
                        <a:pt x="0" y="0"/>
                      </a:moveTo>
                      <a:cubicBezTo>
                        <a:pt x="95" y="0"/>
                        <a:pt x="95" y="0"/>
                        <a:pt x="95" y="0"/>
                      </a:cubicBezTo>
                      <a:cubicBezTo>
                        <a:pt x="155" y="172"/>
                        <a:pt x="155" y="172"/>
                        <a:pt x="155" y="172"/>
                      </a:cubicBezTo>
                      <a:cubicBezTo>
                        <a:pt x="155" y="172"/>
                        <a:pt x="157" y="203"/>
                        <a:pt x="121" y="206"/>
                      </a:cubicBezTo>
                      <a:cubicBezTo>
                        <a:pt x="77" y="210"/>
                        <a:pt x="56" y="176"/>
                        <a:pt x="56" y="17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A1F7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  <p:sp>
              <p:nvSpPr>
                <p:cNvPr id="84" name="îšḷiḑe"/>
                <p:cNvSpPr/>
                <p:nvPr/>
              </p:nvSpPr>
              <p:spPr bwMode="auto">
                <a:xfrm>
                  <a:off x="8401469" y="2838988"/>
                  <a:ext cx="376612" cy="168304"/>
                </a:xfrm>
                <a:custGeom>
                  <a:avLst/>
                  <a:gdLst>
                    <a:gd name="T0" fmla="*/ 68 w 104"/>
                    <a:gd name="T1" fmla="*/ 42 h 46"/>
                    <a:gd name="T2" fmla="*/ 102 w 104"/>
                    <a:gd name="T3" fmla="*/ 8 h 46"/>
                    <a:gd name="T4" fmla="*/ 99 w 104"/>
                    <a:gd name="T5" fmla="*/ 0 h 46"/>
                    <a:gd name="T6" fmla="*/ 99 w 104"/>
                    <a:gd name="T7" fmla="*/ 0 h 46"/>
                    <a:gd name="T8" fmla="*/ 0 w 104"/>
                    <a:gd name="T9" fmla="*/ 0 h 46"/>
                    <a:gd name="T10" fmla="*/ 0 w 104"/>
                    <a:gd name="T11" fmla="*/ 0 h 46"/>
                    <a:gd name="T12" fmla="*/ 3 w 104"/>
                    <a:gd name="T13" fmla="*/ 12 h 46"/>
                    <a:gd name="T14" fmla="*/ 68 w 104"/>
                    <a:gd name="T15" fmla="*/ 42 h 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04" h="46">
                      <a:moveTo>
                        <a:pt x="68" y="42"/>
                      </a:moveTo>
                      <a:cubicBezTo>
                        <a:pt x="104" y="39"/>
                        <a:pt x="102" y="8"/>
                        <a:pt x="102" y="8"/>
                      </a:cubicBezTo>
                      <a:cubicBezTo>
                        <a:pt x="99" y="0"/>
                        <a:pt x="99" y="0"/>
                        <a:pt x="99" y="0"/>
                      </a:cubicBezTo>
                      <a:cubicBezTo>
                        <a:pt x="99" y="0"/>
                        <a:pt x="99" y="0"/>
                        <a:pt x="99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3" y="12"/>
                        <a:pt x="3" y="12"/>
                        <a:pt x="3" y="12"/>
                      </a:cubicBezTo>
                      <a:cubicBezTo>
                        <a:pt x="3" y="12"/>
                        <a:pt x="24" y="46"/>
                        <a:pt x="68" y="42"/>
                      </a:cubicBezTo>
                      <a:close/>
                    </a:path>
                  </a:pathLst>
                </a:custGeom>
                <a:solidFill>
                  <a:srgbClr val="F94B9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>
                    <a:latin typeface="+mn-lt"/>
                    <a:ea typeface="+mn-ea"/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153" name="文本框 152"/>
          <p:cNvSpPr txBox="1"/>
          <p:nvPr/>
        </p:nvSpPr>
        <p:spPr>
          <a:xfrm>
            <a:off x="591113" y="245239"/>
            <a:ext cx="1957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Clothing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文本框 90"/>
          <p:cNvSpPr txBox="1"/>
          <p:nvPr/>
        </p:nvSpPr>
        <p:spPr>
          <a:xfrm>
            <a:off x="410681" y="1294262"/>
            <a:ext cx="115050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Clothing matching (Song et al. 2018)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Outfit compositions collected from the </a:t>
            </a:r>
            <a:r>
              <a:rPr lang="en-US" altLang="zh-CN" sz="2800" b="1" dirty="0" err="1"/>
              <a:t>Polyvore</a:t>
            </a:r>
            <a:r>
              <a:rPr lang="en-US" altLang="zh-CN" sz="2800" b="1" dirty="0"/>
              <a:t> (website).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591113" y="245239"/>
            <a:ext cx="1957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Clothing</a:t>
            </a:r>
            <a:endParaRPr lang="zh-CN" altLang="en-US" sz="4000" b="1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1156" y="2248369"/>
            <a:ext cx="7949789" cy="4461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文本框 90"/>
          <p:cNvSpPr txBox="1"/>
          <p:nvPr/>
        </p:nvSpPr>
        <p:spPr>
          <a:xfrm>
            <a:off x="410681" y="1294262"/>
            <a:ext cx="115050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Virtual Try-on with Arbitrary Poses (Zheng et al. 2019)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</a:t>
            </a:r>
            <a:r>
              <a:rPr lang="en-US" altLang="zh-CN" sz="2800" dirty="0"/>
              <a:t>Fashion-oriented ecommerce website---</a:t>
            </a:r>
            <a:r>
              <a:rPr lang="en-US" altLang="zh-CN" sz="2800" dirty="0" err="1"/>
              <a:t>Zalando</a:t>
            </a:r>
            <a:r>
              <a:rPr lang="en-US" altLang="zh-CN" sz="2800" b="1" dirty="0"/>
              <a:t>.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591113" y="245239"/>
            <a:ext cx="1957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Clothing</a:t>
            </a:r>
            <a:endParaRPr lang="zh-CN" altLang="en-US" sz="4000" b="1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61" y="3669137"/>
            <a:ext cx="4610743" cy="1590897"/>
          </a:xfrm>
          <a:prstGeom prst="rect">
            <a:avLst/>
          </a:prstGeom>
        </p:spPr>
      </p:pic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8292" y="2347342"/>
            <a:ext cx="6687483" cy="4058216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64926" y="640555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/>
              <a:t>Figure 2: Illustration of the proposed scheme. 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文本框 90"/>
          <p:cNvSpPr txBox="1"/>
          <p:nvPr/>
        </p:nvSpPr>
        <p:spPr>
          <a:xfrm>
            <a:off x="410680" y="1294262"/>
            <a:ext cx="100096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Interactive Fashion Search(Wu et al. 2017)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Public dataset (DARN and </a:t>
            </a:r>
            <a:r>
              <a:rPr lang="en-US" altLang="zh-CN" sz="2800" b="1" dirty="0" err="1"/>
              <a:t>DeepFashion</a:t>
            </a:r>
            <a:r>
              <a:rPr lang="en-US" altLang="zh-CN" sz="2800" b="1" dirty="0"/>
              <a:t>). Images with attribute annotations.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591113" y="245239"/>
            <a:ext cx="19575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Clothing</a:t>
            </a:r>
            <a:endParaRPr lang="zh-CN" altLang="en-US" sz="4000" b="1" dirty="0"/>
          </a:p>
        </p:txBody>
      </p:sp>
      <p:pic>
        <p:nvPicPr>
          <p:cNvPr id="154" name="图片 153" descr="屏幕剪辑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3" y="3382102"/>
            <a:ext cx="4629796" cy="2600688"/>
          </a:xfrm>
          <a:prstGeom prst="rect">
            <a:avLst/>
          </a:prstGeom>
        </p:spPr>
      </p:pic>
      <p:pic>
        <p:nvPicPr>
          <p:cNvPr id="155" name="图片 154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6659" y="3101176"/>
            <a:ext cx="6399346" cy="288161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911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Housing</a:t>
            </a:r>
            <a:endParaRPr lang="zh-CN" altLang="en-US" sz="4000" b="1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42"/>
          <a:stretch>
            <a:fillRect/>
          </a:stretch>
        </p:blipFill>
        <p:spPr>
          <a:xfrm>
            <a:off x="2306955" y="3241040"/>
            <a:ext cx="3203575" cy="32365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10681" y="1294262"/>
            <a:ext cx="110248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Gesture Recognition Using Wireless Signals (Pu et al. 2013, 2015)</a:t>
            </a:r>
          </a:p>
          <a:p>
            <a:pPr marL="1028700" lvl="1" indent="-571500" algn="l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5 users perform gestures in an office and a two-bedroom. </a:t>
            </a:r>
            <a:br>
              <a:rPr lang="en-US" altLang="zh-CN" sz="2800" b="1" dirty="0"/>
            </a:br>
            <a:endParaRPr lang="en-US" altLang="zh-CN" sz="2800" b="1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665" y="3065145"/>
            <a:ext cx="4077970" cy="360934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499932" y="6488668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Gesture sketches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169039"/>
            <a:ext cx="33289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Transportation</a:t>
            </a:r>
            <a:endParaRPr lang="zh-CN" altLang="en-US" sz="4000" b="1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619" y="2347535"/>
            <a:ext cx="4374534" cy="414851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0680" y="1294262"/>
            <a:ext cx="106954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Traffic-Sign Detection (Zhu et al. 2016)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  </a:t>
            </a:r>
            <a:r>
              <a:rPr lang="en-US" altLang="zh-CN" sz="2800" b="1" dirty="0" err="1"/>
              <a:t>Tencent</a:t>
            </a:r>
            <a:r>
              <a:rPr lang="en-US" altLang="zh-CN" sz="2800" b="1" dirty="0"/>
              <a:t> street views with manual annotation.</a:t>
            </a:r>
          </a:p>
        </p:txBody>
      </p:sp>
      <p:pic>
        <p:nvPicPr>
          <p:cNvPr id="6" name="图片 5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07" y="3176342"/>
            <a:ext cx="6873318" cy="247198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2002591" y="6488668"/>
            <a:ext cx="1266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Benchmark</a:t>
            </a:r>
            <a:endParaRPr lang="zh-CN" alt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0681" y="169039"/>
            <a:ext cx="33289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Transportation</a:t>
            </a:r>
            <a:endParaRPr lang="zh-CN" altLang="en-US" sz="4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410680" y="1294262"/>
            <a:ext cx="106954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Personalized Tour Recommendation (Zhao et al. 2017)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   Public dataset (Flicker).</a:t>
            </a: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496" y="2159122"/>
            <a:ext cx="4620270" cy="4610743"/>
          </a:xfrm>
          <a:prstGeom prst="rect">
            <a:avLst/>
          </a:prstGeom>
        </p:spPr>
      </p:pic>
      <p:pic>
        <p:nvPicPr>
          <p:cNvPr id="5" name="图片 4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338" y="2619339"/>
            <a:ext cx="4601217" cy="38676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3859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Entertainment 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0" y="1294262"/>
            <a:ext cx="10695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Chatting Bot (Microsoft 2014, Zhang et al. 2017, Want et al. 2018)</a:t>
            </a:r>
          </a:p>
        </p:txBody>
      </p:sp>
      <p:sp>
        <p:nvSpPr>
          <p:cNvPr id="4" name="矩形 3"/>
          <p:cNvSpPr/>
          <p:nvPr/>
        </p:nvSpPr>
        <p:spPr>
          <a:xfrm>
            <a:off x="9518180" y="6116293"/>
            <a:ext cx="19948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altLang="zh-CN" b="1" dirty="0"/>
              <a:t>Microsoft </a:t>
            </a:r>
            <a:r>
              <a:rPr lang="en-US" altLang="zh-CN" b="1" dirty="0" err="1"/>
              <a:t>Xiaobing</a:t>
            </a:r>
            <a:endParaRPr lang="en-US" altLang="zh-CN" b="1" dirty="0"/>
          </a:p>
        </p:txBody>
      </p:sp>
      <p:pic>
        <p:nvPicPr>
          <p:cNvPr id="1026" name="Picture 2" descr="https://timgsa.baidu.com/timg?image&amp;quality=80&amp;size=b9999_10000&amp;sec=1532077980913&amp;di=7538eb815f96dd3a65995ef0fafce20b&amp;imgtype=0&amp;src=http%3A%2F%2Fimg.chuansong.me%2Fmmbiz_png%2F58FUuNaBUjqcRyQwO074Xhtotc7G559bSyOE04EJofFicNhl9HhkLI3GFKTXaggRfD5qPdOOickSgBTTeLD0Pl2w%2F0%3Fwx_fmt%3D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675" y="1833287"/>
            <a:ext cx="4994251" cy="427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/>
        </p:nvSpPr>
        <p:spPr>
          <a:xfrm>
            <a:off x="6811010" y="5935980"/>
            <a:ext cx="2402205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b="1" dirty="0"/>
              <a:t>Harbin Institute of Technology </a:t>
            </a:r>
          </a:p>
          <a:p>
            <a:pPr algn="l"/>
            <a:r>
              <a:rPr lang="en-US" altLang="zh-CN" b="1" dirty="0" err="1"/>
              <a:t>Benben</a:t>
            </a:r>
            <a:endParaRPr lang="en-US" altLang="zh-CN" b="1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13" y="2943225"/>
            <a:ext cx="4742887" cy="217382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80" y="3235837"/>
            <a:ext cx="5406226" cy="293455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1113" y="245239"/>
            <a:ext cx="10318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Law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0" y="1294262"/>
            <a:ext cx="106954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Crime Classification</a:t>
            </a:r>
            <a:r>
              <a:rPr lang="en-US" altLang="zh-CN" sz="2800" dirty="0"/>
              <a:t> </a:t>
            </a:r>
            <a:r>
              <a:rPr lang="en-US" altLang="zh-CN" sz="2800" b="1" dirty="0"/>
              <a:t>(Wang et al. 2018)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  Collected from the China Judgments Online.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Task: Determine the specific articles (as labels) that the evidence (document) violated (multi-label classification). </a:t>
            </a:r>
          </a:p>
        </p:txBody>
      </p:sp>
      <p:sp>
        <p:nvSpPr>
          <p:cNvPr id="10" name="矩形 9"/>
          <p:cNvSpPr/>
          <p:nvPr/>
        </p:nvSpPr>
        <p:spPr>
          <a:xfrm>
            <a:off x="393970" y="6170396"/>
            <a:ext cx="5748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</a:rPr>
              <a:t>An example of the judgement case, including an evidence and two articles violated.</a:t>
            </a:r>
            <a:endParaRPr lang="zh-CN" altLang="en-US" b="1" dirty="0"/>
          </a:p>
        </p:txBody>
      </p:sp>
      <p:pic>
        <p:nvPicPr>
          <p:cNvPr id="11" name="图片 10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092" y="3555661"/>
            <a:ext cx="5724571" cy="2327910"/>
          </a:xfrm>
          <a:prstGeom prst="rect">
            <a:avLst/>
          </a:prstGeom>
        </p:spPr>
      </p:pic>
      <p:pic>
        <p:nvPicPr>
          <p:cNvPr id="12" name="图片 11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092" y="3539161"/>
            <a:ext cx="1371791" cy="171474"/>
          </a:xfrm>
          <a:prstGeom prst="rect">
            <a:avLst/>
          </a:prstGeom>
        </p:spPr>
      </p:pic>
      <p:pic>
        <p:nvPicPr>
          <p:cNvPr id="15" name="图片 14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7261" y="3578781"/>
            <a:ext cx="1804402" cy="22555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037810" y="6170396"/>
            <a:ext cx="3452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http://wenshu.court.gov.cn/Index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0318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Law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0" y="1294262"/>
            <a:ext cx="106954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Crime Classification (Wang et al. 2018)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  Collected from the China Judgments Online.   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Task: Determine the specific articles (as labels) that the evidence (document) violated (multi-label classification). </a:t>
            </a: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0"/>
          <a:stretch>
            <a:fillRect/>
          </a:stretch>
        </p:blipFill>
        <p:spPr>
          <a:xfrm>
            <a:off x="6288707" y="3533293"/>
            <a:ext cx="5760416" cy="267371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774982" y="6366739"/>
            <a:ext cx="47878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The overall architecture of the proposed model. </a:t>
            </a:r>
            <a:endParaRPr lang="zh-CN" altLang="en-US" dirty="0"/>
          </a:p>
        </p:txBody>
      </p:sp>
      <p:pic>
        <p:nvPicPr>
          <p:cNvPr id="11" name="图片 10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294" y="3344261"/>
            <a:ext cx="4083087" cy="289678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458294" y="6366739"/>
            <a:ext cx="4505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Distribution of article set size over evidences.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8856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Medical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0" y="1294262"/>
            <a:ext cx="11781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it-IT" altLang="zh-CN" sz="2800" b="1" dirty="0"/>
              <a:t>Predicting depression via social media. </a:t>
            </a:r>
            <a:r>
              <a:rPr lang="en-US" altLang="zh-CN" sz="2800" b="1" dirty="0"/>
              <a:t>(Choudhury et al. 2013)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  Social Media Data (Tweets).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Task: Predict a binary response variable (depressed/not depressed).</a:t>
            </a:r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67" y="3021200"/>
            <a:ext cx="5841390" cy="244224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980501" y="5463443"/>
            <a:ext cx="49796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</a:rPr>
              <a:t>Example posts from users in the depression class.</a:t>
            </a:r>
            <a:r>
              <a:rPr lang="en-US" altLang="zh-CN" b="1" dirty="0"/>
              <a:t> </a:t>
            </a:r>
            <a:endParaRPr lang="zh-CN" altLang="en-US" b="1" dirty="0"/>
          </a:p>
        </p:txBody>
      </p:sp>
      <p:pic>
        <p:nvPicPr>
          <p:cNvPr id="8" name="图片 7" descr="屏幕剪辑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7" b="2352"/>
          <a:stretch>
            <a:fillRect/>
          </a:stretch>
        </p:blipFill>
        <p:spPr>
          <a:xfrm>
            <a:off x="6807861" y="3164780"/>
            <a:ext cx="5070779" cy="215508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807861" y="5463443"/>
            <a:ext cx="52445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</a:rPr>
              <a:t>Performance metrics in depression prediction in posts using various models.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8856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Medical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0" y="1294262"/>
            <a:ext cx="11781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it-IT" altLang="zh-CN" sz="2800" b="1" dirty="0"/>
              <a:t>C</a:t>
            </a:r>
            <a:r>
              <a:rPr lang="en-US" altLang="zh-CN" sz="2800" b="1" dirty="0" err="1"/>
              <a:t>lassification</a:t>
            </a:r>
            <a:r>
              <a:rPr lang="en-US" altLang="zh-CN" sz="2800" b="1" dirty="0"/>
              <a:t> of skin cancer</a:t>
            </a:r>
            <a:r>
              <a:rPr lang="it-IT" altLang="zh-CN" sz="2800" b="1" dirty="0"/>
              <a:t>. 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Esteva</a:t>
            </a:r>
            <a:r>
              <a:rPr lang="en-US" altLang="zh-CN" sz="2800" b="1" dirty="0"/>
              <a:t> et al. 2017)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The ISIC </a:t>
            </a:r>
            <a:r>
              <a:rPr lang="en-US" altLang="zh-CN" sz="2800" b="1" dirty="0" err="1"/>
              <a:t>Dermoscopic</a:t>
            </a:r>
            <a:r>
              <a:rPr lang="en-US" altLang="zh-CN" sz="2800" b="1" dirty="0"/>
              <a:t> Archive, the Edinburgh </a:t>
            </a:r>
            <a:r>
              <a:rPr lang="en-US" altLang="zh-CN" sz="2800" b="1" dirty="0" err="1"/>
              <a:t>Dermofit</a:t>
            </a:r>
            <a:r>
              <a:rPr lang="en-US" altLang="zh-CN" sz="2800" b="1" dirty="0"/>
              <a:t> Library and data from the Stanford Hospital (129,450 clinical images).</a:t>
            </a:r>
          </a:p>
        </p:txBody>
      </p:sp>
      <p:sp>
        <p:nvSpPr>
          <p:cNvPr id="6" name="矩形 5"/>
          <p:cNvSpPr/>
          <p:nvPr/>
        </p:nvSpPr>
        <p:spPr>
          <a:xfrm>
            <a:off x="3068843" y="6012630"/>
            <a:ext cx="38178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Open-access dermatology repositories</a:t>
            </a:r>
            <a:endParaRPr lang="zh-CN" altLang="en-US" dirty="0"/>
          </a:p>
        </p:txBody>
      </p:sp>
      <p:pic>
        <p:nvPicPr>
          <p:cNvPr id="11" name="图片 10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80" y="3577610"/>
            <a:ext cx="4505954" cy="18385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图片 11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077" y="3610953"/>
            <a:ext cx="3153215" cy="17718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图片 12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734" y="3948932"/>
            <a:ext cx="2459180" cy="10959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矩形 13"/>
          <p:cNvSpPr/>
          <p:nvPr/>
        </p:nvSpPr>
        <p:spPr>
          <a:xfrm>
            <a:off x="9240734" y="6012630"/>
            <a:ext cx="26702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Data from the hospital.</a:t>
            </a:r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220338" y="3349128"/>
            <a:ext cx="8615190" cy="240167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9125022" y="3349127"/>
            <a:ext cx="2740144" cy="2401677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8856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Medical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0" y="1294262"/>
            <a:ext cx="1178132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it-IT" altLang="zh-CN" sz="2800" b="1" dirty="0"/>
              <a:t>C</a:t>
            </a:r>
            <a:r>
              <a:rPr lang="en-US" altLang="zh-CN" sz="2800" b="1" dirty="0" err="1"/>
              <a:t>lassification</a:t>
            </a:r>
            <a:r>
              <a:rPr lang="en-US" altLang="zh-CN" sz="2800" b="1" dirty="0"/>
              <a:t> of skin cancer</a:t>
            </a:r>
            <a:r>
              <a:rPr lang="it-IT" altLang="zh-CN" sz="2800" b="1" dirty="0"/>
              <a:t>. 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Esteva</a:t>
            </a:r>
            <a:r>
              <a:rPr lang="en-US" altLang="zh-CN" sz="2800" b="1" dirty="0"/>
              <a:t> et al. 2017)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Task:  Two binary classification use cases: </a:t>
            </a:r>
          </a:p>
          <a:p>
            <a:pPr marL="1485900" lvl="2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Keratinocyte carcinomas vs benign seborrheic </a:t>
            </a:r>
            <a:r>
              <a:rPr lang="en-US" altLang="zh-CN" sz="2800" b="1" dirty="0" err="1"/>
              <a:t>keratoses</a:t>
            </a:r>
            <a:r>
              <a:rPr lang="en-US" altLang="zh-CN" sz="2800" b="1" dirty="0"/>
              <a:t>;</a:t>
            </a:r>
          </a:p>
          <a:p>
            <a:pPr marL="1485900" lvl="2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Malignant melanomas(</a:t>
            </a:r>
            <a:r>
              <a:rPr lang="zh-CN" altLang="en-US" sz="2800" b="1" dirty="0"/>
              <a:t>恶性黑色素瘤</a:t>
            </a:r>
            <a:r>
              <a:rPr lang="en-US" altLang="zh-CN" sz="2800" b="1" dirty="0"/>
              <a:t>) vs benign nevi(</a:t>
            </a:r>
            <a:r>
              <a:rPr lang="zh-CN" altLang="en-US" sz="2800" b="1" dirty="0"/>
              <a:t>良性痣</a:t>
            </a:r>
            <a:r>
              <a:rPr lang="en-US" altLang="zh-CN" sz="2800" b="1" dirty="0"/>
              <a:t>). </a:t>
            </a:r>
          </a:p>
        </p:txBody>
      </p:sp>
      <p:sp>
        <p:nvSpPr>
          <p:cNvPr id="6" name="矩形 5"/>
          <p:cNvSpPr/>
          <p:nvPr/>
        </p:nvSpPr>
        <p:spPr>
          <a:xfrm>
            <a:off x="5171917" y="6314545"/>
            <a:ext cx="49796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Proposed framework.</a:t>
            </a:r>
            <a:endParaRPr lang="zh-CN" altLang="en-US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80" y="3244839"/>
            <a:ext cx="11542621" cy="29350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22949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Education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0" y="1294262"/>
            <a:ext cx="11781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it-IT" altLang="zh-CN" sz="2800" b="1" dirty="0"/>
              <a:t>Automated Essay Scoring. 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Taghipour</a:t>
            </a:r>
            <a:r>
              <a:rPr lang="en-US" altLang="zh-CN" sz="2800" b="1" dirty="0"/>
              <a:t> et al. 2016)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Public dataset provide by the following competition (2012). </a:t>
            </a:r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868" y="3983922"/>
            <a:ext cx="6068315" cy="2467337"/>
          </a:xfrm>
          <a:prstGeom prst="rect">
            <a:avLst/>
          </a:prstGeom>
        </p:spPr>
      </p:pic>
      <p:pic>
        <p:nvPicPr>
          <p:cNvPr id="10" name="图片 9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25" y="3723118"/>
            <a:ext cx="4548397" cy="2988946"/>
          </a:xfrm>
          <a:prstGeom prst="rect">
            <a:avLst/>
          </a:prstGeom>
        </p:spPr>
      </p:pic>
      <p:pic>
        <p:nvPicPr>
          <p:cNvPr id="11" name="图片 10" descr="屏幕剪辑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5" t="14132"/>
          <a:stretch>
            <a:fillRect/>
          </a:stretch>
        </p:blipFill>
        <p:spPr>
          <a:xfrm>
            <a:off x="2722493" y="2374062"/>
            <a:ext cx="7157694" cy="10879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22949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Education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410680" y="1294262"/>
            <a:ext cx="11781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n"/>
            </a:pPr>
            <a:r>
              <a:rPr lang="it-IT" altLang="zh-CN" sz="2800" b="1" dirty="0"/>
              <a:t>Automated Essay Scoring. 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Hao</a:t>
            </a:r>
            <a:r>
              <a:rPr lang="en-US" altLang="zh-CN" sz="2800" b="1" dirty="0"/>
              <a:t> et al. 2014)</a:t>
            </a:r>
          </a:p>
          <a:p>
            <a:pPr marL="1028700" lvl="1" indent="-571500" algn="just">
              <a:buFont typeface="Wingdings" panose="05000000000000000000" pitchFamily="2" charset="2"/>
              <a:buChar char="n"/>
            </a:pPr>
            <a:r>
              <a:rPr lang="en-US" altLang="zh-CN" sz="2800" b="1" dirty="0"/>
              <a:t>Data: Essays from the MHK (the minorities-oriented Chinese level test).</a:t>
            </a:r>
          </a:p>
        </p:txBody>
      </p:sp>
      <p:pic>
        <p:nvPicPr>
          <p:cNvPr id="7" name="图片 6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80" y="2662555"/>
            <a:ext cx="5775325" cy="3735070"/>
          </a:xfrm>
          <a:prstGeom prst="rect">
            <a:avLst/>
          </a:prstGeom>
        </p:spPr>
      </p:pic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700" y="1011449"/>
            <a:ext cx="3838779" cy="5442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图片 8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897" y="2374062"/>
            <a:ext cx="4310444" cy="1852326"/>
          </a:xfrm>
          <a:prstGeom prst="rect">
            <a:avLst/>
          </a:prstGeom>
        </p:spPr>
      </p:pic>
      <p:pic>
        <p:nvPicPr>
          <p:cNvPr id="10" name="图片 9" descr="屏幕剪辑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897" y="4641413"/>
            <a:ext cx="4310445" cy="173509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998320" y="4226388"/>
            <a:ext cx="3286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Training set (total 15,776 essays)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8103700" y="6397899"/>
            <a:ext cx="30759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Testing set (total 1,000 essays)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455247" y="6376503"/>
            <a:ext cx="395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The flowchart of the proposed method.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6165" y="1199822"/>
            <a:ext cx="7459606" cy="3330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What is Machine Learning?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Applications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Components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Types of Machine Learning.</a:t>
            </a:r>
            <a:endParaRPr lang="zh-CN" altLang="en-US" sz="36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113" y="245239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Outline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6165" y="1199822"/>
            <a:ext cx="740080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What is Machine Learning?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Applications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>
                <a:solidFill>
                  <a:srgbClr val="FF0000"/>
                </a:solidFill>
              </a:rPr>
              <a:t>Components of Machine</a:t>
            </a:r>
            <a:r>
              <a:rPr lang="en-US" altLang="zh-CN" sz="3600" b="1" dirty="0"/>
              <a:t> </a:t>
            </a:r>
            <a:r>
              <a:rPr lang="en-US" altLang="zh-CN" sz="3600" b="1" dirty="0">
                <a:solidFill>
                  <a:srgbClr val="FF0000"/>
                </a:solidFill>
              </a:rPr>
              <a:t>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Types of Machine Learning.</a:t>
            </a:r>
            <a:endParaRPr lang="zh-CN" altLang="en-US" sz="36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113" y="245239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Outline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483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Basic Notations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10680" y="1294262"/>
                <a:ext cx="1178132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3600" b="1" dirty="0"/>
                  <a:t>Bold capital letters (e.g., </a:t>
                </a:r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sz="3600" b="1" dirty="0"/>
                  <a:t>) </a:t>
                </a:r>
                <a14:m>
                  <m:oMath xmlns:m="http://schemas.openxmlformats.org/officeDocument/2006/math">
                    <m:r>
                      <a:rPr lang="en-US" altLang="zh-CN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sz="3600" b="1" dirty="0"/>
                  <a:t>Matrices;</a:t>
                </a:r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3600" b="1" dirty="0"/>
                  <a:t>Bold lowercase letters (e.g., </a:t>
                </a:r>
                <a14:m>
                  <m:oMath xmlns:m="http://schemas.openxmlformats.org/officeDocument/2006/math">
                    <m:r>
                      <a:rPr lang="en-US" altLang="zh-CN" sz="36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3600" b="1" dirty="0"/>
                  <a:t>) </a:t>
                </a:r>
                <a14:m>
                  <m:oMath xmlns:m="http://schemas.openxmlformats.org/officeDocument/2006/math">
                    <m:r>
                      <a:rPr lang="en-US" altLang="zh-CN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zh-CN" sz="3600" b="1" dirty="0"/>
                  <a:t> Vectors;</a:t>
                </a:r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3600" b="1" dirty="0"/>
                  <a:t>Non-bold letters (e.g., 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3600" b="1" dirty="0"/>
                  <a:t>) </a:t>
                </a:r>
                <a14:m>
                  <m:oMath xmlns:m="http://schemas.openxmlformats.org/officeDocument/2006/math">
                    <m:r>
                      <a:rPr lang="en-US" altLang="zh-CN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sz="3600" b="1" dirty="0"/>
                  <a:t>Scalars;</a:t>
                </a:r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3600" b="1" dirty="0"/>
                  <a:t>Greek letters (e.g.,</a:t>
                </a:r>
                <a:r>
                  <a:rPr lang="en-US" altLang="zh-CN" sz="3600" dirty="0"/>
                  <a:t> β</a:t>
                </a:r>
                <a:r>
                  <a:rPr lang="en-US" altLang="zh-CN" sz="3600" b="1" dirty="0"/>
                  <a:t>) </a:t>
                </a:r>
                <a14:m>
                  <m:oMath xmlns:m="http://schemas.openxmlformats.org/officeDocument/2006/math">
                    <m:r>
                      <a:rPr lang="en-US" altLang="zh-CN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altLang="zh-CN" sz="3600" b="1" dirty="0"/>
                  <a:t>The parameters.</a:t>
                </a: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0" y="1294262"/>
                <a:ext cx="11781320" cy="2308324"/>
              </a:xfrm>
              <a:prstGeom prst="rect">
                <a:avLst/>
              </a:prstGeom>
              <a:blipFill rotWithShape="1">
                <a:blip r:embed="rId3"/>
                <a:stretch>
                  <a:fillRect l="-4" t="-6" b="-1333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483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Basic Notations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10680" y="1007820"/>
                <a:ext cx="11781320" cy="4005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2800" b="1" dirty="0"/>
                  <a:t>Input: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zh-CN" altLang="en-US" sz="2800" b="1" i="0" smtClean="0"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r>
                  <a:rPr lang="en-US" altLang="zh-CN" sz="2800" b="1" dirty="0"/>
                  <a:t>  (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r>
                  <a:rPr lang="en-US" altLang="zh-CN" sz="2800" dirty="0"/>
                  <a:t>: input/sample space</a:t>
                </a:r>
                <a:r>
                  <a:rPr lang="en-US" altLang="zh-CN" sz="2800" b="1" dirty="0"/>
                  <a:t>)</a:t>
                </a:r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2800" b="1" dirty="0"/>
                  <a:t>Output:  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r>
                  <a:rPr lang="en-US" altLang="zh-CN" sz="2800" b="1" dirty="0"/>
                  <a:t> (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r>
                  <a:rPr lang="en-US" altLang="zh-CN" sz="2800" b="1" dirty="0"/>
                  <a:t>: </a:t>
                </a:r>
                <a:r>
                  <a:rPr lang="en-US" altLang="zh-CN" sz="2800" dirty="0"/>
                  <a:t>output/label space</a:t>
                </a:r>
                <a:r>
                  <a:rPr lang="en-US" altLang="zh-CN" sz="2800" b="1" dirty="0"/>
                  <a:t>)</a:t>
                </a:r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2800" b="1" dirty="0"/>
                  <a:t>Data 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 </m:t>
                    </m:r>
                  </m:oMath>
                </a14:m>
                <a:r>
                  <a:rPr lang="en-US" altLang="zh-CN" sz="2800" dirty="0"/>
                  <a:t>Training examples (sample/instance).</a:t>
                </a:r>
              </a:p>
              <a:p>
                <a:pPr marL="1028700" lvl="1" indent="-571500" algn="just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𝓓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,(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),…,(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dirty="0"/>
                  <a:t> where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zh-CN" altLang="en-US" sz="2800" b="1" i="1" smtClean="0"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r>
                  <a:rPr lang="en-US" altLang="zh-CN" sz="28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sz="2800" dirty="0"/>
                  <a:t>is the value of the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2800" dirty="0"/>
                  <a:t>-</a:t>
                </a:r>
                <a:r>
                  <a:rPr lang="en-US" altLang="zh-CN" sz="2800" dirty="0" err="1"/>
                  <a:t>th</a:t>
                </a:r>
                <a:r>
                  <a:rPr lang="en-US" altLang="zh-CN" sz="2800" dirty="0"/>
                  <a:t> attribute/feature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altLang="zh-CN" sz="2800" b="1" dirty="0"/>
                  <a:t>.</a:t>
                </a:r>
              </a:p>
              <a:p>
                <a:pPr marL="1028700" lvl="1" indent="-571500" algn="just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800" b="1" dirty="0"/>
                  <a:t>: dimensionality</a:t>
                </a:r>
                <a:r>
                  <a:rPr lang="en-US" altLang="zh-CN" sz="2800" dirty="0"/>
                  <a:t> of the feature space. </a:t>
                </a:r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:r>
                  <a:rPr lang="en-US" altLang="zh-CN" sz="2800" b="1" dirty="0">
                    <a:solidFill>
                      <a:srgbClr val="FF0000"/>
                    </a:solidFill>
                  </a:rPr>
                  <a:t>Unknown</a:t>
                </a:r>
                <a:r>
                  <a:rPr lang="en-US" altLang="zh-CN" sz="2800" b="1" dirty="0"/>
                  <a:t> 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pattern</a:t>
                </a:r>
                <a:r>
                  <a:rPr lang="en-US" altLang="zh-CN" sz="2800" dirty="0"/>
                  <a:t> to be learned, i.e., target function:</a:t>
                </a:r>
              </a:p>
              <a:p>
                <a:pPr lvl="8" algn="just"/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𝓧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r>
                  <a:rPr lang="en-US" altLang="zh-CN" sz="2800" b="1" dirty="0"/>
                  <a:t> </a:t>
                </a:r>
              </a:p>
              <a:p>
                <a:pPr lvl="1" algn="just"/>
                <a:endParaRPr lang="en-US" altLang="zh-CN" sz="28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0" y="1007820"/>
                <a:ext cx="11781320" cy="4005007"/>
              </a:xfrm>
              <a:prstGeom prst="rect">
                <a:avLst/>
              </a:prstGeom>
              <a:blipFill rotWithShape="1">
                <a:blip r:embed="rId3"/>
                <a:stretch>
                  <a:fillRect l="-4" t="-2" b="-979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410680" y="4623910"/>
                <a:ext cx="10128174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n"/>
                </a:pPr>
                <a:r>
                  <a:rPr lang="en-US" altLang="zh-CN" sz="2800" b="1" dirty="0"/>
                  <a:t>Hypothesis:</a:t>
                </a:r>
                <a:r>
                  <a:rPr lang="en-US" altLang="zh-CN" sz="2800" i="1" dirty="0"/>
                  <a:t> </a:t>
                </a:r>
                <a:r>
                  <a:rPr lang="en-US" altLang="zh-CN" sz="2800" dirty="0"/>
                  <a:t>skill with hopefully good performance:</a:t>
                </a:r>
                <a:br>
                  <a:rPr lang="en-US" altLang="zh-CN" sz="2800" dirty="0"/>
                </a:b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𝓧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r>
                  <a:rPr lang="en-US" altLang="zh-CN" sz="2800" i="1" dirty="0"/>
                  <a:t> </a:t>
                </a:r>
                <a:r>
                  <a:rPr lang="en-US" altLang="zh-CN" sz="2800" dirty="0"/>
                  <a:t>(‘learned’ formula to be used) </a:t>
                </a:r>
                <a:br>
                  <a:rPr lang="en-US" altLang="zh-CN" sz="2800" dirty="0"/>
                </a:br>
                <a:endParaRPr lang="zh-CN" altLang="en-US" sz="28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0" y="4623910"/>
                <a:ext cx="10128174" cy="1384995"/>
              </a:xfrm>
              <a:prstGeom prst="rect">
                <a:avLst/>
              </a:prstGeom>
              <a:blipFill rotWithShape="1">
                <a:blip r:embed="rId4"/>
                <a:stretch>
                  <a:fillRect l="-5" t="-34" r="4" b="-97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872" y="5637147"/>
            <a:ext cx="6916115" cy="1076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7530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Watermelon Classification</a:t>
            </a:r>
            <a:endParaRPr lang="zh-CN" altLang="en-US" sz="4000" b="1" dirty="0"/>
          </a:p>
        </p:txBody>
      </p:sp>
      <p:pic>
        <p:nvPicPr>
          <p:cNvPr id="6" name="图片 5" descr="ws_D806.tmp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3715" y="1564943"/>
            <a:ext cx="5549441" cy="3420639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85166" y="5327464"/>
            <a:ext cx="6733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Is the given watermelon good?</a:t>
            </a:r>
            <a:endParaRPr lang="zh-CN" altLang="en-US" sz="4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/>
          <a:srcRect l="11748" t="2249" r="19759" b="9075"/>
          <a:stretch>
            <a:fillRect/>
          </a:stretch>
        </p:blipFill>
        <p:spPr>
          <a:xfrm>
            <a:off x="690265" y="5107776"/>
            <a:ext cx="1744463" cy="127037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1507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Learning Flow</a:t>
            </a:r>
            <a:endParaRPr lang="zh-CN" altLang="en-US" sz="4000" b="1" dirty="0"/>
          </a:p>
        </p:txBody>
      </p:sp>
      <p:grpSp>
        <p:nvGrpSpPr>
          <p:cNvPr id="19" name="组合 18"/>
          <p:cNvGrpSpPr/>
          <p:nvPr/>
        </p:nvGrpSpPr>
        <p:grpSpPr>
          <a:xfrm>
            <a:off x="1913138" y="1469988"/>
            <a:ext cx="8770137" cy="2876484"/>
            <a:chOff x="370776" y="1160716"/>
            <a:chExt cx="8770137" cy="2876484"/>
          </a:xfrm>
        </p:grpSpPr>
        <p:pic>
          <p:nvPicPr>
            <p:cNvPr id="2" name="图片 1" descr="屏幕剪辑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732" y="1168569"/>
              <a:ext cx="8332004" cy="2656843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370776" y="1961883"/>
              <a:ext cx="3579613" cy="3677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700" i="1" dirty="0">
                  <a:solidFill>
                    <a:schemeClr val="bg1">
                      <a:lumMod val="50000"/>
                    </a:schemeClr>
                  </a:solidFill>
                </a:rPr>
                <a:t>、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703552" y="3479733"/>
              <a:ext cx="2680897" cy="2754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70776" y="1914927"/>
              <a:ext cx="3029640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00" i="1" dirty="0">
                  <a:solidFill>
                    <a:schemeClr val="bg1">
                      <a:lumMod val="50000"/>
                    </a:schemeClr>
                  </a:solidFill>
                </a:rPr>
                <a:t>(Ideal classification formula)</a:t>
              </a:r>
              <a:endParaRPr lang="zh-CN" altLang="en-US" sz="17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16555" y="3440473"/>
              <a:ext cx="3029640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00" i="1" dirty="0">
                  <a:solidFill>
                    <a:schemeClr val="bg1">
                      <a:lumMod val="50000"/>
                    </a:schemeClr>
                  </a:solidFill>
                </a:rPr>
                <a:t>(Watermelons in hand)</a:t>
              </a:r>
              <a:endParaRPr lang="zh-CN" altLang="en-US" sz="17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202496" y="3479733"/>
              <a:ext cx="2876671" cy="2754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0" i="1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111273" y="3421647"/>
              <a:ext cx="302964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700" i="1" dirty="0">
                  <a:solidFill>
                    <a:schemeClr val="bg1">
                      <a:lumMod val="50000"/>
                    </a:schemeClr>
                  </a:solidFill>
                </a:rPr>
                <a:t>(‘Learned’ classification formula to be used)</a:t>
              </a:r>
              <a:endParaRPr lang="zh-CN" altLang="en-US" sz="1700" i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591113" y="1160716"/>
              <a:ext cx="8495216" cy="2876484"/>
            </a:xfrm>
            <a:prstGeom prst="roundRect">
              <a:avLst>
                <a:gd name="adj" fmla="val 6117"/>
              </a:avLst>
            </a:prstGeom>
            <a:noFill/>
            <a:ln w="28575">
              <a:solidFill>
                <a:srgbClr val="00B05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0" name="图片 19" descr="屏幕剪辑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08" y="4647891"/>
            <a:ext cx="6430272" cy="2210108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177364" y="5267095"/>
            <a:ext cx="44990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What does </a:t>
            </a:r>
            <a:r>
              <a:rPr lang="en-US" altLang="zh-CN" sz="3600" b="1" i="1" dirty="0"/>
              <a:t>g</a:t>
            </a:r>
            <a:r>
              <a:rPr lang="en-US" altLang="zh-CN" sz="3600" b="1" dirty="0"/>
              <a:t> look like?</a:t>
            </a:r>
            <a:endParaRPr lang="zh-CN" altLang="en-US" sz="3600" b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5173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Learning Model</a:t>
            </a:r>
            <a:endParaRPr lang="zh-CN" altLang="en-US" sz="4000" b="1" dirty="0"/>
          </a:p>
        </p:txBody>
      </p:sp>
      <p:pic>
        <p:nvPicPr>
          <p:cNvPr id="14" name="图片 1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543" y="1263994"/>
            <a:ext cx="8241184" cy="261394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999152" y="2255024"/>
            <a:ext cx="2680897" cy="275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12155" y="2215764"/>
            <a:ext cx="30296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i="1" dirty="0">
                <a:solidFill>
                  <a:schemeClr val="bg1">
                    <a:lumMod val="50000"/>
                  </a:schemeClr>
                </a:solidFill>
              </a:rPr>
              <a:t>(Watermelons in hand)</a:t>
            </a:r>
            <a:endParaRPr lang="zh-CN" alt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02487" y="2241553"/>
            <a:ext cx="2876671" cy="275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411264" y="2183467"/>
            <a:ext cx="30296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i="1" dirty="0">
                <a:solidFill>
                  <a:schemeClr val="bg1">
                    <a:lumMod val="50000"/>
                  </a:schemeClr>
                </a:solidFill>
              </a:rPr>
              <a:t>(‘Learned’ classification formula to be used)</a:t>
            </a:r>
            <a:endParaRPr lang="zh-CN" alt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891104" y="1212736"/>
            <a:ext cx="8495216" cy="2665202"/>
          </a:xfrm>
          <a:prstGeom prst="roundRect">
            <a:avLst>
              <a:gd name="adj" fmla="val 6117"/>
            </a:avLst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1893224" y="4116486"/>
            <a:ext cx="8549800" cy="2559735"/>
          </a:xfrm>
          <a:prstGeom prst="roundRect">
            <a:avLst>
              <a:gd name="adj" fmla="val 8490"/>
            </a:avLst>
          </a:prstGeom>
          <a:solidFill>
            <a:srgbClr val="E6F5F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/>
              <p:cNvSpPr txBox="1"/>
              <p:nvPr/>
            </p:nvSpPr>
            <p:spPr>
              <a:xfrm>
                <a:off x="1891104" y="4127532"/>
                <a:ext cx="7717724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just">
                  <a:buFont typeface="Arial" panose="020B0604020202090204" pitchFamily="34" charset="0"/>
                  <a:buChar char="•"/>
                </a:pPr>
                <a:r>
                  <a:rPr lang="en-US" altLang="zh-CN" sz="2000" dirty="0"/>
                  <a:t>Assume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000" dirty="0"/>
                  <a:t> </a:t>
                </a:r>
                <a:r>
                  <a:rPr lang="en-US" altLang="zh-CN" sz="2000" dirty="0"/>
                  <a:t>i.e., classify a given watermelon is good if </a:t>
                </a:r>
              </a:p>
              <a:p>
                <a:pPr marL="742950" lvl="1" indent="-285750" algn="just"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(</m:t>
                    </m:r>
                  </m:oMath>
                </a14:m>
                <a:r>
                  <a:rPr lang="zh-CN" altLang="en-US" sz="2000" dirty="0"/>
                  <a:t>色泽</a:t>
                </a:r>
                <a:r>
                  <a:rPr lang="en-US" altLang="zh-CN" sz="2000" dirty="0"/>
                  <a:t>=“</a:t>
                </a:r>
                <a:r>
                  <a:rPr lang="zh-CN" altLang="en-US" sz="2000" dirty="0"/>
                  <a:t>青绿</a:t>
                </a:r>
                <a:r>
                  <a:rPr lang="en-US" altLang="zh-CN" sz="2000" dirty="0"/>
                  <a:t>”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⋀(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根蒂</m:t>
                    </m:r>
                    <m:r>
                      <m:rPr>
                        <m:nor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=“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蜷缩</m:t>
                    </m:r>
                    <m:r>
                      <m:rPr>
                        <m:nor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”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⋀(</m:t>
                    </m:r>
                  </m:oMath>
                </a14:m>
                <a:r>
                  <a:rPr lang="zh-CN" altLang="en-US" sz="2000" dirty="0"/>
                  <a:t>敲声</a:t>
                </a:r>
                <a:r>
                  <a:rPr lang="en-US" altLang="zh-CN" sz="2000" dirty="0"/>
                  <a:t>=“</a:t>
                </a:r>
                <a:r>
                  <a:rPr lang="zh-CN" altLang="en-US" sz="2000" dirty="0"/>
                  <a:t>浊响</a:t>
                </a:r>
                <a:r>
                  <a:rPr lang="en-US" altLang="zh-CN" sz="2000" dirty="0"/>
                  <a:t>”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/>
              </a:p>
              <a:p>
                <a:pPr marL="742950" lvl="1" indent="-285750" algn="just"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(</m:t>
                    </m:r>
                  </m:oMath>
                </a14:m>
                <a:r>
                  <a:rPr lang="zh-CN" altLang="en-US" sz="2000" dirty="0"/>
                  <a:t>色泽</a:t>
                </a:r>
                <a:r>
                  <a:rPr lang="en-US" altLang="zh-CN" sz="2000" dirty="0"/>
                  <a:t>=</a:t>
                </a:r>
                <a:r>
                  <a:rPr lang="zh-CN" altLang="en-US" sz="2000" dirty="0"/>
                  <a:t>*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⋀(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根蒂</m:t>
                    </m:r>
                    <m:r>
                      <m:rPr>
                        <m:nor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=“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蜷缩</m:t>
                    </m:r>
                    <m:r>
                      <m:rPr>
                        <m:nor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”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⋀(</m:t>
                    </m:r>
                  </m:oMath>
                </a14:m>
                <a:r>
                  <a:rPr lang="zh-CN" altLang="en-US" sz="2000" dirty="0"/>
                  <a:t>敲声</a:t>
                </a:r>
                <a:r>
                  <a:rPr lang="en-US" altLang="zh-CN" sz="2000" dirty="0"/>
                  <a:t>=“</a:t>
                </a:r>
                <a:r>
                  <a:rPr lang="zh-CN" altLang="en-US" sz="2000" dirty="0"/>
                  <a:t>浊响</a:t>
                </a:r>
                <a:r>
                  <a:rPr lang="en-US" altLang="zh-CN" sz="2000" dirty="0"/>
                  <a:t>”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/>
              </a:p>
              <a:p>
                <a:pPr marL="742950" lvl="1" indent="-285750" algn="just"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(</m:t>
                    </m:r>
                  </m:oMath>
                </a14:m>
                <a:r>
                  <a:rPr lang="zh-CN" altLang="en-US" sz="2000" dirty="0"/>
                  <a:t>色泽</a:t>
                </a:r>
                <a:r>
                  <a:rPr lang="en-US" altLang="zh-CN" sz="2000" dirty="0"/>
                  <a:t>=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⋀(</m:t>
                    </m:r>
                    <m:r>
                      <a:rPr lang="zh-CN" alt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根蒂</m:t>
                    </m:r>
                    <m:r>
                      <m:rPr>
                        <m:nor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=“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蜷缩</m:t>
                    </m:r>
                    <m:r>
                      <m:rPr>
                        <m:nor/>
                      </m:rPr>
                      <a:rPr lang="en-US" altLang="zh-CN" sz="2000" dirty="0">
                        <a:latin typeface="Cambria Math" panose="02040503050406030204" pitchFamily="18" charset="0"/>
                      </a:rPr>
                      <m:t>”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⋀(</m:t>
                    </m:r>
                  </m:oMath>
                </a14:m>
                <a:r>
                  <a:rPr lang="zh-CN" altLang="en-US" sz="2000" dirty="0"/>
                  <a:t>敲声</a:t>
                </a:r>
                <a:r>
                  <a:rPr lang="en-US" altLang="zh-CN" sz="2000" dirty="0"/>
                  <a:t>=</a:t>
                </a:r>
                <a:r>
                  <a:rPr lang="zh-CN" altLang="en-US" sz="2000" dirty="0"/>
                  <a:t>*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000" dirty="0"/>
              </a:p>
              <a:p>
                <a:pPr marL="742950" lvl="1" indent="-285750" algn="just">
                  <a:buFont typeface="Arial" panose="020B060402020209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endParaRPr lang="en-US" altLang="zh-CN" sz="2000" dirty="0"/>
              </a:p>
              <a:p>
                <a:pPr marL="285750" indent="-285750" algn="just">
                  <a:buFont typeface="Arial" panose="020B0604020202090204" pitchFamily="34" charset="0"/>
                  <a:buChar char="•"/>
                </a:pPr>
                <a:r>
                  <a:rPr lang="en-US" altLang="zh-CN" sz="2000" dirty="0"/>
                  <a:t>Hypothesis set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altLang="zh-CN" sz="2000" dirty="0"/>
                  <a:t>:</a:t>
                </a:r>
              </a:p>
              <a:p>
                <a:pPr marL="742950" lvl="1" indent="-285750" algn="just">
                  <a:buFont typeface="Arial" panose="020B0604020202090204" pitchFamily="34" charset="0"/>
                  <a:buChar char="•"/>
                </a:pPr>
                <a:r>
                  <a:rPr lang="en-US" altLang="zh-CN" sz="2000" dirty="0"/>
                  <a:t>Can contain good or bad hypotheses</a:t>
                </a:r>
              </a:p>
              <a:p>
                <a:pPr marL="742950" lvl="1" indent="-285750" algn="just">
                  <a:buFont typeface="Arial" panose="020B0604020202090204" pitchFamily="34" charset="0"/>
                  <a:buChar char="•"/>
                </a:pPr>
                <a:r>
                  <a:rPr lang="en-US" altLang="zh-CN" sz="2000" dirty="0"/>
                  <a:t>Up to the learning algorithm 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altLang="zh-CN" sz="2000" dirty="0"/>
                  <a:t> to pick the ‘best’ one as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zh-CN" altLang="en-US" sz="2000" i="1" dirty="0"/>
              </a:p>
              <a:p>
                <a:pPr marL="742950" lvl="1" indent="-285750" algn="just">
                  <a:buFont typeface="Arial" panose="020B0604020202090204" pitchFamily="34" charset="0"/>
                  <a:buChar char="•"/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24" name="文本框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104" y="4127532"/>
                <a:ext cx="7717724" cy="2862322"/>
              </a:xfrm>
              <a:prstGeom prst="rect">
                <a:avLst/>
              </a:prstGeom>
              <a:blipFill rotWithShape="1">
                <a:blip r:embed="rId4"/>
                <a:stretch>
                  <a:fillRect l="-1" t="-1" b="-1016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224" y="1212736"/>
            <a:ext cx="8495216" cy="38735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1113" y="245239"/>
            <a:ext cx="87025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Practical Definition of Machine Learning</a:t>
            </a:r>
            <a:endParaRPr lang="zh-CN" altLang="en-US" sz="4000" b="1" dirty="0"/>
          </a:p>
        </p:txBody>
      </p:sp>
      <p:sp>
        <p:nvSpPr>
          <p:cNvPr id="15" name="矩形 14"/>
          <p:cNvSpPr/>
          <p:nvPr/>
        </p:nvSpPr>
        <p:spPr>
          <a:xfrm>
            <a:off x="2040341" y="3442450"/>
            <a:ext cx="2680897" cy="275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53344" y="3403190"/>
            <a:ext cx="30296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i="1" dirty="0">
                <a:solidFill>
                  <a:schemeClr val="bg1">
                    <a:lumMod val="50000"/>
                  </a:schemeClr>
                </a:solidFill>
              </a:rPr>
              <a:t>(Watermelons in hand)</a:t>
            </a:r>
            <a:endParaRPr lang="zh-CN" alt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09458" y="3507442"/>
            <a:ext cx="2876671" cy="275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418235" y="3449356"/>
            <a:ext cx="30296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i="1" dirty="0">
                <a:solidFill>
                  <a:schemeClr val="bg1">
                    <a:lumMod val="50000"/>
                  </a:schemeClr>
                </a:solidFill>
              </a:rPr>
              <a:t>(‘Learned’ classification formula to be used)</a:t>
            </a:r>
            <a:endParaRPr lang="zh-CN" alt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891104" y="1212736"/>
            <a:ext cx="8495216" cy="4123352"/>
          </a:xfrm>
          <a:prstGeom prst="roundRect">
            <a:avLst>
              <a:gd name="adj" fmla="val 6117"/>
            </a:avLst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921616" y="1904209"/>
            <a:ext cx="3436393" cy="367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00" i="1" dirty="0">
                <a:solidFill>
                  <a:schemeClr val="bg1">
                    <a:lumMod val="50000"/>
                  </a:schemeClr>
                </a:solidFill>
              </a:rPr>
              <a:t>、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849508" y="1869779"/>
            <a:ext cx="29084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i="1" dirty="0">
                <a:solidFill>
                  <a:schemeClr val="bg1">
                    <a:lumMod val="50000"/>
                  </a:schemeClr>
                </a:solidFill>
              </a:rPr>
              <a:t>(Ideal classification formula)</a:t>
            </a:r>
            <a:endParaRPr lang="zh-CN" alt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861" y="5401700"/>
            <a:ext cx="6357272" cy="135581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6165" y="1199822"/>
            <a:ext cx="7400809" cy="3330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What is Machine Learning?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Applications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Components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Types of Machine Learning.</a:t>
            </a:r>
            <a:endParaRPr lang="zh-CN" altLang="en-US" sz="36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113" y="245239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Outline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6165" y="1199822"/>
            <a:ext cx="7459606" cy="33304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What is Machine Learning?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Applications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/>
              <a:t>Components of Machine Learning.</a:t>
            </a:r>
          </a:p>
          <a:p>
            <a:pPr marL="685800" indent="-6858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3600" b="1" dirty="0">
                <a:solidFill>
                  <a:srgbClr val="FF0000"/>
                </a:solidFill>
              </a:rPr>
              <a:t>Types of Machine Learning.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91113" y="245239"/>
            <a:ext cx="17716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Outline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6890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Categories of Machine Learning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output space 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endParaRPr lang="en-US" altLang="zh-CN" sz="3200" b="1" dirty="0"/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data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3200" b="1" dirty="0"/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protocol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3200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32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b="1" dirty="0"/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input space 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blipFill rotWithShape="1">
                <a:blip r:embed="rId3"/>
                <a:stretch>
                  <a:fillRect l="-7" t="-8" r="-6413" b="-130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6890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Categories of Machine Learning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rgbClr val="FF0000"/>
                    </a:solidFill>
                  </a:rPr>
                  <a:t>Learning with different output space 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endParaRPr lang="en-US" altLang="zh-CN" sz="3200" b="1" dirty="0">
                  <a:solidFill>
                    <a:srgbClr val="FF0000"/>
                  </a:solidFill>
                </a:endParaRPr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data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3200" b="1" dirty="0"/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protocol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3200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32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b="1" dirty="0"/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input space 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blipFill rotWithShape="1">
                <a:blip r:embed="rId3"/>
                <a:stretch>
                  <a:fillRect l="-7" t="-8" r="-6413" b="-130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224" y="1212736"/>
            <a:ext cx="8495216" cy="38735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1113" y="245239"/>
            <a:ext cx="45793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Binary Classification </a:t>
            </a:r>
            <a:endParaRPr lang="zh-CN" altLang="en-US" sz="4000" b="1" dirty="0"/>
          </a:p>
        </p:txBody>
      </p:sp>
      <p:sp>
        <p:nvSpPr>
          <p:cNvPr id="15" name="矩形 14"/>
          <p:cNvSpPr/>
          <p:nvPr/>
        </p:nvSpPr>
        <p:spPr>
          <a:xfrm>
            <a:off x="2040341" y="3442450"/>
            <a:ext cx="2680897" cy="275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53344" y="3403190"/>
            <a:ext cx="30296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i="1" dirty="0">
                <a:solidFill>
                  <a:schemeClr val="bg1">
                    <a:lumMod val="50000"/>
                  </a:schemeClr>
                </a:solidFill>
              </a:rPr>
              <a:t>(Watermelons in hand)</a:t>
            </a:r>
            <a:endParaRPr lang="zh-CN" alt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509458" y="3507442"/>
            <a:ext cx="2876671" cy="2754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418235" y="3449356"/>
            <a:ext cx="30296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i="1" dirty="0">
                <a:solidFill>
                  <a:schemeClr val="bg1">
                    <a:lumMod val="50000"/>
                  </a:schemeClr>
                </a:solidFill>
              </a:rPr>
              <a:t>(‘Learned’ classification formula to be used)</a:t>
            </a:r>
            <a:endParaRPr lang="zh-CN" alt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1891104" y="1212736"/>
            <a:ext cx="8495216" cy="4123352"/>
          </a:xfrm>
          <a:prstGeom prst="roundRect">
            <a:avLst>
              <a:gd name="adj" fmla="val 6117"/>
            </a:avLst>
          </a:prstGeom>
          <a:noFill/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921616" y="1904209"/>
            <a:ext cx="3436393" cy="367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700" i="1" dirty="0">
                <a:solidFill>
                  <a:schemeClr val="bg1">
                    <a:lumMod val="50000"/>
                  </a:schemeClr>
                </a:solidFill>
              </a:rPr>
              <a:t>、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849508" y="1869779"/>
            <a:ext cx="29084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700" i="1" dirty="0">
                <a:solidFill>
                  <a:schemeClr val="bg1">
                    <a:lumMod val="50000"/>
                  </a:schemeClr>
                </a:solidFill>
              </a:rPr>
              <a:t>(Ideal classification formula)</a:t>
            </a:r>
            <a:endParaRPr lang="zh-CN" altLang="en-US" sz="1700" i="1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040341" y="5777724"/>
                <a:ext cx="719915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en-US" sz="3200" dirty="0"/>
                  <a:t> : binary classification.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341" y="5777724"/>
                <a:ext cx="7199150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1" t="-84" r="-4663" b="-54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7348371" y="4133952"/>
            <a:ext cx="302140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C00000"/>
                </a:solidFill>
              </a:rPr>
              <a:t>Good?</a:t>
            </a:r>
          </a:p>
          <a:p>
            <a:r>
              <a:rPr lang="en-US" sz="3200" dirty="0"/>
              <a:t>{Yes (1), Not (-1)}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45793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Binary Classification 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6887912" y="414516"/>
                <a:ext cx="45483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r>
                  <a:rPr lang="en-US" sz="3200" dirty="0"/>
                  <a:t> 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912" y="414516"/>
                <a:ext cx="4548351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1" t="-85" r="12" b="-546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91113" y="1099294"/>
            <a:ext cx="48478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Finding decision boundaries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152" y="1840620"/>
            <a:ext cx="7775693" cy="2220498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815178" y="4369324"/>
            <a:ext cx="6434142" cy="2074160"/>
            <a:chOff x="2505202" y="1615858"/>
            <a:chExt cx="6434142" cy="2605412"/>
          </a:xfrm>
        </p:grpSpPr>
        <p:sp>
          <p:nvSpPr>
            <p:cNvPr id="21" name="矩形: 圆顶角 20"/>
            <p:cNvSpPr/>
            <p:nvPr/>
          </p:nvSpPr>
          <p:spPr>
            <a:xfrm>
              <a:off x="2505205" y="1615858"/>
              <a:ext cx="6434139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矩形: 圆顶角 23"/>
            <p:cNvSpPr/>
            <p:nvPr/>
          </p:nvSpPr>
          <p:spPr>
            <a:xfrm rot="10800000">
              <a:off x="2505202" y="2278590"/>
              <a:ext cx="6434139" cy="1942680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矩形 24"/>
            <p:cNvSpPr/>
            <p:nvPr/>
          </p:nvSpPr>
          <p:spPr>
            <a:xfrm>
              <a:off x="2523579" y="1650397"/>
              <a:ext cx="6238631" cy="734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</a:rPr>
                <a:t>Other Binary Classification Problems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2791258" y="2269711"/>
              <a:ext cx="4117024" cy="15696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/>
                <a:t>Credit </a:t>
              </a:r>
              <a:r>
                <a:rPr lang="en-US" altLang="zh-CN" sz="2400" dirty="0">
                  <a:solidFill>
                    <a:srgbClr val="4440FB"/>
                  </a:solidFill>
                </a:rPr>
                <a:t>approve</a:t>
              </a:r>
              <a:r>
                <a:rPr lang="en-US" altLang="zh-CN" sz="2400" dirty="0">
                  <a:solidFill>
                    <a:srgbClr val="FF0000"/>
                  </a:solidFill>
                </a:rPr>
                <a:t>/disapprove</a:t>
              </a:r>
            </a:p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sz="2400" dirty="0"/>
                <a:t>Email </a:t>
              </a:r>
              <a:r>
                <a:rPr lang="en-US" sz="2400" dirty="0">
                  <a:solidFill>
                    <a:srgbClr val="4440FB"/>
                  </a:solidFill>
                </a:rPr>
                <a:t>spam</a:t>
              </a:r>
              <a:r>
                <a:rPr lang="en-US" sz="2400" dirty="0">
                  <a:solidFill>
                    <a:srgbClr val="FF0000"/>
                  </a:solidFill>
                </a:rPr>
                <a:t>/non-spam</a:t>
              </a:r>
            </a:p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sz="2400" dirty="0"/>
                <a:t>Patient </a:t>
              </a:r>
              <a:r>
                <a:rPr lang="en-US" sz="2400" dirty="0">
                  <a:solidFill>
                    <a:srgbClr val="4440FB"/>
                  </a:solidFill>
                </a:rPr>
                <a:t>sick</a:t>
              </a:r>
              <a:r>
                <a:rPr lang="en-US" sz="2400" dirty="0">
                  <a:solidFill>
                    <a:srgbClr val="FF0000"/>
                  </a:solidFill>
                </a:rPr>
                <a:t>/not sick</a:t>
              </a:r>
            </a:p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sz="2400" dirty="0"/>
                <a:t>Ad </a:t>
              </a:r>
              <a:r>
                <a:rPr lang="en-US" sz="2400" dirty="0">
                  <a:solidFill>
                    <a:srgbClr val="4440FB"/>
                  </a:solidFill>
                </a:rPr>
                <a:t>profitable</a:t>
              </a:r>
              <a:r>
                <a:rPr lang="en-US" sz="2400" dirty="0">
                  <a:solidFill>
                    <a:srgbClr val="FF0000"/>
                  </a:solidFill>
                </a:rPr>
                <a:t>/not profitable</a:t>
              </a:r>
              <a:endParaRPr lang="en-US" sz="2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369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Multiclass Classification 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8001312" y="410052"/>
                <a:ext cx="162794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𝒴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312" y="410052"/>
                <a:ext cx="1627946" cy="584775"/>
              </a:xfrm>
              <a:prstGeom prst="rect">
                <a:avLst/>
              </a:prstGeom>
              <a:blipFill rotWithShape="1">
                <a:blip r:embed="rId3"/>
                <a:stretch>
                  <a:fillRect l="-19" t="-82" r="7" b="-54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8"/>
          <a:stretch>
            <a:fillRect/>
          </a:stretch>
        </p:blipFill>
        <p:spPr>
          <a:xfrm>
            <a:off x="663393" y="1159639"/>
            <a:ext cx="10937494" cy="330687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56" y="4686201"/>
            <a:ext cx="9669466" cy="202431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8398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Multiclass vs Multi-label Classification 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91113" y="1375168"/>
            <a:ext cx="68768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What color is the cat in this photo?</a:t>
            </a:r>
            <a:endParaRPr lang="zh-CN" altLang="en-US" sz="3600" b="1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5" y="2228099"/>
            <a:ext cx="10524412" cy="297186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68080" y="5353695"/>
            <a:ext cx="13237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err="1"/>
              <a:t>Cailco</a:t>
            </a:r>
            <a:endParaRPr lang="en-US" altLang="zh-CN" sz="3600" b="1" dirty="0"/>
          </a:p>
          <a:p>
            <a:pPr algn="ctr"/>
            <a:r>
              <a:rPr lang="en-US" altLang="zh-CN" sz="2400" dirty="0"/>
              <a:t>(</a:t>
            </a:r>
            <a:r>
              <a:rPr lang="zh-CN" altLang="en-US" sz="2400" dirty="0"/>
              <a:t>三色</a:t>
            </a:r>
            <a:r>
              <a:rPr lang="en-US" altLang="zh-CN" sz="2400" dirty="0"/>
              <a:t>)</a:t>
            </a:r>
            <a:endParaRPr lang="en-US" altLang="zh-CN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4666000" y="5353695"/>
            <a:ext cx="29165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Orange Tabby </a:t>
            </a:r>
          </a:p>
          <a:p>
            <a:pPr algn="ctr"/>
            <a:r>
              <a:rPr lang="en-US" altLang="zh-CN" sz="2400" b="1" dirty="0"/>
              <a:t>    (</a:t>
            </a:r>
            <a:r>
              <a:rPr lang="zh-CN" altLang="en-US" sz="2400" b="1" dirty="0"/>
              <a:t>虎斑</a:t>
            </a:r>
            <a:r>
              <a:rPr lang="en-US" altLang="zh-CN" sz="2400" b="1" dirty="0"/>
              <a:t>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156728" y="5353695"/>
            <a:ext cx="156863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Tuxedo</a:t>
            </a:r>
          </a:p>
          <a:p>
            <a:r>
              <a:rPr lang="en-US" altLang="zh-CN" sz="2400" b="1" dirty="0"/>
              <a:t>(</a:t>
            </a:r>
            <a:r>
              <a:rPr lang="zh-CN" altLang="en-US" sz="2400" b="1" dirty="0"/>
              <a:t>燕尾服</a:t>
            </a:r>
            <a:r>
              <a:rPr lang="en-US" altLang="zh-CN" sz="2400" b="1" dirty="0"/>
              <a:t>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8398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Multiclass vs Multi-label Classification 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91113" y="1375168"/>
            <a:ext cx="108774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600" b="1" dirty="0"/>
              <a:t>Multiclass </a:t>
            </a:r>
            <a:r>
              <a:rPr lang="en-US" altLang="zh-CN" sz="3600" dirty="0"/>
              <a:t>classification refers to the setting when there are </a:t>
            </a:r>
            <a:r>
              <a:rPr lang="en-US" altLang="zh-CN" sz="3600" dirty="0">
                <a:solidFill>
                  <a:srgbClr val="FF0000"/>
                </a:solidFill>
              </a:rPr>
              <a:t>&gt; 2 possible class labels </a:t>
            </a:r>
            <a:r>
              <a:rPr lang="en-US" altLang="zh-CN" sz="3600" dirty="0"/>
              <a:t>(e.g., calico, orange tabby, tuxedo).</a:t>
            </a:r>
          </a:p>
          <a:p>
            <a:pPr algn="just"/>
            <a:r>
              <a:rPr lang="en-US" altLang="zh-CN" sz="3600" dirty="0"/>
              <a:t> </a:t>
            </a:r>
            <a:br>
              <a:rPr lang="en-US" altLang="zh-CN" sz="3600" dirty="0"/>
            </a:br>
            <a:endParaRPr lang="zh-CN" altLang="en-US" sz="3600" b="1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506" y="3286043"/>
            <a:ext cx="7240010" cy="281979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8398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Multiclass vs Multi-label Classification 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91113" y="1375168"/>
            <a:ext cx="8430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What color and sex is the cat in this photo?</a:t>
            </a:r>
            <a:endParaRPr lang="zh-CN" altLang="en-US" sz="3600" b="1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75" y="2228099"/>
            <a:ext cx="10524412" cy="297186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68080" y="5353695"/>
            <a:ext cx="15709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 err="1"/>
              <a:t>Cailco</a:t>
            </a:r>
            <a:endParaRPr lang="en-US" altLang="zh-CN" sz="3600" b="1" dirty="0"/>
          </a:p>
          <a:p>
            <a:pPr algn="ctr"/>
            <a:r>
              <a:rPr lang="en-US" altLang="zh-CN" sz="3600" b="1" dirty="0"/>
              <a:t>Female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66000" y="5353695"/>
            <a:ext cx="28123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Orange Tabby</a:t>
            </a:r>
          </a:p>
          <a:p>
            <a:pPr algn="ctr"/>
            <a:r>
              <a:rPr lang="en-US" altLang="zh-CN" sz="3600" b="1" dirty="0"/>
              <a:t>Male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156728" y="5353695"/>
            <a:ext cx="1568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/>
              <a:t>Tuxedo</a:t>
            </a:r>
          </a:p>
          <a:p>
            <a:pPr algn="ctr"/>
            <a:r>
              <a:rPr lang="en-US" altLang="zh-CN" sz="3600" b="1" dirty="0"/>
              <a:t>Male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8398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Multiclass vs Multi-label Classification </a:t>
            </a:r>
            <a:endParaRPr lang="zh-CN" altLang="en-US" sz="40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91113" y="1375168"/>
            <a:ext cx="108774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Multi-label </a:t>
            </a:r>
            <a:r>
              <a:rPr lang="en-US" altLang="zh-CN" sz="3600" dirty="0"/>
              <a:t>classification refers to the setting when there </a:t>
            </a:r>
            <a:r>
              <a:rPr lang="en-US" altLang="zh-CN" sz="3600" dirty="0">
                <a:solidFill>
                  <a:srgbClr val="FF0000"/>
                </a:solidFill>
              </a:rPr>
              <a:t>&gt; 1 label you want to predict</a:t>
            </a:r>
            <a:r>
              <a:rPr lang="en-US" altLang="zh-CN" sz="3600" dirty="0"/>
              <a:t>.  </a:t>
            </a:r>
            <a:br>
              <a:rPr lang="en-US" altLang="zh-CN" sz="3600" dirty="0"/>
            </a:br>
            <a:endParaRPr lang="zh-CN" altLang="en-US" sz="3600" b="1" dirty="0"/>
          </a:p>
        </p:txBody>
      </p:sp>
      <p:pic>
        <p:nvPicPr>
          <p:cNvPr id="2" name="图片 1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120" y="2861148"/>
            <a:ext cx="7211431" cy="281026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8398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Multiclass vs Multi-label Classification </a:t>
            </a:r>
            <a:endParaRPr lang="zh-CN" altLang="en-US" sz="4000" b="1" dirty="0"/>
          </a:p>
        </p:txBody>
      </p:sp>
      <p:grpSp>
        <p:nvGrpSpPr>
          <p:cNvPr id="9" name="组合 8"/>
          <p:cNvGrpSpPr/>
          <p:nvPr/>
        </p:nvGrpSpPr>
        <p:grpSpPr>
          <a:xfrm>
            <a:off x="679247" y="1218498"/>
            <a:ext cx="10899484" cy="2902143"/>
            <a:chOff x="2505201" y="1615858"/>
            <a:chExt cx="10899484" cy="3645466"/>
          </a:xfrm>
        </p:grpSpPr>
        <p:sp>
          <p:nvSpPr>
            <p:cNvPr id="10" name="矩形: 圆顶角 20"/>
            <p:cNvSpPr/>
            <p:nvPr/>
          </p:nvSpPr>
          <p:spPr>
            <a:xfrm>
              <a:off x="2505205" y="1615858"/>
              <a:ext cx="10899480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矩形: 圆顶角 23"/>
            <p:cNvSpPr/>
            <p:nvPr/>
          </p:nvSpPr>
          <p:spPr>
            <a:xfrm rot="10800000">
              <a:off x="2505201" y="2278588"/>
              <a:ext cx="10899480" cy="2982735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523579" y="1650397"/>
              <a:ext cx="4210640" cy="734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</a:rPr>
                <a:t>Multiclass classification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523579" y="2361770"/>
              <a:ext cx="10693816" cy="2899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/>
                <a:t>It’s possible to create multiclass classifiers out of binary classifiers.</a:t>
              </a:r>
            </a:p>
            <a:p>
              <a:pPr marL="914400" lvl="1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>
                  <a:solidFill>
                    <a:schemeClr val="tx1"/>
                  </a:solidFill>
                </a:rPr>
                <a:t>One vs Rest (One vs All)</a:t>
              </a:r>
            </a:p>
            <a:p>
              <a:pPr marL="1371600" lvl="2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/>
                <a:t>Each classifier predicts whether the instance belongs to the target class.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marL="914400" lvl="1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/>
                <a:t>All pairs </a:t>
              </a:r>
            </a:p>
            <a:p>
              <a:pPr marL="1371600" lvl="2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/>
                <a:t>Trains a binary classifier for every pair of classes. Whichever class “wins” more pairwise classifications will be the final prediction.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8398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Multiclass vs Multi-label Classification </a:t>
            </a:r>
            <a:endParaRPr lang="zh-CN" altLang="en-US" sz="4000" b="1" dirty="0"/>
          </a:p>
        </p:txBody>
      </p:sp>
      <p:grpSp>
        <p:nvGrpSpPr>
          <p:cNvPr id="9" name="组合 8"/>
          <p:cNvGrpSpPr/>
          <p:nvPr/>
        </p:nvGrpSpPr>
        <p:grpSpPr>
          <a:xfrm>
            <a:off x="679247" y="1218498"/>
            <a:ext cx="10899484" cy="2902143"/>
            <a:chOff x="2505201" y="1615858"/>
            <a:chExt cx="10899484" cy="3645466"/>
          </a:xfrm>
        </p:grpSpPr>
        <p:sp>
          <p:nvSpPr>
            <p:cNvPr id="10" name="矩形: 圆顶角 20"/>
            <p:cNvSpPr/>
            <p:nvPr/>
          </p:nvSpPr>
          <p:spPr>
            <a:xfrm>
              <a:off x="2505205" y="1615858"/>
              <a:ext cx="10899480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矩形: 圆顶角 23"/>
            <p:cNvSpPr/>
            <p:nvPr/>
          </p:nvSpPr>
          <p:spPr>
            <a:xfrm rot="10800000">
              <a:off x="2505201" y="2278588"/>
              <a:ext cx="10899480" cy="2982735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2523579" y="1650397"/>
              <a:ext cx="4210640" cy="734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</a:rPr>
                <a:t>Multiclass classification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2523579" y="2361770"/>
              <a:ext cx="10693816" cy="2899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/>
                <a:t>It’s possible to create multiclass classifiers out of binary classifiers.</a:t>
              </a:r>
            </a:p>
            <a:p>
              <a:pPr marL="914400" lvl="1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>
                  <a:solidFill>
                    <a:schemeClr val="tx1"/>
                  </a:solidFill>
                </a:rPr>
                <a:t>One vs Rest (One vs All)</a:t>
              </a:r>
            </a:p>
            <a:p>
              <a:pPr marL="1371600" lvl="2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/>
                <a:t>Each classifier predicts whether the instance belongs to the target class.</a:t>
              </a:r>
              <a:endParaRPr lang="en-US" altLang="zh-CN" sz="2400" dirty="0">
                <a:solidFill>
                  <a:schemeClr val="tx1"/>
                </a:solidFill>
              </a:endParaRPr>
            </a:p>
            <a:p>
              <a:pPr marL="914400" lvl="1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/>
                <a:t>All pairs </a:t>
              </a:r>
            </a:p>
            <a:p>
              <a:pPr marL="1371600" lvl="2" indent="-457200" algn="just">
                <a:buFont typeface="Arial" panose="020B0604020202090204" pitchFamily="34" charset="0"/>
                <a:buChar char="•"/>
              </a:pPr>
              <a:r>
                <a:rPr lang="en-US" altLang="zh-CN" sz="2400" dirty="0"/>
                <a:t>Trains a binary classifier for every pair of classes. Whichever class “wins” more pairwise classifications will be the final prediction.</a:t>
              </a:r>
              <a:endParaRPr lang="en-US" altLang="zh-CN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97625" y="4367486"/>
            <a:ext cx="10899484" cy="2148013"/>
            <a:chOff x="2505201" y="1615858"/>
            <a:chExt cx="10899484" cy="2698181"/>
          </a:xfrm>
        </p:grpSpPr>
        <p:sp>
          <p:nvSpPr>
            <p:cNvPr id="15" name="矩形: 圆顶角 20"/>
            <p:cNvSpPr/>
            <p:nvPr/>
          </p:nvSpPr>
          <p:spPr>
            <a:xfrm>
              <a:off x="2505205" y="1615858"/>
              <a:ext cx="10899480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矩形: 圆顶角 23"/>
            <p:cNvSpPr/>
            <p:nvPr/>
          </p:nvSpPr>
          <p:spPr>
            <a:xfrm rot="10800000">
              <a:off x="2505201" y="2278588"/>
              <a:ext cx="10899480" cy="2035451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矩形 16"/>
            <p:cNvSpPr/>
            <p:nvPr/>
          </p:nvSpPr>
          <p:spPr>
            <a:xfrm>
              <a:off x="2523579" y="1650397"/>
              <a:ext cx="4231479" cy="734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</a:rPr>
                <a:t>Multi-label classification</a:t>
              </a:r>
              <a:endParaRPr 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523579" y="2361770"/>
              <a:ext cx="10693816" cy="5799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90204" pitchFamily="34" charset="0"/>
                <a:buChar char="•"/>
              </a:pPr>
              <a:endParaRPr lang="en-US" altLang="zh-CN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782079" y="4945839"/>
            <a:ext cx="106938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en-US" altLang="zh-CN" sz="2400" dirty="0"/>
              <a:t>Train separate classifier for each label.</a:t>
            </a:r>
          </a:p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en-US" altLang="zh-CN" sz="2400" dirty="0"/>
              <a:t>But there might be </a:t>
            </a:r>
            <a:r>
              <a:rPr lang="en-US" altLang="zh-CN" sz="2400" dirty="0">
                <a:solidFill>
                  <a:srgbClr val="FF0000"/>
                </a:solidFill>
              </a:rPr>
              <a:t>correlations</a:t>
            </a:r>
            <a:r>
              <a:rPr lang="en-US" altLang="zh-CN" sz="2400" dirty="0"/>
              <a:t> between the classes.</a:t>
            </a:r>
          </a:p>
          <a:p>
            <a:pPr marL="914400" lvl="1" indent="-457200" algn="just">
              <a:buFont typeface="Arial" panose="020B0604020202090204" pitchFamily="34" charset="0"/>
              <a:buChar char="•"/>
            </a:pPr>
            <a:r>
              <a:rPr lang="en-US" altLang="zh-CN" sz="2400" dirty="0"/>
              <a:t>Calico cats are almost always female.</a:t>
            </a:r>
          </a:p>
          <a:p>
            <a:pPr marL="914400" lvl="1" indent="-457200" algn="just">
              <a:buFont typeface="Arial" panose="020B0604020202090204" pitchFamily="34" charset="0"/>
              <a:buChar char="•"/>
            </a:pPr>
            <a:r>
              <a:rPr lang="en-US" altLang="zh-CN" sz="2400" dirty="0"/>
              <a:t>Orange cats are more often male.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0548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Regression: Patient Recovery Prediction Problem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2"/>
          <a:stretch>
            <a:fillRect/>
          </a:stretch>
        </p:blipFill>
        <p:spPr>
          <a:xfrm>
            <a:off x="591113" y="1114815"/>
            <a:ext cx="11231262" cy="272964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379" y="4006146"/>
            <a:ext cx="3746996" cy="283529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591113" y="4371676"/>
            <a:ext cx="69466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Regression: fitting a curve/plane to data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05485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Regression: Patient Recovery Prediction Problem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2"/>
          <a:stretch>
            <a:fillRect/>
          </a:stretch>
        </p:blipFill>
        <p:spPr>
          <a:xfrm>
            <a:off x="591113" y="1114815"/>
            <a:ext cx="11231262" cy="272964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3" y="3909071"/>
            <a:ext cx="9166662" cy="22278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1515650" y="4701396"/>
                <a:ext cx="8016657" cy="584775"/>
              </a:xfrm>
              <a:prstGeom prst="rect">
                <a:avLst/>
              </a:prstGeom>
              <a:solidFill>
                <a:srgbClr val="E7F5F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3200" dirty="0"/>
                  <a:t>Images (Instagram)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/>
                  <a:t> Popularity prediction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650" y="4701396"/>
                <a:ext cx="8016657" cy="584775"/>
              </a:xfrm>
              <a:prstGeom prst="rect">
                <a:avLst/>
              </a:prstGeom>
              <a:blipFill rotWithShape="1">
                <a:blip r:embed="rId5"/>
                <a:stretch>
                  <a:fillRect l="-7" t="-84" r="4" b="-546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515650" y="5298697"/>
                <a:ext cx="6673045" cy="584775"/>
              </a:xfrm>
              <a:prstGeom prst="rect">
                <a:avLst/>
              </a:prstGeom>
              <a:solidFill>
                <a:srgbClr val="E7F5F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E-commerce product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/>
                  <a:t> Sale prediction</a:t>
                </a: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650" y="5298697"/>
                <a:ext cx="6673045" cy="584775"/>
              </a:xfrm>
              <a:prstGeom prst="rect">
                <a:avLst/>
              </a:prstGeom>
              <a:blipFill rotWithShape="1">
                <a:blip r:embed="rId6"/>
                <a:stretch>
                  <a:fillRect l="-8" t="-44" r="-10348" b="-5504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3111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Mini Summary</a:t>
            </a:r>
            <a:endParaRPr lang="zh-CN" altLang="en-US" sz="4000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591113" y="1215026"/>
            <a:ext cx="8492649" cy="2605413"/>
            <a:chOff x="2505203" y="1615858"/>
            <a:chExt cx="8492649" cy="2605413"/>
          </a:xfrm>
        </p:grpSpPr>
        <p:sp>
          <p:nvSpPr>
            <p:cNvPr id="10" name="矩形: 圆顶角 9"/>
            <p:cNvSpPr/>
            <p:nvPr/>
          </p:nvSpPr>
          <p:spPr>
            <a:xfrm>
              <a:off x="2505205" y="1615858"/>
              <a:ext cx="8492647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矩形: 圆顶角 10"/>
            <p:cNvSpPr/>
            <p:nvPr/>
          </p:nvSpPr>
          <p:spPr>
            <a:xfrm rot="10800000">
              <a:off x="2505203" y="2278591"/>
              <a:ext cx="8492647" cy="1942680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2505203" y="1634553"/>
                  <a:ext cx="6772239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altLang="zh-CN" sz="3200" dirty="0">
                      <a:solidFill>
                        <a:schemeClr val="bg1"/>
                      </a:solidFill>
                    </a:rPr>
                    <a:t>Learning with different output space </a:t>
                  </a:r>
                  <a14:m>
                    <m:oMath xmlns:m="http://schemas.openxmlformats.org/officeDocument/2006/math">
                      <m:r>
                        <a:rPr lang="zh-CN" altLang="en-US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𝒴</m:t>
                      </m:r>
                    </m:oMath>
                  </a14:m>
                  <a:r>
                    <a:rPr lang="en-US" altLang="zh-CN" sz="3200" dirty="0">
                      <a:solidFill>
                        <a:schemeClr val="bg1"/>
                      </a:solidFill>
                    </a:rPr>
                    <a:t> </a:t>
                  </a:r>
                  <a:endParaRPr lang="en-US" sz="32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5203" y="1634553"/>
                  <a:ext cx="6772239" cy="58477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/>
                <p:cNvSpPr/>
                <p:nvPr/>
              </p:nvSpPr>
              <p:spPr>
                <a:xfrm>
                  <a:off x="2704866" y="2392739"/>
                  <a:ext cx="7349961" cy="15696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>
                      <a:solidFill>
                        <a:srgbClr val="FF0000"/>
                      </a:solidFill>
                    </a:rPr>
                    <a:t>Binary</a:t>
                  </a:r>
                  <a:r>
                    <a:rPr lang="en-US" altLang="zh-CN" sz="32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3200" dirty="0">
                      <a:solidFill>
                        <a:srgbClr val="FF0000"/>
                      </a:solidFill>
                    </a:rPr>
                    <a:t>classification</a:t>
                  </a:r>
                  <a:r>
                    <a:rPr lang="en-US" altLang="zh-CN" sz="3200" dirty="0">
                      <a:solidFill>
                        <a:schemeClr val="tx1"/>
                      </a:solidFill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zh-CN" alt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𝒴</m:t>
                      </m:r>
                      <m:r>
                        <a:rPr lang="en-US" altLang="zh-CN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−1,+1</m:t>
                          </m:r>
                        </m:e>
                      </m:d>
                    </m:oMath>
                  </a14:m>
                  <a:endParaRPr lang="en-US" altLang="zh-CN" sz="3200" b="0" dirty="0">
                    <a:solidFill>
                      <a:schemeClr val="tx1"/>
                    </a:solidFill>
                  </a:endParaRP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>
                      <a:solidFill>
                        <a:schemeClr val="tx1"/>
                      </a:solidFill>
                    </a:rPr>
                    <a:t>Multiclass classification:</a:t>
                  </a:r>
                  <a14:m>
                    <m:oMath xmlns:m="http://schemas.openxmlformats.org/officeDocument/2006/math"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𝒴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2,…,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</m:oMath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sz="3200" dirty="0">
                      <a:solidFill>
                        <a:srgbClr val="FF0000"/>
                      </a:solidFill>
                    </a:rPr>
                    <a:t>Regression: </a:t>
                  </a:r>
                  <a14:m>
                    <m:oMath xmlns:m="http://schemas.openxmlformats.org/officeDocument/2006/math"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𝒴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ℝ</m:t>
                      </m:r>
                    </m:oMath>
                  </a14:m>
                  <a:endParaRPr lang="en-US" sz="3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矩形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866" y="2392739"/>
                  <a:ext cx="7349961" cy="156966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896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Exercise</a:t>
            </a:r>
            <a:endParaRPr lang="zh-CN" altLang="en-US" sz="4000" b="1" dirty="0"/>
          </a:p>
        </p:txBody>
      </p:sp>
      <p:pic>
        <p:nvPicPr>
          <p:cNvPr id="3" name="图片 2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2" y="1190764"/>
            <a:ext cx="11086767" cy="4602053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1013552" y="4087258"/>
            <a:ext cx="4131325" cy="4957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484236" y="5034709"/>
            <a:ext cx="3829510" cy="553998"/>
          </a:xfrm>
          <a:prstGeom prst="rect">
            <a:avLst/>
          </a:prstGeom>
          <a:solidFill>
            <a:srgbClr val="E6F5F0"/>
          </a:solidFill>
        </p:spPr>
        <p:txBody>
          <a:bodyPr wrap="none" rtlCol="0">
            <a:spAutoFit/>
          </a:bodyPr>
          <a:lstStyle/>
          <a:p>
            <a:r>
              <a:rPr lang="en-US" altLang="zh-CN" sz="3000" dirty="0" err="1"/>
              <a:t>multilabel</a:t>
            </a:r>
            <a:r>
              <a:rPr lang="en-US" altLang="zh-CN" sz="3000" dirty="0"/>
              <a:t> classification</a:t>
            </a:r>
            <a:endParaRPr lang="zh-CN" alt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6890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Categories of Machine Learning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output space 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endParaRPr lang="en-US" altLang="zh-CN" sz="3200" b="1" dirty="0"/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rgbClr val="FF0000"/>
                    </a:solidFill>
                  </a:rPr>
                  <a:t>Learning with different data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3200" b="1" dirty="0">
                  <a:solidFill>
                    <a:srgbClr val="FF0000"/>
                  </a:solidFill>
                </a:endParaRPr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protocol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3200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32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b="1" dirty="0"/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input space 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blipFill rotWithShape="1">
                <a:blip r:embed="rId3"/>
                <a:stretch>
                  <a:fillRect l="-7" t="-8" r="-6413" b="-130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44787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Supervised Learning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03639" y="1089144"/>
                <a:ext cx="7951638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/>
                  <a:t>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3200" dirty="0"/>
                  <a:t> comes with corresponding </a:t>
                </a:r>
                <a:r>
                  <a:rPr lang="en-US" altLang="zh-CN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32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𝓓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),(</m:t>
                        </m:r>
                        <m:sSub>
                          <m:sSubPr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),…,(</m:t>
                        </m:r>
                        <m:sSub>
                          <m:sSubPr>
                            <m:ctrlP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2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32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3200" b="1" dirty="0"/>
                  <a:t> </a:t>
                </a:r>
              </a:p>
              <a:p>
                <a:endParaRPr lang="en-US" sz="32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9" y="1089144"/>
                <a:ext cx="7951638" cy="1569660"/>
              </a:xfrm>
              <a:prstGeom prst="rect">
                <a:avLst/>
              </a:prstGeom>
              <a:blipFill rotWithShape="1">
                <a:blip r:embed="rId3"/>
                <a:stretch>
                  <a:fillRect l="-5" t="-8" r="7" b="-679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15" name="图片 14" descr="ws_D806.tmp"/>
          <p:cNvPicPr/>
          <p:nvPr/>
        </p:nvPicPr>
        <p:blipFill rotWithShape="1">
          <a:blip r:embed="rId4" cstate="print"/>
          <a:srcRect t="23100"/>
          <a:stretch>
            <a:fillRect/>
          </a:stretch>
        </p:blipFill>
        <p:spPr>
          <a:xfrm>
            <a:off x="2085792" y="2658804"/>
            <a:ext cx="8020416" cy="38017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555277" y="2514631"/>
            <a:ext cx="1339654" cy="3801722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44787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Supervised Learning</a:t>
            </a:r>
            <a:endParaRPr lang="zh-CN" altLang="en-US" sz="4000" b="1" dirty="0"/>
          </a:p>
        </p:txBody>
      </p:sp>
      <p:grpSp>
        <p:nvGrpSpPr>
          <p:cNvPr id="64" name="组合 63"/>
          <p:cNvGrpSpPr/>
          <p:nvPr/>
        </p:nvGrpSpPr>
        <p:grpSpPr>
          <a:xfrm>
            <a:off x="591113" y="1258754"/>
            <a:ext cx="11105591" cy="3021146"/>
            <a:chOff x="2505201" y="1615858"/>
            <a:chExt cx="11105591" cy="2944945"/>
          </a:xfrm>
        </p:grpSpPr>
        <p:sp>
          <p:nvSpPr>
            <p:cNvPr id="66" name="矩形: 圆顶角 65"/>
            <p:cNvSpPr/>
            <p:nvPr/>
          </p:nvSpPr>
          <p:spPr>
            <a:xfrm>
              <a:off x="2505205" y="1615858"/>
              <a:ext cx="11105587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矩形: 圆顶角 66"/>
            <p:cNvSpPr/>
            <p:nvPr/>
          </p:nvSpPr>
          <p:spPr>
            <a:xfrm rot="10800000">
              <a:off x="2505201" y="2278590"/>
              <a:ext cx="11105587" cy="2282213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矩形 68"/>
            <p:cNvSpPr/>
            <p:nvPr/>
          </p:nvSpPr>
          <p:spPr>
            <a:xfrm>
              <a:off x="2656171" y="1693816"/>
              <a:ext cx="7160102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Characteristics of the Supervised Learning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矩形 69"/>
                <p:cNvSpPr/>
                <p:nvPr/>
              </p:nvSpPr>
              <p:spPr>
                <a:xfrm>
                  <a:off x="2628593" y="2309184"/>
                  <a:ext cx="10858804" cy="201009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We are primarily interested in </a:t>
                  </a:r>
                  <a:r>
                    <a:rPr lang="en-US" altLang="zh-CN" sz="3200" dirty="0">
                      <a:solidFill>
                        <a:srgbClr val="FF0000"/>
                      </a:solidFill>
                    </a:rPr>
                    <a:t>prediction</a:t>
                  </a:r>
                  <a:r>
                    <a:rPr lang="en-US" altLang="zh-CN" sz="3200" dirty="0"/>
                    <a:t>.</a:t>
                  </a: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The possible values of what we want to predict are specified, and we have some training cases for which its value is known.</a:t>
                  </a: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zh-CN" altLang="en-US" sz="3200" b="1" i="1">
                          <a:latin typeface="Cambria Math" panose="02040503050406030204" pitchFamily="18" charset="0"/>
                        </a:rPr>
                        <m:t>𝓓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),(</m:t>
                          </m:r>
                          <m:sSub>
                            <m:sSubPr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),…,(</m:t>
                          </m:r>
                          <m:sSub>
                            <m:sSubPr>
                              <m:ctrlP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3200" b="1" i="1">
                                  <a:latin typeface="Cambria Math" panose="02040503050406030204" pitchFamily="18" charset="0"/>
                                </a:rPr>
                                <m:t>𝒎</m:t>
                              </m:r>
                            </m:sub>
                          </m:sSub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a14:m>
                  <a:r>
                    <a:rPr lang="en-US" altLang="zh-CN" sz="3200" b="1" dirty="0"/>
                    <a:t> </a:t>
                  </a:r>
                </a:p>
              </p:txBody>
            </p:sp>
          </mc:Choice>
          <mc:Fallback xmlns="">
            <p:sp>
              <p:nvSpPr>
                <p:cNvPr id="70" name="矩形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8593" y="2309184"/>
                  <a:ext cx="10858804" cy="201009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0450"/>
            <a:ext cx="12192000" cy="385897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1113" y="245239"/>
            <a:ext cx="44787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Supervised Learning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0228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>
                <a:solidFill>
                  <a:srgbClr val="FF0000"/>
                </a:solidFill>
              </a:rPr>
              <a:t>Supervised</a:t>
            </a:r>
            <a:r>
              <a:rPr lang="en-US" altLang="zh-CN" sz="4000" b="1" dirty="0"/>
              <a:t> Learning vs </a:t>
            </a:r>
            <a:r>
              <a:rPr lang="en-US" altLang="zh-CN" sz="4000" b="1" dirty="0">
                <a:solidFill>
                  <a:srgbClr val="FF0000"/>
                </a:solidFill>
              </a:rPr>
              <a:t>Unsupervised</a:t>
            </a:r>
            <a:r>
              <a:rPr lang="en-US" altLang="zh-CN" sz="4000" b="1" dirty="0"/>
              <a:t> Learning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03639" y="1089144"/>
                <a:ext cx="7951638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800" dirty="0"/>
                  <a:t> comes with corresponding </a:t>
                </a:r>
                <a:r>
                  <a:rPr lang="en-US" altLang="zh-CN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8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𝓓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),(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),…,(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zh-CN" sz="2800" b="1" dirty="0"/>
                  <a:t> </a:t>
                </a:r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9" y="1089144"/>
                <a:ext cx="7951638" cy="1384995"/>
              </a:xfrm>
              <a:prstGeom prst="rect">
                <a:avLst/>
              </a:prstGeom>
              <a:blipFill rotWithShape="1">
                <a:blip r:embed="rId3"/>
                <a:stretch>
                  <a:fillRect l="-5" t="-9" r="7" b="-626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/>
              <p:cNvSpPr/>
              <p:nvPr/>
            </p:nvSpPr>
            <p:spPr>
              <a:xfrm>
                <a:off x="6641775" y="1111590"/>
                <a:ext cx="5550225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Assume that we do not have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sz="2800" dirty="0"/>
                  <a:t> for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.   </m:t>
                    </m:r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𝓓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b="1" dirty="0"/>
                  <a:t> </a:t>
                </a:r>
              </a:p>
            </p:txBody>
          </p:sp>
        </mc:Choice>
        <mc:Fallback xmlns="">
          <p:sp>
            <p:nvSpPr>
              <p:cNvPr id="70" name="矩形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775" y="1111590"/>
                <a:ext cx="5550225" cy="954107"/>
              </a:xfrm>
              <a:prstGeom prst="rect">
                <a:avLst/>
              </a:prstGeom>
              <a:blipFill rotWithShape="1">
                <a:blip r:embed="rId4"/>
                <a:stretch>
                  <a:fillRect l="-6" t="-36" b="-18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grpSp>
        <p:nvGrpSpPr>
          <p:cNvPr id="127" name="组合 126"/>
          <p:cNvGrpSpPr/>
          <p:nvPr/>
        </p:nvGrpSpPr>
        <p:grpSpPr>
          <a:xfrm>
            <a:off x="7586595" y="2376763"/>
            <a:ext cx="3031298" cy="2945705"/>
            <a:chOff x="6825645" y="2515723"/>
            <a:chExt cx="3031298" cy="2945705"/>
          </a:xfrm>
        </p:grpSpPr>
        <p:cxnSp>
          <p:nvCxnSpPr>
            <p:cNvPr id="96" name="直接箭头连接符 95"/>
            <p:cNvCxnSpPr/>
            <p:nvPr/>
          </p:nvCxnSpPr>
          <p:spPr>
            <a:xfrm>
              <a:off x="6825645" y="5309028"/>
              <a:ext cx="30312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/>
            <p:nvPr/>
          </p:nvCxnSpPr>
          <p:spPr>
            <a:xfrm flipV="1">
              <a:off x="6978045" y="2515723"/>
              <a:ext cx="0" cy="29457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98" name="椭圆 97"/>
            <p:cNvSpPr/>
            <p:nvPr/>
          </p:nvSpPr>
          <p:spPr>
            <a:xfrm>
              <a:off x="8554238" y="345560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椭圆 98"/>
            <p:cNvSpPr/>
            <p:nvPr/>
          </p:nvSpPr>
          <p:spPr>
            <a:xfrm>
              <a:off x="8428974" y="3869488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8345474" y="351137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椭圆 100"/>
            <p:cNvSpPr/>
            <p:nvPr/>
          </p:nvSpPr>
          <p:spPr>
            <a:xfrm>
              <a:off x="8896608" y="371574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椭圆 101"/>
            <p:cNvSpPr/>
            <p:nvPr/>
          </p:nvSpPr>
          <p:spPr>
            <a:xfrm>
              <a:off x="8386178" y="331282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椭圆 102"/>
            <p:cNvSpPr/>
            <p:nvPr/>
          </p:nvSpPr>
          <p:spPr>
            <a:xfrm>
              <a:off x="8428975" y="365768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椭圆 103"/>
            <p:cNvSpPr/>
            <p:nvPr/>
          </p:nvSpPr>
          <p:spPr>
            <a:xfrm>
              <a:off x="8733775" y="3546640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椭圆 104"/>
            <p:cNvSpPr/>
            <p:nvPr/>
          </p:nvSpPr>
          <p:spPr>
            <a:xfrm>
              <a:off x="8623129" y="3606572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椭圆 105"/>
            <p:cNvSpPr/>
            <p:nvPr/>
          </p:nvSpPr>
          <p:spPr>
            <a:xfrm>
              <a:off x="8671148" y="394786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椭圆 106"/>
            <p:cNvSpPr/>
            <p:nvPr/>
          </p:nvSpPr>
          <p:spPr>
            <a:xfrm>
              <a:off x="8650267" y="342386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椭圆 107"/>
            <p:cNvSpPr/>
            <p:nvPr/>
          </p:nvSpPr>
          <p:spPr>
            <a:xfrm>
              <a:off x="8650267" y="372305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椭圆 108"/>
            <p:cNvSpPr/>
            <p:nvPr/>
          </p:nvSpPr>
          <p:spPr>
            <a:xfrm>
              <a:off x="8140872" y="4202178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椭圆 109"/>
            <p:cNvSpPr/>
            <p:nvPr/>
          </p:nvSpPr>
          <p:spPr>
            <a:xfrm>
              <a:off x="7817283" y="431092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椭圆 110"/>
            <p:cNvSpPr/>
            <p:nvPr/>
          </p:nvSpPr>
          <p:spPr>
            <a:xfrm>
              <a:off x="8445672" y="4506978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椭圆 111"/>
            <p:cNvSpPr/>
            <p:nvPr/>
          </p:nvSpPr>
          <p:spPr>
            <a:xfrm>
              <a:off x="8071980" y="445895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椭圆 112"/>
            <p:cNvSpPr/>
            <p:nvPr/>
          </p:nvSpPr>
          <p:spPr>
            <a:xfrm>
              <a:off x="8003088" y="463432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椭圆 113"/>
            <p:cNvSpPr/>
            <p:nvPr/>
          </p:nvSpPr>
          <p:spPr>
            <a:xfrm>
              <a:off x="7895067" y="4239749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椭圆 114"/>
            <p:cNvSpPr/>
            <p:nvPr/>
          </p:nvSpPr>
          <p:spPr>
            <a:xfrm>
              <a:off x="7929507" y="440905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椭圆 115"/>
            <p:cNvSpPr/>
            <p:nvPr/>
          </p:nvSpPr>
          <p:spPr>
            <a:xfrm>
              <a:off x="7628347" y="4232937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椭圆 116"/>
            <p:cNvSpPr/>
            <p:nvPr/>
          </p:nvSpPr>
          <p:spPr>
            <a:xfrm>
              <a:off x="8233779" y="4324502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椭圆 117"/>
            <p:cNvSpPr/>
            <p:nvPr/>
          </p:nvSpPr>
          <p:spPr>
            <a:xfrm>
              <a:off x="7780751" y="451503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椭圆 118"/>
            <p:cNvSpPr/>
            <p:nvPr/>
          </p:nvSpPr>
          <p:spPr>
            <a:xfrm>
              <a:off x="7972822" y="4263671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椭圆 119"/>
            <p:cNvSpPr/>
            <p:nvPr/>
          </p:nvSpPr>
          <p:spPr>
            <a:xfrm>
              <a:off x="7920612" y="4705500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1643002" y="2380676"/>
            <a:ext cx="3031298" cy="2945705"/>
            <a:chOff x="1639866" y="2526161"/>
            <a:chExt cx="3031298" cy="2945705"/>
          </a:xfrm>
        </p:grpSpPr>
        <p:cxnSp>
          <p:nvCxnSpPr>
            <p:cNvPr id="71" name="直接箭头连接符 70"/>
            <p:cNvCxnSpPr/>
            <p:nvPr/>
          </p:nvCxnSpPr>
          <p:spPr>
            <a:xfrm>
              <a:off x="1639866" y="5319466"/>
              <a:ext cx="30312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/>
            <p:nvPr/>
          </p:nvCxnSpPr>
          <p:spPr>
            <a:xfrm flipV="1">
              <a:off x="1792266" y="2526161"/>
              <a:ext cx="0" cy="29457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3" name="椭圆 72"/>
            <p:cNvSpPr/>
            <p:nvPr/>
          </p:nvSpPr>
          <p:spPr>
            <a:xfrm>
              <a:off x="2955093" y="3191740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3243195" y="3879926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椭圆 74"/>
            <p:cNvSpPr/>
            <p:nvPr/>
          </p:nvSpPr>
          <p:spPr>
            <a:xfrm>
              <a:off x="3009380" y="3622835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3710829" y="3726184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3200399" y="3323262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3243196" y="3668121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3547996" y="3557078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3710828" y="4041812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3485369" y="3958304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3464488" y="3434302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3631495" y="4284827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2955093" y="4212616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2631504" y="4321364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3259893" y="4517416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2886201" y="4469394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2992673" y="4781494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3200399" y="4876883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2694132" y="4095312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2442568" y="4243375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3270860" y="4711374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2594972" y="4525471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3112730" y="4648838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2734833" y="4715938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3380978" y="3002150"/>
              <a:ext cx="6607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Bad</a:t>
              </a:r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1942030" y="4575705"/>
              <a:ext cx="9332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Good </a:t>
              </a:r>
            </a:p>
          </p:txBody>
        </p:sp>
      </p:grpSp>
      <p:sp>
        <p:nvSpPr>
          <p:cNvPr id="123" name="矩形 122"/>
          <p:cNvSpPr/>
          <p:nvPr/>
        </p:nvSpPr>
        <p:spPr>
          <a:xfrm>
            <a:off x="1396729" y="5433558"/>
            <a:ext cx="4230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Supervised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classification</a:t>
            </a:r>
          </a:p>
        </p:txBody>
      </p:sp>
      <p:sp>
        <p:nvSpPr>
          <p:cNvPr id="124" name="矩形 123"/>
          <p:cNvSpPr/>
          <p:nvPr/>
        </p:nvSpPr>
        <p:spPr>
          <a:xfrm>
            <a:off x="7448359" y="5433558"/>
            <a:ext cx="423051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Unsupervised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clustering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6960152" y="5958380"/>
            <a:ext cx="5062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Learned</a:t>
            </a:r>
            <a:r>
              <a:rPr lang="en-US" sz="2400" dirty="0"/>
              <a:t>) Latent concepts: Art; Sports. 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1092144" y="5985500"/>
            <a:ext cx="4498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Ground Truth</a:t>
            </a:r>
            <a:r>
              <a:rPr lang="en-US" sz="2400" dirty="0"/>
              <a:t>) Labels: Good; Bad.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0526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Unsupervised Learning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91114" y="1184900"/>
                <a:ext cx="11105585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800" dirty="0"/>
                  <a:t>For an </a:t>
                </a:r>
                <a:r>
                  <a:rPr lang="en-US" sz="2800" dirty="0">
                    <a:solidFill>
                      <a:srgbClr val="FF0000"/>
                    </a:solidFill>
                  </a:rPr>
                  <a:t>unsupervised</a:t>
                </a:r>
                <a:r>
                  <a:rPr lang="en-US" sz="2800" dirty="0"/>
                  <a:t> learning problem, we do not focus on prediction of any particular thing, but rather try to </a:t>
                </a:r>
                <a:r>
                  <a:rPr lang="en-US" sz="2800" dirty="0">
                    <a:solidFill>
                      <a:srgbClr val="FF0000"/>
                    </a:solidFill>
                  </a:rPr>
                  <a:t>find interesting aspects</a:t>
                </a:r>
                <a:r>
                  <a:rPr lang="en-US" sz="2800" dirty="0"/>
                  <a:t> of the data </a:t>
                </a:r>
                <a14:m>
                  <m:oMath xmlns:m="http://schemas.openxmlformats.org/officeDocument/2006/math">
                    <m:r>
                      <a:rPr lang="zh-CN" altLang="en-US" sz="2800" b="1" i="1">
                        <a:latin typeface="Cambria Math" panose="02040503050406030204" pitchFamily="18" charset="0"/>
                      </a:rPr>
                      <m:t>𝓓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800" b="1" dirty="0"/>
                  <a:t>.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4" y="1184900"/>
                <a:ext cx="11105585" cy="1384995"/>
              </a:xfrm>
              <a:prstGeom prst="rect">
                <a:avLst/>
              </a:prstGeom>
              <a:blipFill rotWithShape="1">
                <a:blip r:embed="rId3"/>
                <a:stretch>
                  <a:fillRect l="-5" t="-45" r="6" b="-95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grpSp>
        <p:nvGrpSpPr>
          <p:cNvPr id="64" name="组合 63"/>
          <p:cNvGrpSpPr/>
          <p:nvPr/>
        </p:nvGrpSpPr>
        <p:grpSpPr>
          <a:xfrm>
            <a:off x="591111" y="3062154"/>
            <a:ext cx="11105593" cy="2633566"/>
            <a:chOff x="2505199" y="1615858"/>
            <a:chExt cx="11105593" cy="2633566"/>
          </a:xfrm>
        </p:grpSpPr>
        <p:sp>
          <p:nvSpPr>
            <p:cNvPr id="66" name="矩形: 圆顶角 65"/>
            <p:cNvSpPr/>
            <p:nvPr/>
          </p:nvSpPr>
          <p:spPr>
            <a:xfrm>
              <a:off x="2505205" y="1615858"/>
              <a:ext cx="11105587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7" name="矩形: 圆顶角 66"/>
            <p:cNvSpPr/>
            <p:nvPr/>
          </p:nvSpPr>
          <p:spPr>
            <a:xfrm rot="10800000">
              <a:off x="2505199" y="2278589"/>
              <a:ext cx="11105587" cy="1970835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矩形 68"/>
            <p:cNvSpPr/>
            <p:nvPr/>
          </p:nvSpPr>
          <p:spPr>
            <a:xfrm>
              <a:off x="2656171" y="1693816"/>
              <a:ext cx="1756186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Examples</a:t>
              </a:r>
            </a:p>
          </p:txBody>
        </p:sp>
        <p:sp>
          <p:nvSpPr>
            <p:cNvPr id="70" name="矩形 69"/>
            <p:cNvSpPr/>
            <p:nvPr/>
          </p:nvSpPr>
          <p:spPr>
            <a:xfrm>
              <a:off x="2628593" y="2309184"/>
              <a:ext cx="10858804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altLang="zh-CN" sz="2800" dirty="0"/>
                <a:t>We may find clusters of </a:t>
              </a:r>
              <a:r>
                <a:rPr lang="en-US" altLang="zh-CN" sz="2800" i="1" dirty="0">
                  <a:solidFill>
                    <a:srgbClr val="4440FB"/>
                  </a:solidFill>
                </a:rPr>
                <a:t>patients</a:t>
              </a:r>
              <a:r>
                <a:rPr lang="en-US" altLang="zh-CN" sz="2800" dirty="0">
                  <a:solidFill>
                    <a:srgbClr val="4440FB"/>
                  </a:solidFill>
                </a:rPr>
                <a:t> </a:t>
              </a:r>
              <a:r>
                <a:rPr lang="en-US" altLang="zh-CN" sz="2800" dirty="0"/>
                <a:t>with similar </a:t>
              </a:r>
              <a:r>
                <a:rPr lang="en-US" altLang="zh-CN" sz="2800" i="1" dirty="0">
                  <a:solidFill>
                    <a:srgbClr val="FF0000"/>
                  </a:solidFill>
                </a:rPr>
                <a:t>symptoms</a:t>
              </a:r>
              <a:r>
                <a:rPr lang="en-US" altLang="zh-CN" sz="2800" dirty="0"/>
                <a:t> (diseases).</a:t>
              </a:r>
            </a:p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altLang="zh-CN" sz="2800" dirty="0"/>
                <a:t>We may find clusters of </a:t>
              </a:r>
              <a:r>
                <a:rPr lang="en-US" altLang="zh-CN" sz="2800" i="1" dirty="0">
                  <a:solidFill>
                    <a:srgbClr val="4440FB"/>
                  </a:solidFill>
                </a:rPr>
                <a:t>images</a:t>
              </a:r>
              <a:r>
                <a:rPr lang="en-US" altLang="zh-CN" sz="2800" i="1" dirty="0"/>
                <a:t> </a:t>
              </a:r>
              <a:r>
                <a:rPr lang="en-US" altLang="zh-CN" sz="2800" dirty="0"/>
                <a:t>with the similar </a:t>
              </a:r>
              <a:r>
                <a:rPr lang="en-US" altLang="zh-CN" sz="2800" i="1" dirty="0">
                  <a:solidFill>
                    <a:srgbClr val="FF0000"/>
                  </a:solidFill>
                </a:rPr>
                <a:t>visual</a:t>
              </a:r>
              <a:r>
                <a:rPr lang="en-US" altLang="zh-CN" sz="2800" dirty="0"/>
                <a:t> </a:t>
              </a:r>
              <a:r>
                <a:rPr lang="en-US" altLang="zh-CN" sz="2800" i="1" dirty="0">
                  <a:solidFill>
                    <a:srgbClr val="FF0000"/>
                  </a:solidFill>
                </a:rPr>
                <a:t>characteristics</a:t>
              </a:r>
              <a:r>
                <a:rPr lang="en-US" altLang="zh-CN" sz="2800" dirty="0"/>
                <a:t>.</a:t>
              </a:r>
            </a:p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altLang="zh-CN" sz="2800" dirty="0"/>
                <a:t>We may find clusters of </a:t>
              </a:r>
              <a:r>
                <a:rPr lang="en-US" altLang="zh-CN" sz="2800" i="1" dirty="0">
                  <a:solidFill>
                    <a:srgbClr val="4440FB"/>
                  </a:solidFill>
                </a:rPr>
                <a:t>people</a:t>
              </a:r>
              <a:r>
                <a:rPr lang="en-US" altLang="zh-CN" sz="2800" dirty="0">
                  <a:solidFill>
                    <a:srgbClr val="4440FB"/>
                  </a:solidFill>
                </a:rPr>
                <a:t> </a:t>
              </a:r>
              <a:r>
                <a:rPr lang="en-US" altLang="zh-CN" sz="2800" dirty="0"/>
                <a:t>with the similar </a:t>
              </a:r>
              <a:r>
                <a:rPr lang="en-US" altLang="zh-CN" sz="2800" i="1" dirty="0">
                  <a:solidFill>
                    <a:srgbClr val="FF0000"/>
                  </a:solidFill>
                </a:rPr>
                <a:t>interests</a:t>
              </a:r>
              <a:r>
                <a:rPr lang="en-US" altLang="zh-CN" sz="2800" dirty="0"/>
                <a:t>.</a:t>
              </a:r>
            </a:p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altLang="zh-CN" sz="2800" dirty="0"/>
                <a:t>We may find clusters of </a:t>
              </a:r>
              <a:r>
                <a:rPr lang="en-US" altLang="zh-CN" sz="2800" i="1" dirty="0">
                  <a:solidFill>
                    <a:srgbClr val="4440FB"/>
                  </a:solidFill>
                </a:rPr>
                <a:t>articles</a:t>
              </a:r>
              <a:r>
                <a:rPr lang="en-US" altLang="zh-CN" sz="2800" dirty="0">
                  <a:solidFill>
                    <a:srgbClr val="4440FB"/>
                  </a:solidFill>
                </a:rPr>
                <a:t> </a:t>
              </a:r>
              <a:r>
                <a:rPr lang="en-US" altLang="zh-CN" sz="2800" dirty="0"/>
                <a:t>with the similar </a:t>
              </a:r>
              <a:r>
                <a:rPr lang="en-US" altLang="zh-CN" sz="2800" i="1" dirty="0">
                  <a:solidFill>
                    <a:srgbClr val="FF0000"/>
                  </a:solidFill>
                </a:rPr>
                <a:t>topics</a:t>
              </a:r>
              <a:r>
                <a:rPr lang="en-US" altLang="zh-CN" sz="2800" dirty="0"/>
                <a:t>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1728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Unsupervised Learning</a:t>
            </a:r>
            <a:endParaRPr lang="zh-CN" altLang="en-US" sz="4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4" y="1674427"/>
            <a:ext cx="12192000" cy="3960083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91113" y="245239"/>
                <a:ext cx="899650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b="1" dirty="0"/>
                  <a:t>Semi-supervised Learning (with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40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4000" b="1" dirty="0"/>
                  <a:t>)</a:t>
                </a:r>
                <a:endParaRPr lang="zh-CN" altLang="en-US" sz="4000" b="1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245239"/>
                <a:ext cx="8996502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6" t="-18" r="-12178" b="-73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grpSp>
        <p:nvGrpSpPr>
          <p:cNvPr id="9" name="组合 8"/>
          <p:cNvGrpSpPr/>
          <p:nvPr/>
        </p:nvGrpSpPr>
        <p:grpSpPr>
          <a:xfrm>
            <a:off x="8437495" y="2532806"/>
            <a:ext cx="3031298" cy="2945705"/>
            <a:chOff x="6825645" y="2515723"/>
            <a:chExt cx="3031298" cy="2945705"/>
          </a:xfrm>
        </p:grpSpPr>
        <p:cxnSp>
          <p:nvCxnSpPr>
            <p:cNvPr id="10" name="直接箭头连接符 9"/>
            <p:cNvCxnSpPr/>
            <p:nvPr/>
          </p:nvCxnSpPr>
          <p:spPr>
            <a:xfrm>
              <a:off x="6825645" y="5309028"/>
              <a:ext cx="30312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6978045" y="2515723"/>
              <a:ext cx="0" cy="29457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8554238" y="345560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8428974" y="3869488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8345474" y="351137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8896608" y="371574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386178" y="331282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428975" y="365768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8733775" y="3546640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8623129" y="3606572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8671148" y="394786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8650267" y="342386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8650267" y="372305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8140872" y="4202178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7817283" y="431092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8445672" y="4506978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8071980" y="445895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8003088" y="463432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7895067" y="4239749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7929507" y="440905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7628347" y="4232937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8233779" y="4324502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7780751" y="451503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7972822" y="4263671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7920612" y="4705500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944502" y="2536719"/>
            <a:ext cx="3031298" cy="2945705"/>
            <a:chOff x="1639866" y="2526161"/>
            <a:chExt cx="3031298" cy="2945705"/>
          </a:xfrm>
        </p:grpSpPr>
        <p:cxnSp>
          <p:nvCxnSpPr>
            <p:cNvPr id="36" name="直接箭头连接符 35"/>
            <p:cNvCxnSpPr/>
            <p:nvPr/>
          </p:nvCxnSpPr>
          <p:spPr>
            <a:xfrm>
              <a:off x="1639866" y="5319466"/>
              <a:ext cx="30312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flipV="1">
              <a:off x="1792266" y="2526161"/>
              <a:ext cx="0" cy="29457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椭圆 37"/>
            <p:cNvSpPr/>
            <p:nvPr/>
          </p:nvSpPr>
          <p:spPr>
            <a:xfrm>
              <a:off x="2955093" y="3191740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3243195" y="3879926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3009380" y="3622835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3710829" y="3726184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3200399" y="3323262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3243196" y="3668121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3547996" y="3557078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3710828" y="4041812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3485369" y="3958304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3464488" y="3434302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3631495" y="4284827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2955093" y="4212616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2631504" y="4321364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3259893" y="4517416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2886201" y="4469394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2992673" y="4781494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3200399" y="4876883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2694132" y="4095312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2442568" y="4243375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3270860" y="4711374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2594972" y="4525471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3112730" y="4648838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2734833" y="4715938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380978" y="3002150"/>
              <a:ext cx="6607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Bad</a:t>
              </a: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942030" y="4575705"/>
              <a:ext cx="93326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Good </a:t>
              </a: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4690998" y="2529147"/>
            <a:ext cx="3031298" cy="2945705"/>
            <a:chOff x="6825645" y="2515723"/>
            <a:chExt cx="3031298" cy="2945705"/>
          </a:xfrm>
        </p:grpSpPr>
        <p:cxnSp>
          <p:nvCxnSpPr>
            <p:cNvPr id="74" name="直接箭头连接符 73"/>
            <p:cNvCxnSpPr/>
            <p:nvPr/>
          </p:nvCxnSpPr>
          <p:spPr>
            <a:xfrm>
              <a:off x="6825645" y="5309028"/>
              <a:ext cx="303129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/>
            <p:nvPr/>
          </p:nvCxnSpPr>
          <p:spPr>
            <a:xfrm flipV="1">
              <a:off x="6978045" y="2515723"/>
              <a:ext cx="0" cy="294570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6" name="椭圆 75"/>
            <p:cNvSpPr/>
            <p:nvPr/>
          </p:nvSpPr>
          <p:spPr>
            <a:xfrm>
              <a:off x="8554238" y="345560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椭圆 76"/>
            <p:cNvSpPr/>
            <p:nvPr/>
          </p:nvSpPr>
          <p:spPr>
            <a:xfrm>
              <a:off x="8428974" y="3869488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椭圆 77"/>
            <p:cNvSpPr/>
            <p:nvPr/>
          </p:nvSpPr>
          <p:spPr>
            <a:xfrm>
              <a:off x="8345474" y="351137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椭圆 78"/>
            <p:cNvSpPr/>
            <p:nvPr/>
          </p:nvSpPr>
          <p:spPr>
            <a:xfrm>
              <a:off x="8896608" y="371574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8386178" y="331282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8428975" y="3657683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8733775" y="3546640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8623129" y="3606572"/>
              <a:ext cx="137783" cy="137783"/>
            </a:xfrm>
            <a:prstGeom prst="ellipse">
              <a:avLst/>
            </a:prstGeom>
            <a:noFill/>
            <a:ln w="28575">
              <a:solidFill>
                <a:srgbClr val="4440F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8671148" y="394786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椭圆 84"/>
            <p:cNvSpPr/>
            <p:nvPr/>
          </p:nvSpPr>
          <p:spPr>
            <a:xfrm>
              <a:off x="8650267" y="342386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椭圆 85"/>
            <p:cNvSpPr/>
            <p:nvPr/>
          </p:nvSpPr>
          <p:spPr>
            <a:xfrm>
              <a:off x="8650267" y="372305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8140872" y="4202178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椭圆 87"/>
            <p:cNvSpPr/>
            <p:nvPr/>
          </p:nvSpPr>
          <p:spPr>
            <a:xfrm>
              <a:off x="7817283" y="4310926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椭圆 88"/>
            <p:cNvSpPr/>
            <p:nvPr/>
          </p:nvSpPr>
          <p:spPr>
            <a:xfrm>
              <a:off x="8445672" y="4506978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椭圆 89"/>
            <p:cNvSpPr/>
            <p:nvPr/>
          </p:nvSpPr>
          <p:spPr>
            <a:xfrm>
              <a:off x="8071980" y="4458956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椭圆 90"/>
            <p:cNvSpPr/>
            <p:nvPr/>
          </p:nvSpPr>
          <p:spPr>
            <a:xfrm>
              <a:off x="8003088" y="4634323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椭圆 91"/>
            <p:cNvSpPr/>
            <p:nvPr/>
          </p:nvSpPr>
          <p:spPr>
            <a:xfrm>
              <a:off x="7895067" y="4239749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椭圆 92"/>
            <p:cNvSpPr/>
            <p:nvPr/>
          </p:nvSpPr>
          <p:spPr>
            <a:xfrm>
              <a:off x="7929507" y="4409054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椭圆 93"/>
            <p:cNvSpPr/>
            <p:nvPr/>
          </p:nvSpPr>
          <p:spPr>
            <a:xfrm>
              <a:off x="7628347" y="4232937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椭圆 94"/>
            <p:cNvSpPr/>
            <p:nvPr/>
          </p:nvSpPr>
          <p:spPr>
            <a:xfrm>
              <a:off x="8233779" y="4324502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椭圆 95"/>
            <p:cNvSpPr/>
            <p:nvPr/>
          </p:nvSpPr>
          <p:spPr>
            <a:xfrm>
              <a:off x="7780751" y="4515033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椭圆 96"/>
            <p:cNvSpPr/>
            <p:nvPr/>
          </p:nvSpPr>
          <p:spPr>
            <a:xfrm>
              <a:off x="7972822" y="4263671"/>
              <a:ext cx="137783" cy="13778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椭圆 97"/>
            <p:cNvSpPr/>
            <p:nvPr/>
          </p:nvSpPr>
          <p:spPr>
            <a:xfrm>
              <a:off x="7920612" y="4705500"/>
              <a:ext cx="137783" cy="137783"/>
            </a:xfrm>
            <a:prstGeom prst="ellipse">
              <a:avLst/>
            </a:prstGeom>
            <a:noFill/>
            <a:ln w="28575">
              <a:solidFill>
                <a:srgbClr val="009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9" name="文本框 98"/>
          <p:cNvSpPr txBox="1"/>
          <p:nvPr/>
        </p:nvSpPr>
        <p:spPr>
          <a:xfrm>
            <a:off x="1864488" y="5492951"/>
            <a:ext cx="169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Supervised  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9080488" y="5492951"/>
            <a:ext cx="2035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Unsupervised  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5307056" y="5492951"/>
            <a:ext cx="23820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Semi-supervised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/>
              <p:cNvSpPr/>
              <p:nvPr/>
            </p:nvSpPr>
            <p:spPr>
              <a:xfrm>
                <a:off x="591113" y="1383148"/>
                <a:ext cx="1067811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600" b="1" i="1" smtClean="0">
                        <a:latin typeface="Cambria Math" panose="02040503050406030204" pitchFamily="18" charset="0"/>
                      </a:rPr>
                      <m:t>𝓓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d>
                              <m:dPr>
                                <m:ctrlP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3600" b="1" dirty="0"/>
                  <a:t>.</a:t>
                </a:r>
                <a:endParaRPr lang="en-US" sz="3600" dirty="0"/>
              </a:p>
            </p:txBody>
          </p:sp>
        </mc:Choice>
        <mc:Fallback xmlns="">
          <p:sp>
            <p:nvSpPr>
              <p:cNvPr id="108" name="矩形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1383148"/>
                <a:ext cx="10678116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5" t="-18" r="5" b="-64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91113" y="245239"/>
                <a:ext cx="899650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b="1" dirty="0"/>
                  <a:t>Semi-supervised Learning (with some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40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4000" b="1" dirty="0"/>
                  <a:t>)</a:t>
                </a:r>
                <a:endParaRPr lang="zh-CN" altLang="en-US" sz="4000" b="1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245239"/>
                <a:ext cx="8996502" cy="707886"/>
              </a:xfrm>
              <a:prstGeom prst="rect">
                <a:avLst/>
              </a:prstGeom>
              <a:blipFill rotWithShape="1">
                <a:blip r:embed="rId3"/>
                <a:stretch>
                  <a:fillRect l="-6" t="-18" r="-12178" b="-735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591113" y="1383148"/>
                <a:ext cx="1067811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3600" b="1" i="1" smtClean="0">
                        <a:latin typeface="Cambria Math" panose="02040503050406030204" pitchFamily="18" charset="0"/>
                      </a:rPr>
                      <m:t>𝓓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6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ctrlP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d>
                              <m:dPr>
                                <m:ctrlP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3600" b="1" i="1" smtClean="0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  <m: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6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36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altLang="zh-CN" sz="36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3600" b="1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3600" b="1" dirty="0"/>
                  <a:t>.</a:t>
                </a:r>
                <a:endParaRPr lang="en-US" sz="3600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1383148"/>
                <a:ext cx="10678116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5" t="-18" r="5" b="-648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4" name="矩形: 圆角 3"/>
          <p:cNvSpPr/>
          <p:nvPr/>
        </p:nvSpPr>
        <p:spPr>
          <a:xfrm>
            <a:off x="591113" y="2459501"/>
            <a:ext cx="11105587" cy="1371205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 dirty="0">
                <a:solidFill>
                  <a:srgbClr val="FF0000"/>
                </a:solidFill>
              </a:rPr>
              <a:t>Semi-supervised learning: </a:t>
            </a:r>
            <a:r>
              <a:rPr lang="en-US" altLang="zh-CN" sz="3200" dirty="0">
                <a:solidFill>
                  <a:prstClr val="black"/>
                </a:solidFill>
              </a:rPr>
              <a:t>leverage unlabeled data to avoid “expensive” labeling.</a:t>
            </a:r>
          </a:p>
        </p:txBody>
      </p:sp>
      <p:grpSp>
        <p:nvGrpSpPr>
          <p:cNvPr id="110" name="组合 109"/>
          <p:cNvGrpSpPr/>
          <p:nvPr/>
        </p:nvGrpSpPr>
        <p:grpSpPr>
          <a:xfrm>
            <a:off x="591113" y="4258318"/>
            <a:ext cx="11105593" cy="1855366"/>
            <a:chOff x="453427" y="4763787"/>
            <a:chExt cx="11105593" cy="1855366"/>
          </a:xfrm>
        </p:grpSpPr>
        <p:grpSp>
          <p:nvGrpSpPr>
            <p:cNvPr id="111" name="组合 110"/>
            <p:cNvGrpSpPr/>
            <p:nvPr/>
          </p:nvGrpSpPr>
          <p:grpSpPr>
            <a:xfrm>
              <a:off x="453427" y="4763787"/>
              <a:ext cx="11105593" cy="1855366"/>
              <a:chOff x="2505199" y="1615858"/>
              <a:chExt cx="11105593" cy="1855366"/>
            </a:xfrm>
          </p:grpSpPr>
          <p:sp>
            <p:nvSpPr>
              <p:cNvPr id="113" name="矩形: 圆顶角 112"/>
              <p:cNvSpPr/>
              <p:nvPr/>
            </p:nvSpPr>
            <p:spPr>
              <a:xfrm>
                <a:off x="2505205" y="1615858"/>
                <a:ext cx="11105587" cy="707886"/>
              </a:xfrm>
              <a:prstGeom prst="round2SameRect">
                <a:avLst/>
              </a:prstGeom>
              <a:solidFill>
                <a:srgbClr val="00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4" name="矩形: 圆顶角 113"/>
              <p:cNvSpPr/>
              <p:nvPr/>
            </p:nvSpPr>
            <p:spPr>
              <a:xfrm rot="10800000">
                <a:off x="2505199" y="2278589"/>
                <a:ext cx="11105587" cy="1192635"/>
              </a:xfrm>
              <a:prstGeom prst="round2SameRect">
                <a:avLst/>
              </a:prstGeom>
              <a:solidFill>
                <a:srgbClr val="E6F5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2656171" y="1693816"/>
                <a:ext cx="175618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Examples</a:t>
                </a: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2628593" y="2309184"/>
                <a:ext cx="108588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90204" pitchFamily="34" charset="0"/>
                  <a:buChar char="•"/>
                </a:pPr>
                <a:endParaRPr lang="en-US" altLang="zh-CN" sz="3200" dirty="0"/>
              </a:p>
            </p:txBody>
          </p:sp>
        </p:grpSp>
        <p:sp>
          <p:nvSpPr>
            <p:cNvPr id="112" name="矩形 111"/>
            <p:cNvSpPr/>
            <p:nvPr/>
          </p:nvSpPr>
          <p:spPr>
            <a:xfrm>
              <a:off x="576816" y="5470239"/>
              <a:ext cx="1085880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90204" pitchFamily="34" charset="0"/>
                <a:buChar char="•"/>
              </a:pPr>
              <a:endParaRPr lang="en-US" altLang="zh-CN" sz="3200" dirty="0"/>
            </a:p>
          </p:txBody>
        </p:sp>
      </p:grpSp>
      <p:pic>
        <p:nvPicPr>
          <p:cNvPr id="2" name="图片 1" descr="屏幕剪辑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6" t="5873" r="8274" b="20657"/>
          <a:stretch>
            <a:fillRect/>
          </a:stretch>
        </p:blipFill>
        <p:spPr>
          <a:xfrm>
            <a:off x="646079" y="4967551"/>
            <a:ext cx="10949261" cy="104278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4265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Mini Summary </a:t>
            </a:r>
            <a:endParaRPr lang="zh-CN" altLang="en-US" sz="4000" b="1" dirty="0"/>
          </a:p>
        </p:txBody>
      </p:sp>
      <p:grpSp>
        <p:nvGrpSpPr>
          <p:cNvPr id="15" name="组合 14"/>
          <p:cNvGrpSpPr/>
          <p:nvPr/>
        </p:nvGrpSpPr>
        <p:grpSpPr>
          <a:xfrm>
            <a:off x="436876" y="953123"/>
            <a:ext cx="11307105" cy="2806076"/>
            <a:chOff x="453421" y="4560905"/>
            <a:chExt cx="11307105" cy="2962303"/>
          </a:xfrm>
        </p:grpSpPr>
        <p:grpSp>
          <p:nvGrpSpPr>
            <p:cNvPr id="18" name="组合 17"/>
            <p:cNvGrpSpPr/>
            <p:nvPr/>
          </p:nvGrpSpPr>
          <p:grpSpPr>
            <a:xfrm>
              <a:off x="453421" y="4560905"/>
              <a:ext cx="11307104" cy="2962303"/>
              <a:chOff x="2505193" y="1412976"/>
              <a:chExt cx="11307104" cy="2962303"/>
            </a:xfrm>
          </p:grpSpPr>
          <p:sp>
            <p:nvSpPr>
              <p:cNvPr id="24" name="矩形: 圆顶角 23"/>
              <p:cNvSpPr/>
              <p:nvPr/>
            </p:nvSpPr>
            <p:spPr>
              <a:xfrm rot="10800000">
                <a:off x="2505193" y="1412976"/>
                <a:ext cx="11307104" cy="2962303"/>
              </a:xfrm>
              <a:prstGeom prst="round2SameRect">
                <a:avLst/>
              </a:prstGeom>
              <a:solidFill>
                <a:srgbClr val="E6F5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2628593" y="2309184"/>
                <a:ext cx="108588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90204" pitchFamily="34" charset="0"/>
                  <a:buChar char="•"/>
                </a:pPr>
                <a:endParaRPr lang="en-US" altLang="zh-CN" sz="3200" dirty="0"/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576814" y="4598485"/>
              <a:ext cx="11183712" cy="2501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200" b="1" dirty="0"/>
                <a:t>Supervised learning:</a:t>
              </a:r>
            </a:p>
            <a:p>
              <a:pPr marL="914400" lvl="1" indent="-457200">
                <a:buFont typeface="Wingdings" panose="05000000000000000000" pitchFamily="2" charset="2"/>
                <a:buChar char="§"/>
              </a:pPr>
              <a:r>
                <a:rPr lang="en-US" sz="2800" dirty="0"/>
                <a:t>using </a:t>
              </a:r>
              <a:r>
                <a:rPr lang="en-US" sz="2800" b="1" i="1" dirty="0" err="1"/>
                <a:t>X_train</a:t>
              </a:r>
              <a:r>
                <a:rPr lang="en-US" sz="2800" b="1" i="1" dirty="0"/>
                <a:t> </a:t>
              </a:r>
              <a:r>
                <a:rPr lang="en-US" sz="2800" dirty="0"/>
                <a:t>and </a:t>
              </a:r>
              <a:r>
                <a:rPr lang="en-US" sz="2800" b="1" i="1" dirty="0" err="1"/>
                <a:t>Y_train</a:t>
              </a:r>
              <a:r>
                <a:rPr lang="en-US" sz="2800" dirty="0"/>
                <a:t>, learn a general classifier to label any point. 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3200" b="1" dirty="0"/>
                <a:t>Semi-supervised learning:</a:t>
              </a:r>
            </a:p>
            <a:p>
              <a:pPr marL="914400" lvl="1" indent="-457200" algn="just">
                <a:buFont typeface="Wingdings" panose="05000000000000000000" pitchFamily="2" charset="2"/>
                <a:buChar char="§"/>
              </a:pPr>
              <a:r>
                <a:rPr lang="en-US" sz="2800" dirty="0"/>
                <a:t>using </a:t>
              </a:r>
              <a:r>
                <a:rPr lang="en-US" sz="2800" b="1" i="1" dirty="0" err="1"/>
                <a:t>X_train</a:t>
              </a:r>
              <a:r>
                <a:rPr lang="en-US" sz="2800" b="1" i="1" dirty="0"/>
                <a:t> </a:t>
              </a:r>
              <a:r>
                <a:rPr lang="en-US" sz="2800" dirty="0"/>
                <a:t>and </a:t>
              </a:r>
              <a:r>
                <a:rPr lang="en-US" sz="2800" b="1" i="1" dirty="0" err="1"/>
                <a:t>Y_train</a:t>
              </a:r>
              <a:r>
                <a:rPr lang="en-US" sz="2800" dirty="0"/>
                <a:t>, and </a:t>
              </a:r>
              <a:r>
                <a:rPr lang="en-US" sz="2800" b="1" i="1" dirty="0" err="1"/>
                <a:t>X_unlabeled</a:t>
              </a:r>
              <a:r>
                <a:rPr lang="en-US" sz="2800" b="1" i="1" dirty="0"/>
                <a:t> </a:t>
              </a:r>
              <a:r>
                <a:rPr lang="en-US" sz="2800" dirty="0"/>
                <a:t>learn a general classifier to label any point.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273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Reinforcement Learning</a:t>
            </a:r>
            <a:endParaRPr lang="zh-CN" altLang="en-US" sz="4000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591112" y="2306847"/>
            <a:ext cx="11215877" cy="4418141"/>
            <a:chOff x="2505199" y="1615858"/>
            <a:chExt cx="11105593" cy="3563890"/>
          </a:xfrm>
        </p:grpSpPr>
        <p:sp>
          <p:nvSpPr>
            <p:cNvPr id="7" name="矩形: 圆顶角 6"/>
            <p:cNvSpPr/>
            <p:nvPr/>
          </p:nvSpPr>
          <p:spPr>
            <a:xfrm>
              <a:off x="2505205" y="1615858"/>
              <a:ext cx="11105587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8" name="矩形: 圆顶角 7"/>
            <p:cNvSpPr/>
            <p:nvPr/>
          </p:nvSpPr>
          <p:spPr>
            <a:xfrm rot="10800000">
              <a:off x="2505199" y="2278588"/>
              <a:ext cx="11105587" cy="2901160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656171" y="1693816"/>
              <a:ext cx="8487167" cy="5213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Teach Your Dog How to Sit: We say ‘Sit Down’</a:t>
              </a:r>
            </a:p>
          </p:txBody>
        </p:sp>
      </p:grpSp>
      <p:sp>
        <p:nvSpPr>
          <p:cNvPr id="11" name="矩形: 圆角 12"/>
          <p:cNvSpPr/>
          <p:nvPr/>
        </p:nvSpPr>
        <p:spPr>
          <a:xfrm>
            <a:off x="568075" y="999668"/>
            <a:ext cx="11261943" cy="1068665"/>
          </a:xfrm>
          <a:prstGeom prst="roundRect">
            <a:avLst>
              <a:gd name="adj" fmla="val 5896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200" dirty="0">
                <a:solidFill>
                  <a:schemeClr val="tx1"/>
                </a:solidFill>
              </a:rPr>
              <a:t>Thus far: Learning from examples</a:t>
            </a: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200" dirty="0">
                <a:solidFill>
                  <a:schemeClr val="tx1"/>
                </a:solidFill>
              </a:rPr>
              <a:t>Missing: </a:t>
            </a:r>
            <a:r>
              <a:rPr lang="en-US" altLang="zh-CN" sz="3200" dirty="0">
                <a:solidFill>
                  <a:srgbClr val="FF0000"/>
                </a:solidFill>
              </a:rPr>
              <a:t>actions</a:t>
            </a:r>
            <a:r>
              <a:rPr lang="en-US" altLang="zh-CN" sz="3200" dirty="0">
                <a:solidFill>
                  <a:schemeClr val="tx1"/>
                </a:solidFill>
              </a:rPr>
              <a:t> (Learn from implicit data, often sequentially)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273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Reinforcement Learning</a:t>
            </a:r>
            <a:endParaRPr lang="zh-CN" altLang="en-US" sz="4000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591112" y="2306847"/>
            <a:ext cx="11215877" cy="4418141"/>
            <a:chOff x="2505199" y="1615858"/>
            <a:chExt cx="11105593" cy="3563890"/>
          </a:xfrm>
        </p:grpSpPr>
        <p:sp>
          <p:nvSpPr>
            <p:cNvPr id="7" name="矩形: 圆顶角 6"/>
            <p:cNvSpPr/>
            <p:nvPr/>
          </p:nvSpPr>
          <p:spPr>
            <a:xfrm>
              <a:off x="2505205" y="1615858"/>
              <a:ext cx="11105587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8" name="矩形: 圆顶角 7"/>
            <p:cNvSpPr/>
            <p:nvPr/>
          </p:nvSpPr>
          <p:spPr>
            <a:xfrm rot="10800000">
              <a:off x="2505199" y="2278588"/>
              <a:ext cx="11105587" cy="2901160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656171" y="1693816"/>
              <a:ext cx="8487167" cy="5213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Teach Your Dog How to Sit: We say ‘Sit Down’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2566896" y="2352101"/>
                  <a:ext cx="10858804" cy="141512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600" dirty="0">
                      <a:solidFill>
                        <a:srgbClr val="FF0000"/>
                      </a:solidFill>
                    </a:rPr>
                    <a:t>Action1</a:t>
                  </a:r>
                  <a:r>
                    <a:rPr lang="en-US" altLang="zh-CN" sz="3600" dirty="0"/>
                    <a:t>: The dog pees on the ground.</a:t>
                  </a:r>
                </a:p>
                <a:p>
                  <a:pPr marL="914400" lvl="1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600" dirty="0"/>
                    <a:t>We cannot easily show the dog that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sz="3600" dirty="0"/>
                    <a:t>sit when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= </m:t>
                      </m:r>
                    </m:oMath>
                  </a14:m>
                  <a:r>
                    <a:rPr lang="en-US" altLang="zh-CN" sz="3600" dirty="0"/>
                    <a:t>‘sit down’, but we can </a:t>
                  </a:r>
                  <a:r>
                    <a:rPr lang="en-US" altLang="zh-CN" sz="3600" dirty="0">
                      <a:solidFill>
                        <a:srgbClr val="FF0000"/>
                      </a:solidFill>
                    </a:rPr>
                    <a:t>punish</a:t>
                  </a:r>
                  <a:r>
                    <a:rPr lang="en-US" altLang="zh-CN" sz="3600" dirty="0"/>
                    <a:t> this action.</a:t>
                  </a:r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6896" y="2352101"/>
                  <a:ext cx="10858804" cy="1415126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</p:grpSp>
      <p:sp>
        <p:nvSpPr>
          <p:cNvPr id="11" name="矩形: 圆角 12"/>
          <p:cNvSpPr/>
          <p:nvPr/>
        </p:nvSpPr>
        <p:spPr>
          <a:xfrm>
            <a:off x="568075" y="999668"/>
            <a:ext cx="11261943" cy="1068665"/>
          </a:xfrm>
          <a:prstGeom prst="roundRect">
            <a:avLst>
              <a:gd name="adj" fmla="val 5896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200" dirty="0">
                <a:solidFill>
                  <a:schemeClr val="tx1"/>
                </a:solidFill>
              </a:rPr>
              <a:t>Thus far: Learning from examples</a:t>
            </a: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altLang="zh-CN" sz="3200" dirty="0">
                <a:solidFill>
                  <a:schemeClr val="tx1"/>
                </a:solidFill>
              </a:rPr>
              <a:t>Missing: </a:t>
            </a:r>
            <a:r>
              <a:rPr lang="en-US" altLang="zh-CN" sz="3200" dirty="0">
                <a:solidFill>
                  <a:srgbClr val="FF0000"/>
                </a:solidFill>
              </a:rPr>
              <a:t>actions</a:t>
            </a:r>
            <a:r>
              <a:rPr lang="en-US" altLang="zh-CN" sz="3200" dirty="0">
                <a:solidFill>
                  <a:schemeClr val="tx1"/>
                </a:solidFill>
              </a:rPr>
              <a:t> (Learn from implicit data, often sequentially)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273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Reinforcement Learning</a:t>
            </a:r>
            <a:endParaRPr lang="zh-CN" altLang="en-US" sz="4000" b="1" dirty="0"/>
          </a:p>
        </p:txBody>
      </p:sp>
      <p:grpSp>
        <p:nvGrpSpPr>
          <p:cNvPr id="6" name="组合 5"/>
          <p:cNvGrpSpPr/>
          <p:nvPr/>
        </p:nvGrpSpPr>
        <p:grpSpPr>
          <a:xfrm>
            <a:off x="591112" y="2306847"/>
            <a:ext cx="11215877" cy="4418141"/>
            <a:chOff x="2505199" y="1615858"/>
            <a:chExt cx="11105593" cy="3563890"/>
          </a:xfrm>
        </p:grpSpPr>
        <p:sp>
          <p:nvSpPr>
            <p:cNvPr id="7" name="矩形: 圆顶角 6"/>
            <p:cNvSpPr/>
            <p:nvPr/>
          </p:nvSpPr>
          <p:spPr>
            <a:xfrm>
              <a:off x="2505205" y="1615858"/>
              <a:ext cx="11105587" cy="707886"/>
            </a:xfrm>
            <a:prstGeom prst="round2SameRect">
              <a:avLst/>
            </a:prstGeom>
            <a:solidFill>
              <a:srgbClr val="00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8" name="矩形: 圆顶角 7"/>
            <p:cNvSpPr/>
            <p:nvPr/>
          </p:nvSpPr>
          <p:spPr>
            <a:xfrm rot="10800000">
              <a:off x="2505199" y="2278588"/>
              <a:ext cx="11105587" cy="2901160"/>
            </a:xfrm>
            <a:prstGeom prst="round2SameRect">
              <a:avLst/>
            </a:prstGeom>
            <a:solidFill>
              <a:srgbClr val="E6F5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600" dirty="0"/>
            </a:p>
          </p:txBody>
        </p:sp>
        <p:sp>
          <p:nvSpPr>
            <p:cNvPr id="9" name="矩形 8"/>
            <p:cNvSpPr/>
            <p:nvPr/>
          </p:nvSpPr>
          <p:spPr>
            <a:xfrm>
              <a:off x="2656171" y="1693816"/>
              <a:ext cx="8487167" cy="5213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Teach Your Dog How to Sit: We say ‘Sit Down’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2566896" y="2352101"/>
                  <a:ext cx="10858804" cy="275577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600" dirty="0">
                      <a:solidFill>
                        <a:srgbClr val="FF0000"/>
                      </a:solidFill>
                    </a:rPr>
                    <a:t>Action1</a:t>
                  </a:r>
                  <a:r>
                    <a:rPr lang="en-US" altLang="zh-CN" sz="3600" dirty="0"/>
                    <a:t>: The dog pees on the ground.</a:t>
                  </a:r>
                </a:p>
                <a:p>
                  <a:pPr marL="914400" lvl="1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600" dirty="0"/>
                    <a:t>We cannot easily show the dog that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sz="3600" dirty="0"/>
                    <a:t>sit when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= </m:t>
                      </m:r>
                    </m:oMath>
                  </a14:m>
                  <a:r>
                    <a:rPr lang="en-US" altLang="zh-CN" sz="3600" dirty="0"/>
                    <a:t>‘sit down’, but we can </a:t>
                  </a:r>
                  <a:r>
                    <a:rPr lang="en-US" altLang="zh-CN" sz="3600" dirty="0">
                      <a:solidFill>
                        <a:srgbClr val="FF0000"/>
                      </a:solidFill>
                    </a:rPr>
                    <a:t>punish</a:t>
                  </a:r>
                  <a:r>
                    <a:rPr lang="en-US" altLang="zh-CN" sz="3600" dirty="0"/>
                    <a:t> this action.</a:t>
                  </a: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600" dirty="0">
                      <a:solidFill>
                        <a:srgbClr val="FF0000"/>
                      </a:solidFill>
                    </a:rPr>
                    <a:t>Action2</a:t>
                  </a:r>
                  <a:r>
                    <a:rPr lang="en-US" altLang="zh-CN" sz="3600" dirty="0"/>
                    <a:t>: The dog sits down.</a:t>
                  </a:r>
                </a:p>
                <a:p>
                  <a:pPr marL="914400" lvl="1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600" dirty="0"/>
                    <a:t>Cannot easily show the dog that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sz="3600" dirty="0"/>
                    <a:t>sit when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altLang="zh-CN" sz="3600" dirty="0"/>
                    <a:t>‘sit down’, but we can </a:t>
                  </a:r>
                  <a:r>
                    <a:rPr lang="en-US" altLang="zh-CN" sz="3600" dirty="0">
                      <a:solidFill>
                        <a:srgbClr val="4440FB"/>
                      </a:solidFill>
                    </a:rPr>
                    <a:t>reward </a:t>
                  </a:r>
                  <a:r>
                    <a:rPr lang="en-US" altLang="zh-CN" sz="3600" dirty="0"/>
                    <a:t>this action.</a:t>
                  </a:r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6896" y="2352101"/>
                  <a:ext cx="10858804" cy="2755772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</p:grpSp>
      <p:sp>
        <p:nvSpPr>
          <p:cNvPr id="11" name="矩形: 圆角 12"/>
          <p:cNvSpPr/>
          <p:nvPr/>
        </p:nvSpPr>
        <p:spPr>
          <a:xfrm>
            <a:off x="568075" y="999668"/>
            <a:ext cx="11261943" cy="1068665"/>
          </a:xfrm>
          <a:prstGeom prst="roundRect">
            <a:avLst>
              <a:gd name="adj" fmla="val 5896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Thus far: Learning from examples</a:t>
            </a: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Missing: </a:t>
            </a:r>
            <a:r>
              <a:rPr lang="en-US" sz="3200" dirty="0">
                <a:solidFill>
                  <a:srgbClr val="FF0000"/>
                </a:solidFill>
              </a:rPr>
              <a:t>actions</a:t>
            </a:r>
            <a:r>
              <a:rPr lang="en-US" sz="3200" dirty="0">
                <a:solidFill>
                  <a:schemeClr val="tx1"/>
                </a:solidFill>
              </a:rPr>
              <a:t> (</a:t>
            </a:r>
            <a:r>
              <a:rPr lang="en-US" altLang="zh-CN" sz="3200" dirty="0">
                <a:solidFill>
                  <a:schemeClr val="tx1"/>
                </a:solidFill>
              </a:rPr>
              <a:t>Learn from implicit data, often sequentially</a:t>
            </a:r>
            <a:r>
              <a:rPr lang="en-US" sz="3200" dirty="0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273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Reinforcement Learning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59" y="1351705"/>
            <a:ext cx="5437147" cy="3557184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5668906" y="914404"/>
            <a:ext cx="6346632" cy="4299285"/>
            <a:chOff x="5668906" y="1491916"/>
            <a:chExt cx="6346632" cy="4299285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9538" y="1659607"/>
              <a:ext cx="6096000" cy="3959382"/>
            </a:xfrm>
            <a:prstGeom prst="rect">
              <a:avLst/>
            </a:prstGeom>
          </p:spPr>
        </p:pic>
        <p:sp>
          <p:nvSpPr>
            <p:cNvPr id="10" name="矩形 9"/>
            <p:cNvSpPr/>
            <p:nvPr/>
          </p:nvSpPr>
          <p:spPr>
            <a:xfrm>
              <a:off x="5919538" y="1491916"/>
              <a:ext cx="18288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5668906" y="5181601"/>
              <a:ext cx="1828800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矩形: 圆角 12"/>
          <p:cNvSpPr/>
          <p:nvPr/>
        </p:nvSpPr>
        <p:spPr>
          <a:xfrm>
            <a:off x="1845469" y="5417446"/>
            <a:ext cx="2072632" cy="830996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45469" y="5417445"/>
            <a:ext cx="20726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Scenario 1</a:t>
            </a:r>
          </a:p>
          <a:p>
            <a:pPr algn="ctr"/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Punish</a:t>
            </a:r>
            <a:r>
              <a:rPr lang="en-US" sz="2400" dirty="0"/>
              <a:t>)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7931222" y="5417444"/>
            <a:ext cx="2072632" cy="830997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65532" y="5417445"/>
            <a:ext cx="207263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Scenario 2</a:t>
            </a:r>
          </a:p>
          <a:p>
            <a:pPr algn="ctr"/>
            <a:r>
              <a:rPr lang="en-US" sz="2400" dirty="0"/>
              <a:t>(</a:t>
            </a:r>
            <a:r>
              <a:rPr lang="en-US" sz="2400" dirty="0">
                <a:solidFill>
                  <a:srgbClr val="4440FB"/>
                </a:solidFill>
              </a:rPr>
              <a:t>Reward</a:t>
            </a:r>
            <a:r>
              <a:rPr lang="en-US" sz="2400" dirty="0"/>
              <a:t>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04444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What Makes Reinforcement Learning Different? 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578207" y="1602731"/>
            <a:ext cx="11261943" cy="4291293"/>
            <a:chOff x="352540" y="1470529"/>
            <a:chExt cx="11261943" cy="4291293"/>
          </a:xfrm>
        </p:grpSpPr>
        <p:sp>
          <p:nvSpPr>
            <p:cNvPr id="22" name="矩形: 圆角 12"/>
            <p:cNvSpPr/>
            <p:nvPr/>
          </p:nvSpPr>
          <p:spPr>
            <a:xfrm>
              <a:off x="352540" y="1470529"/>
              <a:ext cx="11261943" cy="4291293"/>
            </a:xfrm>
            <a:prstGeom prst="roundRect">
              <a:avLst>
                <a:gd name="adj" fmla="val 5896"/>
              </a:avLst>
            </a:prstGeom>
            <a:solidFill>
              <a:srgbClr val="FFFBD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200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52540" y="1532288"/>
              <a:ext cx="10931006" cy="40318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90204" pitchFamily="34" charset="0"/>
                <a:buChar char="•"/>
              </a:pPr>
              <a:r>
                <a:rPr lang="en-US" sz="3200" dirty="0"/>
                <a:t>There is </a:t>
              </a:r>
              <a:r>
                <a:rPr lang="en-US" sz="3200" dirty="0">
                  <a:solidFill>
                    <a:srgbClr val="FF0000"/>
                  </a:solidFill>
                </a:rPr>
                <a:t>no supervisor</a:t>
              </a:r>
              <a:r>
                <a:rPr lang="en-US" sz="3200" dirty="0"/>
                <a:t>, only a </a:t>
              </a:r>
              <a:r>
                <a:rPr lang="en-US" sz="3200" dirty="0">
                  <a:solidFill>
                    <a:srgbClr val="FF0000"/>
                  </a:solidFill>
                </a:rPr>
                <a:t>reward</a:t>
              </a:r>
              <a:r>
                <a:rPr lang="en-US" sz="3200" dirty="0"/>
                <a:t> signal.</a:t>
              </a:r>
            </a:p>
            <a:p>
              <a:pPr marL="457200" indent="-457200">
                <a:buFont typeface="Arial" panose="020B0604020202090204" pitchFamily="34" charset="0"/>
                <a:buChar char="•"/>
              </a:pPr>
              <a:r>
                <a:rPr lang="en-US" sz="3200" dirty="0"/>
                <a:t>Time really matters (</a:t>
              </a:r>
              <a:r>
                <a:rPr lang="en-US" sz="3200" dirty="0">
                  <a:solidFill>
                    <a:srgbClr val="FF0000"/>
                  </a:solidFill>
                </a:rPr>
                <a:t>sequential</a:t>
              </a:r>
              <a:r>
                <a:rPr lang="en-US" sz="3200" dirty="0"/>
                <a:t>).</a:t>
              </a:r>
            </a:p>
            <a:p>
              <a:pPr marL="457200" indent="-457200">
                <a:buFont typeface="Arial" panose="020B0604020202090204" pitchFamily="34" charset="0"/>
                <a:buChar char="•"/>
              </a:pPr>
              <a:r>
                <a:rPr lang="en-US" sz="3200" dirty="0"/>
                <a:t>Agent’s actions affect the subsequent data it receives.</a:t>
              </a:r>
            </a:p>
            <a:p>
              <a:pPr marL="457200" indent="-457200">
                <a:buFont typeface="Arial" panose="020B0604020202090204" pitchFamily="34" charset="0"/>
                <a:buChar char="•"/>
              </a:pPr>
              <a:r>
                <a:rPr lang="en-US" altLang="zh-CN" sz="3200" dirty="0"/>
                <a:t>Reinforcement learning is based on the </a:t>
              </a:r>
              <a:r>
                <a:rPr lang="en-US" altLang="zh-CN" sz="3200" dirty="0">
                  <a:solidFill>
                    <a:srgbClr val="FF0000"/>
                  </a:solidFill>
                </a:rPr>
                <a:t>reward hypothesis</a:t>
              </a:r>
              <a:r>
                <a:rPr lang="en-US" altLang="zh-CN" sz="3200" dirty="0"/>
                <a:t>.</a:t>
              </a:r>
              <a:endParaRPr lang="en-US" sz="3200" dirty="0"/>
            </a:p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altLang="zh-CN" sz="3200" dirty="0"/>
                <a:t>All goals can be described by the </a:t>
              </a:r>
              <a:r>
                <a:rPr lang="en-US" altLang="zh-CN" sz="3200" dirty="0">
                  <a:solidFill>
                    <a:srgbClr val="FF0000"/>
                  </a:solidFill>
                </a:rPr>
                <a:t>maximization of expected cumulative reward</a:t>
              </a:r>
              <a:r>
                <a:rPr lang="en-US" altLang="zh-CN" sz="3200" dirty="0"/>
                <a:t>.</a:t>
              </a:r>
            </a:p>
            <a:p>
              <a:pPr marL="457200" indent="-457200" algn="just">
                <a:buFont typeface="Arial" panose="020B0604020202090204" pitchFamily="34" charset="0"/>
                <a:buChar char="•"/>
              </a:pPr>
              <a:r>
                <a:rPr lang="en-US" altLang="zh-CN" sz="3200" dirty="0">
                  <a:solidFill>
                    <a:srgbClr val="FF0000"/>
                  </a:solidFill>
                </a:rPr>
                <a:t>Agent goal</a:t>
              </a:r>
              <a:r>
                <a:rPr lang="en-US" altLang="zh-CN" sz="3200" dirty="0"/>
                <a:t>: maximize cumulative reward.</a:t>
              </a:r>
            </a:p>
            <a:p>
              <a:pPr marL="914400" lvl="1" indent="-457200" algn="just">
                <a:buFont typeface="Arial" panose="020B0604020202090204" pitchFamily="34" charset="0"/>
                <a:buChar char="•"/>
              </a:pPr>
              <a:r>
                <a:rPr lang="en-US" altLang="zh-CN" sz="3200" dirty="0">
                  <a:solidFill>
                    <a:srgbClr val="FF0000"/>
                  </a:solidFill>
                </a:rPr>
                <a:t>Select actions </a:t>
              </a:r>
              <a:r>
                <a:rPr lang="en-US" altLang="zh-CN" sz="3200" dirty="0"/>
                <a:t>to maximize the expected cumulative reward.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/>
          <p:cNvSpPr/>
          <p:nvPr/>
        </p:nvSpPr>
        <p:spPr>
          <a:xfrm>
            <a:off x="591113" y="901700"/>
            <a:ext cx="11023371" cy="5816599"/>
          </a:xfrm>
          <a:prstGeom prst="roundRect">
            <a:avLst>
              <a:gd name="adj" fmla="val 5896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1113" y="245239"/>
            <a:ext cx="5273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Reinforcement Learning</a:t>
            </a:r>
            <a:endParaRPr lang="zh-CN" altLang="en-US" sz="4000" b="1" dirty="0"/>
          </a:p>
        </p:txBody>
      </p:sp>
      <p:sp>
        <p:nvSpPr>
          <p:cNvPr id="6" name="矩形 5"/>
          <p:cNvSpPr/>
          <p:nvPr/>
        </p:nvSpPr>
        <p:spPr>
          <a:xfrm>
            <a:off x="683607" y="895541"/>
            <a:ext cx="1110819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200" dirty="0"/>
              <a:t>Fly stunt </a:t>
            </a:r>
            <a:r>
              <a:rPr lang="en-US" sz="3200" dirty="0" err="1"/>
              <a:t>manoeuvre</a:t>
            </a:r>
            <a:r>
              <a:rPr lang="en-US" sz="3200" dirty="0"/>
              <a:t> in a helicopter </a:t>
            </a:r>
            <a:r>
              <a:rPr lang="en-US" sz="2400" dirty="0"/>
              <a:t>(</a:t>
            </a:r>
            <a:r>
              <a:rPr lang="zh-CN" altLang="en-US" sz="2400" dirty="0"/>
              <a:t>直升机特技飞行</a:t>
            </a:r>
            <a:r>
              <a:rPr lang="en-US" sz="2400" dirty="0"/>
              <a:t>)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US" sz="3200" dirty="0"/>
              <a:t>+ reward for following desired trajectory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US" sz="3200" dirty="0"/>
              <a:t>- reward for crashing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200" dirty="0"/>
              <a:t>Make a humanoid robot walk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US" sz="3200" dirty="0"/>
              <a:t>+ reward for forward motion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US" sz="3200" dirty="0"/>
              <a:t>- reward for falling over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sz="3200" dirty="0"/>
              <a:t>Recycling robot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US" sz="3200" dirty="0"/>
              <a:t>+ reward for finding cans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US" sz="3200" dirty="0"/>
              <a:t>- reward for running out of battery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altLang="zh-CN" sz="3200" dirty="0"/>
              <a:t>Ad system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US" altLang="zh-CN" sz="3200" dirty="0"/>
              <a:t>+ user click</a:t>
            </a:r>
          </a:p>
          <a:p>
            <a:pPr marL="971550" lvl="1" indent="-514350">
              <a:buFont typeface="Wingdings" panose="05000000000000000000" pitchFamily="2" charset="2"/>
              <a:buChar char="§"/>
            </a:pPr>
            <a:r>
              <a:rPr lang="en-US" altLang="zh-CN" sz="3200" dirty="0"/>
              <a:t>- no click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273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Reinforcement Learning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928" y="1512848"/>
            <a:ext cx="9820213" cy="5033333"/>
          </a:xfrm>
          <a:prstGeom prst="rect">
            <a:avLst/>
          </a:prstGeom>
        </p:spPr>
      </p:pic>
      <p:sp>
        <p:nvSpPr>
          <p:cNvPr id="12" name="矩形: 圆角 11"/>
          <p:cNvSpPr/>
          <p:nvPr/>
        </p:nvSpPr>
        <p:spPr>
          <a:xfrm>
            <a:off x="750779" y="1165472"/>
            <a:ext cx="2072632" cy="694752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50859" y="1275448"/>
            <a:ext cx="20726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Go Playing  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273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Reinforcement Learning</a:t>
            </a:r>
            <a:endParaRPr lang="zh-CN" altLang="en-US" sz="4000" b="1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65" y="2072571"/>
            <a:ext cx="9953871" cy="4458756"/>
          </a:xfrm>
          <a:prstGeom prst="rect">
            <a:avLst/>
          </a:prstGeom>
        </p:spPr>
      </p:pic>
      <p:sp>
        <p:nvSpPr>
          <p:cNvPr id="9" name="矩形: 圆角 8"/>
          <p:cNvSpPr/>
          <p:nvPr/>
        </p:nvSpPr>
        <p:spPr>
          <a:xfrm>
            <a:off x="750779" y="1165472"/>
            <a:ext cx="2072632" cy="694752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50859" y="1275448"/>
            <a:ext cx="20726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/>
              <a:t>Chat-bot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4174"/>
            <a:ext cx="12192000" cy="54403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1113" y="245239"/>
            <a:ext cx="52730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Reinforcement Learning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18964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Exercise</a:t>
            </a:r>
            <a:endParaRPr lang="zh-CN" altLang="en-US" sz="4000" b="1" dirty="0"/>
          </a:p>
        </p:txBody>
      </p:sp>
      <p:pic>
        <p:nvPicPr>
          <p:cNvPr id="4" name="图片 3" descr="屏幕剪辑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3" y="1099517"/>
            <a:ext cx="11263036" cy="542464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61152" y="5466477"/>
            <a:ext cx="4131325" cy="4957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6890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Categories of Machine Learning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output space 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endParaRPr lang="en-US" altLang="zh-CN" sz="3200" b="1" dirty="0"/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chemeClr val="tx1"/>
                    </a:solidFill>
                  </a:rPr>
                  <a:t>Learning with different data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3200" b="1" dirty="0">
                  <a:solidFill>
                    <a:schemeClr val="tx1"/>
                  </a:solidFill>
                </a:endParaRPr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rgbClr val="FF0000"/>
                    </a:solidFill>
                  </a:rPr>
                  <a:t>Learning with different protocol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32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3200" b="1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b="1" dirty="0">
                  <a:solidFill>
                    <a:srgbClr val="FF0000"/>
                  </a:solidFill>
                </a:endParaRPr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input space 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endParaRPr lang="zh-CN" altLang="en-US" sz="3200" b="1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blipFill rotWithShape="1">
                <a:blip r:embed="rId3"/>
                <a:stretch>
                  <a:fillRect l="-7" t="-8" r="-6413" b="-130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3295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Batch Learning</a:t>
            </a:r>
            <a:endParaRPr lang="zh-CN" altLang="en-US" sz="4000" b="1" dirty="0"/>
          </a:p>
        </p:txBody>
      </p:sp>
      <p:sp>
        <p:nvSpPr>
          <p:cNvPr id="3" name="矩形: 圆角 3"/>
          <p:cNvSpPr/>
          <p:nvPr/>
        </p:nvSpPr>
        <p:spPr>
          <a:xfrm>
            <a:off x="591113" y="1390865"/>
            <a:ext cx="11105587" cy="1371205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</a:rPr>
              <a:t>Batch (offline) learning: learn from </a:t>
            </a:r>
            <a:r>
              <a:rPr lang="en-US" sz="3200" i="1" dirty="0">
                <a:solidFill>
                  <a:srgbClr val="FF0000"/>
                </a:solidFill>
              </a:rPr>
              <a:t>all known </a:t>
            </a:r>
            <a:r>
              <a:rPr lang="en-US" sz="3200" dirty="0">
                <a:solidFill>
                  <a:schemeClr val="tx1"/>
                </a:solidFill>
              </a:rPr>
              <a:t>data (a very common protocol).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91112" y="3244766"/>
            <a:ext cx="11105594" cy="3260997"/>
            <a:chOff x="453426" y="4763787"/>
            <a:chExt cx="11105594" cy="3260997"/>
          </a:xfrm>
        </p:grpSpPr>
        <p:grpSp>
          <p:nvGrpSpPr>
            <p:cNvPr id="6" name="组合 5"/>
            <p:cNvGrpSpPr/>
            <p:nvPr/>
          </p:nvGrpSpPr>
          <p:grpSpPr>
            <a:xfrm>
              <a:off x="453426" y="4763787"/>
              <a:ext cx="11105594" cy="3260996"/>
              <a:chOff x="2505198" y="1615858"/>
              <a:chExt cx="11105594" cy="3260996"/>
            </a:xfrm>
          </p:grpSpPr>
          <p:sp>
            <p:nvSpPr>
              <p:cNvPr id="8" name="矩形: 圆顶角 112"/>
              <p:cNvSpPr/>
              <p:nvPr/>
            </p:nvSpPr>
            <p:spPr>
              <a:xfrm>
                <a:off x="2505205" y="1615858"/>
                <a:ext cx="11105587" cy="707886"/>
              </a:xfrm>
              <a:prstGeom prst="round2SameRect">
                <a:avLst/>
              </a:prstGeom>
              <a:solidFill>
                <a:srgbClr val="00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矩形: 圆顶角 113"/>
              <p:cNvSpPr/>
              <p:nvPr/>
            </p:nvSpPr>
            <p:spPr>
              <a:xfrm rot="10800000">
                <a:off x="2505198" y="2278588"/>
                <a:ext cx="11105587" cy="2598266"/>
              </a:xfrm>
              <a:prstGeom prst="round2SameRect">
                <a:avLst/>
              </a:prstGeom>
              <a:solidFill>
                <a:srgbClr val="E6F5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656171" y="1693816"/>
                <a:ext cx="175618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Examples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628593" y="2309184"/>
                <a:ext cx="108588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90204" pitchFamily="34" charset="0"/>
                  <a:buChar char="•"/>
                </a:pPr>
                <a:endParaRPr lang="en-US" altLang="zh-CN" sz="3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/>
                <p:cNvSpPr/>
                <p:nvPr/>
              </p:nvSpPr>
              <p:spPr>
                <a:xfrm>
                  <a:off x="576816" y="5470239"/>
                  <a:ext cx="10858804" cy="255454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Batch of (email, spam yes/no) </a:t>
                  </a:r>
                  <a14:m>
                    <m:oMath xmlns:m="http://schemas.openxmlformats.org/officeDocument/2006/math">
                      <m:r>
                        <a:rPr lang="en-US" altLang="zh-CN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US" altLang="zh-CN" sz="3200" dirty="0"/>
                    <a:t> spam filter</a:t>
                  </a: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Batch of (patient info, cancer yes/no) </a:t>
                  </a:r>
                  <a14:m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US" altLang="zh-CN" sz="3200" dirty="0"/>
                    <a:t> cancer prediction</a:t>
                  </a: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Batch of (video, location label) </a:t>
                  </a:r>
                  <a14:m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US" altLang="zh-CN" sz="3200" dirty="0"/>
                    <a:t> video location prediction</a:t>
                  </a: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Batch of customer data</a:t>
                  </a:r>
                  <a:r>
                    <a:rPr lang="en-US" altLang="zh-CN" sz="32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US" altLang="zh-CN" sz="3200" dirty="0"/>
                    <a:t> group of customers (interest)</a:t>
                  </a: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Batch of documents </a:t>
                  </a:r>
                  <a:r>
                    <a:rPr lang="en-US" altLang="zh-CN" sz="3200" dirty="0">
                      <a:ea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US" altLang="zh-CN" sz="3200" dirty="0"/>
                    <a:t> group of documents (topic)</a:t>
                  </a:r>
                </a:p>
              </p:txBody>
            </p:sp>
          </mc:Choice>
          <mc:Fallback xmlns=""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816" y="5470239"/>
                  <a:ext cx="10858804" cy="255454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3295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Batch Learning</a:t>
            </a:r>
            <a:endParaRPr lang="zh-CN" altLang="en-US" sz="4000" b="1" dirty="0"/>
          </a:p>
        </p:txBody>
      </p:sp>
      <p:sp>
        <p:nvSpPr>
          <p:cNvPr id="3" name="矩形: 圆角 3"/>
          <p:cNvSpPr/>
          <p:nvPr/>
        </p:nvSpPr>
        <p:spPr>
          <a:xfrm>
            <a:off x="591113" y="1390865"/>
            <a:ext cx="11105587" cy="1371205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>
                <a:solidFill>
                  <a:schemeClr val="tx1"/>
                </a:solidFill>
              </a:rPr>
              <a:t>Batch (offline) learning: learn from </a:t>
            </a:r>
            <a:r>
              <a:rPr lang="en-US" sz="3200" i="1" dirty="0">
                <a:solidFill>
                  <a:srgbClr val="FF0000"/>
                </a:solidFill>
              </a:rPr>
              <a:t>all known </a:t>
            </a:r>
            <a:r>
              <a:rPr lang="en-US" sz="3200" dirty="0">
                <a:solidFill>
                  <a:schemeClr val="tx1"/>
                </a:solidFill>
              </a:rPr>
              <a:t>data (a very common protocol).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591112" y="3244766"/>
            <a:ext cx="11105594" cy="3260996"/>
            <a:chOff x="453426" y="4763787"/>
            <a:chExt cx="11105594" cy="3260996"/>
          </a:xfrm>
        </p:grpSpPr>
        <p:grpSp>
          <p:nvGrpSpPr>
            <p:cNvPr id="6" name="组合 5"/>
            <p:cNvGrpSpPr/>
            <p:nvPr/>
          </p:nvGrpSpPr>
          <p:grpSpPr>
            <a:xfrm>
              <a:off x="453426" y="4763787"/>
              <a:ext cx="11105594" cy="3260996"/>
              <a:chOff x="2505198" y="1615858"/>
              <a:chExt cx="11105594" cy="3260996"/>
            </a:xfrm>
          </p:grpSpPr>
          <p:sp>
            <p:nvSpPr>
              <p:cNvPr id="8" name="矩形: 圆顶角 112"/>
              <p:cNvSpPr/>
              <p:nvPr/>
            </p:nvSpPr>
            <p:spPr>
              <a:xfrm>
                <a:off x="2505205" y="1615858"/>
                <a:ext cx="11105587" cy="707886"/>
              </a:xfrm>
              <a:prstGeom prst="round2SameRect">
                <a:avLst/>
              </a:prstGeom>
              <a:solidFill>
                <a:srgbClr val="00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矩形: 圆顶角 113"/>
              <p:cNvSpPr/>
              <p:nvPr/>
            </p:nvSpPr>
            <p:spPr>
              <a:xfrm rot="10800000">
                <a:off x="2505198" y="2278588"/>
                <a:ext cx="11105587" cy="2598266"/>
              </a:xfrm>
              <a:prstGeom prst="round2SameRect">
                <a:avLst/>
              </a:prstGeom>
              <a:solidFill>
                <a:srgbClr val="E6F5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628348" y="1693816"/>
                <a:ext cx="445692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</a:rPr>
                  <a:t>We typically assume that: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628593" y="2309184"/>
                <a:ext cx="108588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90204" pitchFamily="34" charset="0"/>
                  <a:buChar char="•"/>
                </a:pPr>
                <a:endParaRPr lang="en-US" altLang="zh-CN" sz="3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/>
                <p:cNvSpPr/>
                <p:nvPr/>
              </p:nvSpPr>
              <p:spPr>
                <a:xfrm>
                  <a:off x="576816" y="5470239"/>
                  <a:ext cx="10858804" cy="156966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The learning algorithm </a:t>
                  </a:r>
                  <a14:m>
                    <m:oMath xmlns:m="http://schemas.openxmlformats.org/officeDocument/2006/math">
                      <m:r>
                        <a:rPr lang="zh-CN" altLang="en-US" sz="3200" i="1" dirty="0">
                          <a:latin typeface="Cambria Math" panose="02040503050406030204" pitchFamily="18" charset="0"/>
                        </a:rPr>
                        <m:t>𝒜</m:t>
                      </m:r>
                    </m:oMath>
                  </a14:m>
                  <a:r>
                    <a:rPr lang="en-US" altLang="zh-CN" sz="3200" dirty="0"/>
                    <a:t> is deterministic,</a:t>
                  </a:r>
                </a:p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zh-CN" altLang="en-US" sz="3200" i="1" dirty="0">
                          <a:latin typeface="Cambria Math" panose="02040503050406030204" pitchFamily="18" charset="0"/>
                        </a:rPr>
                        <m:t>𝒜</m:t>
                      </m:r>
                    </m:oMath>
                  </a14:m>
                  <a:r>
                    <a:rPr lang="en-US" altLang="zh-CN" sz="3200" dirty="0"/>
                    <a:t> does not depend on the ordering of the points in the training set.</a:t>
                  </a:r>
                </a:p>
              </p:txBody>
            </p:sp>
          </mc:Choice>
          <mc:Fallback xmlns=""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816" y="5470239"/>
                  <a:ext cx="10858804" cy="1569660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5413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Online Learning</a:t>
            </a:r>
            <a:endParaRPr lang="zh-CN" altLang="en-US" sz="4000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591112" y="2561720"/>
            <a:ext cx="11105595" cy="3409422"/>
            <a:chOff x="453425" y="4763787"/>
            <a:chExt cx="11105595" cy="3409422"/>
          </a:xfrm>
        </p:grpSpPr>
        <p:grpSp>
          <p:nvGrpSpPr>
            <p:cNvPr id="6" name="组合 5"/>
            <p:cNvGrpSpPr/>
            <p:nvPr/>
          </p:nvGrpSpPr>
          <p:grpSpPr>
            <a:xfrm>
              <a:off x="453425" y="4763787"/>
              <a:ext cx="11105595" cy="3409422"/>
              <a:chOff x="2505197" y="1615858"/>
              <a:chExt cx="11105595" cy="3409422"/>
            </a:xfrm>
          </p:grpSpPr>
          <p:sp>
            <p:nvSpPr>
              <p:cNvPr id="8" name="矩形: 圆顶角 112"/>
              <p:cNvSpPr/>
              <p:nvPr/>
            </p:nvSpPr>
            <p:spPr>
              <a:xfrm>
                <a:off x="2505205" y="1615858"/>
                <a:ext cx="11105587" cy="707886"/>
              </a:xfrm>
              <a:prstGeom prst="round2SameRect">
                <a:avLst/>
              </a:prstGeom>
              <a:solidFill>
                <a:srgbClr val="00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矩形: 圆顶角 113"/>
              <p:cNvSpPr/>
              <p:nvPr/>
            </p:nvSpPr>
            <p:spPr>
              <a:xfrm rot="10800000">
                <a:off x="2505197" y="2278588"/>
                <a:ext cx="11105587" cy="2746692"/>
              </a:xfrm>
              <a:prstGeom prst="round2SameRect">
                <a:avLst/>
              </a:prstGeom>
              <a:solidFill>
                <a:srgbClr val="E6F5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656171" y="1693816"/>
                <a:ext cx="1756186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Examples</a:t>
                </a: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2628593" y="2309184"/>
                <a:ext cx="108588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90204" pitchFamily="34" charset="0"/>
                  <a:buChar char="•"/>
                </a:pPr>
                <a:endParaRPr lang="en-US" altLang="zh-CN" sz="3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/>
                <p:cNvSpPr/>
                <p:nvPr/>
              </p:nvSpPr>
              <p:spPr>
                <a:xfrm>
                  <a:off x="576816" y="5470239"/>
                  <a:ext cx="10858804" cy="255454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457200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Online Spam filter (</a:t>
                  </a:r>
                  <a14:m>
                    <m:oMath xmlns:m="http://schemas.openxmlformats.org/officeDocument/2006/math">
                      <m:r>
                        <a:rPr lang="zh-CN" altLang="en-US" sz="3200" i="1" dirty="0" smtClean="0">
                          <a:latin typeface="Cambria Math" panose="02040503050406030204" pitchFamily="18" charset="0"/>
                        </a:rPr>
                        <m:t>𝒜</m:t>
                      </m:r>
                    </m:oMath>
                  </a14:m>
                  <a:r>
                    <a:rPr lang="en-US" altLang="zh-CN" sz="3200" dirty="0"/>
                    <a:t> is the learning algorithm)</a:t>
                  </a:r>
                </a:p>
                <a:p>
                  <a:pPr marL="914400" lvl="1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Observe an email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a14:m>
                  <a:endParaRPr lang="en-US" altLang="zh-CN" sz="3200" dirty="0"/>
                </a:p>
                <a:p>
                  <a:pPr marL="914400" lvl="1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Predict spam label with current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 dirty="0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3200" dirty="0"/>
                </a:p>
                <a:p>
                  <a:pPr marL="914400" lvl="1" indent="-457200" algn="just">
                    <a:buFont typeface="Arial" panose="020B0604020202090204" pitchFamily="34" charset="0"/>
                    <a:buChar char="•"/>
                  </a:pPr>
                  <a:r>
                    <a:rPr lang="en-US" altLang="zh-CN" sz="3200" dirty="0"/>
                    <a:t>Receive ‘ground truth’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altLang="zh-CN" sz="3200" dirty="0"/>
                    <a:t> from the user, and then update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altLang="zh-CN" sz="3200" dirty="0"/>
                    <a:t> with </a:t>
                  </a:r>
                  <a14:m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3200" dirty="0"/>
                    <a:t>, i.e.,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 dirty="0"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US" altLang="zh-CN" sz="3200" dirty="0"/>
                </a:p>
              </p:txBody>
            </p:sp>
          </mc:Choice>
          <mc:Fallback xmlns="">
            <p:sp>
              <p:nvSpPr>
                <p:cNvPr id="7" name="矩形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816" y="5470239"/>
                  <a:ext cx="10858804" cy="255454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en-US" altLang="en-US">
                      <a:noFill/>
                    </a:rPr>
                    <a:t> </a:t>
                  </a:r>
                </a:p>
              </p:txBody>
            </p:sp>
          </mc:Fallback>
        </mc:AlternateContent>
      </p:grpSp>
      <p:sp>
        <p:nvSpPr>
          <p:cNvPr id="12" name="矩形: 圆角 3"/>
          <p:cNvSpPr/>
          <p:nvPr/>
        </p:nvSpPr>
        <p:spPr>
          <a:xfrm>
            <a:off x="591113" y="1390865"/>
            <a:ext cx="11105587" cy="768441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>
                <a:solidFill>
                  <a:prstClr val="black"/>
                </a:solidFill>
              </a:rPr>
              <a:t>Online learning: learn from the </a:t>
            </a:r>
            <a:r>
              <a:rPr lang="en-US" altLang="zh-CN" sz="3200" i="1">
                <a:solidFill>
                  <a:srgbClr val="FF0000"/>
                </a:solidFill>
              </a:rPr>
              <a:t>sequential</a:t>
            </a:r>
            <a:r>
              <a:rPr lang="en-US" altLang="zh-CN" sz="3200">
                <a:solidFill>
                  <a:prstClr val="black"/>
                </a:solidFill>
              </a:rPr>
              <a:t> data.  </a:t>
            </a:r>
            <a:endParaRPr lang="en-US" altLang="zh-CN" sz="3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5413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Online Learning</a:t>
            </a:r>
            <a:endParaRPr lang="zh-CN" altLang="en-US" sz="4000" b="1" dirty="0"/>
          </a:p>
        </p:txBody>
      </p:sp>
      <p:sp>
        <p:nvSpPr>
          <p:cNvPr id="3" name="矩形: 圆角 3"/>
          <p:cNvSpPr/>
          <p:nvPr/>
        </p:nvSpPr>
        <p:spPr>
          <a:xfrm>
            <a:off x="591113" y="1390865"/>
            <a:ext cx="11105587" cy="768441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200">
                <a:solidFill>
                  <a:prstClr val="black"/>
                </a:solidFill>
              </a:rPr>
              <a:t>Online learning: learn from the </a:t>
            </a:r>
            <a:r>
              <a:rPr lang="en-US" altLang="zh-CN" sz="3200" i="1">
                <a:solidFill>
                  <a:srgbClr val="FF0000"/>
                </a:solidFill>
              </a:rPr>
              <a:t>sequential</a:t>
            </a:r>
            <a:r>
              <a:rPr lang="en-US" altLang="zh-CN" sz="3200">
                <a:solidFill>
                  <a:prstClr val="black"/>
                </a:solidFill>
              </a:rPr>
              <a:t> data.  </a:t>
            </a:r>
            <a:endParaRPr lang="en-US" altLang="zh-CN" sz="3200" dirty="0">
              <a:solidFill>
                <a:prstClr val="black"/>
              </a:solidFill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91111" y="2561720"/>
            <a:ext cx="11105596" cy="3881764"/>
            <a:chOff x="453424" y="4763787"/>
            <a:chExt cx="11105596" cy="3881764"/>
          </a:xfrm>
        </p:grpSpPr>
        <p:grpSp>
          <p:nvGrpSpPr>
            <p:cNvPr id="13" name="组合 12"/>
            <p:cNvGrpSpPr/>
            <p:nvPr/>
          </p:nvGrpSpPr>
          <p:grpSpPr>
            <a:xfrm>
              <a:off x="453424" y="4763787"/>
              <a:ext cx="11105596" cy="3881764"/>
              <a:chOff x="2505196" y="1615858"/>
              <a:chExt cx="11105596" cy="3881764"/>
            </a:xfrm>
          </p:grpSpPr>
          <p:sp>
            <p:nvSpPr>
              <p:cNvPr id="15" name="矩形: 圆顶角 112"/>
              <p:cNvSpPr/>
              <p:nvPr/>
            </p:nvSpPr>
            <p:spPr>
              <a:xfrm>
                <a:off x="2505205" y="1615858"/>
                <a:ext cx="11105587" cy="707886"/>
              </a:xfrm>
              <a:prstGeom prst="round2SameRect">
                <a:avLst/>
              </a:prstGeom>
              <a:solidFill>
                <a:srgbClr val="00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矩形: 圆顶角 113"/>
              <p:cNvSpPr/>
              <p:nvPr/>
            </p:nvSpPr>
            <p:spPr>
              <a:xfrm rot="10800000">
                <a:off x="2505196" y="2278588"/>
                <a:ext cx="11105587" cy="3219034"/>
              </a:xfrm>
              <a:prstGeom prst="round2SameRect">
                <a:avLst/>
              </a:prstGeom>
              <a:solidFill>
                <a:srgbClr val="E6F5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2656171" y="1693816"/>
                <a:ext cx="282218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Other Examples</a:t>
                </a: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2628593" y="2309184"/>
                <a:ext cx="1085880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90204" pitchFamily="34" charset="0"/>
                  <a:buChar char="•"/>
                </a:pPr>
                <a:endParaRPr lang="en-US" altLang="zh-CN" sz="3200" dirty="0"/>
              </a:p>
            </p:txBody>
          </p:sp>
        </p:grpSp>
        <p:sp>
          <p:nvSpPr>
            <p:cNvPr id="14" name="矩形 13"/>
            <p:cNvSpPr/>
            <p:nvPr/>
          </p:nvSpPr>
          <p:spPr>
            <a:xfrm>
              <a:off x="576816" y="5470239"/>
              <a:ext cx="1085880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90204" pitchFamily="34" charset="0"/>
                <a:buChar char="•"/>
              </a:pPr>
              <a:endParaRPr lang="en-US" altLang="zh-CN" sz="3200" dirty="0"/>
            </a:p>
          </p:txBody>
        </p:sp>
      </p:grpSp>
      <p:sp>
        <p:nvSpPr>
          <p:cNvPr id="4" name="矩形 3"/>
          <p:cNvSpPr/>
          <p:nvPr/>
        </p:nvSpPr>
        <p:spPr>
          <a:xfrm>
            <a:off x="742086" y="3412951"/>
            <a:ext cx="1083122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en-US" sz="2800" dirty="0"/>
              <a:t>A recommendation system (e.</a:t>
            </a:r>
            <a:r>
              <a:rPr lang="en-US" altLang="zh-CN" sz="2800" dirty="0"/>
              <a:t>g</a:t>
            </a:r>
            <a:r>
              <a:rPr lang="en-US" sz="2800" dirty="0"/>
              <a:t>., IMDB) that is constantly learning from the ratings given by users and making appropriate recommendations to users. </a:t>
            </a:r>
          </a:p>
          <a:p>
            <a:pPr marL="457200" indent="-457200" algn="just">
              <a:buFont typeface="Arial" panose="020B0604020202090204" pitchFamily="34" charset="0"/>
              <a:buChar char="•"/>
            </a:pPr>
            <a:r>
              <a:rPr lang="en-US" sz="2800" dirty="0"/>
              <a:t>The Facebook production ranking systems used in ads ranking and newsfeed ranking use a combination of online learning and offline learning to provide the best results. 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4580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Active Learning</a:t>
            </a:r>
            <a:endParaRPr lang="zh-CN" altLang="en-US" sz="40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637" y="3607059"/>
            <a:ext cx="7446263" cy="290404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91113" y="4285734"/>
            <a:ext cx="375327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/>
              <a:t>Speech Recognition.</a:t>
            </a:r>
          </a:p>
          <a:p>
            <a:pPr algn="ctr"/>
            <a:r>
              <a:rPr lang="en-US" sz="2800" dirty="0"/>
              <a:t>(Phonemes Annotation).</a:t>
            </a:r>
          </a:p>
        </p:txBody>
      </p:sp>
      <p:sp>
        <p:nvSpPr>
          <p:cNvPr id="13" name="矩形: 圆角 3"/>
          <p:cNvSpPr/>
          <p:nvPr/>
        </p:nvSpPr>
        <p:spPr>
          <a:xfrm>
            <a:off x="591113" y="1174965"/>
            <a:ext cx="11423087" cy="1893030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algn="just">
              <a:buFont typeface="Arial" panose="020B0604020202090204" pitchFamily="34" charset="0"/>
              <a:buChar char="•"/>
            </a:pPr>
            <a:r>
              <a:rPr lang="en-US" altLang="zh-CN" sz="3200" dirty="0">
                <a:solidFill>
                  <a:srgbClr val="000000"/>
                </a:solidFill>
              </a:rPr>
              <a:t>Active learning is well-motivated in modern machine learning problems where </a:t>
            </a:r>
            <a:r>
              <a:rPr lang="en-US" altLang="zh-CN" sz="3200" dirty="0">
                <a:solidFill>
                  <a:srgbClr val="FF0000"/>
                </a:solidFill>
              </a:rPr>
              <a:t>data may be abundant </a:t>
            </a:r>
            <a:r>
              <a:rPr lang="en-US" altLang="zh-CN" sz="3200" dirty="0">
                <a:solidFill>
                  <a:srgbClr val="000000"/>
                </a:solidFill>
              </a:rPr>
              <a:t>but</a:t>
            </a:r>
            <a:r>
              <a:rPr lang="en-US" altLang="zh-CN" sz="3200" dirty="0">
                <a:solidFill>
                  <a:srgbClr val="FF0000"/>
                </a:solidFill>
              </a:rPr>
              <a:t> labels are scarce </a:t>
            </a:r>
            <a:r>
              <a:rPr lang="en-US" altLang="zh-CN" sz="3200" dirty="0">
                <a:solidFill>
                  <a:srgbClr val="000000"/>
                </a:solidFill>
              </a:rPr>
              <a:t>or </a:t>
            </a:r>
            <a:r>
              <a:rPr lang="en-US" altLang="zh-CN" sz="3200" dirty="0">
                <a:solidFill>
                  <a:srgbClr val="FF0000"/>
                </a:solidFill>
              </a:rPr>
              <a:t>expensive to obtain</a:t>
            </a:r>
            <a:r>
              <a:rPr lang="en-US" altLang="zh-CN" sz="32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4580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Active Learning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: 圆角 3"/>
              <p:cNvSpPr/>
              <p:nvPr/>
            </p:nvSpPr>
            <p:spPr>
              <a:xfrm>
                <a:off x="591113" y="3454659"/>
                <a:ext cx="11423087" cy="2939835"/>
              </a:xfrm>
              <a:prstGeom prst="roundRect">
                <a:avLst/>
              </a:prstGeom>
              <a:solidFill>
                <a:srgbClr val="FFFBD6"/>
              </a:solidFill>
              <a:ln>
                <a:solidFill>
                  <a:srgbClr val="FFFBD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indent="-457200" algn="just">
                  <a:buFont typeface="Arial" panose="020B0604020202090204" pitchFamily="34" charset="0"/>
                  <a:buChar char="•"/>
                </a:pPr>
                <a:r>
                  <a:rPr lang="en-US" sz="3200" dirty="0">
                    <a:solidFill>
                      <a:srgbClr val="000000"/>
                    </a:solidFill>
                  </a:rPr>
                  <a:t>Active learning (sequentially) queries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000000"/>
                    </a:solidFill>
                  </a:rPr>
                  <a:t> of the </a:t>
                </a:r>
                <a:r>
                  <a:rPr lang="en-US" sz="3200" i="1" dirty="0">
                    <a:solidFill>
                      <a:srgbClr val="FF0000"/>
                    </a:solidFill>
                  </a:rPr>
                  <a:t>strategically chosen</a:t>
                </a:r>
                <a:r>
                  <a:rPr lang="en-US" sz="32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000000"/>
                    </a:solidFill>
                  </a:rPr>
                  <a:t>, which is to be labeled by an </a:t>
                </a:r>
                <a:r>
                  <a:rPr lang="en-US" sz="3200" i="1" dirty="0">
                    <a:solidFill>
                      <a:srgbClr val="000000"/>
                    </a:solidFill>
                  </a:rPr>
                  <a:t>oracle </a:t>
                </a:r>
                <a:r>
                  <a:rPr lang="en-US" sz="3200" dirty="0">
                    <a:solidFill>
                      <a:srgbClr val="000000"/>
                    </a:solidFill>
                  </a:rPr>
                  <a:t>(e.g., a human annotator). </a:t>
                </a:r>
              </a:p>
              <a:p>
                <a:pPr marL="457200" indent="-457200" algn="just">
                  <a:buFont typeface="Arial" panose="020B0604020202090204" pitchFamily="34" charset="0"/>
                  <a:buChar char="•"/>
                </a:pPr>
                <a:r>
                  <a:rPr lang="en-US" sz="3200" i="1" dirty="0">
                    <a:solidFill>
                      <a:srgbClr val="FF0000"/>
                    </a:solidFill>
                  </a:rPr>
                  <a:t>Key hypothesis: </a:t>
                </a:r>
                <a:r>
                  <a:rPr lang="en-US" sz="3200" dirty="0">
                    <a:solidFill>
                      <a:srgbClr val="000000"/>
                    </a:solidFill>
                  </a:rPr>
                  <a:t>if the learning algorithm is allowed to choose the data from which it learns, it will perform better with less training. </a:t>
                </a:r>
                <a:endParaRPr lang="en-US" sz="3200" dirty="0"/>
              </a:p>
            </p:txBody>
          </p:sp>
        </mc:Choice>
        <mc:Fallback xmlns="">
          <p:sp>
            <p:nvSpPr>
              <p:cNvPr id="12" name="矩形: 圆角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3454659"/>
                <a:ext cx="11423087" cy="2939835"/>
              </a:xfrm>
              <a:prstGeom prst="roundRect">
                <a:avLst/>
              </a:prstGeom>
              <a:blipFill rotWithShape="1">
                <a:blip r:embed="rId3"/>
                <a:stretch>
                  <a:fillRect l="-433" t="-2795" r="-428" b="-5355"/>
                </a:stretch>
              </a:blipFill>
              <a:ln>
                <a:solidFill>
                  <a:srgbClr val="FFFBD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6" name="矩形: 圆角 3"/>
          <p:cNvSpPr/>
          <p:nvPr/>
        </p:nvSpPr>
        <p:spPr>
          <a:xfrm>
            <a:off x="591113" y="1174965"/>
            <a:ext cx="11423087" cy="1893030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algn="just">
              <a:buFont typeface="Arial" panose="020B0604020202090204" pitchFamily="34" charset="0"/>
              <a:buChar char="•"/>
            </a:pPr>
            <a:r>
              <a:rPr lang="en-US" altLang="zh-CN" sz="3200" dirty="0">
                <a:solidFill>
                  <a:srgbClr val="000000"/>
                </a:solidFill>
              </a:rPr>
              <a:t>Active learning is well-motivated in modern machine learning problems where </a:t>
            </a:r>
            <a:r>
              <a:rPr lang="en-US" altLang="zh-CN" sz="3200" dirty="0">
                <a:solidFill>
                  <a:srgbClr val="FF0000"/>
                </a:solidFill>
              </a:rPr>
              <a:t>data may be abundant </a:t>
            </a:r>
            <a:r>
              <a:rPr lang="en-US" altLang="zh-CN" sz="3200" dirty="0">
                <a:solidFill>
                  <a:srgbClr val="000000"/>
                </a:solidFill>
              </a:rPr>
              <a:t>but</a:t>
            </a:r>
            <a:r>
              <a:rPr lang="en-US" altLang="zh-CN" sz="3200" dirty="0">
                <a:solidFill>
                  <a:srgbClr val="FF0000"/>
                </a:solidFill>
              </a:rPr>
              <a:t> labels are scarce </a:t>
            </a:r>
            <a:r>
              <a:rPr lang="en-US" altLang="zh-CN" sz="3200" dirty="0">
                <a:solidFill>
                  <a:srgbClr val="000000"/>
                </a:solidFill>
              </a:rPr>
              <a:t>or </a:t>
            </a:r>
            <a:r>
              <a:rPr lang="en-US" altLang="zh-CN" sz="3200" dirty="0">
                <a:solidFill>
                  <a:srgbClr val="FF0000"/>
                </a:solidFill>
              </a:rPr>
              <a:t>expensive to obtain</a:t>
            </a:r>
            <a:r>
              <a:rPr lang="en-US" altLang="zh-CN" sz="32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4580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Active Learning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07" y="953125"/>
            <a:ext cx="11892381" cy="299089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29658" y="3982542"/>
            <a:ext cx="114094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solidFill>
                  <a:srgbClr val="000000"/>
                </a:solidFill>
              </a:rPr>
              <a:t>An illustrative example of pool-based active learning. (a) A toy data set of 400 instances. (b) A logistic regression model trained with 30 labeled instances using </a:t>
            </a:r>
            <a:r>
              <a:rPr lang="en-US" sz="2800" i="1" dirty="0">
                <a:solidFill>
                  <a:srgbClr val="FF0000"/>
                </a:solidFill>
              </a:rPr>
              <a:t>random sampling</a:t>
            </a:r>
            <a:r>
              <a:rPr lang="en-US" sz="2800" dirty="0">
                <a:solidFill>
                  <a:srgbClr val="000000"/>
                </a:solidFill>
              </a:rPr>
              <a:t>. (c) A logistic regression model trained with 30 </a:t>
            </a:r>
            <a:r>
              <a:rPr lang="en-US" sz="2800" i="1" dirty="0">
                <a:solidFill>
                  <a:srgbClr val="FF0000"/>
                </a:solidFill>
              </a:rPr>
              <a:t>actively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queried instances using </a:t>
            </a:r>
            <a:r>
              <a:rPr lang="en-US" sz="2800" i="1" dirty="0">
                <a:solidFill>
                  <a:srgbClr val="FF0000"/>
                </a:solidFill>
              </a:rPr>
              <a:t>uncertainty sampling</a:t>
            </a:r>
            <a:r>
              <a:rPr lang="en-US" sz="2800" dirty="0">
                <a:solidFill>
                  <a:srgbClr val="000000"/>
                </a:solidFill>
              </a:rPr>
              <a:t>.</a:t>
            </a:r>
            <a:r>
              <a:rPr lang="en-US" sz="2800" dirty="0"/>
              <a:t> </a:t>
            </a:r>
          </a:p>
        </p:txBody>
      </p:sp>
      <p:sp>
        <p:nvSpPr>
          <p:cNvPr id="2" name="矩形 1"/>
          <p:cNvSpPr/>
          <p:nvPr/>
        </p:nvSpPr>
        <p:spPr>
          <a:xfrm>
            <a:off x="429658" y="5836943"/>
            <a:ext cx="116125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srgbClr val="FF0000"/>
                </a:solidFill>
              </a:rPr>
              <a:t>Uncertainty sampling</a:t>
            </a:r>
            <a:r>
              <a:rPr lang="en-US" altLang="zh-CN" sz="2400" dirty="0">
                <a:solidFill>
                  <a:srgbClr val="222222"/>
                </a:solidFill>
              </a:rPr>
              <a:t>: label those points for which the current model is least certain as to what the correct output should be.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4580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Active Learning</a:t>
            </a:r>
            <a:endParaRPr lang="zh-CN" altLang="en-US" sz="4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414" y="1133445"/>
            <a:ext cx="8198262" cy="473285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098800" y="604869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</a:rPr>
              <a:t>The pool-based active learning cycle</a:t>
            </a:r>
            <a:r>
              <a:rPr lang="en-US" sz="2800" b="1" dirty="0"/>
              <a:t> 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6890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Categories of Machine Learning</a:t>
            </a:r>
            <a:endParaRPr lang="zh-CN" altLang="en-US" sz="40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/>
                  <a:t>Learning with different output space 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endParaRPr lang="en-US" altLang="zh-CN" sz="3200" b="1" dirty="0"/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chemeClr val="tx1"/>
                    </a:solidFill>
                  </a:rPr>
                  <a:t>Learning with different data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3200" b="1" dirty="0">
                  <a:solidFill>
                    <a:schemeClr val="tx1"/>
                  </a:solidFill>
                </a:endParaRPr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chemeClr val="tx1"/>
                    </a:solidFill>
                  </a:rPr>
                  <a:t>Learning with different protocol 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3200" b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b="1" dirty="0">
                  <a:solidFill>
                    <a:schemeClr val="tx1"/>
                  </a:solidFill>
                </a:endParaRPr>
              </a:p>
              <a:p>
                <a:pPr marL="571500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rgbClr val="FF0000"/>
                    </a:solidFill>
                  </a:rPr>
                  <a:t>Learning with different input space 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endParaRPr lang="zh-CN" alt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1168569"/>
                <a:ext cx="7989110" cy="2062103"/>
              </a:xfrm>
              <a:prstGeom prst="rect">
                <a:avLst/>
              </a:prstGeom>
              <a:blipFill rotWithShape="1">
                <a:blip r:embed="rId3"/>
                <a:stretch>
                  <a:fillRect l="-7" t="-8" r="-6413" b="-1306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40271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Concrete Features</a:t>
            </a:r>
            <a:endParaRPr lang="zh-CN" altLang="en-US" sz="4000" b="1" dirty="0"/>
          </a:p>
        </p:txBody>
      </p:sp>
      <p:sp>
        <p:nvSpPr>
          <p:cNvPr id="4" name="矩形: 圆角 3"/>
          <p:cNvSpPr/>
          <p:nvPr/>
        </p:nvSpPr>
        <p:spPr>
          <a:xfrm>
            <a:off x="550909" y="1662329"/>
            <a:ext cx="10820400" cy="2896969"/>
          </a:xfrm>
          <a:prstGeom prst="roundRect">
            <a:avLst/>
          </a:prstGeom>
          <a:solidFill>
            <a:srgbClr val="E6F5F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50909" y="1833542"/>
            <a:ext cx="10820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(size, mass) </a:t>
            </a:r>
            <a:r>
              <a:rPr lang="en-US" altLang="zh-CN" sz="3200" b="1" dirty="0"/>
              <a:t>for coin classification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(MFCC, Zero Crossing Rate, etc.) </a:t>
            </a:r>
            <a:r>
              <a:rPr lang="en-US" altLang="zh-CN" sz="3200" b="1" dirty="0"/>
              <a:t>for speech recognition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Customer info (gender, occupation, etc.) </a:t>
            </a:r>
            <a:r>
              <a:rPr lang="en-US" altLang="zh-CN" sz="3200" b="1" dirty="0"/>
              <a:t>for credit approval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Patient info (height, weight, etc. ) </a:t>
            </a:r>
            <a:r>
              <a:rPr lang="en-US" altLang="zh-CN" sz="3200" b="1" dirty="0"/>
              <a:t>for cancer diagnosis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40271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Concrete Features</a:t>
            </a:r>
            <a:endParaRPr lang="zh-CN" altLang="en-US" sz="4000" b="1" dirty="0"/>
          </a:p>
        </p:txBody>
      </p:sp>
      <p:sp>
        <p:nvSpPr>
          <p:cNvPr id="4" name="矩形: 圆角 3"/>
          <p:cNvSpPr/>
          <p:nvPr/>
        </p:nvSpPr>
        <p:spPr>
          <a:xfrm>
            <a:off x="550909" y="1662329"/>
            <a:ext cx="10820400" cy="2896969"/>
          </a:xfrm>
          <a:prstGeom prst="roundRect">
            <a:avLst/>
          </a:prstGeom>
          <a:solidFill>
            <a:srgbClr val="E6F5F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50909" y="1833542"/>
            <a:ext cx="10820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(size, mass) </a:t>
            </a:r>
            <a:r>
              <a:rPr lang="en-US" altLang="zh-CN" sz="3200" b="1" dirty="0"/>
              <a:t>for coin classification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(MFCC, Zero Crossing Rate, etc.) </a:t>
            </a:r>
            <a:r>
              <a:rPr lang="en-US" altLang="zh-CN" sz="3200" b="1" dirty="0"/>
              <a:t>for speech recognition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Customer info (gender, occupation, etc.) </a:t>
            </a:r>
            <a:r>
              <a:rPr lang="en-US" altLang="zh-CN" sz="3200" b="1" dirty="0"/>
              <a:t>for credit approval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Patient info (height, weight, etc. ) </a:t>
            </a:r>
            <a:r>
              <a:rPr lang="en-US" altLang="zh-CN" sz="3200" b="1" dirty="0"/>
              <a:t>for cancer diagnosis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4440FB"/>
                </a:solidFill>
              </a:rPr>
              <a:t>Often including “human intelligence” on the learning task</a:t>
            </a:r>
            <a:endParaRPr lang="zh-CN" altLang="en-US" sz="3200" b="1" dirty="0">
              <a:solidFill>
                <a:srgbClr val="4440FB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40271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Concrete Features</a:t>
            </a:r>
            <a:endParaRPr lang="zh-CN" altLang="en-US" sz="4000" b="1" dirty="0"/>
          </a:p>
        </p:txBody>
      </p:sp>
      <p:sp>
        <p:nvSpPr>
          <p:cNvPr id="4" name="矩形: 圆角 3"/>
          <p:cNvSpPr/>
          <p:nvPr/>
        </p:nvSpPr>
        <p:spPr>
          <a:xfrm>
            <a:off x="550909" y="1662329"/>
            <a:ext cx="10820400" cy="2896969"/>
          </a:xfrm>
          <a:prstGeom prst="roundRect">
            <a:avLst/>
          </a:prstGeom>
          <a:solidFill>
            <a:srgbClr val="E6F5F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50909" y="1833542"/>
            <a:ext cx="10820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(size, mass) </a:t>
            </a:r>
            <a:r>
              <a:rPr lang="en-US" altLang="zh-CN" sz="3200" b="1" dirty="0"/>
              <a:t>for coin classification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(MFCC, Zero Crossing Rate, etc.) </a:t>
            </a:r>
            <a:r>
              <a:rPr lang="en-US" altLang="zh-CN" sz="3200" b="1" dirty="0"/>
              <a:t>for speech recognition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Customer info (gender, occupation, etc.) </a:t>
            </a:r>
            <a:r>
              <a:rPr lang="en-US" altLang="zh-CN" sz="3200" b="1" dirty="0"/>
              <a:t>for credit approval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FD9349"/>
                </a:solidFill>
              </a:rPr>
              <a:t>Patient info (height, weight, etc. ) </a:t>
            </a:r>
            <a:r>
              <a:rPr lang="en-US" altLang="zh-CN" sz="3200" b="1" dirty="0"/>
              <a:t>for cancer diagnosis</a:t>
            </a:r>
          </a:p>
          <a:p>
            <a:pPr marL="571500" indent="-571500">
              <a:buFont typeface="Arial" panose="020B0604020202090204" pitchFamily="34" charset="0"/>
              <a:buChar char="•"/>
            </a:pPr>
            <a:r>
              <a:rPr lang="en-US" altLang="zh-CN" sz="3200" b="1" dirty="0">
                <a:solidFill>
                  <a:srgbClr val="4440FB"/>
                </a:solidFill>
              </a:rPr>
              <a:t>Often including “human intelligence” on the learning task</a:t>
            </a:r>
            <a:endParaRPr lang="zh-CN" altLang="en-US" sz="3200" b="1" dirty="0">
              <a:solidFill>
                <a:srgbClr val="4440FB"/>
              </a:solidFill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591113" y="5053063"/>
            <a:ext cx="10780196" cy="1093738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zh-CN" sz="3600">
                <a:solidFill>
                  <a:srgbClr val="000000"/>
                </a:solidFill>
              </a:rPr>
              <a:t>Concrete features: the “easy” ones for ML.</a:t>
            </a:r>
            <a:r>
              <a:rPr lang="en-US" altLang="zh-CN" sz="3600">
                <a:solidFill>
                  <a:prstClr val="white"/>
                </a:solidFill>
              </a:rPr>
              <a:t> </a:t>
            </a:r>
            <a:endParaRPr lang="en-US" altLang="zh-CN" sz="360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048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Raw Features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1"/>
          <a:stretch>
            <a:fillRect/>
          </a:stretch>
        </p:blipFill>
        <p:spPr>
          <a:xfrm>
            <a:off x="2176394" y="1320969"/>
            <a:ext cx="7839211" cy="3390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: 圆角 5"/>
              <p:cNvSpPr/>
              <p:nvPr/>
            </p:nvSpPr>
            <p:spPr>
              <a:xfrm>
                <a:off x="591113" y="5154663"/>
                <a:ext cx="10780196" cy="1093738"/>
              </a:xfrm>
              <a:prstGeom prst="roundRect">
                <a:avLst/>
              </a:prstGeom>
              <a:solidFill>
                <a:srgbClr val="FFFBD6"/>
              </a:solidFill>
              <a:ln>
                <a:solidFill>
                  <a:srgbClr val="FFFBD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indent="-457200">
                  <a:buFont typeface="Arial" panose="020B0604020202090204" pitchFamily="34" charset="0"/>
                  <a:buChar char="•"/>
                </a:pPr>
                <a:r>
                  <a:rPr lang="en-US" sz="3200" dirty="0">
                    <a:solidFill>
                      <a:schemeClr val="tx1"/>
                    </a:solidFill>
                  </a:rPr>
                  <a:t>Digit recognition problem: features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 {0,1,2,…,9}.</a:t>
                </a:r>
                <a:r>
                  <a:rPr lang="en-US" sz="3200" i="1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457200" indent="-457200">
                  <a:buFont typeface="Arial" panose="020B0604020202090204" pitchFamily="34" charset="0"/>
                  <a:buChar char="•"/>
                </a:pPr>
                <a:endParaRPr lang="en-US" sz="32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矩形: 圆角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5154663"/>
                <a:ext cx="10780196" cy="1093738"/>
              </a:xfrm>
              <a:prstGeom prst="roundRect">
                <a:avLst/>
              </a:prstGeom>
              <a:blipFill rotWithShape="1">
                <a:blip r:embed="rId4"/>
                <a:stretch>
                  <a:fillRect l="-459" t="-1021" r="-456" b="-7954"/>
                </a:stretch>
              </a:blipFill>
              <a:ln>
                <a:solidFill>
                  <a:srgbClr val="FFFBD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048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Raw Features</a:t>
            </a:r>
            <a:endParaRPr lang="zh-CN" altLang="en-US" sz="4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1"/>
          <a:stretch>
            <a:fillRect/>
          </a:stretch>
        </p:blipFill>
        <p:spPr>
          <a:xfrm>
            <a:off x="2176394" y="1320969"/>
            <a:ext cx="7839211" cy="33907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: 圆角 5"/>
              <p:cNvSpPr/>
              <p:nvPr/>
            </p:nvSpPr>
            <p:spPr>
              <a:xfrm>
                <a:off x="591113" y="5154663"/>
                <a:ext cx="10780196" cy="1093738"/>
              </a:xfrm>
              <a:prstGeom prst="roundRect">
                <a:avLst/>
              </a:prstGeom>
              <a:solidFill>
                <a:srgbClr val="FFFBD6"/>
              </a:solidFill>
              <a:ln>
                <a:solidFill>
                  <a:srgbClr val="FFFBD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457200" indent="-457200">
                  <a:buFont typeface="Arial" panose="020B0604020202090204" pitchFamily="34" charset="0"/>
                  <a:buChar char="•"/>
                </a:pPr>
                <a:r>
                  <a:rPr lang="en-US" sz="3200" dirty="0">
                    <a:solidFill>
                      <a:schemeClr val="tx1"/>
                    </a:solidFill>
                  </a:rPr>
                  <a:t>Digit recognition problem: features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  {0,1,2,…,9}.</a:t>
                </a:r>
                <a:r>
                  <a:rPr lang="en-US" sz="3200" i="1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457200" indent="-457200">
                  <a:buFont typeface="Arial" panose="020B0604020202090204" pitchFamily="34" charset="0"/>
                  <a:buChar char="•"/>
                </a:pPr>
                <a:r>
                  <a:rPr lang="en-US" altLang="zh-CN" sz="3200" dirty="0">
                    <a:solidFill>
                      <a:schemeClr val="tx1"/>
                    </a:solidFill>
                  </a:rPr>
                  <a:t>(Supervised multiclass classification problem).</a:t>
                </a:r>
              </a:p>
            </p:txBody>
          </p:sp>
        </mc:Choice>
        <mc:Fallback xmlns="">
          <p:sp>
            <p:nvSpPr>
              <p:cNvPr id="6" name="矩形: 圆角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5154663"/>
                <a:ext cx="10780196" cy="1093738"/>
              </a:xfrm>
              <a:prstGeom prst="roundRect">
                <a:avLst/>
              </a:prstGeom>
              <a:blipFill rotWithShape="1">
                <a:blip r:embed="rId4"/>
                <a:stretch>
                  <a:fillRect l="-459" t="-1021" r="-456" b="-7954"/>
                </a:stretch>
              </a:blipFill>
              <a:ln>
                <a:solidFill>
                  <a:srgbClr val="FFFBD6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0480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Raw Features</a:t>
            </a:r>
            <a:endParaRPr lang="zh-CN" altLang="en-US" sz="4000" b="1" dirty="0"/>
          </a:p>
        </p:txBody>
      </p:sp>
      <p:sp>
        <p:nvSpPr>
          <p:cNvPr id="6" name="矩形: 圆角 5"/>
          <p:cNvSpPr/>
          <p:nvPr/>
        </p:nvSpPr>
        <p:spPr>
          <a:xfrm>
            <a:off x="591113" y="5154663"/>
            <a:ext cx="10780196" cy="1455457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algn="just">
              <a:buFont typeface="Arial" panose="020B0604020202090204" pitchFamily="34" charset="0"/>
              <a:buChar char="•"/>
            </a:pPr>
            <a:r>
              <a:rPr lang="en-US" altLang="zh-CN" sz="3200" dirty="0">
                <a:solidFill>
                  <a:prstClr val="black"/>
                </a:solidFill>
              </a:rPr>
              <a:t>Raw features (image pixels, speech signal, etc.): often need human or machines (e.g., neural networks) to convert to concrete ones.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175" y="1241481"/>
            <a:ext cx="4928614" cy="362319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709" y="1241481"/>
            <a:ext cx="4899116" cy="365671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9077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Abstract Features</a:t>
            </a:r>
            <a:endParaRPr lang="zh-CN" altLang="en-US" sz="4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3" y="1422296"/>
            <a:ext cx="11207187" cy="3202053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39077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Abstract Features</a:t>
            </a:r>
            <a:endParaRPr lang="zh-CN" altLang="en-US" sz="40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13" y="1422296"/>
            <a:ext cx="11207187" cy="3202053"/>
          </a:xfrm>
          <a:prstGeom prst="rect">
            <a:avLst/>
          </a:prstGeom>
        </p:spPr>
      </p:pic>
      <p:sp>
        <p:nvSpPr>
          <p:cNvPr id="7" name="矩形: 圆角 6"/>
          <p:cNvSpPr/>
          <p:nvPr/>
        </p:nvSpPr>
        <p:spPr>
          <a:xfrm>
            <a:off x="591112" y="5154663"/>
            <a:ext cx="11080187" cy="1093738"/>
          </a:xfrm>
          <a:prstGeom prst="roundRect">
            <a:avLst/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>
              <a:buFont typeface="Arial" panose="020B0604020202090204" pitchFamily="34" charset="0"/>
              <a:buChar char="•"/>
            </a:pPr>
            <a:r>
              <a:rPr lang="en-US" altLang="zh-CN" sz="3200">
                <a:solidFill>
                  <a:prstClr val="black"/>
                </a:solidFill>
              </a:rPr>
              <a:t>Abstract Features also need ‘feature conversion/construction’ by human or machines. </a:t>
            </a:r>
            <a:endParaRPr lang="en-US" altLang="zh-CN" sz="320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5307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/>
              <a:t>Types of Machine Learning</a:t>
            </a:r>
            <a:endParaRPr lang="zh-CN" alt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591113" y="1371769"/>
                <a:ext cx="11406256" cy="40318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altLang="zh-CN" sz="3200" b="1" dirty="0"/>
                  <a:t>Learning with different output space 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latin typeface="Cambria Math" panose="02040503050406030204" pitchFamily="18" charset="0"/>
                      </a:rPr>
                      <m:t>𝓨</m:t>
                    </m:r>
                  </m:oMath>
                </a14:m>
                <a:endParaRPr lang="en-US" altLang="zh-CN" sz="3200" b="1" dirty="0"/>
              </a:p>
              <a:p>
                <a:pPr marL="1028700" lvl="1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rgbClr val="FF0000"/>
                    </a:solidFill>
                  </a:rPr>
                  <a:t>[classification], [regression]</a:t>
                </a:r>
              </a:p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altLang="zh-CN" sz="3200" b="1" dirty="0"/>
                  <a:t>Learning with different data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altLang="zh-CN" sz="3200" b="1" dirty="0"/>
              </a:p>
              <a:p>
                <a:pPr marL="1028700" lvl="1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rgbClr val="FF0000"/>
                    </a:solidFill>
                  </a:rPr>
                  <a:t>[supervised], </a:t>
                </a:r>
                <a:r>
                  <a:rPr lang="en-US" altLang="zh-CN" sz="3200" b="1" dirty="0">
                    <a:solidFill>
                      <a:schemeClr val="tx1"/>
                    </a:solidFill>
                  </a:rPr>
                  <a:t>un/semi-supervised</a:t>
                </a:r>
                <a:r>
                  <a:rPr lang="en-US" altLang="zh-CN" sz="3200" b="1" dirty="0"/>
                  <a:t>, </a:t>
                </a:r>
                <a:r>
                  <a:rPr lang="en-US" altLang="zh-CN" sz="3200" b="1" dirty="0">
                    <a:solidFill>
                      <a:schemeClr val="tx1"/>
                    </a:solidFill>
                  </a:rPr>
                  <a:t>reinforcement</a:t>
                </a:r>
              </a:p>
              <a:p>
                <a:pPr marL="571500" indent="-571500">
                  <a:buFont typeface="Wingdings" panose="05000000000000000000" pitchFamily="2" charset="2"/>
                  <a:buChar char="Ø"/>
                </a:pPr>
                <a:r>
                  <a:rPr lang="en-US" altLang="zh-CN" sz="3200" b="1" dirty="0">
                    <a:solidFill>
                      <a:schemeClr val="tx1"/>
                    </a:solidFill>
                  </a:rPr>
                  <a:t>Learning with different protocol </a:t>
                </a:r>
                <a14:m>
                  <m:oMath xmlns:m="http://schemas.openxmlformats.org/officeDocument/2006/math">
                    <m:r>
                      <a:rPr lang="en-US" altLang="zh-CN" sz="3200" b="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32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3200" b="1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b="1" dirty="0">
                  <a:solidFill>
                    <a:schemeClr val="tx1"/>
                  </a:solidFill>
                </a:endParaRPr>
              </a:p>
              <a:p>
                <a:pPr marL="1028700" lvl="1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rgbClr val="FF0000"/>
                    </a:solidFill>
                  </a:rPr>
                  <a:t>[batch],</a:t>
                </a:r>
                <a:r>
                  <a:rPr lang="en-US" altLang="zh-CN" sz="3200" b="1" dirty="0">
                    <a:solidFill>
                      <a:schemeClr val="tx1"/>
                    </a:solidFill>
                  </a:rPr>
                  <a:t> online, active</a:t>
                </a:r>
              </a:p>
              <a:p>
                <a:pPr marL="571500" indent="-571500">
                  <a:buFont typeface="Wingdings" panose="05000000000000000000" pitchFamily="2" charset="2"/>
                  <a:buChar char="Ø"/>
                </a:pPr>
                <a:r>
                  <a:rPr lang="en-US" altLang="zh-CN" sz="3200" b="1" dirty="0">
                    <a:solidFill>
                      <a:schemeClr val="tx1"/>
                    </a:solidFill>
                  </a:rPr>
                  <a:t>Learning with different input space </a:t>
                </a:r>
                <a14:m>
                  <m:oMath xmlns:m="http://schemas.openxmlformats.org/officeDocument/2006/math">
                    <m:r>
                      <a:rPr lang="zh-CN" altLang="en-US" sz="3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𝓧</m:t>
                    </m:r>
                  </m:oMath>
                </a14:m>
                <a:endParaRPr lang="en-US" altLang="zh-CN" sz="3200" b="1" dirty="0">
                  <a:solidFill>
                    <a:schemeClr val="tx1"/>
                  </a:solidFill>
                </a:endParaRPr>
              </a:p>
              <a:p>
                <a:pPr marL="1028700" lvl="1" indent="-571500">
                  <a:buFont typeface="Arial" panose="020B0604020202090204" pitchFamily="34" charset="0"/>
                  <a:buChar char="•"/>
                </a:pPr>
                <a:r>
                  <a:rPr lang="en-US" altLang="zh-CN" sz="3200" b="1" dirty="0">
                    <a:solidFill>
                      <a:srgbClr val="FF0000"/>
                    </a:solidFill>
                  </a:rPr>
                  <a:t>[concrete, raw]</a:t>
                </a:r>
                <a:r>
                  <a:rPr lang="en-US" altLang="zh-CN" sz="3200" b="1" dirty="0">
                    <a:solidFill>
                      <a:schemeClr val="tx1"/>
                    </a:solidFill>
                  </a:rPr>
                  <a:t>, abstract</a:t>
                </a:r>
                <a:endParaRPr lang="zh-CN" altLang="en-U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13" y="1371769"/>
                <a:ext cx="11406256" cy="4031873"/>
              </a:xfrm>
              <a:prstGeom prst="rect">
                <a:avLst/>
              </a:prstGeom>
              <a:blipFill rotWithShape="1">
                <a:blip r:embed="rId3"/>
                <a:stretch>
                  <a:fillRect l="-5" t="-4" r="3" b="-621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91113" y="245239"/>
            <a:ext cx="2024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Remarks</a:t>
            </a:r>
            <a:endParaRPr lang="zh-CN" altLang="en-US" sz="4000" b="1" dirty="0"/>
          </a:p>
        </p:txBody>
      </p:sp>
      <p:grpSp>
        <p:nvGrpSpPr>
          <p:cNvPr id="3" name="组合 2"/>
          <p:cNvGrpSpPr/>
          <p:nvPr/>
        </p:nvGrpSpPr>
        <p:grpSpPr>
          <a:xfrm>
            <a:off x="2423711" y="782974"/>
            <a:ext cx="7588476" cy="5653985"/>
            <a:chOff x="914400" y="731520"/>
            <a:chExt cx="7588476" cy="5653985"/>
          </a:xfrm>
        </p:grpSpPr>
        <p:grpSp>
          <p:nvGrpSpPr>
            <p:cNvPr id="4" name="组合 3"/>
            <p:cNvGrpSpPr/>
            <p:nvPr/>
          </p:nvGrpSpPr>
          <p:grpSpPr>
            <a:xfrm>
              <a:off x="914400" y="731520"/>
              <a:ext cx="7315200" cy="5653985"/>
              <a:chOff x="914400" y="731520"/>
              <a:chExt cx="7315200" cy="5653985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914400" y="731520"/>
                <a:ext cx="7315200" cy="565398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371599" y="2736286"/>
                <a:ext cx="2409929" cy="203383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148716" y="2441024"/>
                <a:ext cx="4448058" cy="290409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/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1045481" y="1656763"/>
                <a:ext cx="5918368" cy="433479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546224" y="3320972"/>
                <a:ext cx="2772759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/>
                  <a:t>Example: MLPs</a:t>
                </a:r>
                <a:endParaRPr lang="zh-CN" altLang="en-US" sz="2000" dirty="0"/>
              </a:p>
              <a:p>
                <a:endParaRPr lang="en-US" altLang="zh-CN" sz="2000" b="1" dirty="0"/>
              </a:p>
              <a:p>
                <a:r>
                  <a:rPr lang="en-US" altLang="zh-CN" sz="2000" b="1" dirty="0"/>
                  <a:t>Deep learning</a:t>
                </a:r>
              </a:p>
              <a:p>
                <a:endParaRPr lang="en-US" altLang="zh-CN" sz="2000" dirty="0"/>
              </a:p>
              <a:p>
                <a:r>
                  <a:rPr lang="en-US" altLang="zh-CN" sz="2000" dirty="0"/>
                  <a:t>    </a:t>
                </a:r>
                <a:endParaRPr lang="zh-CN" altLang="en-US" sz="2000" dirty="0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021775" y="3455471"/>
                <a:ext cx="153902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/>
                  <a:t>Example: Shallow </a:t>
                </a:r>
                <a:r>
                  <a:rPr lang="en-US" altLang="zh-CN" sz="2000" dirty="0" err="1"/>
                  <a:t>aotoencoder</a:t>
                </a:r>
                <a:endParaRPr lang="zh-CN" altLang="en-US" sz="2000" dirty="0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167204" y="4692507"/>
                <a:ext cx="321756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dirty="0"/>
                  <a:t>Representation learning</a:t>
                </a:r>
                <a:endParaRPr lang="zh-CN" altLang="en-US" sz="2000" b="1" dirty="0"/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2976845" y="5458941"/>
                <a:ext cx="271787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dirty="0"/>
                  <a:t>Machine learning</a:t>
                </a:r>
                <a:endParaRPr lang="zh-CN" altLang="en-US" sz="2000" b="1" dirty="0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5584734" y="2953007"/>
                <a:ext cx="153902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/>
                  <a:t>Example:</a:t>
                </a:r>
              </a:p>
              <a:p>
                <a:r>
                  <a:rPr lang="en-US" altLang="zh-CN" sz="2000" dirty="0"/>
                  <a:t>Logistic regression</a:t>
                </a:r>
                <a:endParaRPr lang="zh-CN" altLang="en-US" sz="2000" dirty="0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4859099" y="5897837"/>
                <a:ext cx="1539027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dirty="0"/>
                  <a:t>AI</a:t>
                </a:r>
                <a:endParaRPr lang="zh-CN" altLang="en-US" sz="2000" b="1" dirty="0"/>
              </a:p>
            </p:txBody>
          </p:sp>
        </p:grpSp>
        <p:sp>
          <p:nvSpPr>
            <p:cNvPr id="6" name="矩形 5"/>
            <p:cNvSpPr/>
            <p:nvPr/>
          </p:nvSpPr>
          <p:spPr>
            <a:xfrm>
              <a:off x="6963849" y="3293374"/>
              <a:ext cx="1539027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/>
                <a:t>Example:</a:t>
              </a:r>
            </a:p>
            <a:p>
              <a:r>
                <a:rPr lang="en-US" altLang="zh-CN" sz="2000" dirty="0"/>
                <a:t>Knowledge bases</a:t>
              </a:r>
              <a:endParaRPr lang="zh-CN" altLang="en-US" sz="2000" dirty="0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fdecaf74-d21e-4e66-9128-daed849cb08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</TotalTime>
  <Words>3953</Words>
  <Application>Microsoft Macintosh PowerPoint</Application>
  <PresentationFormat>Widescreen</PresentationFormat>
  <Paragraphs>568</Paragraphs>
  <Slides>93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1" baseType="lpstr">
      <vt:lpstr>NimbusRomNo9L-Regu</vt:lpstr>
      <vt:lpstr>NimbusRomNo9L-ReguItal</vt:lpstr>
      <vt:lpstr>Arial</vt:lpstr>
      <vt:lpstr>Calibri</vt:lpstr>
      <vt:lpstr>Calibri Light</vt:lpstr>
      <vt:lpstr>Cambria Math</vt:lpstr>
      <vt:lpstr>Wingdings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xuemeng song</dc:creator>
  <cp:lastModifiedBy>Microsoft Office User</cp:lastModifiedBy>
  <cp:revision>399</cp:revision>
  <dcterms:created xsi:type="dcterms:W3CDTF">2022-02-19T12:20:43Z</dcterms:created>
  <dcterms:modified xsi:type="dcterms:W3CDTF">2024-09-03T00:44:11Z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1033-3.9.6.6441</vt:lpwstr>
  </property>
</Properties>
</file>